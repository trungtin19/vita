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cập nhật: docs/assets/Vita_UseCase_13_UC.png, đủ UC01–UC13. Khi trình bày, tập trung các nhóm chức năng và đường liên kết chính. Không yêu cầu người nghe đọc từng nhãn nhỏ trong hình.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thay thế theo ảnh người dùng cung cấp. Nét chấm là lối mở hồ sơ, nét liền là hướng điều hướng. Nét uốn ở giao điểm phân biệt hai đường không nối nhau. Khi trình bày, tập trung các nhóm chức năng và đường liên kết chính. Không yêu cầu người nghe đọc từng nhãn nhỏ trong hình.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Ký hiệu Crow’s Foot: hai vạch biểu thị đúng một, vòng tròn kết hợp chân quạ biểu thị 0 đến nhiều. Khóa ngoại trên hàng con tham chiếu khóa chính của hàng cha. Khi trình bày, tập trung các nhóm chức năng và đường liên kết chính. Không yêu cầu người nghe đọc từng nhãn nhỏ trong hình.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0CFC6F4-2164-4098-89D5-337912CCBBC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92A910B-76E0-42F7-A638-9F34B8DB861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84A74F9-9C30-4E3B-9097-CEFD60CBA9C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1F67FD-8DC5-46BE-B471-4A7E71E23B9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E7D3D9B-073E-4504-A898-9581CD2F5DC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408C434-DC12-4EEC-8403-B96E87EADD8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9CED4CF-7143-43E0-9A6D-C714632FCFE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28B9A4A-D903-4DDE-8B84-D350AF606D6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74F3C63-CE0C-4B9E-985D-3B80A79D32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E6E32CE-7F64-4E78-AC36-DFFFB30C10C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2E3B077-605B-40FB-87D0-0A161F66B7B5}"/>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CHƯƠNG 1  /  MÔ TẢ BÀI TOÁN VÀ SƠ ĐỒ CHỨC NĂNG</a:t>
            </a:r>
          </a:p>
        </p:txBody>
      </p:sp>
      <p:sp>
        <p:nvSpPr>
          <p:cNvPr id="2" name="Rectangle 1">
            <a:extLst>
              <a:ext uri="{FF2B5EF4-FFF2-40B4-BE49-F238E27FC236}">
                <a16:creationId xmlns:a16="http://schemas.microsoft.com/office/drawing/2014/main" id="{B76A73FB-6287-46F2-8C83-B4FC57D8F1DA}"/>
              </a:ext>
            </a:extLst>
          </p:cNvPr>
          <p:cNvSpPr>
            <a:spLocks noGrp="1"/>
          </p:cNvSpPr>
          <p:nvPr/>
        </p:nvSpPr>
        <p:spPr>
          <a:xfrm>
            <a:off x="514350" y="1381125"/>
            <a:ext cx="8096250" cy="1524000"/>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Ứng dụng Android quản lý</a:t>
            </a:r>
          </a:p>
          <a:p>
            <a:pPr>
              <a:buNone/>
              <a:defRPr sz="2925" b="1">
                <a:solidFill>
                  <a:srgbClr val="164C47"/>
                </a:solidFill>
                <a:latin typeface="Arial"/>
                <a:ea typeface="Arial"/>
                <a:cs typeface="Arial"/>
              </a:defRPr>
            </a:pPr>
            <a:r>
              <a:rPr sz="2925" b="1">
                <a:solidFill>
                  <a:srgbClr val="164C47"/>
                </a:solidFill>
                <a:latin typeface="Arial"/>
                <a:ea typeface="Arial"/>
                <a:cs typeface="Arial"/>
              </a:rPr>
              <a:t>sức khỏe tại nhà Vita</a:t>
            </a:r>
          </a:p>
        </p:txBody>
      </p:sp>
      <p:sp>
        <p:nvSpPr>
          <p:cNvPr id="3" name="Rectangle 2">
            <a:extLst>
              <a:ext uri="{FF2B5EF4-FFF2-40B4-BE49-F238E27FC236}">
                <a16:creationId xmlns:a16="http://schemas.microsoft.com/office/drawing/2014/main" id="{CE7BCCF6-7AF2-439B-A799-5F0C373C0EC7}"/>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DEBFC61-3D6C-4DF3-90CD-2A97D9D8B9E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01</a:t>
            </a:r>
          </a:p>
        </p:txBody>
      </p:sp>
      <p:sp>
        <p:nvSpPr>
          <p:cNvPr id="5" name="Rectangle 4">
            <a:extLst>
              <a:ext uri="{FF2B5EF4-FFF2-40B4-BE49-F238E27FC236}">
                <a16:creationId xmlns:a16="http://schemas.microsoft.com/office/drawing/2014/main" id="{616BA151-614A-49FD-8D3D-EF13BBF0403C}"/>
              </a:ext>
            </a:extLst>
          </p:cNvPr>
          <p:cNvSpPr>
            <a:spLocks noGrp="1"/>
          </p:cNvSpPr>
          <p:nvPr/>
        </p:nvSpPr>
        <p:spPr>
          <a:xfrm>
            <a:off x="514350" y="3190875"/>
            <a:ext cx="7239000" cy="1047750"/>
          </a:xfrm>
          <a:prstGeom prst="rect">
            <a:avLst/>
          </a:prstGeom>
          <a:noFill/>
          <a:ln w="0">
            <a:noFill/>
          </a:ln>
        </p:spPr>
        <p:txBody>
          <a:bodyPr/>
          <a:lstStyle>
            <a:defPPr>
              <a:defRPr sz="2250" b="0">
                <a:solidFill>
                  <a:srgbClr val="087F72"/>
                </a:solidFill>
                <a:latin typeface="Arial"/>
                <a:ea typeface="Arial"/>
                <a:cs typeface="Arial"/>
              </a:defRPr>
            </a:defPPr>
            <a:lvl1pPr>
              <a:buNone/>
              <a:defRPr sz="2250" b="0">
                <a:solidFill>
                  <a:srgbClr val="087F72"/>
                </a:solidFill>
                <a:latin typeface="Arial"/>
                <a:ea typeface="Arial"/>
                <a:cs typeface="Arial"/>
              </a:defRPr>
            </a:lvl1pPr>
            <a:lvl2pPr>
              <a:buNone/>
              <a:defRPr sz="2250" b="0">
                <a:solidFill>
                  <a:srgbClr val="087F72"/>
                </a:solidFill>
                <a:latin typeface="Arial"/>
                <a:ea typeface="Arial"/>
                <a:cs typeface="Arial"/>
              </a:defRPr>
            </a:lvl2pPr>
            <a:lvl3pPr>
              <a:buNone/>
              <a:defRPr sz="2250" b="0">
                <a:solidFill>
                  <a:srgbClr val="087F72"/>
                </a:solidFill>
                <a:latin typeface="Arial"/>
                <a:ea typeface="Arial"/>
                <a:cs typeface="Arial"/>
              </a:defRPr>
            </a:lvl3pPr>
            <a:lvl4pPr>
              <a:buNone/>
              <a:defRPr sz="2250" b="0">
                <a:solidFill>
                  <a:srgbClr val="087F72"/>
                </a:solidFill>
                <a:latin typeface="Arial"/>
                <a:ea typeface="Arial"/>
                <a:cs typeface="Arial"/>
              </a:defRPr>
            </a:lvl4pPr>
            <a:lvl5pPr>
              <a:buNone/>
              <a:defRPr sz="2250" b="0">
                <a:solidFill>
                  <a:srgbClr val="087F72"/>
                </a:solidFill>
                <a:latin typeface="Arial"/>
                <a:ea typeface="Arial"/>
                <a:cs typeface="Arial"/>
              </a:defRPr>
            </a:lvl5pPr>
            <a:lvl6pPr>
              <a:buNone/>
              <a:defRPr sz="2250" b="0">
                <a:solidFill>
                  <a:srgbClr val="087F72"/>
                </a:solidFill>
                <a:latin typeface="Arial"/>
                <a:ea typeface="Arial"/>
                <a:cs typeface="Arial"/>
              </a:defRPr>
            </a:lvl6pPr>
            <a:lvl7pPr>
              <a:buNone/>
              <a:defRPr sz="2250" b="0">
                <a:solidFill>
                  <a:srgbClr val="087F72"/>
                </a:solidFill>
                <a:latin typeface="Arial"/>
                <a:ea typeface="Arial"/>
                <a:cs typeface="Arial"/>
              </a:defRPr>
            </a:lvl7pPr>
            <a:lvl8pPr>
              <a:buNone/>
              <a:defRPr sz="2250" b="0">
                <a:solidFill>
                  <a:srgbClr val="087F72"/>
                </a:solidFill>
                <a:latin typeface="Arial"/>
                <a:ea typeface="Arial"/>
                <a:cs typeface="Arial"/>
              </a:defRPr>
            </a:lvl8pPr>
            <a:lvl9pPr>
              <a:buNone/>
              <a:defRPr sz="2250" b="0">
                <a:solidFill>
                  <a:srgbClr val="087F72"/>
                </a:solidFill>
                <a:latin typeface="Arial"/>
                <a:ea typeface="Arial"/>
                <a:cs typeface="Arial"/>
              </a:defRPr>
            </a:lvl9pPr>
          </a:lstStyle>
          <a:p>
            <a:pPr>
              <a:buNone/>
              <a:defRPr sz="2250" b="0">
                <a:solidFill>
                  <a:srgbClr val="087F72"/>
                </a:solidFill>
                <a:latin typeface="Arial"/>
                <a:ea typeface="Arial"/>
                <a:cs typeface="Arial"/>
              </a:defRPr>
            </a:pPr>
            <a:r>
              <a:rPr sz="2250" b="1">
                <a:solidFill>
                  <a:srgbClr val="087F72"/>
                </a:solidFill>
                <a:latin typeface="Arial"/>
                <a:ea typeface="Arial"/>
                <a:cs typeface="Arial"/>
              </a:rPr>
              <a:t>Tổng quan đề tài, chức năng, màn hình và cơ sở dữ liệu</a:t>
            </a:r>
          </a:p>
        </p:txBody>
      </p:sp>
      <p:sp>
        <p:nvSpPr>
          <p:cNvPr id="6" name="Rectangle 5">
            <a:extLst>
              <a:ext uri="{FF2B5EF4-FFF2-40B4-BE49-F238E27FC236}">
                <a16:creationId xmlns:a16="http://schemas.microsoft.com/office/drawing/2014/main" id="{82AD07CD-6F9E-4881-A244-9F51936CE81A}"/>
              </a:ext>
            </a:extLst>
          </p:cNvPr>
          <p:cNvSpPr>
            <a:spLocks noGrp="1"/>
          </p:cNvSpPr>
          <p:nvPr/>
        </p:nvSpPr>
        <p:spPr>
          <a:xfrm>
            <a:off x="514350" y="5067300"/>
            <a:ext cx="8096250" cy="1047750"/>
          </a:xfrm>
          <a:prstGeom prst="rect">
            <a:avLst/>
          </a:prstGeom>
          <a:noFill/>
          <a:ln w="0">
            <a:noFill/>
          </a:ln>
        </p:spPr>
        <p:txBody>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Huỳnh Trung Tín · Đinh Tấn Minh</a:t>
            </a:r>
          </a:p>
          <a:p>
            <a:pPr>
              <a:buNone/>
              <a:defRPr sz="1725" b="0">
                <a:solidFill>
                  <a:srgbClr val="526B66"/>
                </a:solidFill>
                <a:latin typeface="Arial"/>
                <a:ea typeface="Arial"/>
                <a:cs typeface="Arial"/>
              </a:defRPr>
            </a:pPr>
            <a:r>
              <a:rPr sz="1725" b="0">
                <a:solidFill>
                  <a:srgbClr val="526B66"/>
                </a:solidFill>
                <a:latin typeface="Arial"/>
                <a:ea typeface="Arial"/>
                <a:cs typeface="Arial"/>
              </a:rPr>
              <a:t>GVHD: ThS. Nguyễn Kim Duy</a:t>
            </a:r>
          </a:p>
          <a:p>
            <a:pPr>
              <a:buNone/>
              <a:defRPr sz="1725" b="0">
                <a:solidFill>
                  <a:srgbClr val="526B66"/>
                </a:solidFill>
                <a:latin typeface="Arial"/>
                <a:ea typeface="Arial"/>
                <a:cs typeface="Arial"/>
              </a:defRPr>
            </a:pPr>
            <a:r>
              <a:rPr sz="1725" b="0">
                <a:solidFill>
                  <a:srgbClr val="526B66"/>
                </a:solidFill>
                <a:latin typeface="Arial"/>
                <a:ea typeface="Arial"/>
                <a:cs typeface="Arial"/>
              </a:rPr>
              <a:t>Trường Đại học Thủ Dầu Một · Tháng 10/2026</a:t>
            </a:r>
          </a:p>
        </p:txBody>
      </p:sp>
      <p:pic>
        <p:nvPicPr>
          <p:cNvPr id="7" name="Picture 6">
            <a:extLst>
              <a:ext uri="{FF2B5EF4-FFF2-40B4-BE49-F238E27FC236}">
                <a16:creationId xmlns:a16="http://schemas.microsoft.com/office/drawing/2014/main" id="{76FD10FA-755C-4423-9A9C-C57D550DAE5B}"/>
              </a:ext>
            </a:extLst>
          </p:cNvPr>
          <p:cNvPicPr>
            <a:picLocks noChangeAspect="1"/>
          </p:cNvPicPr>
          <p:nvPr/>
        </p:nvPicPr>
        <p:blipFill>
          <a:blip r:embed="rId3"/>
          <a:stretch/>
        </p:blipFill>
        <p:spPr>
          <a:xfrm>
            <a:off x="9048750" y="2190750"/>
            <a:ext cx="2190750" cy="2190750"/>
          </a:xfrm>
          <a:prstGeom prst="rect">
            <a:avLst/>
          </a:prstGeom>
        </p:spPr>
      </p:pic>
    </p:spTree>
    <p:extLst>
      <p:ext uri="{BB962C8B-B14F-4D97-AF65-F5344CB8AC3E}">
        <p14:creationId xmlns:p14="http://schemas.microsoft.com/office/powerpoint/2010/main" val="93927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38C1D46-80B1-4EBF-AD9D-FF412413814B}"/>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1.1  MÔ TẢ BÀI TOÁN</a:t>
            </a:r>
          </a:p>
        </p:txBody>
      </p:sp>
      <p:sp>
        <p:nvSpPr>
          <p:cNvPr id="2" name="Rectangle 1">
            <a:extLst>
              <a:ext uri="{FF2B5EF4-FFF2-40B4-BE49-F238E27FC236}">
                <a16:creationId xmlns:a16="http://schemas.microsoft.com/office/drawing/2014/main" id="{CE693B24-C1C3-4970-B8E4-7F5425DEE22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Bài toán, mục tiêu và phạm vi</a:t>
            </a:r>
          </a:p>
        </p:txBody>
      </p:sp>
      <p:sp>
        <p:nvSpPr>
          <p:cNvPr id="3" name="Rectangle 2">
            <a:extLst>
              <a:ext uri="{FF2B5EF4-FFF2-40B4-BE49-F238E27FC236}">
                <a16:creationId xmlns:a16="http://schemas.microsoft.com/office/drawing/2014/main" id="{4D801CC7-08C2-4CB6-A078-6EB5BE5C254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5E568C56-42ED-4760-84F7-8608BE56168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02</a:t>
            </a:r>
          </a:p>
        </p:txBody>
      </p:sp>
      <p:sp>
        <p:nvSpPr>
          <p:cNvPr id="5" name="Rectangle 4">
            <a:extLst>
              <a:ext uri="{FF2B5EF4-FFF2-40B4-BE49-F238E27FC236}">
                <a16:creationId xmlns:a16="http://schemas.microsoft.com/office/drawing/2014/main" id="{7C799CC5-8FE6-4FEA-A248-59023712AD70}"/>
              </a:ext>
            </a:extLst>
          </p:cNvPr>
          <p:cNvSpPr>
            <a:spLocks noGrp="1"/>
          </p:cNvSpPr>
          <p:nvPr/>
        </p:nvSpPr>
        <p:spPr>
          <a:xfrm>
            <a:off x="514350" y="1571625"/>
            <a:ext cx="500062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Hiện trạng</a:t>
            </a:r>
          </a:p>
        </p:txBody>
      </p:sp>
      <p:sp>
        <p:nvSpPr>
          <p:cNvPr id="6" name="Rectangle 5">
            <a:extLst>
              <a:ext uri="{FF2B5EF4-FFF2-40B4-BE49-F238E27FC236}">
                <a16:creationId xmlns:a16="http://schemas.microsoft.com/office/drawing/2014/main" id="{D7ADC618-3C01-4696-AF6A-B6E51D20C7DA}"/>
              </a:ext>
            </a:extLst>
          </p:cNvPr>
          <p:cNvSpPr>
            <a:spLocks noGrp="1"/>
          </p:cNvSpPr>
          <p:nvPr/>
        </p:nvSpPr>
        <p:spPr>
          <a:xfrm>
            <a:off x="514350" y="2000250"/>
            <a:ext cx="500062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Kết quả đo rời rạc, thiếu thời điểm và bối cảnh nên khó theo dõi thay đổi.</a:t>
            </a:r>
          </a:p>
        </p:txBody>
      </p:sp>
      <p:sp>
        <p:nvSpPr>
          <p:cNvPr id="7" name="Rectangle 6">
            <a:extLst>
              <a:ext uri="{FF2B5EF4-FFF2-40B4-BE49-F238E27FC236}">
                <a16:creationId xmlns:a16="http://schemas.microsoft.com/office/drawing/2014/main" id="{44BC73F4-341E-4F1C-8F85-B561409A8F96}"/>
              </a:ext>
            </a:extLst>
          </p:cNvPr>
          <p:cNvSpPr>
            <a:spLocks noGrp="1"/>
          </p:cNvSpPr>
          <p:nvPr/>
        </p:nvSpPr>
        <p:spPr>
          <a:xfrm>
            <a:off x="514350" y="3048000"/>
            <a:ext cx="500062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Mục tiêu</a:t>
            </a:r>
          </a:p>
        </p:txBody>
      </p:sp>
      <p:sp>
        <p:nvSpPr>
          <p:cNvPr id="8" name="Rectangle 7">
            <a:extLst>
              <a:ext uri="{FF2B5EF4-FFF2-40B4-BE49-F238E27FC236}">
                <a16:creationId xmlns:a16="http://schemas.microsoft.com/office/drawing/2014/main" id="{6F3A2D4F-6E13-43A1-91E0-1AAE1BBB24A9}"/>
              </a:ext>
            </a:extLst>
          </p:cNvPr>
          <p:cNvSpPr>
            <a:spLocks noGrp="1"/>
          </p:cNvSpPr>
          <p:nvPr/>
        </p:nvSpPr>
        <p:spPr>
          <a:xfrm>
            <a:off x="514350" y="3476625"/>
            <a:ext cx="500062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Ghi chỉ số, quản lý thuốc, nước uống và thống kê trong một ứng dụng.</a:t>
            </a:r>
          </a:p>
        </p:txBody>
      </p:sp>
      <p:sp>
        <p:nvSpPr>
          <p:cNvPr id="9" name="Rectangle 8">
            <a:extLst>
              <a:ext uri="{FF2B5EF4-FFF2-40B4-BE49-F238E27FC236}">
                <a16:creationId xmlns:a16="http://schemas.microsoft.com/office/drawing/2014/main" id="{0236E66E-C246-4C32-B7A0-529483EBBCE7}"/>
              </a:ext>
            </a:extLst>
          </p:cNvPr>
          <p:cNvSpPr>
            <a:spLocks noGrp="1"/>
          </p:cNvSpPr>
          <p:nvPr/>
        </p:nvSpPr>
        <p:spPr>
          <a:xfrm>
            <a:off x="514350" y="4524375"/>
            <a:ext cx="500062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Đối tượng</a:t>
            </a:r>
          </a:p>
        </p:txBody>
      </p:sp>
      <p:sp>
        <p:nvSpPr>
          <p:cNvPr id="10" name="Rectangle 9">
            <a:extLst>
              <a:ext uri="{FF2B5EF4-FFF2-40B4-BE49-F238E27FC236}">
                <a16:creationId xmlns:a16="http://schemas.microsoft.com/office/drawing/2014/main" id="{E358B10F-2078-434D-BAFD-9D6BAA637FA6}"/>
              </a:ext>
            </a:extLst>
          </p:cNvPr>
          <p:cNvSpPr>
            <a:spLocks noGrp="1"/>
          </p:cNvSpPr>
          <p:nvPr/>
        </p:nvSpPr>
        <p:spPr>
          <a:xfrm>
            <a:off x="514350" y="4953000"/>
            <a:ext cx="500062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Cá nhân tự ghi chép và theo dõi sức khỏe tại nhà.</a:t>
            </a:r>
          </a:p>
        </p:txBody>
      </p:sp>
      <p:sp>
        <p:nvSpPr>
          <p:cNvPr id="11" name="Rectangle 10">
            <a:extLst>
              <a:ext uri="{FF2B5EF4-FFF2-40B4-BE49-F238E27FC236}">
                <a16:creationId xmlns:a16="http://schemas.microsoft.com/office/drawing/2014/main" id="{2E666DBC-434C-46FB-AD61-5425A1B8E2A5}"/>
              </a:ext>
            </a:extLst>
          </p:cNvPr>
          <p:cNvSpPr>
            <a:spLocks noGrp="1"/>
          </p:cNvSpPr>
          <p:nvPr/>
        </p:nvSpPr>
        <p:spPr>
          <a:xfrm>
            <a:off x="6477000" y="1571625"/>
            <a:ext cx="509587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Nền tảng</a:t>
            </a:r>
          </a:p>
        </p:txBody>
      </p:sp>
      <p:sp>
        <p:nvSpPr>
          <p:cNvPr id="12" name="Rectangle 11">
            <a:extLst>
              <a:ext uri="{FF2B5EF4-FFF2-40B4-BE49-F238E27FC236}">
                <a16:creationId xmlns:a16="http://schemas.microsoft.com/office/drawing/2014/main" id="{EB11B574-08F6-429A-88CE-6524299F7ED9}"/>
              </a:ext>
            </a:extLst>
          </p:cNvPr>
          <p:cNvSpPr>
            <a:spLocks noGrp="1"/>
          </p:cNvSpPr>
          <p:nvPr/>
        </p:nvSpPr>
        <p:spPr>
          <a:xfrm>
            <a:off x="6477000" y="2000250"/>
            <a:ext cx="509587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Java, giao diện XML, Android 7.0 trở lên. Dữ liệu cục bộ bằng SQLite.</a:t>
            </a:r>
          </a:p>
        </p:txBody>
      </p:sp>
      <p:sp>
        <p:nvSpPr>
          <p:cNvPr id="13" name="Rectangle 12">
            <a:extLst>
              <a:ext uri="{FF2B5EF4-FFF2-40B4-BE49-F238E27FC236}">
                <a16:creationId xmlns:a16="http://schemas.microsoft.com/office/drawing/2014/main" id="{24894B55-9097-4D23-96FE-EF763E85FFE6}"/>
              </a:ext>
            </a:extLst>
          </p:cNvPr>
          <p:cNvSpPr>
            <a:spLocks noGrp="1"/>
          </p:cNvSpPr>
          <p:nvPr/>
        </p:nvSpPr>
        <p:spPr>
          <a:xfrm>
            <a:off x="6477000" y="3048000"/>
            <a:ext cx="509587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Phạm vi hiện tại</a:t>
            </a:r>
          </a:p>
        </p:txBody>
      </p:sp>
      <p:sp>
        <p:nvSpPr>
          <p:cNvPr id="14" name="Rectangle 13">
            <a:extLst>
              <a:ext uri="{FF2B5EF4-FFF2-40B4-BE49-F238E27FC236}">
                <a16:creationId xmlns:a16="http://schemas.microsoft.com/office/drawing/2014/main" id="{0CDBEFFF-1A52-46FF-89FB-A3C5D791C553}"/>
              </a:ext>
            </a:extLst>
          </p:cNvPr>
          <p:cNvSpPr>
            <a:spLocks noGrp="1"/>
          </p:cNvSpPr>
          <p:nvPr/>
        </p:nvSpPr>
        <p:spPr>
          <a:xfrm>
            <a:off x="6477000" y="3476625"/>
            <a:ext cx="509587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Nhập thủ công. Chưa đồng bộ đám mây, kết nối thiết bị đo hay theo dõi giấc ngủ.</a:t>
            </a:r>
          </a:p>
        </p:txBody>
      </p:sp>
      <p:sp>
        <p:nvSpPr>
          <p:cNvPr id="15" name="Rectangle 14">
            <a:extLst>
              <a:ext uri="{FF2B5EF4-FFF2-40B4-BE49-F238E27FC236}">
                <a16:creationId xmlns:a16="http://schemas.microsoft.com/office/drawing/2014/main" id="{FE627BF6-3994-44F3-82D9-DC12A4BCEA4D}"/>
              </a:ext>
            </a:extLst>
          </p:cNvPr>
          <p:cNvSpPr>
            <a:spLocks noGrp="1"/>
          </p:cNvSpPr>
          <p:nvPr/>
        </p:nvSpPr>
        <p:spPr>
          <a:xfrm>
            <a:off x="6477000" y="4524375"/>
            <a:ext cx="509587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Giới hạn sử dụng</a:t>
            </a:r>
          </a:p>
        </p:txBody>
      </p:sp>
      <p:sp>
        <p:nvSpPr>
          <p:cNvPr id="16" name="Rectangle 15">
            <a:extLst>
              <a:ext uri="{FF2B5EF4-FFF2-40B4-BE49-F238E27FC236}">
                <a16:creationId xmlns:a16="http://schemas.microsoft.com/office/drawing/2014/main" id="{8F69550B-2174-4316-B317-7A614BA6FDE2}"/>
              </a:ext>
            </a:extLst>
          </p:cNvPr>
          <p:cNvSpPr>
            <a:spLocks noGrp="1"/>
          </p:cNvSpPr>
          <p:nvPr/>
        </p:nvSpPr>
        <p:spPr>
          <a:xfrm>
            <a:off x="6477000" y="4953000"/>
            <a:ext cx="509587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Nhận xét chỉ số và BMI chỉ để tham khảo, không chẩn đoán hoặc chỉ định điều trị.</a:t>
            </a:r>
          </a:p>
        </p:txBody>
      </p:sp>
    </p:spTree>
    <p:extLst>
      <p:ext uri="{BB962C8B-B14F-4D97-AF65-F5344CB8AC3E}">
        <p14:creationId xmlns:p14="http://schemas.microsoft.com/office/powerpoint/2010/main" val="1208459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B879D3B-2D0D-45BC-AF47-23D7514ADDA7}"/>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1.1  NHU CẦU VÀ CHỨC NĂNG</a:t>
            </a:r>
          </a:p>
        </p:txBody>
      </p:sp>
      <p:sp>
        <p:nvSpPr>
          <p:cNvPr id="2" name="Rectangle 1">
            <a:extLst>
              <a:ext uri="{FF2B5EF4-FFF2-40B4-BE49-F238E27FC236}">
                <a16:creationId xmlns:a16="http://schemas.microsoft.com/office/drawing/2014/main" id="{BA2E3239-A28E-42F3-A018-47AD3CF059EC}"/>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Các chức năng chính của Vita</a:t>
            </a:r>
          </a:p>
        </p:txBody>
      </p:sp>
      <p:sp>
        <p:nvSpPr>
          <p:cNvPr id="3" name="Rectangle 2">
            <a:extLst>
              <a:ext uri="{FF2B5EF4-FFF2-40B4-BE49-F238E27FC236}">
                <a16:creationId xmlns:a16="http://schemas.microsoft.com/office/drawing/2014/main" id="{4FFAB801-2313-47A9-B3F5-D3A7B90D591C}"/>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ECB4E4A6-C4A8-45CB-A323-8E1A93F720B1}"/>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03</a:t>
            </a:r>
          </a:p>
        </p:txBody>
      </p:sp>
      <p:sp>
        <p:nvSpPr>
          <p:cNvPr id="5" name="Rectangle 4">
            <a:extLst>
              <a:ext uri="{FF2B5EF4-FFF2-40B4-BE49-F238E27FC236}">
                <a16:creationId xmlns:a16="http://schemas.microsoft.com/office/drawing/2014/main" id="{F076D15A-D755-4DF5-A929-8F601242C531}"/>
              </a:ext>
            </a:extLst>
          </p:cNvPr>
          <p:cNvSpPr>
            <a:spLocks noGrp="1"/>
          </p:cNvSpPr>
          <p:nvPr/>
        </p:nvSpPr>
        <p:spPr>
          <a:xfrm>
            <a:off x="514350" y="1571625"/>
            <a:ext cx="500062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Tài khoản và hồ sơ</a:t>
            </a:r>
          </a:p>
        </p:txBody>
      </p:sp>
      <p:sp>
        <p:nvSpPr>
          <p:cNvPr id="6" name="Rectangle 5">
            <a:extLst>
              <a:ext uri="{FF2B5EF4-FFF2-40B4-BE49-F238E27FC236}">
                <a16:creationId xmlns:a16="http://schemas.microsoft.com/office/drawing/2014/main" id="{D63D9F0F-978F-403B-95FA-C7C1ABD62030}"/>
              </a:ext>
            </a:extLst>
          </p:cNvPr>
          <p:cNvSpPr>
            <a:spLocks noGrp="1"/>
          </p:cNvSpPr>
          <p:nvPr/>
        </p:nvSpPr>
        <p:spPr>
          <a:xfrm>
            <a:off x="514350" y="2000250"/>
            <a:ext cx="500062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Đăng ký hai bước, đăng nhập, sửa hồ sơ, đăng xuất và xóa tài khoản.</a:t>
            </a:r>
          </a:p>
        </p:txBody>
      </p:sp>
      <p:sp>
        <p:nvSpPr>
          <p:cNvPr id="7" name="Rectangle 6">
            <a:extLst>
              <a:ext uri="{FF2B5EF4-FFF2-40B4-BE49-F238E27FC236}">
                <a16:creationId xmlns:a16="http://schemas.microsoft.com/office/drawing/2014/main" id="{1F78970C-7BCA-4CEC-AB8D-ACE794B4BEC7}"/>
              </a:ext>
            </a:extLst>
          </p:cNvPr>
          <p:cNvSpPr>
            <a:spLocks noGrp="1"/>
          </p:cNvSpPr>
          <p:nvPr/>
        </p:nvSpPr>
        <p:spPr>
          <a:xfrm>
            <a:off x="514350" y="3048000"/>
            <a:ext cx="500062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Chỉ số và BMI</a:t>
            </a:r>
          </a:p>
        </p:txBody>
      </p:sp>
      <p:sp>
        <p:nvSpPr>
          <p:cNvPr id="8" name="Rectangle 7">
            <a:extLst>
              <a:ext uri="{FF2B5EF4-FFF2-40B4-BE49-F238E27FC236}">
                <a16:creationId xmlns:a16="http://schemas.microsoft.com/office/drawing/2014/main" id="{A94CE127-E730-44E9-8B11-027322788825}"/>
              </a:ext>
            </a:extLst>
          </p:cNvPr>
          <p:cNvSpPr>
            <a:spLocks noGrp="1"/>
          </p:cNvSpPr>
          <p:nvPr/>
        </p:nvSpPr>
        <p:spPr>
          <a:xfrm>
            <a:off x="514350" y="3476625"/>
            <a:ext cx="500062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Thêm, sửa, tra cứu lần đo. Tính BMI và phân loại khi đủ điều kiện tuổi.</a:t>
            </a:r>
          </a:p>
        </p:txBody>
      </p:sp>
      <p:sp>
        <p:nvSpPr>
          <p:cNvPr id="9" name="Rectangle 8">
            <a:extLst>
              <a:ext uri="{FF2B5EF4-FFF2-40B4-BE49-F238E27FC236}">
                <a16:creationId xmlns:a16="http://schemas.microsoft.com/office/drawing/2014/main" id="{72179ADF-68AF-47B3-9369-8872DAE61B01}"/>
              </a:ext>
            </a:extLst>
          </p:cNvPr>
          <p:cNvSpPr>
            <a:spLocks noGrp="1"/>
          </p:cNvSpPr>
          <p:nvPr/>
        </p:nvSpPr>
        <p:spPr>
          <a:xfrm>
            <a:off x="514350" y="4524375"/>
            <a:ext cx="500062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Thuốc và cữ uống</a:t>
            </a:r>
          </a:p>
        </p:txBody>
      </p:sp>
      <p:sp>
        <p:nvSpPr>
          <p:cNvPr id="10" name="Rectangle 9">
            <a:extLst>
              <a:ext uri="{FF2B5EF4-FFF2-40B4-BE49-F238E27FC236}">
                <a16:creationId xmlns:a16="http://schemas.microsoft.com/office/drawing/2014/main" id="{0E922565-49E3-49A7-B0FE-B55B24EEF93A}"/>
              </a:ext>
            </a:extLst>
          </p:cNvPr>
          <p:cNvSpPr>
            <a:spLocks noGrp="1"/>
          </p:cNvSpPr>
          <p:nvPr/>
        </p:nvSpPr>
        <p:spPr>
          <a:xfrm>
            <a:off x="514350" y="4953000"/>
            <a:ext cx="500062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Nhiều giờ, ngày lặp. Người dùng xác nhận Đã uống hoặc Bỏ qua.</a:t>
            </a:r>
          </a:p>
        </p:txBody>
      </p:sp>
      <p:sp>
        <p:nvSpPr>
          <p:cNvPr id="11" name="Rectangle 10">
            <a:extLst>
              <a:ext uri="{FF2B5EF4-FFF2-40B4-BE49-F238E27FC236}">
                <a16:creationId xmlns:a16="http://schemas.microsoft.com/office/drawing/2014/main" id="{1C5C3438-0A1C-47FB-9506-13305B14CDF2}"/>
              </a:ext>
            </a:extLst>
          </p:cNvPr>
          <p:cNvSpPr>
            <a:spLocks noGrp="1"/>
          </p:cNvSpPr>
          <p:nvPr/>
        </p:nvSpPr>
        <p:spPr>
          <a:xfrm>
            <a:off x="6477000" y="1571625"/>
            <a:ext cx="509587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Nước uống</a:t>
            </a:r>
          </a:p>
        </p:txBody>
      </p:sp>
      <p:sp>
        <p:nvSpPr>
          <p:cNvPr id="12" name="Rectangle 11">
            <a:extLst>
              <a:ext uri="{FF2B5EF4-FFF2-40B4-BE49-F238E27FC236}">
                <a16:creationId xmlns:a16="http://schemas.microsoft.com/office/drawing/2014/main" id="{70C81692-BF69-4AC9-A02C-8C2900D41C45}"/>
              </a:ext>
            </a:extLst>
          </p:cNvPr>
          <p:cNvSpPr>
            <a:spLocks noGrp="1"/>
          </p:cNvSpPr>
          <p:nvPr/>
        </p:nvSpPr>
        <p:spPr>
          <a:xfrm>
            <a:off x="6477000" y="2000250"/>
            <a:ext cx="509587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Ghi từng lần uống, sửa nhật ký và theo dõi mục tiêu trong ngày.</a:t>
            </a:r>
          </a:p>
        </p:txBody>
      </p:sp>
      <p:sp>
        <p:nvSpPr>
          <p:cNvPr id="13" name="Rectangle 12">
            <a:extLst>
              <a:ext uri="{FF2B5EF4-FFF2-40B4-BE49-F238E27FC236}">
                <a16:creationId xmlns:a16="http://schemas.microsoft.com/office/drawing/2014/main" id="{3C910C09-9462-4AD8-9575-3459EBC5B87C}"/>
              </a:ext>
            </a:extLst>
          </p:cNvPr>
          <p:cNvSpPr>
            <a:spLocks noGrp="1"/>
          </p:cNvSpPr>
          <p:nvPr/>
        </p:nvSpPr>
        <p:spPr>
          <a:xfrm>
            <a:off x="6477000" y="3048000"/>
            <a:ext cx="509587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Tổng quan và thống kê</a:t>
            </a:r>
          </a:p>
        </p:txBody>
      </p:sp>
      <p:sp>
        <p:nvSpPr>
          <p:cNvPr id="14" name="Rectangle 13">
            <a:extLst>
              <a:ext uri="{FF2B5EF4-FFF2-40B4-BE49-F238E27FC236}">
                <a16:creationId xmlns:a16="http://schemas.microsoft.com/office/drawing/2014/main" id="{10376935-1D65-4ED3-B60F-6F37E91EED17}"/>
              </a:ext>
            </a:extLst>
          </p:cNvPr>
          <p:cNvSpPr>
            <a:spLocks noGrp="1"/>
          </p:cNvSpPr>
          <p:nvPr/>
        </p:nvSpPr>
        <p:spPr>
          <a:xfrm>
            <a:off x="6477000" y="3476625"/>
            <a:ext cx="509587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Dữ liệu mới nhất, cữ kế tiếp, biểu đồ 7 hoặc 30 ngày.</a:t>
            </a:r>
          </a:p>
        </p:txBody>
      </p:sp>
      <p:sp>
        <p:nvSpPr>
          <p:cNvPr id="15" name="Rectangle 14">
            <a:extLst>
              <a:ext uri="{FF2B5EF4-FFF2-40B4-BE49-F238E27FC236}">
                <a16:creationId xmlns:a16="http://schemas.microsoft.com/office/drawing/2014/main" id="{3662B7CA-9A57-44F4-A3F6-E105D5A6BBDB}"/>
              </a:ext>
            </a:extLst>
          </p:cNvPr>
          <p:cNvSpPr>
            <a:spLocks noGrp="1"/>
          </p:cNvSpPr>
          <p:nvPr/>
        </p:nvSpPr>
        <p:spPr>
          <a:xfrm>
            <a:off x="6477000" y="4524375"/>
            <a:ext cx="509587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Điều kiện nhắc nhở</a:t>
            </a:r>
          </a:p>
        </p:txBody>
      </p:sp>
      <p:sp>
        <p:nvSpPr>
          <p:cNvPr id="16" name="Rectangle 15">
            <a:extLst>
              <a:ext uri="{FF2B5EF4-FFF2-40B4-BE49-F238E27FC236}">
                <a16:creationId xmlns:a16="http://schemas.microsoft.com/office/drawing/2014/main" id="{2763C1E6-A7EC-4DC1-825B-D2C6C26CBEB8}"/>
              </a:ext>
            </a:extLst>
          </p:cNvPr>
          <p:cNvSpPr>
            <a:spLocks noGrp="1"/>
          </p:cNvSpPr>
          <p:nvPr/>
        </p:nvSpPr>
        <p:spPr>
          <a:xfrm>
            <a:off x="6477000" y="4953000"/>
            <a:ext cx="509587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Phụ thuộc quyền thông báo và báo thức Android. Ghi nhận dữ liệu vẫn hoạt động khi tắt thông báo.</a:t>
            </a:r>
          </a:p>
        </p:txBody>
      </p:sp>
    </p:spTree>
    <p:extLst>
      <p:ext uri="{BB962C8B-B14F-4D97-AF65-F5344CB8AC3E}">
        <p14:creationId xmlns:p14="http://schemas.microsoft.com/office/powerpoint/2010/main" val="946610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93521AE-D849-46DD-B4A2-BE6B805225A9}"/>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1.2  SƠ ĐỒ CHỨC NĂNG</a:t>
            </a:r>
          </a:p>
        </p:txBody>
      </p:sp>
      <p:sp>
        <p:nvSpPr>
          <p:cNvPr id="2" name="Rectangle 1">
            <a:extLst>
              <a:ext uri="{FF2B5EF4-FFF2-40B4-BE49-F238E27FC236}">
                <a16:creationId xmlns:a16="http://schemas.microsoft.com/office/drawing/2014/main" id="{772019FE-293C-4807-8886-ED0688FA47CB}"/>
              </a:ext>
            </a:extLst>
          </p:cNvPr>
          <p:cNvSpPr>
            <a:spLocks noGrp="1"/>
          </p:cNvSpPr>
          <p:nvPr/>
        </p:nvSpPr>
        <p:spPr>
          <a:xfrm>
            <a:off x="514350" y="628650"/>
            <a:ext cx="11144250"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Sơ đồ ca sử dụng tổng quát</a:t>
            </a:r>
          </a:p>
        </p:txBody>
      </p:sp>
      <p:sp>
        <p:nvSpPr>
          <p:cNvPr id="3" name="Rectangle 2">
            <a:extLst>
              <a:ext uri="{FF2B5EF4-FFF2-40B4-BE49-F238E27FC236}">
                <a16:creationId xmlns:a16="http://schemas.microsoft.com/office/drawing/2014/main" id="{E8873348-6EA1-4833-A0B6-5F4A36D0A23F}"/>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201C466-9977-468A-A776-E990F3575B61}"/>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04</a:t>
            </a:r>
          </a:p>
        </p:txBody>
      </p:sp>
      <p:pic>
        <p:nvPicPr>
          <p:cNvPr id="5" name="Picture 4">
            <a:extLst>
              <a:ext uri="{FF2B5EF4-FFF2-40B4-BE49-F238E27FC236}">
                <a16:creationId xmlns:a16="http://schemas.microsoft.com/office/drawing/2014/main" id="{5241ED69-E7E6-4F18-BA5D-1155F46F29B7}"/>
              </a:ext>
            </a:extLst>
          </p:cNvPr>
          <p:cNvPicPr>
            <a:picLocks noChangeAspect="1"/>
          </p:cNvPicPr>
          <p:nvPr/>
        </p:nvPicPr>
        <p:blipFill>
          <a:blip r:embed="rId3"/>
          <a:stretch/>
        </p:blipFill>
        <p:spPr>
          <a:xfrm>
            <a:off x="1423988" y="1381125"/>
            <a:ext cx="4371975" cy="4857750"/>
          </a:xfrm>
          <a:prstGeom prst="rect">
            <a:avLst/>
          </a:prstGeom>
        </p:spPr>
      </p:pic>
      <p:sp>
        <p:nvSpPr>
          <p:cNvPr id="6" name="Rectangle 5">
            <a:extLst>
              <a:ext uri="{FF2B5EF4-FFF2-40B4-BE49-F238E27FC236}">
                <a16:creationId xmlns:a16="http://schemas.microsoft.com/office/drawing/2014/main" id="{C6E47C78-4225-435A-9C6A-17F82553E5D1}"/>
              </a:ext>
            </a:extLst>
          </p:cNvPr>
          <p:cNvSpPr>
            <a:spLocks noGrp="1"/>
          </p:cNvSpPr>
          <p:nvPr/>
        </p:nvSpPr>
        <p:spPr>
          <a:xfrm>
            <a:off x="7191375" y="1666875"/>
            <a:ext cx="4286250" cy="476250"/>
          </a:xfrm>
          <a:prstGeom prst="rect">
            <a:avLst/>
          </a:prstGeom>
          <a:noFill/>
          <a:ln w="0">
            <a:noFill/>
          </a:ln>
        </p:spPr>
        <p:txBody>
          <a:bodyPr wrap="square">
            <a:noAutofit/>
          </a:bodyPr>
          <a:lstStyle>
            <a:defPPr>
              <a:defRPr sz="2400" b="1">
                <a:solidFill>
                  <a:srgbClr val="164C47"/>
                </a:solidFill>
                <a:latin typeface="Arial"/>
                <a:ea typeface="Arial"/>
                <a:cs typeface="Arial"/>
              </a:defRPr>
            </a:defPPr>
            <a:lvl1pPr>
              <a:buNone/>
              <a:defRPr sz="2400" b="1">
                <a:solidFill>
                  <a:srgbClr val="164C47"/>
                </a:solidFill>
                <a:latin typeface="Arial"/>
                <a:ea typeface="Arial"/>
                <a:cs typeface="Arial"/>
              </a:defRPr>
            </a:lvl1pPr>
            <a:lvl2pPr>
              <a:buNone/>
              <a:defRPr sz="2400" b="1">
                <a:solidFill>
                  <a:srgbClr val="164C47"/>
                </a:solidFill>
                <a:latin typeface="Arial"/>
                <a:ea typeface="Arial"/>
                <a:cs typeface="Arial"/>
              </a:defRPr>
            </a:lvl2pPr>
            <a:lvl3pPr>
              <a:buNone/>
              <a:defRPr sz="2400" b="1">
                <a:solidFill>
                  <a:srgbClr val="164C47"/>
                </a:solidFill>
                <a:latin typeface="Arial"/>
                <a:ea typeface="Arial"/>
                <a:cs typeface="Arial"/>
              </a:defRPr>
            </a:lvl3pPr>
            <a:lvl4pPr>
              <a:buNone/>
              <a:defRPr sz="2400" b="1">
                <a:solidFill>
                  <a:srgbClr val="164C47"/>
                </a:solidFill>
                <a:latin typeface="Arial"/>
                <a:ea typeface="Arial"/>
                <a:cs typeface="Arial"/>
              </a:defRPr>
            </a:lvl4pPr>
            <a:lvl5pPr>
              <a:buNone/>
              <a:defRPr sz="2400" b="1">
                <a:solidFill>
                  <a:srgbClr val="164C47"/>
                </a:solidFill>
                <a:latin typeface="Arial"/>
                <a:ea typeface="Arial"/>
                <a:cs typeface="Arial"/>
              </a:defRPr>
            </a:lvl5pPr>
            <a:lvl6pPr>
              <a:buNone/>
              <a:defRPr sz="2400" b="1">
                <a:solidFill>
                  <a:srgbClr val="164C47"/>
                </a:solidFill>
                <a:latin typeface="Arial"/>
                <a:ea typeface="Arial"/>
                <a:cs typeface="Arial"/>
              </a:defRPr>
            </a:lvl6pPr>
            <a:lvl7pPr>
              <a:buNone/>
              <a:defRPr sz="2400" b="1">
                <a:solidFill>
                  <a:srgbClr val="164C47"/>
                </a:solidFill>
                <a:latin typeface="Arial"/>
                <a:ea typeface="Arial"/>
                <a:cs typeface="Arial"/>
              </a:defRPr>
            </a:lvl7pPr>
            <a:lvl8pPr>
              <a:buNone/>
              <a:defRPr sz="2400" b="1">
                <a:solidFill>
                  <a:srgbClr val="164C47"/>
                </a:solidFill>
                <a:latin typeface="Arial"/>
                <a:ea typeface="Arial"/>
                <a:cs typeface="Arial"/>
              </a:defRPr>
            </a:lvl8pPr>
            <a:lvl9pPr>
              <a:buNone/>
              <a:defRPr sz="2400" b="1">
                <a:solidFill>
                  <a:srgbClr val="164C47"/>
                </a:solidFill>
                <a:latin typeface="Arial"/>
                <a:ea typeface="Arial"/>
                <a:cs typeface="Arial"/>
              </a:defRPr>
            </a:lvl9pPr>
          </a:lstStyle>
          <a:p>
            <a:pPr>
              <a:buNone/>
              <a:defRPr sz="2400" b="1">
                <a:solidFill>
                  <a:srgbClr val="164C47"/>
                </a:solidFill>
                <a:latin typeface="Arial"/>
                <a:ea typeface="Arial"/>
                <a:cs typeface="Arial"/>
              </a:defRPr>
            </a:pPr>
            <a:r>
              <a:rPr sz="2400" b="1">
                <a:solidFill>
                  <a:srgbClr val="164C47"/>
                </a:solidFill>
                <a:latin typeface="Arial"/>
                <a:ea typeface="Arial"/>
                <a:cs typeface="Arial"/>
              </a:rPr>
              <a:t>13 ca sử dụng</a:t>
            </a:r>
          </a:p>
        </p:txBody>
      </p:sp>
      <p:sp>
        <p:nvSpPr>
          <p:cNvPr id="7" name="Rectangle 6">
            <a:extLst>
              <a:ext uri="{FF2B5EF4-FFF2-40B4-BE49-F238E27FC236}">
                <a16:creationId xmlns:a16="http://schemas.microsoft.com/office/drawing/2014/main" id="{8E49D5F0-F36F-4E1B-8FC6-553B702CBF32}"/>
              </a:ext>
            </a:extLst>
          </p:cNvPr>
          <p:cNvSpPr>
            <a:spLocks noGrp="1"/>
          </p:cNvSpPr>
          <p:nvPr/>
        </p:nvSpPr>
        <p:spPr>
          <a:xfrm>
            <a:off x="7191375" y="2381250"/>
            <a:ext cx="4286250" cy="1285875"/>
          </a:xfrm>
          <a:prstGeom prst="rect">
            <a:avLst/>
          </a:prstGeom>
          <a:noFill/>
          <a:ln w="0">
            <a:noFill/>
          </a:ln>
        </p:spPr>
        <p:txBody>
          <a:bodyPr wrap="square">
            <a:noAutofit/>
          </a:bodyPr>
          <a:lstStyle>
            <a:defPPr>
              <a:defRPr sz="2025" b="0">
                <a:solidFill>
                  <a:srgbClr val="526B66"/>
                </a:solidFill>
                <a:latin typeface="Arial"/>
                <a:ea typeface="Arial"/>
                <a:cs typeface="Arial"/>
              </a:defRPr>
            </a:defPPr>
            <a:lvl1pPr>
              <a:buNone/>
              <a:defRPr sz="2025" b="0">
                <a:solidFill>
                  <a:srgbClr val="526B66"/>
                </a:solidFill>
                <a:latin typeface="Arial"/>
                <a:ea typeface="Arial"/>
                <a:cs typeface="Arial"/>
              </a:defRPr>
            </a:lvl1pPr>
            <a:lvl2pPr>
              <a:buNone/>
              <a:defRPr sz="2025" b="0">
                <a:solidFill>
                  <a:srgbClr val="526B66"/>
                </a:solidFill>
                <a:latin typeface="Arial"/>
                <a:ea typeface="Arial"/>
                <a:cs typeface="Arial"/>
              </a:defRPr>
            </a:lvl2pPr>
            <a:lvl3pPr>
              <a:buNone/>
              <a:defRPr sz="2025" b="0">
                <a:solidFill>
                  <a:srgbClr val="526B66"/>
                </a:solidFill>
                <a:latin typeface="Arial"/>
                <a:ea typeface="Arial"/>
                <a:cs typeface="Arial"/>
              </a:defRPr>
            </a:lvl3pPr>
            <a:lvl4pPr>
              <a:buNone/>
              <a:defRPr sz="2025" b="0">
                <a:solidFill>
                  <a:srgbClr val="526B66"/>
                </a:solidFill>
                <a:latin typeface="Arial"/>
                <a:ea typeface="Arial"/>
                <a:cs typeface="Arial"/>
              </a:defRPr>
            </a:lvl4pPr>
            <a:lvl5pPr>
              <a:buNone/>
              <a:defRPr sz="2025" b="0">
                <a:solidFill>
                  <a:srgbClr val="526B66"/>
                </a:solidFill>
                <a:latin typeface="Arial"/>
                <a:ea typeface="Arial"/>
                <a:cs typeface="Arial"/>
              </a:defRPr>
            </a:lvl5pPr>
            <a:lvl6pPr>
              <a:buNone/>
              <a:defRPr sz="2025" b="0">
                <a:solidFill>
                  <a:srgbClr val="526B66"/>
                </a:solidFill>
                <a:latin typeface="Arial"/>
                <a:ea typeface="Arial"/>
                <a:cs typeface="Arial"/>
              </a:defRPr>
            </a:lvl6pPr>
            <a:lvl7pPr>
              <a:buNone/>
              <a:defRPr sz="2025" b="0">
                <a:solidFill>
                  <a:srgbClr val="526B66"/>
                </a:solidFill>
                <a:latin typeface="Arial"/>
                <a:ea typeface="Arial"/>
                <a:cs typeface="Arial"/>
              </a:defRPr>
            </a:lvl7pPr>
            <a:lvl8pPr>
              <a:buNone/>
              <a:defRPr sz="2025" b="0">
                <a:solidFill>
                  <a:srgbClr val="526B66"/>
                </a:solidFill>
                <a:latin typeface="Arial"/>
                <a:ea typeface="Arial"/>
                <a:cs typeface="Arial"/>
              </a:defRPr>
            </a:lvl8pPr>
            <a:lvl9pPr>
              <a:buNone/>
              <a:defRPr sz="2025" b="0">
                <a:solidFill>
                  <a:srgbClr val="526B66"/>
                </a:solidFill>
                <a:latin typeface="Arial"/>
                <a:ea typeface="Arial"/>
                <a:cs typeface="Arial"/>
              </a:defRPr>
            </a:lvl9pPr>
          </a:lstStyle>
          <a:p>
            <a:pPr>
              <a:buNone/>
              <a:defRPr sz="2025" b="0">
                <a:solidFill>
                  <a:srgbClr val="526B66"/>
                </a:solidFill>
                <a:latin typeface="Arial"/>
                <a:ea typeface="Arial"/>
                <a:cs typeface="Arial"/>
              </a:defRPr>
            </a:pPr>
            <a:r>
              <a:rPr sz="2025" b="0">
                <a:solidFill>
                  <a:srgbClr val="526B66"/>
                </a:solidFill>
                <a:latin typeface="Arial"/>
                <a:ea typeface="Arial"/>
                <a:cs typeface="Arial"/>
              </a:rPr>
              <a:t>Người dùng là tác nhân nghiệp vụ chính. Android hỗ trợ báo thức và thông báo.</a:t>
            </a:r>
          </a:p>
        </p:txBody>
      </p:sp>
      <p:sp>
        <p:nvSpPr>
          <p:cNvPr id="8" name="Rectangle 7">
            <a:extLst>
              <a:ext uri="{FF2B5EF4-FFF2-40B4-BE49-F238E27FC236}">
                <a16:creationId xmlns:a16="http://schemas.microsoft.com/office/drawing/2014/main" id="{C751E4B7-9EB6-4911-BBA0-1B941A0B6F0D}"/>
              </a:ext>
            </a:extLst>
          </p:cNvPr>
          <p:cNvSpPr>
            <a:spLocks noGrp="1"/>
          </p:cNvSpPr>
          <p:nvPr/>
        </p:nvSpPr>
        <p:spPr>
          <a:xfrm>
            <a:off x="7191375" y="4000500"/>
            <a:ext cx="4286250" cy="1238250"/>
          </a:xfrm>
          <a:prstGeom prst="rect">
            <a:avLst/>
          </a:prstGeom>
          <a:noFill/>
          <a:ln w="0">
            <a:noFill/>
          </a:ln>
        </p:spPr>
        <p:txBody>
          <a:bodyPr wrap="square">
            <a:noAutofit/>
          </a:bodyPr>
          <a:lstStyle>
            <a:defPPr>
              <a:defRPr sz="2025" b="0">
                <a:solidFill>
                  <a:srgbClr val="526B66"/>
                </a:solidFill>
                <a:latin typeface="Arial"/>
                <a:ea typeface="Arial"/>
                <a:cs typeface="Arial"/>
              </a:defRPr>
            </a:defPPr>
            <a:lvl1pPr>
              <a:buNone/>
              <a:defRPr sz="2025" b="0">
                <a:solidFill>
                  <a:srgbClr val="526B66"/>
                </a:solidFill>
                <a:latin typeface="Arial"/>
                <a:ea typeface="Arial"/>
                <a:cs typeface="Arial"/>
              </a:defRPr>
            </a:lvl1pPr>
            <a:lvl2pPr>
              <a:buNone/>
              <a:defRPr sz="2025" b="0">
                <a:solidFill>
                  <a:srgbClr val="526B66"/>
                </a:solidFill>
                <a:latin typeface="Arial"/>
                <a:ea typeface="Arial"/>
                <a:cs typeface="Arial"/>
              </a:defRPr>
            </a:lvl2pPr>
            <a:lvl3pPr>
              <a:buNone/>
              <a:defRPr sz="2025" b="0">
                <a:solidFill>
                  <a:srgbClr val="526B66"/>
                </a:solidFill>
                <a:latin typeface="Arial"/>
                <a:ea typeface="Arial"/>
                <a:cs typeface="Arial"/>
              </a:defRPr>
            </a:lvl3pPr>
            <a:lvl4pPr>
              <a:buNone/>
              <a:defRPr sz="2025" b="0">
                <a:solidFill>
                  <a:srgbClr val="526B66"/>
                </a:solidFill>
                <a:latin typeface="Arial"/>
                <a:ea typeface="Arial"/>
                <a:cs typeface="Arial"/>
              </a:defRPr>
            </a:lvl4pPr>
            <a:lvl5pPr>
              <a:buNone/>
              <a:defRPr sz="2025" b="0">
                <a:solidFill>
                  <a:srgbClr val="526B66"/>
                </a:solidFill>
                <a:latin typeface="Arial"/>
                <a:ea typeface="Arial"/>
                <a:cs typeface="Arial"/>
              </a:defRPr>
            </a:lvl5pPr>
            <a:lvl6pPr>
              <a:buNone/>
              <a:defRPr sz="2025" b="0">
                <a:solidFill>
                  <a:srgbClr val="526B66"/>
                </a:solidFill>
                <a:latin typeface="Arial"/>
                <a:ea typeface="Arial"/>
                <a:cs typeface="Arial"/>
              </a:defRPr>
            </a:lvl6pPr>
            <a:lvl7pPr>
              <a:buNone/>
              <a:defRPr sz="2025" b="0">
                <a:solidFill>
                  <a:srgbClr val="526B66"/>
                </a:solidFill>
                <a:latin typeface="Arial"/>
                <a:ea typeface="Arial"/>
                <a:cs typeface="Arial"/>
              </a:defRPr>
            </a:lvl7pPr>
            <a:lvl8pPr>
              <a:buNone/>
              <a:defRPr sz="2025" b="0">
                <a:solidFill>
                  <a:srgbClr val="526B66"/>
                </a:solidFill>
                <a:latin typeface="Arial"/>
                <a:ea typeface="Arial"/>
                <a:cs typeface="Arial"/>
              </a:defRPr>
            </a:lvl8pPr>
            <a:lvl9pPr>
              <a:buNone/>
              <a:defRPr sz="2025" b="0">
                <a:solidFill>
                  <a:srgbClr val="526B66"/>
                </a:solidFill>
                <a:latin typeface="Arial"/>
                <a:ea typeface="Arial"/>
                <a:cs typeface="Arial"/>
              </a:defRPr>
            </a:lvl9pPr>
          </a:lstStyle>
          <a:p>
            <a:pPr>
              <a:buNone/>
              <a:defRPr sz="2025" b="0">
                <a:solidFill>
                  <a:srgbClr val="526B66"/>
                </a:solidFill>
                <a:latin typeface="Arial"/>
                <a:ea typeface="Arial"/>
                <a:cs typeface="Arial"/>
              </a:defRPr>
            </a:pPr>
            <a:r>
              <a:rPr sz="2025" b="0">
                <a:solidFill>
                  <a:srgbClr val="526B66"/>
                </a:solidFill>
                <a:latin typeface="Arial"/>
                <a:ea typeface="Arial"/>
                <a:cs typeface="Arial"/>
              </a:rPr>
              <a:t>Các nghiệp vụ yêu cầu phiên đăng nhập hợp lệ, trừ đăng ký và đăng nhập.</a:t>
            </a:r>
          </a:p>
        </p:txBody>
      </p:sp>
      <p:sp>
        <p:nvSpPr>
          <p:cNvPr id="9" name="Rectangle 8">
            <a:extLst>
              <a:ext uri="{FF2B5EF4-FFF2-40B4-BE49-F238E27FC236}">
                <a16:creationId xmlns:a16="http://schemas.microsoft.com/office/drawing/2014/main" id="{43293EA4-D80C-4B45-89E3-8A1658226A97}"/>
              </a:ext>
            </a:extLst>
          </p:cNvPr>
          <p:cNvSpPr>
            <a:spLocks noGrp="1"/>
          </p:cNvSpPr>
          <p:nvPr/>
        </p:nvSpPr>
        <p:spPr>
          <a:xfrm>
            <a:off x="7191375" y="5334000"/>
            <a:ext cx="4286250" cy="990600"/>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Sơ đồ thể hiện riêng 13 ca sử dụng, tương ứng UC01–UC13 trong Bảng 1.1 của báo cáo.</a:t>
            </a:r>
          </a:p>
        </p:txBody>
      </p:sp>
    </p:spTree>
    <p:extLst>
      <p:ext uri="{BB962C8B-B14F-4D97-AF65-F5344CB8AC3E}">
        <p14:creationId xmlns:p14="http://schemas.microsoft.com/office/powerpoint/2010/main" val="687906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91D660-CECB-4A92-9DB8-B02564AE475B}"/>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TỔNG QUAN MÀN HÌNH</a:t>
            </a:r>
          </a:p>
        </p:txBody>
      </p:sp>
      <p:sp>
        <p:nvSpPr>
          <p:cNvPr id="2" name="Rectangle 1">
            <a:extLst>
              <a:ext uri="{FF2B5EF4-FFF2-40B4-BE49-F238E27FC236}">
                <a16:creationId xmlns:a16="http://schemas.microsoft.com/office/drawing/2014/main" id="{CECAEE92-B376-4759-8041-C52651BE8958}"/>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Tổ chức giao diện ứng dụng</a:t>
            </a:r>
          </a:p>
        </p:txBody>
      </p:sp>
      <p:sp>
        <p:nvSpPr>
          <p:cNvPr id="3" name="Rectangle 2">
            <a:extLst>
              <a:ext uri="{FF2B5EF4-FFF2-40B4-BE49-F238E27FC236}">
                <a16:creationId xmlns:a16="http://schemas.microsoft.com/office/drawing/2014/main" id="{5B2BAF88-6A4A-48BA-9A3A-FB8662D343A6}"/>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A16616DD-A832-404C-ADC6-086B2F370590}"/>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05</a:t>
            </a:r>
          </a:p>
        </p:txBody>
      </p:sp>
      <p:sp>
        <p:nvSpPr>
          <p:cNvPr id="5" name="Rectangle 4">
            <a:extLst>
              <a:ext uri="{FF2B5EF4-FFF2-40B4-BE49-F238E27FC236}">
                <a16:creationId xmlns:a16="http://schemas.microsoft.com/office/drawing/2014/main" id="{1E9AD455-8B8C-4E42-A29F-32D50CC793A0}"/>
              </a:ext>
            </a:extLst>
          </p:cNvPr>
          <p:cNvSpPr>
            <a:spLocks noGrp="1"/>
          </p:cNvSpPr>
          <p:nvPr/>
        </p:nvSpPr>
        <p:spPr>
          <a:xfrm>
            <a:off x="514350" y="1200150"/>
            <a:ext cx="11049000" cy="438150"/>
          </a:xfrm>
          <a:prstGeom prst="rect">
            <a:avLst/>
          </a:prstGeom>
          <a:noFill/>
          <a:ln w="0">
            <a:noFill/>
          </a:ln>
        </p:spPr>
        <p:txBody>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10 Activity và 4 Fragment chính. MainActivity giữ các tab bằng cơ chế ẩn và hiện.</a:t>
            </a:r>
          </a:p>
        </p:txBody>
      </p:sp>
      <p:pic>
        <p:nvPicPr>
          <p:cNvPr id="6" name="Picture 5">
            <a:extLst>
              <a:ext uri="{FF2B5EF4-FFF2-40B4-BE49-F238E27FC236}">
                <a16:creationId xmlns:a16="http://schemas.microsoft.com/office/drawing/2014/main" id="{5305264A-6971-4DEA-AD37-151A8B965927}"/>
              </a:ext>
            </a:extLst>
          </p:cNvPr>
          <p:cNvPicPr>
            <a:picLocks noChangeAspect="1"/>
          </p:cNvPicPr>
          <p:nvPr/>
        </p:nvPicPr>
        <p:blipFill>
          <a:blip r:embed="rId3"/>
          <a:stretch/>
        </p:blipFill>
        <p:spPr>
          <a:xfrm>
            <a:off x="963216" y="1762125"/>
            <a:ext cx="1907381" cy="4238625"/>
          </a:xfrm>
          <a:prstGeom prst="rect">
            <a:avLst/>
          </a:prstGeom>
        </p:spPr>
      </p:pic>
      <p:sp>
        <p:nvSpPr>
          <p:cNvPr id="7" name="Rectangle 6">
            <a:extLst>
              <a:ext uri="{FF2B5EF4-FFF2-40B4-BE49-F238E27FC236}">
                <a16:creationId xmlns:a16="http://schemas.microsoft.com/office/drawing/2014/main" id="{3445A334-AF34-4689-A437-A379579C0269}"/>
              </a:ext>
            </a:extLst>
          </p:cNvPr>
          <p:cNvSpPr>
            <a:spLocks noGrp="1"/>
          </p:cNvSpPr>
          <p:nvPr/>
        </p:nvSpPr>
        <p:spPr>
          <a:xfrm>
            <a:off x="533400"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8" name="Picture 7">
            <a:extLst>
              <a:ext uri="{FF2B5EF4-FFF2-40B4-BE49-F238E27FC236}">
                <a16:creationId xmlns:a16="http://schemas.microsoft.com/office/drawing/2014/main" id="{44CB0178-6437-4164-A59B-70F02D17545A}"/>
              </a:ext>
            </a:extLst>
          </p:cNvPr>
          <p:cNvPicPr>
            <a:picLocks noChangeAspect="1"/>
          </p:cNvPicPr>
          <p:nvPr/>
        </p:nvPicPr>
        <p:blipFill>
          <a:blip r:embed="rId4"/>
          <a:stretch/>
        </p:blipFill>
        <p:spPr>
          <a:xfrm>
            <a:off x="3749278" y="1762125"/>
            <a:ext cx="1907381" cy="4238625"/>
          </a:xfrm>
          <a:prstGeom prst="rect">
            <a:avLst/>
          </a:prstGeom>
        </p:spPr>
      </p:pic>
      <p:sp>
        <p:nvSpPr>
          <p:cNvPr id="9" name="Rectangle 8">
            <a:extLst>
              <a:ext uri="{FF2B5EF4-FFF2-40B4-BE49-F238E27FC236}">
                <a16:creationId xmlns:a16="http://schemas.microsoft.com/office/drawing/2014/main" id="{2194DA90-5202-4E20-9A19-853D4D64A1C1}"/>
              </a:ext>
            </a:extLst>
          </p:cNvPr>
          <p:cNvSpPr>
            <a:spLocks noGrp="1"/>
          </p:cNvSpPr>
          <p:nvPr/>
        </p:nvSpPr>
        <p:spPr>
          <a:xfrm>
            <a:off x="3319463"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Sức khỏe</a:t>
            </a:r>
          </a:p>
        </p:txBody>
      </p:sp>
      <p:pic>
        <p:nvPicPr>
          <p:cNvPr id="10" name="Picture 9">
            <a:extLst>
              <a:ext uri="{FF2B5EF4-FFF2-40B4-BE49-F238E27FC236}">
                <a16:creationId xmlns:a16="http://schemas.microsoft.com/office/drawing/2014/main" id="{35C19F25-2151-49DE-B303-8B520DC69709}"/>
              </a:ext>
            </a:extLst>
          </p:cNvPr>
          <p:cNvPicPr>
            <a:picLocks noChangeAspect="1"/>
          </p:cNvPicPr>
          <p:nvPr/>
        </p:nvPicPr>
        <p:blipFill>
          <a:blip r:embed="rId5"/>
          <a:stretch/>
        </p:blipFill>
        <p:spPr>
          <a:xfrm>
            <a:off x="6535341" y="1762125"/>
            <a:ext cx="1907381" cy="4238625"/>
          </a:xfrm>
          <a:prstGeom prst="rect">
            <a:avLst/>
          </a:prstGeom>
        </p:spPr>
      </p:pic>
      <p:sp>
        <p:nvSpPr>
          <p:cNvPr id="11" name="Rectangle 10">
            <a:extLst>
              <a:ext uri="{FF2B5EF4-FFF2-40B4-BE49-F238E27FC236}">
                <a16:creationId xmlns:a16="http://schemas.microsoft.com/office/drawing/2014/main" id="{C24F206E-ED34-4DBA-9566-281B0BDFD324}"/>
              </a:ext>
            </a:extLst>
          </p:cNvPr>
          <p:cNvSpPr>
            <a:spLocks noGrp="1"/>
          </p:cNvSpPr>
          <p:nvPr/>
        </p:nvSpPr>
        <p:spPr>
          <a:xfrm>
            <a:off x="6105525"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Nhắc nhở</a:t>
            </a:r>
          </a:p>
        </p:txBody>
      </p:sp>
      <p:pic>
        <p:nvPicPr>
          <p:cNvPr id="12" name="Picture 11">
            <a:extLst>
              <a:ext uri="{FF2B5EF4-FFF2-40B4-BE49-F238E27FC236}">
                <a16:creationId xmlns:a16="http://schemas.microsoft.com/office/drawing/2014/main" id="{24693F20-2311-4FC0-B7B7-A193817E6B05}"/>
              </a:ext>
            </a:extLst>
          </p:cNvPr>
          <p:cNvPicPr>
            <a:picLocks noChangeAspect="1"/>
          </p:cNvPicPr>
          <p:nvPr/>
        </p:nvPicPr>
        <p:blipFill>
          <a:blip r:embed="rId6"/>
          <a:stretch/>
        </p:blipFill>
        <p:spPr>
          <a:xfrm>
            <a:off x="9321403" y="1762125"/>
            <a:ext cx="1907381" cy="4238625"/>
          </a:xfrm>
          <a:prstGeom prst="rect">
            <a:avLst/>
          </a:prstGeom>
        </p:spPr>
      </p:pic>
      <p:sp>
        <p:nvSpPr>
          <p:cNvPr id="13" name="Rectangle 12">
            <a:extLst>
              <a:ext uri="{FF2B5EF4-FFF2-40B4-BE49-F238E27FC236}">
                <a16:creationId xmlns:a16="http://schemas.microsoft.com/office/drawing/2014/main" id="{EC47373B-855F-4BBD-98DD-09D52BA45B6F}"/>
              </a:ext>
            </a:extLst>
          </p:cNvPr>
          <p:cNvSpPr>
            <a:spLocks noGrp="1"/>
          </p:cNvSpPr>
          <p:nvPr/>
        </p:nvSpPr>
        <p:spPr>
          <a:xfrm>
            <a:off x="8891588"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Thống kê</a:t>
            </a:r>
          </a:p>
        </p:txBody>
      </p:sp>
    </p:spTree>
    <p:extLst>
      <p:ext uri="{BB962C8B-B14F-4D97-AF65-F5344CB8AC3E}">
        <p14:creationId xmlns:p14="http://schemas.microsoft.com/office/powerpoint/2010/main" val="1251360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8FED357-7EB9-4996-BA2E-0F14835892F4}"/>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LUỒNG ĐĂNG NHẬP VÀ ĐĂNG KÝ</a:t>
            </a:r>
          </a:p>
        </p:txBody>
      </p:sp>
      <p:sp>
        <p:nvSpPr>
          <p:cNvPr id="2" name="Rectangle 1">
            <a:extLst>
              <a:ext uri="{FF2B5EF4-FFF2-40B4-BE49-F238E27FC236}">
                <a16:creationId xmlns:a16="http://schemas.microsoft.com/office/drawing/2014/main" id="{A8C5E805-0BDD-45A8-B55A-CEFEBF79C7E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Khởi động và xác thực tài khoản</a:t>
            </a:r>
          </a:p>
        </p:txBody>
      </p:sp>
      <p:sp>
        <p:nvSpPr>
          <p:cNvPr id="3" name="Rectangle 2">
            <a:extLst>
              <a:ext uri="{FF2B5EF4-FFF2-40B4-BE49-F238E27FC236}">
                <a16:creationId xmlns:a16="http://schemas.microsoft.com/office/drawing/2014/main" id="{4A958EED-3C78-4F1B-873A-D4E40789776D}"/>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B5594CC9-0D17-4E79-BA70-FD64C8309AC2}"/>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06</a:t>
            </a:r>
          </a:p>
        </p:txBody>
      </p:sp>
      <p:sp>
        <p:nvSpPr>
          <p:cNvPr id="5" name="Rectangle 4">
            <a:extLst>
              <a:ext uri="{FF2B5EF4-FFF2-40B4-BE49-F238E27FC236}">
                <a16:creationId xmlns:a16="http://schemas.microsoft.com/office/drawing/2014/main" id="{B27AF49A-6BD1-45AD-B428-4164A287AEC1}"/>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SplashActivity</a:t>
            </a:r>
          </a:p>
        </p:txBody>
      </p:sp>
      <p:sp>
        <p:nvSpPr>
          <p:cNvPr id="6" name="Rectangle 5">
            <a:extLst>
              <a:ext uri="{FF2B5EF4-FFF2-40B4-BE49-F238E27FC236}">
                <a16:creationId xmlns:a16="http://schemas.microsoft.com/office/drawing/2014/main" id="{FB31025A-99BC-4ABA-B607-82B4EC23CE2F}"/>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Kiểm tra phiên để mở LoginActivity hoặc MainActivity.</a:t>
            </a:r>
          </a:p>
        </p:txBody>
      </p:sp>
      <p:sp>
        <p:nvSpPr>
          <p:cNvPr id="7" name="Rectangle 6">
            <a:extLst>
              <a:ext uri="{FF2B5EF4-FFF2-40B4-BE49-F238E27FC236}">
                <a16:creationId xmlns:a16="http://schemas.microsoft.com/office/drawing/2014/main" id="{EB4493C3-28A6-4C47-A4FB-82EFCBD21FD6}"/>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LoginActivity</a:t>
            </a:r>
          </a:p>
        </p:txBody>
      </p:sp>
      <p:sp>
        <p:nvSpPr>
          <p:cNvPr id="8" name="Rectangle 7">
            <a:extLst>
              <a:ext uri="{FF2B5EF4-FFF2-40B4-BE49-F238E27FC236}">
                <a16:creationId xmlns:a16="http://schemas.microsoft.com/office/drawing/2014/main" id="{CE440871-FD48-47A1-AF11-84D45B287244}"/>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Đăng nhập thành công dẫn đến màn hình chính. Có lối mở đăng ký.</a:t>
            </a:r>
          </a:p>
        </p:txBody>
      </p:sp>
      <p:sp>
        <p:nvSpPr>
          <p:cNvPr id="9" name="Rectangle 8">
            <a:extLst>
              <a:ext uri="{FF2B5EF4-FFF2-40B4-BE49-F238E27FC236}">
                <a16:creationId xmlns:a16="http://schemas.microsoft.com/office/drawing/2014/main" id="{F0358835-1A9F-49BA-82A2-B48EB83C4019}"/>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RegisterActivity</a:t>
            </a:r>
          </a:p>
        </p:txBody>
      </p:sp>
      <p:sp>
        <p:nvSpPr>
          <p:cNvPr id="10" name="Rectangle 9">
            <a:extLst>
              <a:ext uri="{FF2B5EF4-FFF2-40B4-BE49-F238E27FC236}">
                <a16:creationId xmlns:a16="http://schemas.microsoft.com/office/drawing/2014/main" id="{62E729A3-A6BF-4353-8DAF-D861DA78E3B2}"/>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Hai bước trong cùng một Activity: tài khoản và hồ sơ ban đầu.</a:t>
            </a:r>
          </a:p>
        </p:txBody>
      </p:sp>
      <p:pic>
        <p:nvPicPr>
          <p:cNvPr id="11" name="Picture 10">
            <a:extLst>
              <a:ext uri="{FF2B5EF4-FFF2-40B4-BE49-F238E27FC236}">
                <a16:creationId xmlns:a16="http://schemas.microsoft.com/office/drawing/2014/main" id="{5C106082-063F-4C01-80BF-198A3FF87BE4}"/>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9934AC0D-9B85-4775-B817-889E617AF7F6}"/>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Đăng nhập</a:t>
            </a:r>
          </a:p>
        </p:txBody>
      </p:sp>
      <p:pic>
        <p:nvPicPr>
          <p:cNvPr id="13" name="Picture 12">
            <a:extLst>
              <a:ext uri="{FF2B5EF4-FFF2-40B4-BE49-F238E27FC236}">
                <a16:creationId xmlns:a16="http://schemas.microsoft.com/office/drawing/2014/main" id="{3E55D86E-618E-41C8-9177-9D8C02EFE221}"/>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42BC5349-5D2E-40BE-A2A8-F13120AA95C5}"/>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Đăng ký: tài khoản</a:t>
            </a:r>
          </a:p>
        </p:txBody>
      </p:sp>
      <p:pic>
        <p:nvPicPr>
          <p:cNvPr id="15" name="Picture 14">
            <a:extLst>
              <a:ext uri="{FF2B5EF4-FFF2-40B4-BE49-F238E27FC236}">
                <a16:creationId xmlns:a16="http://schemas.microsoft.com/office/drawing/2014/main" id="{B38DF2FA-DF3B-4F33-AD19-C579FEAA2D00}"/>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C3CD0DF8-895E-4432-94DE-4D56CCEA920F}"/>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Đăng ký: hồ sơ</a:t>
            </a:r>
          </a:p>
        </p:txBody>
      </p:sp>
    </p:spTree>
    <p:extLst>
      <p:ext uri="{BB962C8B-B14F-4D97-AF65-F5344CB8AC3E}">
        <p14:creationId xmlns:p14="http://schemas.microsoft.com/office/powerpoint/2010/main" val="1870232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9CD2C6F-4C90-435F-A508-F3390F42A64E}"/>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CÁC ĐIỂM TRUY CẬP NHANH</a:t>
            </a:r>
          </a:p>
        </p:txBody>
      </p:sp>
      <p:sp>
        <p:nvSpPr>
          <p:cNvPr id="2" name="Rectangle 1">
            <a:extLst>
              <a:ext uri="{FF2B5EF4-FFF2-40B4-BE49-F238E27FC236}">
                <a16:creationId xmlns:a16="http://schemas.microsoft.com/office/drawing/2014/main" id="{42D0CF5A-91FC-4217-B63B-A6E94D13B4E2}"/>
              </a:ext>
            </a:extLst>
          </p:cNvPr>
          <p:cNvSpPr>
            <a:spLocks noGrp="1"/>
          </p:cNvSpPr>
          <p:nvPr/>
        </p:nvSpPr>
        <p:spPr>
          <a:xfrm>
            <a:off x="514350" y="628650"/>
            <a:ext cx="11144250"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Trang chủ và quản lý hồ sơ</a:t>
            </a:r>
          </a:p>
        </p:txBody>
      </p:sp>
      <p:sp>
        <p:nvSpPr>
          <p:cNvPr id="3" name="Rectangle 2">
            <a:extLst>
              <a:ext uri="{FF2B5EF4-FFF2-40B4-BE49-F238E27FC236}">
                <a16:creationId xmlns:a16="http://schemas.microsoft.com/office/drawing/2014/main" id="{42238663-1CC6-4035-8714-35AF5BF9FDE0}"/>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6FC47F94-E801-4173-9FC1-FEB992D44B43}"/>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07</a:t>
            </a:r>
          </a:p>
        </p:txBody>
      </p:sp>
      <p:sp>
        <p:nvSpPr>
          <p:cNvPr id="5" name="Rectangle 4">
            <a:extLst>
              <a:ext uri="{FF2B5EF4-FFF2-40B4-BE49-F238E27FC236}">
                <a16:creationId xmlns:a16="http://schemas.microsoft.com/office/drawing/2014/main" id="{51CF1CB1-D102-4B91-B907-9C2C69EA4F66}"/>
              </a:ext>
            </a:extLst>
          </p:cNvPr>
          <p:cNvSpPr>
            <a:spLocks noGrp="1"/>
          </p:cNvSpPr>
          <p:nvPr/>
        </p:nvSpPr>
        <p:spPr>
          <a:xfrm>
            <a:off x="514350" y="14954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HomeFragment</a:t>
            </a:r>
          </a:p>
        </p:txBody>
      </p:sp>
      <p:sp>
        <p:nvSpPr>
          <p:cNvPr id="6" name="Rectangle 5">
            <a:extLst>
              <a:ext uri="{FF2B5EF4-FFF2-40B4-BE49-F238E27FC236}">
                <a16:creationId xmlns:a16="http://schemas.microsoft.com/office/drawing/2014/main" id="{19E677F2-318A-4B23-90A3-76E01F7DD8FE}"/>
              </a:ext>
            </a:extLst>
          </p:cNvPr>
          <p:cNvSpPr>
            <a:spLocks noGrp="1"/>
          </p:cNvSpPr>
          <p:nvPr/>
        </p:nvSpPr>
        <p:spPr>
          <a:xfrm>
            <a:off x="514350" y="18954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Chỉ số mới nhất, cữ kế tiếp</a:t>
            </a:r>
          </a:p>
          <a:p>
            <a:pPr>
              <a:buNone/>
              <a:defRPr sz="1650" b="0">
                <a:solidFill>
                  <a:srgbClr val="526B66"/>
                </a:solidFill>
                <a:latin typeface="Arial"/>
                <a:ea typeface="Arial"/>
                <a:cs typeface="Arial"/>
              </a:defRPr>
            </a:pPr>
            <a:r>
              <a:rPr sz="1650" b="0">
                <a:solidFill>
                  <a:srgbClr val="526B66"/>
                </a:solidFill>
                <a:latin typeface="Arial"/>
                <a:ea typeface="Arial"/>
                <a:cs typeface="Arial"/>
              </a:rPr>
              <a:t>và tiến độ nước.</a:t>
            </a:r>
          </a:p>
        </p:txBody>
      </p:sp>
      <p:sp>
        <p:nvSpPr>
          <p:cNvPr id="7" name="Rectangle 6">
            <a:extLst>
              <a:ext uri="{FF2B5EF4-FFF2-40B4-BE49-F238E27FC236}">
                <a16:creationId xmlns:a16="http://schemas.microsoft.com/office/drawing/2014/main" id="{A45EFD7B-7BC7-4F6A-A5E1-CDEE0CA27E05}"/>
              </a:ext>
            </a:extLst>
          </p:cNvPr>
          <p:cNvSpPr>
            <a:spLocks noGrp="1"/>
          </p:cNvSpPr>
          <p:nvPr/>
        </p:nvSpPr>
        <p:spPr>
          <a:xfrm>
            <a:off x="514350" y="26765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ProfileActivity</a:t>
            </a:r>
          </a:p>
        </p:txBody>
      </p:sp>
      <p:sp>
        <p:nvSpPr>
          <p:cNvPr id="8" name="Rectangle 7">
            <a:extLst>
              <a:ext uri="{FF2B5EF4-FFF2-40B4-BE49-F238E27FC236}">
                <a16:creationId xmlns:a16="http://schemas.microsoft.com/office/drawing/2014/main" id="{A5A3D8BB-7EF3-4B48-8B06-0C27D0A6909A}"/>
              </a:ext>
            </a:extLst>
          </p:cNvPr>
          <p:cNvSpPr>
            <a:spLocks noGrp="1"/>
          </p:cNvSpPr>
          <p:nvPr/>
        </p:nvSpPr>
        <p:spPr>
          <a:xfrm>
            <a:off x="514350" y="30765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Xem hồ sơ, mở BMI</a:t>
            </a:r>
          </a:p>
          <a:p>
            <a:pPr>
              <a:buNone/>
              <a:defRPr sz="1650" b="0">
                <a:solidFill>
                  <a:srgbClr val="526B66"/>
                </a:solidFill>
                <a:latin typeface="Arial"/>
                <a:ea typeface="Arial"/>
                <a:cs typeface="Arial"/>
              </a:defRPr>
            </a:pPr>
            <a:r>
              <a:rPr sz="1650" b="0">
                <a:solidFill>
                  <a:srgbClr val="526B66"/>
                </a:solidFill>
                <a:latin typeface="Arial"/>
                <a:ea typeface="Arial"/>
                <a:cs typeface="Arial"/>
              </a:rPr>
              <a:t>và thiết lập nước.</a:t>
            </a:r>
          </a:p>
        </p:txBody>
      </p:sp>
      <p:sp>
        <p:nvSpPr>
          <p:cNvPr id="9" name="Rectangle 8">
            <a:extLst>
              <a:ext uri="{FF2B5EF4-FFF2-40B4-BE49-F238E27FC236}">
                <a16:creationId xmlns:a16="http://schemas.microsoft.com/office/drawing/2014/main" id="{77F661E7-CAD6-4F8B-AA27-555E2AB1F8A1}"/>
              </a:ext>
            </a:extLst>
          </p:cNvPr>
          <p:cNvSpPr>
            <a:spLocks noGrp="1"/>
          </p:cNvSpPr>
          <p:nvPr/>
        </p:nvSpPr>
        <p:spPr>
          <a:xfrm>
            <a:off x="514350" y="38576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EditProfileActivity</a:t>
            </a:r>
          </a:p>
        </p:txBody>
      </p:sp>
      <p:sp>
        <p:nvSpPr>
          <p:cNvPr id="10" name="Rectangle 9">
            <a:extLst>
              <a:ext uri="{FF2B5EF4-FFF2-40B4-BE49-F238E27FC236}">
                <a16:creationId xmlns:a16="http://schemas.microsoft.com/office/drawing/2014/main" id="{0020720F-E35F-4277-954B-0E209E3984A1}"/>
              </a:ext>
            </a:extLst>
          </p:cNvPr>
          <p:cNvSpPr>
            <a:spLocks noGrp="1"/>
          </p:cNvSpPr>
          <p:nvPr/>
        </p:nvSpPr>
        <p:spPr>
          <a:xfrm>
            <a:off x="514350" y="42576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Sửa hồ sơ, cảnh báo</a:t>
            </a:r>
          </a:p>
          <a:p>
            <a:pPr>
              <a:buNone/>
              <a:defRPr sz="1650" b="0">
                <a:solidFill>
                  <a:srgbClr val="526B66"/>
                </a:solidFill>
                <a:latin typeface="Arial"/>
                <a:ea typeface="Arial"/>
                <a:cs typeface="Arial"/>
              </a:defRPr>
            </a:pPr>
            <a:r>
              <a:rPr sz="1650" b="0">
                <a:solidFill>
                  <a:srgbClr val="526B66"/>
                </a:solidFill>
                <a:latin typeface="Arial"/>
                <a:ea typeface="Arial"/>
                <a:cs typeface="Arial"/>
              </a:rPr>
              <a:t>khi rời biểu mẫu chưa lưu.</a:t>
            </a:r>
          </a:p>
        </p:txBody>
      </p:sp>
      <p:sp>
        <p:nvSpPr>
          <p:cNvPr id="11" name="Rectangle 10">
            <a:extLst>
              <a:ext uri="{FF2B5EF4-FFF2-40B4-BE49-F238E27FC236}">
                <a16:creationId xmlns:a16="http://schemas.microsoft.com/office/drawing/2014/main" id="{15AD8637-65F8-4B2E-B39A-524248F7BF73}"/>
              </a:ext>
            </a:extLst>
          </p:cNvPr>
          <p:cNvSpPr>
            <a:spLocks noGrp="1"/>
          </p:cNvSpPr>
          <p:nvPr/>
        </p:nvSpPr>
        <p:spPr>
          <a:xfrm>
            <a:off x="514350" y="50387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BmiActivity</a:t>
            </a:r>
          </a:p>
        </p:txBody>
      </p:sp>
      <p:sp>
        <p:nvSpPr>
          <p:cNvPr id="12" name="Rectangle 11">
            <a:extLst>
              <a:ext uri="{FF2B5EF4-FFF2-40B4-BE49-F238E27FC236}">
                <a16:creationId xmlns:a16="http://schemas.microsoft.com/office/drawing/2014/main" id="{16CE2458-9596-439F-8363-9D59DC0EDCAA}"/>
              </a:ext>
            </a:extLst>
          </p:cNvPr>
          <p:cNvSpPr>
            <a:spLocks noGrp="1"/>
          </p:cNvSpPr>
          <p:nvPr/>
        </p:nvSpPr>
        <p:spPr>
          <a:xfrm>
            <a:off x="514350" y="54387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Mở từ Trang chủ hoặc Hồ sơ.</a:t>
            </a:r>
          </a:p>
          <a:p>
            <a:pPr>
              <a:buNone/>
              <a:defRPr sz="1650" b="0">
                <a:solidFill>
                  <a:srgbClr val="526B66"/>
                </a:solidFill>
                <a:latin typeface="Arial"/>
                <a:ea typeface="Arial"/>
                <a:cs typeface="Arial"/>
              </a:defRPr>
            </a:pPr>
            <a:r>
              <a:rPr sz="1650" b="0">
                <a:solidFill>
                  <a:srgbClr val="526B66"/>
                </a:solidFill>
                <a:latin typeface="Arial"/>
                <a:ea typeface="Arial"/>
                <a:cs typeface="Arial"/>
              </a:rPr>
              <a:t>Tính BMI, chọn bộ ngưỡng.</a:t>
            </a:r>
          </a:p>
        </p:txBody>
      </p:sp>
      <p:pic>
        <p:nvPicPr>
          <p:cNvPr id="13" name="Picture 12">
            <a:extLst>
              <a:ext uri="{FF2B5EF4-FFF2-40B4-BE49-F238E27FC236}">
                <a16:creationId xmlns:a16="http://schemas.microsoft.com/office/drawing/2014/main" id="{8006F9C7-34AB-4EBB-8F5B-F2F6A9D964B2}"/>
              </a:ext>
            </a:extLst>
          </p:cNvPr>
          <p:cNvPicPr>
            <a:picLocks noChangeAspect="1"/>
          </p:cNvPicPr>
          <p:nvPr/>
        </p:nvPicPr>
        <p:blipFill>
          <a:blip r:embed="rId3"/>
          <a:stretch/>
        </p:blipFill>
        <p:spPr>
          <a:xfrm>
            <a:off x="4452144" y="1409700"/>
            <a:ext cx="2100263" cy="4667250"/>
          </a:xfrm>
          <a:prstGeom prst="rect">
            <a:avLst/>
          </a:prstGeom>
        </p:spPr>
      </p:pic>
      <p:sp>
        <p:nvSpPr>
          <p:cNvPr id="14" name="Rectangle 13">
            <a:extLst>
              <a:ext uri="{FF2B5EF4-FFF2-40B4-BE49-F238E27FC236}">
                <a16:creationId xmlns:a16="http://schemas.microsoft.com/office/drawing/2014/main" id="{E4B1419A-3261-49C7-87D4-3A49B0F026ED}"/>
              </a:ext>
            </a:extLst>
          </p:cNvPr>
          <p:cNvSpPr>
            <a:spLocks noGrp="1"/>
          </p:cNvSpPr>
          <p:nvPr/>
        </p:nvSpPr>
        <p:spPr>
          <a:xfrm>
            <a:off x="4305300" y="6143625"/>
            <a:ext cx="2393950" cy="304800"/>
          </a:xfrm>
          <a:prstGeom prst="rect">
            <a:avLst/>
          </a:prstGeom>
          <a:noFill/>
          <a:ln w="0">
            <a:noFill/>
          </a:ln>
        </p:spPr>
        <p:txBody>
          <a:bodyPr wrap="square">
            <a:noAutofit/>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15" name="Picture 14">
            <a:extLst>
              <a:ext uri="{FF2B5EF4-FFF2-40B4-BE49-F238E27FC236}">
                <a16:creationId xmlns:a16="http://schemas.microsoft.com/office/drawing/2014/main" id="{EEA60E23-4A81-4CA7-A039-C92241B0348E}"/>
              </a:ext>
            </a:extLst>
          </p:cNvPr>
          <p:cNvPicPr>
            <a:picLocks noChangeAspect="1"/>
          </p:cNvPicPr>
          <p:nvPr/>
        </p:nvPicPr>
        <p:blipFill>
          <a:blip r:embed="rId4"/>
          <a:stretch/>
        </p:blipFill>
        <p:spPr>
          <a:xfrm>
            <a:off x="6865144" y="1409700"/>
            <a:ext cx="2100263" cy="4667250"/>
          </a:xfrm>
          <a:prstGeom prst="rect">
            <a:avLst/>
          </a:prstGeom>
        </p:spPr>
      </p:pic>
      <p:sp>
        <p:nvSpPr>
          <p:cNvPr id="16" name="Rectangle 15">
            <a:extLst>
              <a:ext uri="{FF2B5EF4-FFF2-40B4-BE49-F238E27FC236}">
                <a16:creationId xmlns:a16="http://schemas.microsoft.com/office/drawing/2014/main" id="{8AF52B0A-667B-4EFD-B73F-0990D91FD770}"/>
              </a:ext>
            </a:extLst>
          </p:cNvPr>
          <p:cNvSpPr>
            <a:spLocks noGrp="1"/>
          </p:cNvSpPr>
          <p:nvPr/>
        </p:nvSpPr>
        <p:spPr>
          <a:xfrm>
            <a:off x="6718300" y="6143625"/>
            <a:ext cx="2393950" cy="304800"/>
          </a:xfrm>
          <a:prstGeom prst="rect">
            <a:avLst/>
          </a:prstGeom>
          <a:noFill/>
          <a:ln w="0">
            <a:noFill/>
          </a:ln>
        </p:spPr>
        <p:txBody>
          <a:bodyPr wrap="square">
            <a:noAutofit/>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Hồ sơ</a:t>
            </a:r>
          </a:p>
        </p:txBody>
      </p:sp>
      <p:pic>
        <p:nvPicPr>
          <p:cNvPr id="17" name="Picture 16">
            <a:extLst>
              <a:ext uri="{FF2B5EF4-FFF2-40B4-BE49-F238E27FC236}">
                <a16:creationId xmlns:a16="http://schemas.microsoft.com/office/drawing/2014/main" id="{F3452FCC-DCFE-4D10-AFB0-C6A3C378719F}"/>
              </a:ext>
            </a:extLst>
          </p:cNvPr>
          <p:cNvPicPr>
            <a:picLocks noChangeAspect="1"/>
          </p:cNvPicPr>
          <p:nvPr/>
        </p:nvPicPr>
        <p:blipFill>
          <a:blip r:embed="rId5"/>
          <a:stretch/>
        </p:blipFill>
        <p:spPr>
          <a:xfrm>
            <a:off x="9278144" y="1409700"/>
            <a:ext cx="2100263" cy="4667250"/>
          </a:xfrm>
          <a:prstGeom prst="rect">
            <a:avLst/>
          </a:prstGeom>
        </p:spPr>
      </p:pic>
      <p:sp>
        <p:nvSpPr>
          <p:cNvPr id="18" name="Rectangle 17">
            <a:extLst>
              <a:ext uri="{FF2B5EF4-FFF2-40B4-BE49-F238E27FC236}">
                <a16:creationId xmlns:a16="http://schemas.microsoft.com/office/drawing/2014/main" id="{34461A3C-AFA9-442D-B4C8-978FE4AC97D5}"/>
              </a:ext>
            </a:extLst>
          </p:cNvPr>
          <p:cNvSpPr>
            <a:spLocks noGrp="1"/>
          </p:cNvSpPr>
          <p:nvPr/>
        </p:nvSpPr>
        <p:spPr>
          <a:xfrm>
            <a:off x="9131300" y="6143625"/>
            <a:ext cx="2393950" cy="304800"/>
          </a:xfrm>
          <a:prstGeom prst="rect">
            <a:avLst/>
          </a:prstGeom>
          <a:noFill/>
          <a:ln w="0">
            <a:noFill/>
          </a:ln>
        </p:spPr>
        <p:txBody>
          <a:bodyPr wrap="square">
            <a:noAutofit/>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Chỉnh sửa hồ sơ</a:t>
            </a:r>
          </a:p>
        </p:txBody>
      </p:sp>
    </p:spTree>
    <p:extLst>
      <p:ext uri="{BB962C8B-B14F-4D97-AF65-F5344CB8AC3E}">
        <p14:creationId xmlns:p14="http://schemas.microsoft.com/office/powerpoint/2010/main" val="1120671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95E8C14-6DC6-4B68-9237-A16B04BBCA19}"/>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LUỒNG MÀN HÌNH SỨC KHỎE</a:t>
            </a:r>
          </a:p>
        </p:txBody>
      </p:sp>
      <p:sp>
        <p:nvSpPr>
          <p:cNvPr id="2" name="Rectangle 1">
            <a:extLst>
              <a:ext uri="{FF2B5EF4-FFF2-40B4-BE49-F238E27FC236}">
                <a16:creationId xmlns:a16="http://schemas.microsoft.com/office/drawing/2014/main" id="{EA05981B-BE17-4DB1-9C2F-969B4C229558}"/>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Danh sách, nhập liệu và chi tiết lần đo</a:t>
            </a:r>
          </a:p>
        </p:txBody>
      </p:sp>
      <p:sp>
        <p:nvSpPr>
          <p:cNvPr id="3" name="Rectangle 2">
            <a:extLst>
              <a:ext uri="{FF2B5EF4-FFF2-40B4-BE49-F238E27FC236}">
                <a16:creationId xmlns:a16="http://schemas.microsoft.com/office/drawing/2014/main" id="{46C921A8-4F9A-40C6-959F-93921EBAE6EC}"/>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AF42BE20-1B78-4F05-8190-5675CD0B993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08</a:t>
            </a:r>
          </a:p>
        </p:txBody>
      </p:sp>
      <p:sp>
        <p:nvSpPr>
          <p:cNvPr id="5" name="Rectangle 4">
            <a:extLst>
              <a:ext uri="{FF2B5EF4-FFF2-40B4-BE49-F238E27FC236}">
                <a16:creationId xmlns:a16="http://schemas.microsoft.com/office/drawing/2014/main" id="{4B6F2DF0-FA26-498A-9B58-83ADDE60F204}"/>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HealthFragment</a:t>
            </a:r>
          </a:p>
        </p:txBody>
      </p:sp>
      <p:sp>
        <p:nvSpPr>
          <p:cNvPr id="6" name="Rectangle 5">
            <a:extLst>
              <a:ext uri="{FF2B5EF4-FFF2-40B4-BE49-F238E27FC236}">
                <a16:creationId xmlns:a16="http://schemas.microsoft.com/office/drawing/2014/main" id="{BF1C6495-C844-426C-8CDD-2478E99A4D50}"/>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Lọc lần đo theo khoảng ngày, chọn bản ghi để xem chi tiết.</a:t>
            </a:r>
          </a:p>
        </p:txBody>
      </p:sp>
      <p:sp>
        <p:nvSpPr>
          <p:cNvPr id="7" name="Rectangle 6">
            <a:extLst>
              <a:ext uri="{FF2B5EF4-FFF2-40B4-BE49-F238E27FC236}">
                <a16:creationId xmlns:a16="http://schemas.microsoft.com/office/drawing/2014/main" id="{FCC75994-D75F-42C1-8E14-AB5BB90C60E9}"/>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AddHealthActivity</a:t>
            </a:r>
          </a:p>
        </p:txBody>
      </p:sp>
      <p:sp>
        <p:nvSpPr>
          <p:cNvPr id="8" name="Rectangle 7">
            <a:extLst>
              <a:ext uri="{FF2B5EF4-FFF2-40B4-BE49-F238E27FC236}">
                <a16:creationId xmlns:a16="http://schemas.microsoft.com/office/drawing/2014/main" id="{6671ADB1-2D60-49B0-BFB7-F19A372ED89D}"/>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Dùng chung cho thêm mới và chỉnh sửa bản ghi sức khỏe.</a:t>
            </a:r>
          </a:p>
        </p:txBody>
      </p:sp>
      <p:sp>
        <p:nvSpPr>
          <p:cNvPr id="9" name="Rectangle 8">
            <a:extLst>
              <a:ext uri="{FF2B5EF4-FFF2-40B4-BE49-F238E27FC236}">
                <a16:creationId xmlns:a16="http://schemas.microsoft.com/office/drawing/2014/main" id="{12A1B64C-E8D4-4460-B0D8-BCBA3E2FA760}"/>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DetailHealthActivity</a:t>
            </a:r>
          </a:p>
        </p:txBody>
      </p:sp>
      <p:sp>
        <p:nvSpPr>
          <p:cNvPr id="10" name="Rectangle 9">
            <a:extLst>
              <a:ext uri="{FF2B5EF4-FFF2-40B4-BE49-F238E27FC236}">
                <a16:creationId xmlns:a16="http://schemas.microsoft.com/office/drawing/2014/main" id="{C4FA7ABC-4792-4D51-BA8C-85B7A9CF891D}"/>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Xem ngày giờ, giá trị, đơn vị và đối chiếu với lần đo trước phù hợp.</a:t>
            </a:r>
          </a:p>
        </p:txBody>
      </p:sp>
      <p:pic>
        <p:nvPicPr>
          <p:cNvPr id="11" name="Picture 10">
            <a:extLst>
              <a:ext uri="{FF2B5EF4-FFF2-40B4-BE49-F238E27FC236}">
                <a16:creationId xmlns:a16="http://schemas.microsoft.com/office/drawing/2014/main" id="{7AE6C875-4FCC-4B5F-BCD3-BFD08AF8B607}"/>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2025D0A0-AAA1-4EEE-97B8-E58E9ABDA0D6}"/>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Danh sách lần đo</a:t>
            </a:r>
          </a:p>
        </p:txBody>
      </p:sp>
      <p:pic>
        <p:nvPicPr>
          <p:cNvPr id="13" name="Picture 12">
            <a:extLst>
              <a:ext uri="{FF2B5EF4-FFF2-40B4-BE49-F238E27FC236}">
                <a16:creationId xmlns:a16="http://schemas.microsoft.com/office/drawing/2014/main" id="{93E82F2F-242F-4851-825B-6DE4154D8A90}"/>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7CCD9225-D26D-4CB0-A75C-58431307267F}"/>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Ghi chỉ số</a:t>
            </a:r>
          </a:p>
        </p:txBody>
      </p:sp>
      <p:pic>
        <p:nvPicPr>
          <p:cNvPr id="15" name="Picture 14">
            <a:extLst>
              <a:ext uri="{FF2B5EF4-FFF2-40B4-BE49-F238E27FC236}">
                <a16:creationId xmlns:a16="http://schemas.microsoft.com/office/drawing/2014/main" id="{C15B55F8-C3A8-4F44-A9B2-A5177226FE79}"/>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8D9A4F81-9D2F-48A8-B9E7-0B212817D5B8}"/>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Chi tiết lần đo</a:t>
            </a:r>
          </a:p>
        </p:txBody>
      </p:sp>
    </p:spTree>
    <p:extLst>
      <p:ext uri="{BB962C8B-B14F-4D97-AF65-F5344CB8AC3E}">
        <p14:creationId xmlns:p14="http://schemas.microsoft.com/office/powerpoint/2010/main" val="1502940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2CBA9BC-5145-448F-8973-0B68F0C11947}"/>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NHẮC NHỞ VÀ THUỐC</a:t>
            </a:r>
          </a:p>
        </p:txBody>
      </p:sp>
      <p:sp>
        <p:nvSpPr>
          <p:cNvPr id="2" name="Rectangle 1">
            <a:extLst>
              <a:ext uri="{FF2B5EF4-FFF2-40B4-BE49-F238E27FC236}">
                <a16:creationId xmlns:a16="http://schemas.microsoft.com/office/drawing/2014/main" id="{E27CC688-5064-44D8-A45D-229CFDFACCA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Các màn hình quản lý lịch thuốc</a:t>
            </a:r>
          </a:p>
        </p:txBody>
      </p:sp>
      <p:sp>
        <p:nvSpPr>
          <p:cNvPr id="3" name="Rectangle 2">
            <a:extLst>
              <a:ext uri="{FF2B5EF4-FFF2-40B4-BE49-F238E27FC236}">
                <a16:creationId xmlns:a16="http://schemas.microsoft.com/office/drawing/2014/main" id="{15F1E02F-4F28-4DF3-A076-C8861043A817}"/>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92AFC330-681F-4D8A-8AAE-B14AD92ED6C5}"/>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09</a:t>
            </a:r>
          </a:p>
        </p:txBody>
      </p:sp>
      <p:sp>
        <p:nvSpPr>
          <p:cNvPr id="5" name="Rectangle 4">
            <a:extLst>
              <a:ext uri="{FF2B5EF4-FFF2-40B4-BE49-F238E27FC236}">
                <a16:creationId xmlns:a16="http://schemas.microsoft.com/office/drawing/2014/main" id="{B4E4975F-DD5D-431A-B6E4-638A413AE2FD}"/>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ReminderFragment</a:t>
            </a:r>
          </a:p>
        </p:txBody>
      </p:sp>
      <p:sp>
        <p:nvSpPr>
          <p:cNvPr id="6" name="Rectangle 5">
            <a:extLst>
              <a:ext uri="{FF2B5EF4-FFF2-40B4-BE49-F238E27FC236}">
                <a16:creationId xmlns:a16="http://schemas.microsoft.com/office/drawing/2014/main" id="{FEE27065-4D9F-4F23-A079-B0F03F6619FC}"/>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Chuyển giữa cữ hôm nay và danh sách thuốc.</a:t>
            </a:r>
          </a:p>
        </p:txBody>
      </p:sp>
      <p:sp>
        <p:nvSpPr>
          <p:cNvPr id="7" name="Rectangle 6">
            <a:extLst>
              <a:ext uri="{FF2B5EF4-FFF2-40B4-BE49-F238E27FC236}">
                <a16:creationId xmlns:a16="http://schemas.microsoft.com/office/drawing/2014/main" id="{126B4C5C-47E5-4502-A8D1-72D602A95AFF}"/>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AddMedicineActivity</a:t>
            </a:r>
          </a:p>
        </p:txBody>
      </p:sp>
      <p:sp>
        <p:nvSpPr>
          <p:cNvPr id="8" name="Rectangle 7">
            <a:extLst>
              <a:ext uri="{FF2B5EF4-FFF2-40B4-BE49-F238E27FC236}">
                <a16:creationId xmlns:a16="http://schemas.microsoft.com/office/drawing/2014/main" id="{9718CCFC-427C-42A2-BFFC-C08BA189302A}"/>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Thêm hoặc sửa thuốc, giờ uống và ngày lặp trong tuần.</a:t>
            </a:r>
          </a:p>
        </p:txBody>
      </p:sp>
      <p:sp>
        <p:nvSpPr>
          <p:cNvPr id="9" name="Rectangle 8">
            <a:extLst>
              <a:ext uri="{FF2B5EF4-FFF2-40B4-BE49-F238E27FC236}">
                <a16:creationId xmlns:a16="http://schemas.microsoft.com/office/drawing/2014/main" id="{2A4E6CB2-7F3E-4BA6-8211-59364C536106}"/>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MedicineDoseDialogs</a:t>
            </a:r>
          </a:p>
        </p:txBody>
      </p:sp>
      <p:sp>
        <p:nvSpPr>
          <p:cNvPr id="10" name="Rectangle 9">
            <a:extLst>
              <a:ext uri="{FF2B5EF4-FFF2-40B4-BE49-F238E27FC236}">
                <a16:creationId xmlns:a16="http://schemas.microsoft.com/office/drawing/2014/main" id="{5F3D30E6-83B4-41B6-89A2-10B4A1558342}"/>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Mở xác nhận cữ, điều chỉnh kết quả, lịch sử và xác nhận xóa thuốc.</a:t>
            </a:r>
          </a:p>
        </p:txBody>
      </p:sp>
      <p:pic>
        <p:nvPicPr>
          <p:cNvPr id="11" name="Picture 10">
            <a:extLst>
              <a:ext uri="{FF2B5EF4-FFF2-40B4-BE49-F238E27FC236}">
                <a16:creationId xmlns:a16="http://schemas.microsoft.com/office/drawing/2014/main" id="{C95EEE89-962A-430C-9F4B-3C6B03853D4B}"/>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04F59B4E-9317-47F7-827E-341908A9D74F}"/>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Danh sách thuốc</a:t>
            </a:r>
          </a:p>
        </p:txBody>
      </p:sp>
      <p:pic>
        <p:nvPicPr>
          <p:cNvPr id="13" name="Picture 12">
            <a:extLst>
              <a:ext uri="{FF2B5EF4-FFF2-40B4-BE49-F238E27FC236}">
                <a16:creationId xmlns:a16="http://schemas.microsoft.com/office/drawing/2014/main" id="{FDF88A60-6479-4331-BCC1-47D8C30D33CA}"/>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7F7B400D-43E4-4499-B42F-2F1200FB066E}"/>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Thiết lập lịch</a:t>
            </a:r>
          </a:p>
        </p:txBody>
      </p:sp>
      <p:pic>
        <p:nvPicPr>
          <p:cNvPr id="15" name="Picture 14">
            <a:extLst>
              <a:ext uri="{FF2B5EF4-FFF2-40B4-BE49-F238E27FC236}">
                <a16:creationId xmlns:a16="http://schemas.microsoft.com/office/drawing/2014/main" id="{96F0FE9F-3FE0-4B35-AC23-1D7DCDD9493B}"/>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36CC924F-D375-4F9E-B514-51C48F2418BC}"/>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Xác nhận cữ thuốc</a:t>
            </a:r>
          </a:p>
        </p:txBody>
      </p:sp>
    </p:spTree>
    <p:extLst>
      <p:ext uri="{BB962C8B-B14F-4D97-AF65-F5344CB8AC3E}">
        <p14:creationId xmlns:p14="http://schemas.microsoft.com/office/powerpoint/2010/main" val="978467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9DFD8FC-62B5-4B2B-8C68-EEF6934DA835}"/>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GIAO DIỆN THEO DÕI NƯỚC</a:t>
            </a:r>
          </a:p>
        </p:txBody>
      </p:sp>
      <p:sp>
        <p:nvSpPr>
          <p:cNvPr id="2" name="Rectangle 1">
            <a:extLst>
              <a:ext uri="{FF2B5EF4-FFF2-40B4-BE49-F238E27FC236}">
                <a16:creationId xmlns:a16="http://schemas.microsoft.com/office/drawing/2014/main" id="{21FB1205-A242-4BA4-BB7D-5D4ED7665F9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Nhật ký nước và các biểu mẫu bổ trợ</a:t>
            </a:r>
          </a:p>
        </p:txBody>
      </p:sp>
      <p:sp>
        <p:nvSpPr>
          <p:cNvPr id="3" name="Rectangle 2">
            <a:extLst>
              <a:ext uri="{FF2B5EF4-FFF2-40B4-BE49-F238E27FC236}">
                <a16:creationId xmlns:a16="http://schemas.microsoft.com/office/drawing/2014/main" id="{53E8F84A-0400-4978-A85F-97236EABD04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3E603F45-3AF7-4DDF-ADB7-0913BE4ACBC8}"/>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10</a:t>
            </a:r>
          </a:p>
        </p:txBody>
      </p:sp>
      <p:sp>
        <p:nvSpPr>
          <p:cNvPr id="5" name="Rectangle 4">
            <a:extLst>
              <a:ext uri="{FF2B5EF4-FFF2-40B4-BE49-F238E27FC236}">
                <a16:creationId xmlns:a16="http://schemas.microsoft.com/office/drawing/2014/main" id="{2960CC1C-0004-4D74-9A52-600DBBD9F459}"/>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Nhật ký từng lần uống</a:t>
            </a:r>
          </a:p>
        </p:txBody>
      </p:sp>
      <p:sp>
        <p:nvSpPr>
          <p:cNvPr id="6" name="Rectangle 5">
            <a:extLst>
              <a:ext uri="{FF2B5EF4-FFF2-40B4-BE49-F238E27FC236}">
                <a16:creationId xmlns:a16="http://schemas.microsoft.com/office/drawing/2014/main" id="{17A96DE1-0066-4DFF-8403-7AD3DE3708EE}"/>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WaterJournalDialog là DialogFragment, không phải Activity riêng.</a:t>
            </a:r>
          </a:p>
        </p:txBody>
      </p:sp>
      <p:sp>
        <p:nvSpPr>
          <p:cNvPr id="7" name="Rectangle 6">
            <a:extLst>
              <a:ext uri="{FF2B5EF4-FFF2-40B4-BE49-F238E27FC236}">
                <a16:creationId xmlns:a16="http://schemas.microsoft.com/office/drawing/2014/main" id="{52BBCAD4-B6A6-4340-B76F-7281595C588F}"/>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Các điểm truy cập</a:t>
            </a:r>
          </a:p>
        </p:txBody>
      </p:sp>
      <p:sp>
        <p:nvSpPr>
          <p:cNvPr id="8" name="Rectangle 7">
            <a:extLst>
              <a:ext uri="{FF2B5EF4-FFF2-40B4-BE49-F238E27FC236}">
                <a16:creationId xmlns:a16="http://schemas.microsoft.com/office/drawing/2014/main" id="{A184A2C0-31FE-43FF-8A6F-D0B2241F5527}"/>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Mở từ Trang chủ, Nhắc nhở hoặc dữ liệu thống kê nước.</a:t>
            </a:r>
          </a:p>
        </p:txBody>
      </p:sp>
      <p:sp>
        <p:nvSpPr>
          <p:cNvPr id="9" name="Rectangle 8">
            <a:extLst>
              <a:ext uri="{FF2B5EF4-FFF2-40B4-BE49-F238E27FC236}">
                <a16:creationId xmlns:a16="http://schemas.microsoft.com/office/drawing/2014/main" id="{A4EE6EE8-DDEC-46AD-AEDE-F8EC732D94F6}"/>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Các thao tác</a:t>
            </a:r>
          </a:p>
        </p:txBody>
      </p:sp>
      <p:sp>
        <p:nvSpPr>
          <p:cNvPr id="10" name="Rectangle 9">
            <a:extLst>
              <a:ext uri="{FF2B5EF4-FFF2-40B4-BE49-F238E27FC236}">
                <a16:creationId xmlns:a16="http://schemas.microsoft.com/office/drawing/2014/main" id="{AB2183A4-9E14-4B34-BAFF-AC94F0A1C774}"/>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Thêm lượng nước, chỉnh sửa lần ghi nhận và thiết lập lịch nhắc trong hồ sơ.</a:t>
            </a:r>
          </a:p>
        </p:txBody>
      </p:sp>
      <p:pic>
        <p:nvPicPr>
          <p:cNvPr id="11" name="Picture 10">
            <a:extLst>
              <a:ext uri="{FF2B5EF4-FFF2-40B4-BE49-F238E27FC236}">
                <a16:creationId xmlns:a16="http://schemas.microsoft.com/office/drawing/2014/main" id="{C12E7AE7-DABE-4051-A0C5-C60F874073D9}"/>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F8CEDF82-13A9-488D-AE16-BAE429949855}"/>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Nhật ký nước</a:t>
            </a:r>
          </a:p>
        </p:txBody>
      </p:sp>
      <p:pic>
        <p:nvPicPr>
          <p:cNvPr id="13" name="Picture 12">
            <a:extLst>
              <a:ext uri="{FF2B5EF4-FFF2-40B4-BE49-F238E27FC236}">
                <a16:creationId xmlns:a16="http://schemas.microsoft.com/office/drawing/2014/main" id="{9E7EA335-724F-4F77-B4C6-4BD8D3CED43A}"/>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6853CBB6-9983-4356-9F48-766E13D49D0D}"/>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Sửa lần uống</a:t>
            </a:r>
          </a:p>
        </p:txBody>
      </p:sp>
      <p:pic>
        <p:nvPicPr>
          <p:cNvPr id="15" name="Picture 14">
            <a:extLst>
              <a:ext uri="{FF2B5EF4-FFF2-40B4-BE49-F238E27FC236}">
                <a16:creationId xmlns:a16="http://schemas.microsoft.com/office/drawing/2014/main" id="{93AC81E5-3A93-486C-9AD9-F773DB97AC7B}"/>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8F1A10E6-D33A-4765-AE96-35F3EE628E50}"/>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Cài đặt nước</a:t>
            </a:r>
          </a:p>
        </p:txBody>
      </p:sp>
    </p:spTree>
    <p:extLst>
      <p:ext uri="{BB962C8B-B14F-4D97-AF65-F5344CB8AC3E}">
        <p14:creationId xmlns:p14="http://schemas.microsoft.com/office/powerpoint/2010/main" val="701566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63F5A1E-0477-4D29-BB20-C404B3101D6B}"/>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STATSFRAGMENT</a:t>
            </a:r>
          </a:p>
        </p:txBody>
      </p:sp>
      <p:sp>
        <p:nvSpPr>
          <p:cNvPr id="2" name="Rectangle 1">
            <a:extLst>
              <a:ext uri="{FF2B5EF4-FFF2-40B4-BE49-F238E27FC236}">
                <a16:creationId xmlns:a16="http://schemas.microsoft.com/office/drawing/2014/main" id="{51FE91C4-D31D-4EE7-B3CB-78B57B94231F}"/>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Màn hình thống kê và trạng thái dữ liệu</a:t>
            </a:r>
          </a:p>
        </p:txBody>
      </p:sp>
      <p:sp>
        <p:nvSpPr>
          <p:cNvPr id="3" name="Rectangle 2">
            <a:extLst>
              <a:ext uri="{FF2B5EF4-FFF2-40B4-BE49-F238E27FC236}">
                <a16:creationId xmlns:a16="http://schemas.microsoft.com/office/drawing/2014/main" id="{DEDA2AD7-C365-4184-87AA-4C754DD96BD4}"/>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AA736EBE-8F6F-4BAF-A7D2-A2018BB989FB}"/>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11</a:t>
            </a:r>
          </a:p>
        </p:txBody>
      </p:sp>
      <p:sp>
        <p:nvSpPr>
          <p:cNvPr id="5" name="Rectangle 4">
            <a:extLst>
              <a:ext uri="{FF2B5EF4-FFF2-40B4-BE49-F238E27FC236}">
                <a16:creationId xmlns:a16="http://schemas.microsoft.com/office/drawing/2014/main" id="{3D121896-D979-48B4-A219-7070D6E5E30E}"/>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Chọn khoảng thời gian</a:t>
            </a:r>
          </a:p>
        </p:txBody>
      </p:sp>
      <p:sp>
        <p:nvSpPr>
          <p:cNvPr id="6" name="Rectangle 5">
            <a:extLst>
              <a:ext uri="{FF2B5EF4-FFF2-40B4-BE49-F238E27FC236}">
                <a16:creationId xmlns:a16="http://schemas.microsoft.com/office/drawing/2014/main" id="{0E412A53-F9CE-495E-81A6-A8A08C082FA7}"/>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Theo dõi 7 hoặc 30 ngày, chọn chỉ số cần xem.</a:t>
            </a:r>
          </a:p>
        </p:txBody>
      </p:sp>
      <p:sp>
        <p:nvSpPr>
          <p:cNvPr id="7" name="Rectangle 6">
            <a:extLst>
              <a:ext uri="{FF2B5EF4-FFF2-40B4-BE49-F238E27FC236}">
                <a16:creationId xmlns:a16="http://schemas.microsoft.com/office/drawing/2014/main" id="{B669ED87-56D2-42B1-8D27-744DCE341A6C}"/>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Biểu đồ theo dữ liệu</a:t>
            </a:r>
          </a:p>
        </p:txBody>
      </p:sp>
      <p:sp>
        <p:nvSpPr>
          <p:cNvPr id="8" name="Rectangle 7">
            <a:extLst>
              <a:ext uri="{FF2B5EF4-FFF2-40B4-BE49-F238E27FC236}">
                <a16:creationId xmlns:a16="http://schemas.microsoft.com/office/drawing/2014/main" id="{948A5752-3510-455C-ADB0-B27671A60C5F}"/>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Chỉ số đo dùng biểu đồ đường. Nước uống dùng biểu đồ cột theo ngày.</a:t>
            </a:r>
          </a:p>
        </p:txBody>
      </p:sp>
      <p:sp>
        <p:nvSpPr>
          <p:cNvPr id="9" name="Rectangle 8">
            <a:extLst>
              <a:ext uri="{FF2B5EF4-FFF2-40B4-BE49-F238E27FC236}">
                <a16:creationId xmlns:a16="http://schemas.microsoft.com/office/drawing/2014/main" id="{0DEEC6A8-0AA6-44FD-9C54-10D698F2370A}"/>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Bối cảnh và dữ liệu trống</a:t>
            </a:r>
          </a:p>
        </p:txBody>
      </p:sp>
      <p:sp>
        <p:nvSpPr>
          <p:cNvPr id="10" name="Rectangle 9">
            <a:extLst>
              <a:ext uri="{FF2B5EF4-FFF2-40B4-BE49-F238E27FC236}">
                <a16:creationId xmlns:a16="http://schemas.microsoft.com/office/drawing/2014/main" id="{09C504DF-ED76-485C-A130-6E2E05900D9D}"/>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Đường huyết lọc theo bữa ăn. Khi chưa có dữ liệu, hiển thị trạng thái trống.</a:t>
            </a:r>
          </a:p>
        </p:txBody>
      </p:sp>
      <p:pic>
        <p:nvPicPr>
          <p:cNvPr id="11" name="Picture 10">
            <a:extLst>
              <a:ext uri="{FF2B5EF4-FFF2-40B4-BE49-F238E27FC236}">
                <a16:creationId xmlns:a16="http://schemas.microsoft.com/office/drawing/2014/main" id="{F1A32070-F908-424E-884F-DDDB4D1944CE}"/>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BAA1CC71-D81C-4137-947F-12552CD93239}"/>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Đường huyết</a:t>
            </a:r>
          </a:p>
        </p:txBody>
      </p:sp>
      <p:pic>
        <p:nvPicPr>
          <p:cNvPr id="13" name="Picture 12">
            <a:extLst>
              <a:ext uri="{FF2B5EF4-FFF2-40B4-BE49-F238E27FC236}">
                <a16:creationId xmlns:a16="http://schemas.microsoft.com/office/drawing/2014/main" id="{5DAF0C07-2BB9-4847-AA0B-B53362E79661}"/>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1575A4D9-6519-49BA-A3CD-824A5595D435}"/>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Nước uống</a:t>
            </a:r>
          </a:p>
        </p:txBody>
      </p:sp>
      <p:pic>
        <p:nvPicPr>
          <p:cNvPr id="15" name="Picture 14">
            <a:extLst>
              <a:ext uri="{FF2B5EF4-FFF2-40B4-BE49-F238E27FC236}">
                <a16:creationId xmlns:a16="http://schemas.microsoft.com/office/drawing/2014/main" id="{7F4DD0CC-8ACE-440A-AC84-3927684A5695}"/>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B152F131-66F7-4677-BEEE-66EFCE9E565F}"/>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Chưa có dữ liệu</a:t>
            </a:r>
          </a:p>
        </p:txBody>
      </p:sp>
    </p:spTree>
    <p:extLst>
      <p:ext uri="{BB962C8B-B14F-4D97-AF65-F5344CB8AC3E}">
        <p14:creationId xmlns:p14="http://schemas.microsoft.com/office/powerpoint/2010/main" val="1759575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197C15-7817-411F-A2D2-29AE1229D4A2}"/>
              </a:ext>
            </a:extLst>
          </p:cNvPr>
          <p:cNvPicPr>
            <a:picLocks noChangeAspect="1"/>
          </p:cNvPicPr>
          <p:nvPr/>
        </p:nvPicPr>
        <p:blipFill>
          <a:blip r:embed="rId3"/>
          <a:stretch/>
        </p:blipFill>
        <p:spPr>
          <a:xfrm>
            <a:off x="609600" y="633137"/>
            <a:ext cx="6113059" cy="5805763"/>
          </a:xfrm>
          <a:prstGeom prst="rect">
            <a:avLst/>
          </a:prstGeom>
        </p:spPr>
      </p:pic>
      <p:sp>
        <p:nvSpPr>
          <p:cNvPr id="14" name="Rectangle 13">
            <a:extLst>
              <a:ext uri="{FF2B5EF4-FFF2-40B4-BE49-F238E27FC236}">
                <a16:creationId xmlns:a16="http://schemas.microsoft.com/office/drawing/2014/main" id="{AA7BE69E-C3CA-42E8-B864-10DF07176C73}"/>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LUỒNG ĐIỀU HƯỚNG VÀ CHÚ GIẢI</a:t>
            </a:r>
          </a:p>
        </p:txBody>
      </p:sp>
      <p:sp>
        <p:nvSpPr>
          <p:cNvPr id="2" name="Rectangle 1">
            <a:extLst>
              <a:ext uri="{FF2B5EF4-FFF2-40B4-BE49-F238E27FC236}">
                <a16:creationId xmlns:a16="http://schemas.microsoft.com/office/drawing/2014/main" id="{4ABBB40E-7493-4776-A30C-42A90128D2B5}"/>
              </a:ext>
            </a:extLst>
          </p:cNvPr>
          <p:cNvSpPr>
            <a:spLocks noGrp="1"/>
          </p:cNvSpPr>
          <p:nvPr/>
        </p:nvSpPr>
        <p:spPr>
          <a:xfrm>
            <a:off x="7762874" y="581025"/>
            <a:ext cx="3495676"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lgn="ctr">
              <a:buNone/>
              <a:defRPr sz="2925" b="1">
                <a:solidFill>
                  <a:srgbClr val="164C47"/>
                </a:solidFill>
                <a:latin typeface="Arial"/>
                <a:ea typeface="Arial"/>
                <a:cs typeface="Arial"/>
              </a:defRPr>
            </a:pPr>
            <a:r>
              <a:rPr sz="2400" b="1">
                <a:solidFill>
                  <a:srgbClr val="164C47"/>
                </a:solidFill>
                <a:latin typeface="Arial"/>
                <a:ea typeface="Arial"/>
                <a:cs typeface="Arial"/>
              </a:rPr>
              <a:t>Sơ đồ liên kết các</a:t>
            </a:r>
            <a:r>
              <a:rPr lang="en-US" sz="2400" b="1">
                <a:solidFill>
                  <a:srgbClr val="164C47"/>
                </a:solidFill>
                <a:latin typeface="Arial"/>
                <a:ea typeface="Arial"/>
                <a:cs typeface="Arial"/>
              </a:rPr>
              <a:t> </a:t>
            </a:r>
            <a:r>
              <a:rPr sz="2400" b="1">
                <a:solidFill>
                  <a:srgbClr val="164C47"/>
                </a:solidFill>
                <a:latin typeface="Arial"/>
                <a:ea typeface="Arial"/>
                <a:cs typeface="Arial"/>
              </a:rPr>
              <a:t>màn hình chính</a:t>
            </a:r>
          </a:p>
        </p:txBody>
      </p:sp>
      <p:sp>
        <p:nvSpPr>
          <p:cNvPr id="3" name="Rectangle 2">
            <a:extLst>
              <a:ext uri="{FF2B5EF4-FFF2-40B4-BE49-F238E27FC236}">
                <a16:creationId xmlns:a16="http://schemas.microsoft.com/office/drawing/2014/main" id="{6E789E60-DCBC-40C7-818C-CC3C9DD32197}"/>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EAD1C648-DADF-4178-B5C1-518760D148F8}"/>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12</a:t>
            </a:r>
          </a:p>
        </p:txBody>
      </p:sp>
      <p:sp>
        <p:nvSpPr>
          <p:cNvPr id="6" name="Rectangle 5">
            <a:extLst>
              <a:ext uri="{FF2B5EF4-FFF2-40B4-BE49-F238E27FC236}">
                <a16:creationId xmlns:a16="http://schemas.microsoft.com/office/drawing/2014/main" id="{DF1AB6EF-6BFF-4C00-BDD7-D4DC8313B049}"/>
              </a:ext>
            </a:extLst>
          </p:cNvPr>
          <p:cNvSpPr>
            <a:spLocks noGrp="1"/>
          </p:cNvSpPr>
          <p:nvPr/>
        </p:nvSpPr>
        <p:spPr>
          <a:xfrm>
            <a:off x="7762875" y="1959692"/>
            <a:ext cx="3667125" cy="381000"/>
          </a:xfrm>
          <a:prstGeom prst="rect">
            <a:avLst/>
          </a:prstGeom>
          <a:noFill/>
          <a:ln w="0">
            <a:noFill/>
          </a:ln>
        </p:spPr>
        <p:txBody>
          <a:bodyPr wrap="square">
            <a:noAutofit/>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Cách đọc các nét</a:t>
            </a:r>
          </a:p>
        </p:txBody>
      </p:sp>
      <p:sp>
        <p:nvSpPr>
          <p:cNvPr id="7" name="Rectangle 6">
            <a:extLst>
              <a:ext uri="{FF2B5EF4-FFF2-40B4-BE49-F238E27FC236}">
                <a16:creationId xmlns:a16="http://schemas.microsoft.com/office/drawing/2014/main" id="{C8837F3F-0F72-4101-88DA-50DEDB34460A}"/>
              </a:ext>
            </a:extLst>
          </p:cNvPr>
          <p:cNvSpPr>
            <a:spLocks noGrp="1"/>
          </p:cNvSpPr>
          <p:nvPr/>
        </p:nvSpPr>
        <p:spPr>
          <a:xfrm>
            <a:off x="7762875" y="2578817"/>
            <a:ext cx="3667125" cy="333375"/>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Nét liền và mũi tên</a:t>
            </a:r>
          </a:p>
        </p:txBody>
      </p:sp>
      <p:sp>
        <p:nvSpPr>
          <p:cNvPr id="8" name="Rectangle 7">
            <a:extLst>
              <a:ext uri="{FF2B5EF4-FFF2-40B4-BE49-F238E27FC236}">
                <a16:creationId xmlns:a16="http://schemas.microsoft.com/office/drawing/2014/main" id="{9B9E6853-2128-48B6-9F48-805B8542E028}"/>
              </a:ext>
            </a:extLst>
          </p:cNvPr>
          <p:cNvSpPr>
            <a:spLocks noGrp="1"/>
          </p:cNvSpPr>
          <p:nvPr/>
        </p:nvSpPr>
        <p:spPr>
          <a:xfrm>
            <a:off x="7762875" y="2978867"/>
            <a:ext cx="3667125" cy="952500"/>
          </a:xfrm>
          <a:prstGeom prst="rect">
            <a:avLst/>
          </a:prstGeom>
          <a:noFill/>
          <a:ln w="0">
            <a:noFill/>
          </a:ln>
        </p:spPr>
        <p:txBody>
          <a:bodyPr wrap="square">
            <a:noAutofit/>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Hướng mở giao diện.</a:t>
            </a:r>
          </a:p>
          <a:p>
            <a:pPr>
              <a:buNone/>
              <a:defRPr sz="1725" b="0">
                <a:solidFill>
                  <a:srgbClr val="526B66"/>
                </a:solidFill>
                <a:latin typeface="Arial"/>
                <a:ea typeface="Arial"/>
                <a:cs typeface="Arial"/>
              </a:defRPr>
            </a:pPr>
            <a:r>
              <a:rPr sz="1725" b="0">
                <a:solidFill>
                  <a:srgbClr val="526B66"/>
                </a:solidFill>
                <a:latin typeface="Arial"/>
                <a:ea typeface="Arial"/>
                <a:cs typeface="Arial"/>
              </a:rPr>
              <a:t>Nhãn nêu thao tác hoặc</a:t>
            </a:r>
          </a:p>
          <a:p>
            <a:pPr>
              <a:buNone/>
              <a:defRPr sz="1725" b="0">
                <a:solidFill>
                  <a:srgbClr val="526B66"/>
                </a:solidFill>
                <a:latin typeface="Arial"/>
                <a:ea typeface="Arial"/>
                <a:cs typeface="Arial"/>
              </a:defRPr>
            </a:pPr>
            <a:r>
              <a:rPr sz="1725" b="0">
                <a:solidFill>
                  <a:srgbClr val="526B66"/>
                </a:solidFill>
                <a:latin typeface="Arial"/>
                <a:ea typeface="Arial"/>
                <a:cs typeface="Arial"/>
              </a:rPr>
              <a:t>điều kiện chuyển màn hình.</a:t>
            </a:r>
          </a:p>
        </p:txBody>
      </p:sp>
      <p:sp>
        <p:nvSpPr>
          <p:cNvPr id="9" name="Rectangle 8">
            <a:extLst>
              <a:ext uri="{FF2B5EF4-FFF2-40B4-BE49-F238E27FC236}">
                <a16:creationId xmlns:a16="http://schemas.microsoft.com/office/drawing/2014/main" id="{EB89BC7C-E46C-4C75-8D8F-F37DA8A933A5}"/>
              </a:ext>
            </a:extLst>
          </p:cNvPr>
          <p:cNvSpPr>
            <a:spLocks noGrp="1"/>
          </p:cNvSpPr>
          <p:nvPr/>
        </p:nvSpPr>
        <p:spPr>
          <a:xfrm>
            <a:off x="7762875" y="4102817"/>
            <a:ext cx="3667125" cy="333375"/>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Nét chấm</a:t>
            </a:r>
          </a:p>
        </p:txBody>
      </p:sp>
      <p:sp>
        <p:nvSpPr>
          <p:cNvPr id="10" name="Rectangle 9">
            <a:extLst>
              <a:ext uri="{FF2B5EF4-FFF2-40B4-BE49-F238E27FC236}">
                <a16:creationId xmlns:a16="http://schemas.microsoft.com/office/drawing/2014/main" id="{14F1CF78-1770-4D72-A6CD-E330ED1593FD}"/>
              </a:ext>
            </a:extLst>
          </p:cNvPr>
          <p:cNvSpPr>
            <a:spLocks noGrp="1"/>
          </p:cNvSpPr>
          <p:nvPr/>
        </p:nvSpPr>
        <p:spPr>
          <a:xfrm>
            <a:off x="7762875" y="4502867"/>
            <a:ext cx="3667125" cy="571500"/>
          </a:xfrm>
          <a:prstGeom prst="rect">
            <a:avLst/>
          </a:prstGeom>
          <a:noFill/>
          <a:ln w="0">
            <a:noFill/>
          </a:ln>
        </p:spPr>
        <p:txBody>
          <a:bodyPr wrap="square">
            <a:noAutofit/>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Lối mở hồ sơ từ bốn tab.</a:t>
            </a:r>
          </a:p>
        </p:txBody>
      </p:sp>
      <p:sp>
        <p:nvSpPr>
          <p:cNvPr id="11" name="Rectangle 10">
            <a:extLst>
              <a:ext uri="{FF2B5EF4-FFF2-40B4-BE49-F238E27FC236}">
                <a16:creationId xmlns:a16="http://schemas.microsoft.com/office/drawing/2014/main" id="{482C3245-D664-4E63-86EC-9C86E07EFC75}"/>
              </a:ext>
            </a:extLst>
          </p:cNvPr>
          <p:cNvSpPr>
            <a:spLocks noGrp="1"/>
          </p:cNvSpPr>
          <p:nvPr/>
        </p:nvSpPr>
        <p:spPr>
          <a:xfrm>
            <a:off x="7762875" y="5198192"/>
            <a:ext cx="3667125" cy="333375"/>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endParaRPr sz="1875" b="1">
              <a:solidFill>
                <a:srgbClr val="164C47"/>
              </a:solidFill>
              <a:latin typeface="Arial"/>
              <a:ea typeface="Arial"/>
              <a:cs typeface="Arial"/>
            </a:endParaRPr>
          </a:p>
        </p:txBody>
      </p:sp>
      <p:sp>
        <p:nvSpPr>
          <p:cNvPr id="13" name="Rectangle 12">
            <a:extLst>
              <a:ext uri="{FF2B5EF4-FFF2-40B4-BE49-F238E27FC236}">
                <a16:creationId xmlns:a16="http://schemas.microsoft.com/office/drawing/2014/main" id="{619EFABB-3972-46BB-8A3F-6754F638DD76}"/>
              </a:ext>
            </a:extLst>
          </p:cNvPr>
          <p:cNvSpPr>
            <a:spLocks noGrp="1"/>
          </p:cNvSpPr>
          <p:nvPr/>
        </p:nvSpPr>
        <p:spPr>
          <a:xfrm>
            <a:off x="7762874" y="5141042"/>
            <a:ext cx="3667125" cy="533400"/>
          </a:xfrm>
          <a:prstGeom prst="rect">
            <a:avLst/>
          </a:prstGeom>
          <a:noFill/>
          <a:ln w="0">
            <a:noFill/>
          </a:ln>
        </p:spPr>
        <p:txBody>
          <a:bodyPr wrap="square">
            <a:noAutofit/>
          </a:bodyPr>
          <a:lstStyle>
            <a:defPPr>
              <a:defRPr sz="1650" b="1">
                <a:solidFill>
                  <a:srgbClr val="087F72"/>
                </a:solidFill>
                <a:latin typeface="Arial"/>
                <a:ea typeface="Arial"/>
                <a:cs typeface="Arial"/>
              </a:defRPr>
            </a:defPPr>
            <a:lvl1pPr>
              <a:buNone/>
              <a:defRPr sz="1650" b="1">
                <a:solidFill>
                  <a:srgbClr val="087F72"/>
                </a:solidFill>
                <a:latin typeface="Arial"/>
                <a:ea typeface="Arial"/>
                <a:cs typeface="Arial"/>
              </a:defRPr>
            </a:lvl1pPr>
            <a:lvl2pPr>
              <a:buNone/>
              <a:defRPr sz="1650" b="1">
                <a:solidFill>
                  <a:srgbClr val="087F72"/>
                </a:solidFill>
                <a:latin typeface="Arial"/>
                <a:ea typeface="Arial"/>
                <a:cs typeface="Arial"/>
              </a:defRPr>
            </a:lvl2pPr>
            <a:lvl3pPr>
              <a:buNone/>
              <a:defRPr sz="1650" b="1">
                <a:solidFill>
                  <a:srgbClr val="087F72"/>
                </a:solidFill>
                <a:latin typeface="Arial"/>
                <a:ea typeface="Arial"/>
                <a:cs typeface="Arial"/>
              </a:defRPr>
            </a:lvl3pPr>
            <a:lvl4pPr>
              <a:buNone/>
              <a:defRPr sz="1650" b="1">
                <a:solidFill>
                  <a:srgbClr val="087F72"/>
                </a:solidFill>
                <a:latin typeface="Arial"/>
                <a:ea typeface="Arial"/>
                <a:cs typeface="Arial"/>
              </a:defRPr>
            </a:lvl4pPr>
            <a:lvl5pPr>
              <a:buNone/>
              <a:defRPr sz="1650" b="1">
                <a:solidFill>
                  <a:srgbClr val="087F72"/>
                </a:solidFill>
                <a:latin typeface="Arial"/>
                <a:ea typeface="Arial"/>
                <a:cs typeface="Arial"/>
              </a:defRPr>
            </a:lvl5pPr>
            <a:lvl6pPr>
              <a:buNone/>
              <a:defRPr sz="1650" b="1">
                <a:solidFill>
                  <a:srgbClr val="087F72"/>
                </a:solidFill>
                <a:latin typeface="Arial"/>
                <a:ea typeface="Arial"/>
                <a:cs typeface="Arial"/>
              </a:defRPr>
            </a:lvl6pPr>
            <a:lvl7pPr>
              <a:buNone/>
              <a:defRPr sz="1650" b="1">
                <a:solidFill>
                  <a:srgbClr val="087F72"/>
                </a:solidFill>
                <a:latin typeface="Arial"/>
                <a:ea typeface="Arial"/>
                <a:cs typeface="Arial"/>
              </a:defRPr>
            </a:lvl7pPr>
            <a:lvl8pPr>
              <a:buNone/>
              <a:defRPr sz="1650" b="1">
                <a:solidFill>
                  <a:srgbClr val="087F72"/>
                </a:solidFill>
                <a:latin typeface="Arial"/>
                <a:ea typeface="Arial"/>
                <a:cs typeface="Arial"/>
              </a:defRPr>
            </a:lvl8pPr>
            <a:lvl9pPr>
              <a:buNone/>
              <a:defRPr sz="1650" b="1">
                <a:solidFill>
                  <a:srgbClr val="087F72"/>
                </a:solidFill>
                <a:latin typeface="Arial"/>
                <a:ea typeface="Arial"/>
                <a:cs typeface="Arial"/>
              </a:defRPr>
            </a:lvl9pPr>
          </a:lstStyle>
          <a:p>
            <a:pPr>
              <a:buNone/>
              <a:defRPr sz="1650" b="1">
                <a:solidFill>
                  <a:srgbClr val="087F72"/>
                </a:solidFill>
                <a:latin typeface="Arial"/>
                <a:ea typeface="Arial"/>
                <a:cs typeface="Arial"/>
              </a:defRPr>
            </a:pPr>
            <a:r>
              <a:rPr sz="1650" b="1">
                <a:solidFill>
                  <a:srgbClr val="087F72"/>
                </a:solidFill>
                <a:latin typeface="Arial"/>
                <a:ea typeface="Arial"/>
                <a:cs typeface="Arial"/>
              </a:rPr>
              <a:t>Bốn ô màu: bốn tab chính</a:t>
            </a:r>
          </a:p>
          <a:p>
            <a:pPr>
              <a:buNone/>
              <a:defRPr sz="1650" b="1">
                <a:solidFill>
                  <a:srgbClr val="087F72"/>
                </a:solidFill>
                <a:latin typeface="Arial"/>
                <a:ea typeface="Arial"/>
                <a:cs typeface="Arial"/>
              </a:defRPr>
            </a:pPr>
            <a:r>
              <a:rPr sz="1650" b="1">
                <a:solidFill>
                  <a:srgbClr val="087F72"/>
                </a:solidFill>
                <a:latin typeface="Arial"/>
                <a:ea typeface="Arial"/>
                <a:cs typeface="Arial"/>
              </a:rPr>
              <a:t>bên trong MainActivity.</a:t>
            </a:r>
          </a:p>
        </p:txBody>
      </p:sp>
    </p:spTree>
    <p:extLst>
      <p:ext uri="{BB962C8B-B14F-4D97-AF65-F5344CB8AC3E}">
        <p14:creationId xmlns:p14="http://schemas.microsoft.com/office/powerpoint/2010/main" val="169492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0E5187-39B9-4D41-8BFF-2F4CDCE56C00}"/>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SƠ ĐỒ QUAN HỆ VÀ CÁCH ĐỌC</a:t>
            </a:r>
          </a:p>
        </p:txBody>
      </p:sp>
      <p:sp>
        <p:nvSpPr>
          <p:cNvPr id="2" name="Rectangle 1">
            <a:extLst>
              <a:ext uri="{FF2B5EF4-FFF2-40B4-BE49-F238E27FC236}">
                <a16:creationId xmlns:a16="http://schemas.microsoft.com/office/drawing/2014/main" id="{956693DE-18A0-4EEE-9CB9-6E7438093878}"/>
              </a:ext>
            </a:extLst>
          </p:cNvPr>
          <p:cNvSpPr>
            <a:spLocks noGrp="1"/>
          </p:cNvSpPr>
          <p:nvPr/>
        </p:nvSpPr>
        <p:spPr>
          <a:xfrm>
            <a:off x="7177548" y="628650"/>
            <a:ext cx="4481051"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Quan hệ giữa năm bảng SQLite</a:t>
            </a:r>
          </a:p>
        </p:txBody>
      </p:sp>
      <p:sp>
        <p:nvSpPr>
          <p:cNvPr id="3" name="Rectangle 2">
            <a:extLst>
              <a:ext uri="{FF2B5EF4-FFF2-40B4-BE49-F238E27FC236}">
                <a16:creationId xmlns:a16="http://schemas.microsoft.com/office/drawing/2014/main" id="{D0BE0FA7-4FD6-4798-8CC4-0BA37C999134}"/>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59BB491-D62E-499A-B0AC-57F23BF475F5}"/>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13</a:t>
            </a:r>
          </a:p>
        </p:txBody>
      </p:sp>
      <p:pic>
        <p:nvPicPr>
          <p:cNvPr id="5" name="Picture 4">
            <a:extLst>
              <a:ext uri="{FF2B5EF4-FFF2-40B4-BE49-F238E27FC236}">
                <a16:creationId xmlns:a16="http://schemas.microsoft.com/office/drawing/2014/main" id="{F0DD4CAF-CD81-4894-98F8-441D05975524}"/>
              </a:ext>
            </a:extLst>
          </p:cNvPr>
          <p:cNvPicPr>
            <a:picLocks noChangeAspect="1"/>
          </p:cNvPicPr>
          <p:nvPr/>
        </p:nvPicPr>
        <p:blipFill>
          <a:blip r:embed="rId3"/>
          <a:stretch/>
        </p:blipFill>
        <p:spPr>
          <a:xfrm>
            <a:off x="968381" y="552993"/>
            <a:ext cx="5599566" cy="5885907"/>
          </a:xfrm>
          <a:prstGeom prst="rect">
            <a:avLst/>
          </a:prstGeom>
        </p:spPr>
      </p:pic>
      <p:sp>
        <p:nvSpPr>
          <p:cNvPr id="6" name="Rectangle 5">
            <a:extLst>
              <a:ext uri="{FF2B5EF4-FFF2-40B4-BE49-F238E27FC236}">
                <a16:creationId xmlns:a16="http://schemas.microsoft.com/office/drawing/2014/main" id="{83407CF8-5824-4161-82BC-38659E817FBE}"/>
              </a:ext>
            </a:extLst>
          </p:cNvPr>
          <p:cNvSpPr>
            <a:spLocks noGrp="1"/>
          </p:cNvSpPr>
          <p:nvPr/>
        </p:nvSpPr>
        <p:spPr>
          <a:xfrm>
            <a:off x="7762875" y="1573160"/>
            <a:ext cx="3667125" cy="428625"/>
          </a:xfrm>
          <a:prstGeom prst="rect">
            <a:avLst/>
          </a:prstGeom>
          <a:noFill/>
          <a:ln w="0">
            <a:noFill/>
          </a:ln>
        </p:spPr>
        <p:txBody>
          <a:bodyPr wrap="square">
            <a:noAutofit/>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Các quan hệ chính</a:t>
            </a:r>
          </a:p>
        </p:txBody>
      </p:sp>
      <p:sp>
        <p:nvSpPr>
          <p:cNvPr id="7" name="Rectangle 6">
            <a:extLst>
              <a:ext uri="{FF2B5EF4-FFF2-40B4-BE49-F238E27FC236}">
                <a16:creationId xmlns:a16="http://schemas.microsoft.com/office/drawing/2014/main" id="{2142E890-DC2E-4AE1-AFF7-CD69460C3309}"/>
              </a:ext>
            </a:extLst>
          </p:cNvPr>
          <p:cNvSpPr>
            <a:spLocks noGrp="1"/>
          </p:cNvSpPr>
          <p:nvPr/>
        </p:nvSpPr>
        <p:spPr>
          <a:xfrm>
            <a:off x="7762875" y="2287535"/>
            <a:ext cx="3667125" cy="1095375"/>
          </a:xfrm>
          <a:prstGeom prst="rect">
            <a:avLst/>
          </a:prstGeom>
          <a:noFill/>
          <a:ln w="0">
            <a:noFill/>
          </a:ln>
        </p:spPr>
        <p:txBody>
          <a:bodyPr wrap="square">
            <a:noAutofit/>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Một người dùng có thể có nhiều lần đo sức khỏe, thuốc và nhật ký nước.</a:t>
            </a:r>
          </a:p>
        </p:txBody>
      </p:sp>
      <p:sp>
        <p:nvSpPr>
          <p:cNvPr id="8" name="Rectangle 7">
            <a:extLst>
              <a:ext uri="{FF2B5EF4-FFF2-40B4-BE49-F238E27FC236}">
                <a16:creationId xmlns:a16="http://schemas.microsoft.com/office/drawing/2014/main" id="{CA16C01F-783F-4E29-A061-2F2D0D0CBFA1}"/>
              </a:ext>
            </a:extLst>
          </p:cNvPr>
          <p:cNvSpPr>
            <a:spLocks noGrp="1"/>
          </p:cNvSpPr>
          <p:nvPr/>
        </p:nvSpPr>
        <p:spPr>
          <a:xfrm>
            <a:off x="7762875" y="3668660"/>
            <a:ext cx="3667125" cy="952500"/>
          </a:xfrm>
          <a:prstGeom prst="rect">
            <a:avLst/>
          </a:prstGeom>
          <a:noFill/>
          <a:ln w="0">
            <a:noFill/>
          </a:ln>
        </p:spPr>
        <p:txBody>
          <a:bodyPr wrap="square">
            <a:noAutofit/>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Một thuốc có thể có nhiều nhật ký xác nhận cữ uống.</a:t>
            </a:r>
          </a:p>
        </p:txBody>
      </p:sp>
      <p:sp>
        <p:nvSpPr>
          <p:cNvPr id="9" name="Rectangle 8">
            <a:extLst>
              <a:ext uri="{FF2B5EF4-FFF2-40B4-BE49-F238E27FC236}">
                <a16:creationId xmlns:a16="http://schemas.microsoft.com/office/drawing/2014/main" id="{ACF2C708-DD17-4FB1-9D2C-EEA5AB795AD2}"/>
              </a:ext>
            </a:extLst>
          </p:cNvPr>
          <p:cNvSpPr>
            <a:spLocks noGrp="1"/>
          </p:cNvSpPr>
          <p:nvPr/>
        </p:nvSpPr>
        <p:spPr>
          <a:xfrm>
            <a:off x="7762875" y="4906910"/>
            <a:ext cx="3667125" cy="1476375"/>
          </a:xfrm>
          <a:prstGeom prst="rect">
            <a:avLst/>
          </a:prstGeom>
          <a:noFill/>
          <a:ln w="0">
            <a:noFill/>
          </a:ln>
        </p:spPr>
        <p:txBody>
          <a:bodyPr wrap="square">
            <a:noAutofit/>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Mỗi bản ghi sức khỏe, thuốc hoặc nhật ký nước thuộc một người dùng. Mỗi nhật ký cữ uống thuộc một thuốc.</a:t>
            </a:r>
          </a:p>
        </p:txBody>
      </p:sp>
    </p:spTree>
    <p:extLst>
      <p:ext uri="{BB962C8B-B14F-4D97-AF65-F5344CB8AC3E}">
        <p14:creationId xmlns:p14="http://schemas.microsoft.com/office/powerpoint/2010/main" val="1743352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71B5BD-E9CA-42E1-B09E-AC8E9C31F5E9}"/>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BẢNG NGƯỜI DÙNG</a:t>
            </a:r>
          </a:p>
        </p:txBody>
      </p:sp>
      <p:sp>
        <p:nvSpPr>
          <p:cNvPr id="2" name="Rectangle 1">
            <a:extLst>
              <a:ext uri="{FF2B5EF4-FFF2-40B4-BE49-F238E27FC236}">
                <a16:creationId xmlns:a16="http://schemas.microsoft.com/office/drawing/2014/main" id="{258E79D9-74BD-4970-989E-7D148E059508}"/>
              </a:ext>
            </a:extLst>
          </p:cNvPr>
          <p:cNvSpPr>
            <a:spLocks noGrp="1"/>
          </p:cNvSpPr>
          <p:nvPr/>
        </p:nvSpPr>
        <p:spPr>
          <a:xfrm>
            <a:off x="514350" y="628650"/>
            <a:ext cx="11144250"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users: tài khoản, hồ sơ và thiết lập</a:t>
            </a:r>
          </a:p>
        </p:txBody>
      </p:sp>
      <p:sp>
        <p:nvSpPr>
          <p:cNvPr id="3" name="Rectangle 2">
            <a:extLst>
              <a:ext uri="{FF2B5EF4-FFF2-40B4-BE49-F238E27FC236}">
                <a16:creationId xmlns:a16="http://schemas.microsoft.com/office/drawing/2014/main" id="{42D30C5F-8D17-4F8E-BA7D-CB4798DDD846}"/>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79A6C902-2D03-46D8-9CF8-59403E9D4BB4}"/>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14</a:t>
            </a:r>
          </a:p>
        </p:txBody>
      </p:sp>
      <p:graphicFrame>
        <p:nvGraphicFramePr>
          <p:cNvPr id="5" name="Table 4">
            <a:extLst>
              <a:ext uri="{FF2B5EF4-FFF2-40B4-BE49-F238E27FC236}">
                <a16:creationId xmlns:a16="http://schemas.microsoft.com/office/drawing/2014/main" id="{CCEC4F52-605F-4600-A439-A96944AD93BA}"/>
              </a:ext>
            </a:extLst>
          </p:cNvPr>
          <p:cNvGraphicFramePr/>
          <p:nvPr/>
        </p:nvGraphicFramePr>
        <p:xfrm>
          <a:off x="514350" y="1457325"/>
          <a:ext cx="11144250" cy="4219814"/>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17922">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17922">
                <a:tc>
                  <a:txBody>
                    <a:bodyPr/>
                    <a:lstStyle/>
                    <a:p>
                      <a:r>
                        <a:rPr sz="1650" b="0">
                          <a:solidFill>
                            <a:srgbClr val="164C47"/>
                          </a:solidFill>
                          <a:latin typeface="Arial"/>
                          <a:ea typeface="Arial"/>
                          <a:cs typeface="Arial"/>
                        </a:rPr>
                        <a:t>id, username</a:t>
                      </a:r>
                    </a:p>
                  </a:txBody>
                  <a:tcPr>
                    <a:solidFill>
                      <a:srgbClr val="FFFFFF"/>
                    </a:solidFill>
                  </a:tcPr>
                </a:tc>
                <a:tc>
                  <a:txBody>
                    <a:bodyPr/>
                    <a:lstStyle/>
                    <a:p>
                      <a:r>
                        <a:rPr sz="1650" b="0">
                          <a:solidFill>
                            <a:srgbClr val="164C47"/>
                          </a:solidFill>
                          <a:latin typeface="Arial"/>
                          <a:ea typeface="Arial"/>
                          <a:cs typeface="Arial"/>
                        </a:rPr>
                        <a:t>PK / UNIQUE, NOT NULL</a:t>
                      </a:r>
                    </a:p>
                  </a:txBody>
                  <a:tcPr>
                    <a:solidFill>
                      <a:srgbClr val="FFFFFF"/>
                    </a:solidFill>
                  </a:tcPr>
                </a:tc>
                <a:tc>
                  <a:txBody>
                    <a:bodyPr/>
                    <a:lstStyle/>
                    <a:p>
                      <a:r>
                        <a:rPr sz="1650" b="0">
                          <a:solidFill>
                            <a:srgbClr val="164C47"/>
                          </a:solidFill>
                          <a:latin typeface="Arial"/>
                          <a:ea typeface="Arial"/>
                          <a:cs typeface="Arial"/>
                        </a:rPr>
                        <a:t>Mã tài khoản, tên đăng nhập duy nhất</a:t>
                      </a:r>
                    </a:p>
                  </a:txBody>
                  <a:tcPr>
                    <a:solidFill>
                      <a:srgbClr val="FFFFFF"/>
                    </a:solidFill>
                  </a:tcPr>
                </a:tc>
                <a:extLst>
                  <a:ext uri="{0D108BD9-81ED-4DB2-BD59-A6C34878D82A}">
                    <a16:rowId xmlns:a16="http://schemas.microsoft.com/office/drawing/2014/main" val="10001"/>
                  </a:ext>
                </a:extLst>
              </a:tr>
              <a:tr h="517922">
                <a:tc>
                  <a:txBody>
                    <a:bodyPr/>
                    <a:lstStyle/>
                    <a:p>
                      <a:r>
                        <a:rPr sz="1650" b="0">
                          <a:solidFill>
                            <a:srgbClr val="164C47"/>
                          </a:solidFill>
                          <a:latin typeface="Arial"/>
                          <a:ea typeface="Arial"/>
                          <a:cs typeface="Arial"/>
                        </a:rPr>
                        <a:t>password_hash, salt</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Mật khẩu dẫn xuất PBKDF2 và salt</a:t>
                      </a:r>
                    </a:p>
                  </a:txBody>
                  <a:tcPr>
                    <a:solidFill>
                      <a:srgbClr val="EAF3EE"/>
                    </a:solidFill>
                  </a:tcPr>
                </a:tc>
                <a:extLst>
                  <a:ext uri="{0D108BD9-81ED-4DB2-BD59-A6C34878D82A}">
                    <a16:rowId xmlns:a16="http://schemas.microsoft.com/office/drawing/2014/main" val="10002"/>
                  </a:ext>
                </a:extLst>
              </a:tr>
              <a:tr h="517922">
                <a:tc>
                  <a:txBody>
                    <a:bodyPr/>
                    <a:lstStyle/>
                    <a:p>
                      <a:r>
                        <a:rPr sz="1650" b="0">
                          <a:solidFill>
                            <a:srgbClr val="164C47"/>
                          </a:solidFill>
                          <a:latin typeface="Arial"/>
                          <a:ea typeface="Arial"/>
                          <a:cs typeface="Arial"/>
                        </a:rPr>
                        <a:t>fullname, birth_year, gender</a:t>
                      </a:r>
                    </a:p>
                  </a:txBody>
                  <a:tcPr>
                    <a:solidFill>
                      <a:srgbClr val="FFFFFF"/>
                    </a:solidFill>
                  </a:tcPr>
                </a:tc>
                <a:tc>
                  <a:txBody>
                    <a:bodyPr/>
                    <a:lstStyle/>
                    <a:p>
                      <a:r>
                        <a:rPr sz="1650" b="0">
                          <a:solidFill>
                            <a:srgbClr val="164C47"/>
                          </a:solidFill>
                          <a:latin typeface="Arial"/>
                          <a:ea typeface="Arial"/>
                          <a:cs typeface="Arial"/>
                        </a:rPr>
                        <a:t>TEXT / INTEGER / TEXT</a:t>
                      </a:r>
                    </a:p>
                  </a:txBody>
                  <a:tcPr>
                    <a:solidFill>
                      <a:srgbClr val="FFFFFF"/>
                    </a:solidFill>
                  </a:tcPr>
                </a:tc>
                <a:tc>
                  <a:txBody>
                    <a:bodyPr/>
                    <a:lstStyle/>
                    <a:p>
                      <a:r>
                        <a:rPr sz="1650" b="0">
                          <a:solidFill>
                            <a:srgbClr val="164C47"/>
                          </a:solidFill>
                          <a:latin typeface="Arial"/>
                          <a:ea typeface="Arial"/>
                          <a:cs typeface="Arial"/>
                        </a:rPr>
                        <a:t>Họ tên, năm sinh, giới tính</a:t>
                      </a:r>
                    </a:p>
                  </a:txBody>
                  <a:tcPr>
                    <a:solidFill>
                      <a:srgbClr val="FFFFFF"/>
                    </a:solidFill>
                  </a:tcPr>
                </a:tc>
                <a:extLst>
                  <a:ext uri="{0D108BD9-81ED-4DB2-BD59-A6C34878D82A}">
                    <a16:rowId xmlns:a16="http://schemas.microsoft.com/office/drawing/2014/main" val="10003"/>
                  </a:ext>
                </a:extLst>
              </a:tr>
              <a:tr h="517922">
                <a:tc>
                  <a:txBody>
                    <a:bodyPr/>
                    <a:lstStyle/>
                    <a:p>
                      <a:r>
                        <a:rPr sz="1650" b="0">
                          <a:solidFill>
                            <a:srgbClr val="164C47"/>
                          </a:solidFill>
                          <a:latin typeface="Arial"/>
                          <a:ea typeface="Arial"/>
                          <a:cs typeface="Arial"/>
                        </a:rPr>
                        <a:t>height_cm, base_weight_kg</a:t>
                      </a:r>
                    </a:p>
                  </a:txBody>
                  <a:tcPr>
                    <a:solidFill>
                      <a:srgbClr val="EAF3EE"/>
                    </a:solidFill>
                  </a:tcPr>
                </a:tc>
                <a:tc>
                  <a:txBody>
                    <a:bodyPr/>
                    <a:lstStyle/>
                    <a:p>
                      <a:r>
                        <a:rPr sz="1650" b="0">
                          <a:solidFill>
                            <a:srgbClr val="164C47"/>
                          </a:solidFill>
                          <a:latin typeface="Arial"/>
                          <a:ea typeface="Arial"/>
                          <a:cs typeface="Arial"/>
                        </a:rPr>
                        <a:t>REAL</a:t>
                      </a:r>
                    </a:p>
                  </a:txBody>
                  <a:tcPr>
                    <a:solidFill>
                      <a:srgbClr val="EAF3EE"/>
                    </a:solidFill>
                  </a:tcPr>
                </a:tc>
                <a:tc>
                  <a:txBody>
                    <a:bodyPr/>
                    <a:lstStyle/>
                    <a:p>
                      <a:r>
                        <a:rPr sz="1650" b="0">
                          <a:solidFill>
                            <a:srgbClr val="164C47"/>
                          </a:solidFill>
                          <a:latin typeface="Arial"/>
                          <a:ea typeface="Arial"/>
                          <a:cs typeface="Arial"/>
                        </a:rPr>
                        <a:t>Chiều cao (cm), cân nặng cơ sở (kg)</a:t>
                      </a:r>
                    </a:p>
                  </a:txBody>
                  <a:tcPr>
                    <a:solidFill>
                      <a:srgbClr val="EAF3EE"/>
                    </a:solidFill>
                  </a:tcPr>
                </a:tc>
                <a:extLst>
                  <a:ext uri="{0D108BD9-81ED-4DB2-BD59-A6C34878D82A}">
                    <a16:rowId xmlns:a16="http://schemas.microsoft.com/office/drawing/2014/main" val="10004"/>
                  </a:ext>
                </a:extLst>
              </a:tr>
              <a:tr h="517922">
                <a:tc>
                  <a:txBody>
                    <a:bodyPr/>
                    <a:lstStyle/>
                    <a:p>
                      <a:r>
                        <a:rPr sz="1650" b="0">
                          <a:solidFill>
                            <a:srgbClr val="164C47"/>
                          </a:solidFill>
                          <a:latin typeface="Arial"/>
                          <a:ea typeface="Arial"/>
                          <a:cs typeface="Arial"/>
                        </a:rPr>
                        <a:t>bmi_standard, water_goal_ml</a:t>
                      </a:r>
                    </a:p>
                  </a:txBody>
                  <a:tcPr>
                    <a:solidFill>
                      <a:srgbClr val="FFFFFF"/>
                    </a:solidFill>
                  </a:tcPr>
                </a:tc>
                <a:tc>
                  <a:txBody>
                    <a:bodyPr/>
                    <a:lstStyle/>
                    <a:p>
                      <a:r>
                        <a:rPr sz="1650" b="0">
                          <a:solidFill>
                            <a:srgbClr val="164C47"/>
                          </a:solidFill>
                          <a:latin typeface="Arial"/>
                          <a:ea typeface="Arial"/>
                          <a:cs typeface="Arial"/>
                        </a:rPr>
                        <a:t>TEXT / INTEGER</a:t>
                      </a:r>
                    </a:p>
                  </a:txBody>
                  <a:tcPr>
                    <a:solidFill>
                      <a:srgbClr val="FFFFFF"/>
                    </a:solidFill>
                  </a:tcPr>
                </a:tc>
                <a:tc>
                  <a:txBody>
                    <a:bodyPr/>
                    <a:lstStyle/>
                    <a:p>
                      <a:r>
                        <a:rPr sz="1650" b="0">
                          <a:solidFill>
                            <a:srgbClr val="164C47"/>
                          </a:solidFill>
                          <a:latin typeface="Arial"/>
                          <a:ea typeface="Arial"/>
                          <a:cs typeface="Arial"/>
                        </a:rPr>
                        <a:t>Bộ ngưỡng BMI, mục tiêu nước (ml)</a:t>
                      </a:r>
                    </a:p>
                  </a:txBody>
                  <a:tcPr>
                    <a:solidFill>
                      <a:srgbClr val="FFFFFF"/>
                    </a:solidFill>
                  </a:tcPr>
                </a:tc>
                <a:extLst>
                  <a:ext uri="{0D108BD9-81ED-4DB2-BD59-A6C34878D82A}">
                    <a16:rowId xmlns:a16="http://schemas.microsoft.com/office/drawing/2014/main" val="10005"/>
                  </a:ext>
                </a:extLst>
              </a:tr>
              <a:tr h="517922">
                <a:tc>
                  <a:txBody>
                    <a:bodyPr/>
                    <a:lstStyle/>
                    <a:p>
                      <a:r>
                        <a:rPr sz="1650" b="0">
                          <a:solidFill>
                            <a:srgbClr val="164C47"/>
                          </a:solidFill>
                          <a:latin typeface="Arial"/>
                          <a:ea typeface="Arial"/>
                          <a:cs typeface="Arial"/>
                        </a:rPr>
                        <a:t>water_start, water_end,</a:t>
                      </a:r>
                    </a:p>
                    <a:p>
                      <a:r>
                        <a:rPr sz="1650" b="0">
                          <a:solidFill>
                            <a:srgbClr val="164C47"/>
                          </a:solidFill>
                          <a:latin typeface="Arial"/>
                          <a:ea typeface="Arial"/>
                          <a:cs typeface="Arial"/>
                        </a:rPr>
                        <a:t>water_times</a:t>
                      </a:r>
                    </a:p>
                  </a:txBody>
                  <a:tcPr>
                    <a:solidFill>
                      <a:srgbClr val="EAF3EE"/>
                    </a:solidFill>
                  </a:tcPr>
                </a:tc>
                <a:tc>
                  <a:txBody>
                    <a:bodyPr/>
                    <a:lstStyle/>
                    <a:p>
                      <a:r>
                        <a:rPr sz="1650" b="0">
                          <a:solidFill>
                            <a:srgbClr val="164C47"/>
                          </a:solidFill>
                          <a:latin typeface="Arial"/>
                          <a:ea typeface="Arial"/>
                          <a:cs typeface="Arial"/>
                        </a:rPr>
                        <a:t>TEXT</a:t>
                      </a:r>
                    </a:p>
                  </a:txBody>
                  <a:tcPr>
                    <a:solidFill>
                      <a:srgbClr val="EAF3EE"/>
                    </a:solidFill>
                  </a:tcPr>
                </a:tc>
                <a:tc>
                  <a:txBody>
                    <a:bodyPr/>
                    <a:lstStyle/>
                    <a:p>
                      <a:r>
                        <a:rPr sz="1650" b="0">
                          <a:solidFill>
                            <a:srgbClr val="164C47"/>
                          </a:solidFill>
                          <a:latin typeface="Arial"/>
                          <a:ea typeface="Arial"/>
                          <a:cs typeface="Arial"/>
                        </a:rPr>
                        <a:t>Khung giờ và các giờ nhắc nước</a:t>
                      </a:r>
                    </a:p>
                  </a:txBody>
                  <a:tcPr>
                    <a:solidFill>
                      <a:srgbClr val="EAF3EE"/>
                    </a:solidFill>
                  </a:tcPr>
                </a:tc>
                <a:extLst>
                  <a:ext uri="{0D108BD9-81ED-4DB2-BD59-A6C34878D82A}">
                    <a16:rowId xmlns:a16="http://schemas.microsoft.com/office/drawing/2014/main" val="10006"/>
                  </a:ext>
                </a:extLst>
              </a:tr>
              <a:tr h="517922">
                <a:tc>
                  <a:txBody>
                    <a:bodyPr/>
                    <a:lstStyle/>
                    <a:p>
                      <a:r>
                        <a:rPr sz="1650" b="0">
                          <a:solidFill>
                            <a:srgbClr val="164C47"/>
                          </a:solidFill>
                          <a:latin typeface="Arial"/>
                          <a:ea typeface="Arial"/>
                          <a:cs typeface="Arial"/>
                        </a:rPr>
                        <a:t>water_amount</a:t>
                      </a:r>
                    </a:p>
                  </a:txBody>
                  <a:tcPr>
                    <a:solidFill>
                      <a:srgbClr val="FFFFFF"/>
                    </a:solidFill>
                  </a:tcPr>
                </a:tc>
                <a:tc>
                  <a:txBody>
                    <a:bodyPr/>
                    <a:lstStyle/>
                    <a:p>
                      <a:r>
                        <a:rPr sz="1650" b="0">
                          <a:solidFill>
                            <a:srgbClr val="164C47"/>
                          </a:solidFill>
                          <a:latin typeface="Arial"/>
                          <a:ea typeface="Arial"/>
                          <a:cs typeface="Arial"/>
                        </a:rPr>
                        <a:t>INTEGER</a:t>
                      </a:r>
                    </a:p>
                  </a:txBody>
                  <a:tcPr>
                    <a:solidFill>
                      <a:srgbClr val="FFFFFF"/>
                    </a:solidFill>
                  </a:tcPr>
                </a:tc>
                <a:tc>
                  <a:txBody>
                    <a:bodyPr/>
                    <a:lstStyle/>
                    <a:p>
                      <a:r>
                        <a:rPr sz="1650" b="0">
                          <a:solidFill>
                            <a:srgbClr val="164C47"/>
                          </a:solidFill>
                          <a:latin typeface="Arial"/>
                          <a:ea typeface="Arial"/>
                          <a:cs typeface="Arial"/>
                        </a:rPr>
                        <a:t>Lượng thêm nhanh (ml)</a:t>
                      </a:r>
                    </a:p>
                  </a:txBody>
                  <a:tcPr>
                    <a:solidFill>
                      <a:srgbClr val="FFFFFF"/>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A0B8425D-57CB-4D6D-9720-4CA45D4E766A}"/>
              </a:ext>
            </a:extLst>
          </p:cNvPr>
          <p:cNvSpPr>
            <a:spLocks noGrp="1"/>
          </p:cNvSpPr>
          <p:nvPr/>
        </p:nvSpPr>
        <p:spPr>
          <a:xfrm>
            <a:off x="514350" y="5810250"/>
            <a:ext cx="11096625" cy="5619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Phiên lưu riêng trong SharedPreferences. PBKDF2 không mã hóa toàn bộ tệp SQLite.</a:t>
            </a:r>
          </a:p>
        </p:txBody>
      </p:sp>
    </p:spTree>
    <p:extLst>
      <p:ext uri="{BB962C8B-B14F-4D97-AF65-F5344CB8AC3E}">
        <p14:creationId xmlns:p14="http://schemas.microsoft.com/office/powerpoint/2010/main" val="594167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D11CB0E-90BD-4AE8-9194-F71FC288FB08}"/>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BẢNG SỨC KHỎE</a:t>
            </a:r>
          </a:p>
        </p:txBody>
      </p:sp>
      <p:sp>
        <p:nvSpPr>
          <p:cNvPr id="2" name="Rectangle 1">
            <a:extLst>
              <a:ext uri="{FF2B5EF4-FFF2-40B4-BE49-F238E27FC236}">
                <a16:creationId xmlns:a16="http://schemas.microsoft.com/office/drawing/2014/main" id="{46A2F68B-E24B-43BA-8F66-489BCB4685CA}"/>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health_records: dữ liệu mỗi lần đo</a:t>
            </a:r>
          </a:p>
        </p:txBody>
      </p:sp>
      <p:sp>
        <p:nvSpPr>
          <p:cNvPr id="3" name="Rectangle 2">
            <a:extLst>
              <a:ext uri="{FF2B5EF4-FFF2-40B4-BE49-F238E27FC236}">
                <a16:creationId xmlns:a16="http://schemas.microsoft.com/office/drawing/2014/main" id="{29D2AC99-4154-4935-8500-D7602FD6E044}"/>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D70AD863-FEDE-480D-AAF3-AB493C286AC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15</a:t>
            </a:r>
          </a:p>
        </p:txBody>
      </p:sp>
      <p:graphicFrame>
        <p:nvGraphicFramePr>
          <p:cNvPr id="5" name="Table 4">
            <a:extLst>
              <a:ext uri="{FF2B5EF4-FFF2-40B4-BE49-F238E27FC236}">
                <a16:creationId xmlns:a16="http://schemas.microsoft.com/office/drawing/2014/main" id="{3DF3785B-505B-4394-B831-25725E58A75A}"/>
              </a:ext>
            </a:extLst>
          </p:cNvPr>
          <p:cNvGraphicFramePr/>
          <p:nvPr/>
        </p:nvGraphicFramePr>
        <p:xfrm>
          <a:off x="514350" y="1457325"/>
          <a:ext cx="11144250" cy="3667125"/>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 user_id</a:t>
                      </a:r>
                    </a:p>
                  </a:txBody>
                  <a:tcPr>
                    <a:solidFill>
                      <a:srgbClr val="FFFFFF"/>
                    </a:solidFill>
                  </a:tcPr>
                </a:tc>
                <a:tc>
                  <a:txBody>
                    <a:bodyPr/>
                    <a:lstStyle/>
                    <a:p>
                      <a:r>
                        <a:rPr sz="1650" b="0">
                          <a:solidFill>
                            <a:srgbClr val="164C47"/>
                          </a:solidFill>
                          <a:latin typeface="Arial"/>
                          <a:ea typeface="Arial"/>
                          <a:cs typeface="Arial"/>
                        </a:rPr>
                        <a:t>INTEGER, PK / FK</a:t>
                      </a:r>
                    </a:p>
                  </a:txBody>
                  <a:tcPr>
                    <a:solidFill>
                      <a:srgbClr val="FFFFFF"/>
                    </a:solidFill>
                  </a:tcPr>
                </a:tc>
                <a:tc>
                  <a:txBody>
                    <a:bodyPr/>
                    <a:lstStyle/>
                    <a:p>
                      <a:r>
                        <a:rPr sz="1650" b="0">
                          <a:solidFill>
                            <a:srgbClr val="164C47"/>
                          </a:solidFill>
                          <a:latin typeface="Arial"/>
                          <a:ea typeface="Arial"/>
                          <a:cs typeface="Arial"/>
                        </a:rPr>
                        <a:t>Bản ghi và chủ sở hữu</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date, measured_time</a:t>
                      </a:r>
                    </a:p>
                  </a:txBody>
                  <a:tcPr>
                    <a:solidFill>
                      <a:srgbClr val="EAF3EE"/>
                    </a:solidFill>
                  </a:tcPr>
                </a:tc>
                <a:tc>
                  <a:txBody>
                    <a:bodyPr/>
                    <a:lstStyle/>
                    <a:p>
                      <a:r>
                        <a:rPr sz="1650" b="0">
                          <a:solidFill>
                            <a:srgbClr val="164C47"/>
                          </a:solidFill>
                          <a:latin typeface="Arial"/>
                          <a:ea typeface="Arial"/>
                          <a:cs typeface="Arial"/>
                        </a:rPr>
                        <a:t>TEXT</a:t>
                      </a:r>
                    </a:p>
                  </a:txBody>
                  <a:tcPr>
                    <a:solidFill>
                      <a:srgbClr val="EAF3EE"/>
                    </a:solidFill>
                  </a:tcPr>
                </a:tc>
                <a:tc>
                  <a:txBody>
                    <a:bodyPr/>
                    <a:lstStyle/>
                    <a:p>
                      <a:r>
                        <a:rPr sz="1650" b="0">
                          <a:solidFill>
                            <a:srgbClr val="164C47"/>
                          </a:solidFill>
                          <a:latin typeface="Arial"/>
                          <a:ea typeface="Arial"/>
                          <a:cs typeface="Arial"/>
                        </a:rPr>
                        <a:t>Ngày yyyy-MM-dd, giờ HH:mm</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meal_context, note</a:t>
                      </a:r>
                    </a:p>
                  </a:txBody>
                  <a:tcPr>
                    <a:solidFill>
                      <a:srgbClr val="FFFFFF"/>
                    </a:solidFill>
                  </a:tcPr>
                </a:tc>
                <a:tc>
                  <a:txBody>
                    <a:bodyPr/>
                    <a:lstStyle/>
                    <a:p>
                      <a:r>
                        <a:rPr sz="1650" b="0">
                          <a:solidFill>
                            <a:srgbClr val="164C47"/>
                          </a:solidFill>
                          <a:latin typeface="Arial"/>
                          <a:ea typeface="Arial"/>
                          <a:cs typeface="Arial"/>
                        </a:rPr>
                        <a:t>TEXT</a:t>
                      </a:r>
                    </a:p>
                  </a:txBody>
                  <a:tcPr>
                    <a:solidFill>
                      <a:srgbClr val="FFFFFF"/>
                    </a:solidFill>
                  </a:tcPr>
                </a:tc>
                <a:tc>
                  <a:txBody>
                    <a:bodyPr/>
                    <a:lstStyle/>
                    <a:p>
                      <a:r>
                        <a:rPr sz="1650" b="0">
                          <a:solidFill>
                            <a:srgbClr val="164C47"/>
                          </a:solidFill>
                          <a:latin typeface="Arial"/>
                          <a:ea typeface="Arial"/>
                          <a:cs typeface="Arial"/>
                        </a:rPr>
                        <a:t>Bối cảnh đường huyết và ghi chú</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weight_kg, blood_sugar</a:t>
                      </a:r>
                    </a:p>
                  </a:txBody>
                  <a:tcPr>
                    <a:solidFill>
                      <a:srgbClr val="EAF3EE"/>
                    </a:solidFill>
                  </a:tcPr>
                </a:tc>
                <a:tc>
                  <a:txBody>
                    <a:bodyPr/>
                    <a:lstStyle/>
                    <a:p>
                      <a:r>
                        <a:rPr sz="1650" b="0">
                          <a:solidFill>
                            <a:srgbClr val="164C47"/>
                          </a:solidFill>
                          <a:latin typeface="Arial"/>
                          <a:ea typeface="Arial"/>
                          <a:cs typeface="Arial"/>
                        </a:rPr>
                        <a:t>REAL, cho phép NULL</a:t>
                      </a:r>
                    </a:p>
                  </a:txBody>
                  <a:tcPr>
                    <a:solidFill>
                      <a:srgbClr val="EAF3EE"/>
                    </a:solidFill>
                  </a:tcPr>
                </a:tc>
                <a:tc>
                  <a:txBody>
                    <a:bodyPr/>
                    <a:lstStyle/>
                    <a:p>
                      <a:r>
                        <a:rPr sz="1650" b="0">
                          <a:solidFill>
                            <a:srgbClr val="164C47"/>
                          </a:solidFill>
                          <a:latin typeface="Arial"/>
                          <a:ea typeface="Arial"/>
                          <a:cs typeface="Arial"/>
                        </a:rPr>
                        <a:t>Cân nặng (kg), đường huyết (mg/dL)</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systolic, diastolic</a:t>
                      </a:r>
                    </a:p>
                  </a:txBody>
                  <a:tcPr>
                    <a:solidFill>
                      <a:srgbClr val="FFFFFF"/>
                    </a:solidFill>
                  </a:tcPr>
                </a:tc>
                <a:tc>
                  <a:txBody>
                    <a:bodyPr/>
                    <a:lstStyle/>
                    <a:p>
                      <a:r>
                        <a:rPr sz="1650" b="0">
                          <a:solidFill>
                            <a:srgbClr val="164C47"/>
                          </a:solidFill>
                          <a:latin typeface="Arial"/>
                          <a:ea typeface="Arial"/>
                          <a:cs typeface="Arial"/>
                        </a:rPr>
                        <a:t>INTEGER, cho phép NULL</a:t>
                      </a:r>
                    </a:p>
                  </a:txBody>
                  <a:tcPr>
                    <a:solidFill>
                      <a:srgbClr val="FFFFFF"/>
                    </a:solidFill>
                  </a:tcPr>
                </a:tc>
                <a:tc>
                  <a:txBody>
                    <a:bodyPr/>
                    <a:lstStyle/>
                    <a:p>
                      <a:r>
                        <a:rPr sz="1650" b="0">
                          <a:solidFill>
                            <a:srgbClr val="164C47"/>
                          </a:solidFill>
                          <a:latin typeface="Arial"/>
                          <a:ea typeface="Arial"/>
                          <a:cs typeface="Arial"/>
                        </a:rPr>
                        <a:t>Huyết áp tâm thu / tâm trương (mmHg)</a:t>
                      </a:r>
                    </a:p>
                  </a:txBody>
                  <a:tcPr>
                    <a:solidFill>
                      <a:srgbClr val="FFFFFF"/>
                    </a:solidFill>
                  </a:tcPr>
                </a:tc>
                <a:extLst>
                  <a:ext uri="{0D108BD9-81ED-4DB2-BD59-A6C34878D82A}">
                    <a16:rowId xmlns:a16="http://schemas.microsoft.com/office/drawing/2014/main" val="10005"/>
                  </a:ext>
                </a:extLst>
              </a:tr>
              <a:tr h="523875">
                <a:tc>
                  <a:txBody>
                    <a:bodyPr/>
                    <a:lstStyle/>
                    <a:p>
                      <a:r>
                        <a:rPr sz="1650" b="0">
                          <a:solidFill>
                            <a:srgbClr val="164C47"/>
                          </a:solidFill>
                          <a:latin typeface="Arial"/>
                          <a:ea typeface="Arial"/>
                          <a:cs typeface="Arial"/>
                        </a:rPr>
                        <a:t>heart_rate</a:t>
                      </a:r>
                    </a:p>
                  </a:txBody>
                  <a:tcPr>
                    <a:solidFill>
                      <a:srgbClr val="EAF3EE"/>
                    </a:solidFill>
                  </a:tcPr>
                </a:tc>
                <a:tc>
                  <a:txBody>
                    <a:bodyPr/>
                    <a:lstStyle/>
                    <a:p>
                      <a:r>
                        <a:rPr sz="1650" b="0">
                          <a:solidFill>
                            <a:srgbClr val="164C47"/>
                          </a:solidFill>
                          <a:latin typeface="Arial"/>
                          <a:ea typeface="Arial"/>
                          <a:cs typeface="Arial"/>
                        </a:rPr>
                        <a:t>INTEGER, cho phép NULL</a:t>
                      </a:r>
                    </a:p>
                  </a:txBody>
                  <a:tcPr>
                    <a:solidFill>
                      <a:srgbClr val="EAF3EE"/>
                    </a:solidFill>
                  </a:tcPr>
                </a:tc>
                <a:tc>
                  <a:txBody>
                    <a:bodyPr/>
                    <a:lstStyle/>
                    <a:p>
                      <a:r>
                        <a:rPr sz="1650" b="0">
                          <a:solidFill>
                            <a:srgbClr val="164C47"/>
                          </a:solidFill>
                          <a:latin typeface="Arial"/>
                          <a:ea typeface="Arial"/>
                          <a:cs typeface="Arial"/>
                        </a:rPr>
                        <a:t>Nhịp tim (nhịp/phút)</a:t>
                      </a:r>
                    </a:p>
                  </a:txBody>
                  <a:tcPr>
                    <a:solidFill>
                      <a:srgbClr val="EAF3EE"/>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922CE5AE-DE4E-4027-AE21-6543ECDEB692}"/>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Một ngày có nhiều lần đo. Chỉ số chưa nhập dùng NULL. Biểu mẫu yêu cầu huyết áp đủ cặp.</a:t>
            </a:r>
          </a:p>
        </p:txBody>
      </p:sp>
    </p:spTree>
    <p:extLst>
      <p:ext uri="{BB962C8B-B14F-4D97-AF65-F5344CB8AC3E}">
        <p14:creationId xmlns:p14="http://schemas.microsoft.com/office/powerpoint/2010/main" val="536377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39BC29-7756-4322-BF09-D00F324560A2}"/>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MEDICINES</a:t>
            </a:r>
          </a:p>
        </p:txBody>
      </p:sp>
      <p:sp>
        <p:nvSpPr>
          <p:cNvPr id="2" name="Rectangle 1">
            <a:extLst>
              <a:ext uri="{FF2B5EF4-FFF2-40B4-BE49-F238E27FC236}">
                <a16:creationId xmlns:a16="http://schemas.microsoft.com/office/drawing/2014/main" id="{FB973783-5994-49E7-BD9F-039A9A7CA199}"/>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medicines: thông tin thuốc và lịch uống</a:t>
            </a:r>
          </a:p>
        </p:txBody>
      </p:sp>
      <p:sp>
        <p:nvSpPr>
          <p:cNvPr id="3" name="Rectangle 2">
            <a:extLst>
              <a:ext uri="{FF2B5EF4-FFF2-40B4-BE49-F238E27FC236}">
                <a16:creationId xmlns:a16="http://schemas.microsoft.com/office/drawing/2014/main" id="{50B999CD-166D-447D-AFDF-AAA1C4E3071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219BE29E-42B5-487C-9438-87B6DD4832E0}"/>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16</a:t>
            </a:r>
          </a:p>
        </p:txBody>
      </p:sp>
      <p:graphicFrame>
        <p:nvGraphicFramePr>
          <p:cNvPr id="5" name="Table 4">
            <a:extLst>
              <a:ext uri="{FF2B5EF4-FFF2-40B4-BE49-F238E27FC236}">
                <a16:creationId xmlns:a16="http://schemas.microsoft.com/office/drawing/2014/main" id="{40BA9AE0-1973-4927-BA52-33E656DEE218}"/>
              </a:ext>
            </a:extLst>
          </p:cNvPr>
          <p:cNvGraphicFramePr/>
          <p:nvPr/>
        </p:nvGraphicFramePr>
        <p:xfrm>
          <a:off x="514350" y="1457325"/>
          <a:ext cx="11144250" cy="3667125"/>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 user_id</a:t>
                      </a:r>
                    </a:p>
                  </a:txBody>
                  <a:tcPr>
                    <a:solidFill>
                      <a:srgbClr val="FFFFFF"/>
                    </a:solidFill>
                  </a:tcPr>
                </a:tc>
                <a:tc>
                  <a:txBody>
                    <a:bodyPr/>
                    <a:lstStyle/>
                    <a:p>
                      <a:r>
                        <a:rPr sz="1650" b="0">
                          <a:solidFill>
                            <a:srgbClr val="164C47"/>
                          </a:solidFill>
                          <a:latin typeface="Arial"/>
                          <a:ea typeface="Arial"/>
                          <a:cs typeface="Arial"/>
                        </a:rPr>
                        <a:t>INTEGER, PK / FK</a:t>
                      </a:r>
                    </a:p>
                  </a:txBody>
                  <a:tcPr>
                    <a:solidFill>
                      <a:srgbClr val="FFFFFF"/>
                    </a:solidFill>
                  </a:tcPr>
                </a:tc>
                <a:tc>
                  <a:txBody>
                    <a:bodyPr/>
                    <a:lstStyle/>
                    <a:p>
                      <a:r>
                        <a:rPr sz="1650" b="0">
                          <a:solidFill>
                            <a:srgbClr val="164C47"/>
                          </a:solidFill>
                          <a:latin typeface="Arial"/>
                          <a:ea typeface="Arial"/>
                          <a:cs typeface="Arial"/>
                        </a:rPr>
                        <a:t>Mã thuốc và tài khoản sở hữu</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name</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Tên thuốc</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dosage</a:t>
                      </a:r>
                    </a:p>
                  </a:txBody>
                  <a:tcPr>
                    <a:solidFill>
                      <a:srgbClr val="FFFFFF"/>
                    </a:solidFill>
                  </a:tcPr>
                </a:tc>
                <a:tc>
                  <a:txBody>
                    <a:bodyPr/>
                    <a:lstStyle/>
                    <a:p>
                      <a:r>
                        <a:rPr sz="1650" b="0">
                          <a:solidFill>
                            <a:srgbClr val="164C47"/>
                          </a:solidFill>
                          <a:latin typeface="Arial"/>
                          <a:ea typeface="Arial"/>
                          <a:cs typeface="Arial"/>
                        </a:rPr>
                        <a:t>TEXT</a:t>
                      </a:r>
                    </a:p>
                  </a:txBody>
                  <a:tcPr>
                    <a:solidFill>
                      <a:srgbClr val="FFFFFF"/>
                    </a:solidFill>
                  </a:tcPr>
                </a:tc>
                <a:tc>
                  <a:txBody>
                    <a:bodyPr/>
                    <a:lstStyle/>
                    <a:p>
                      <a:r>
                        <a:rPr sz="1650" b="0">
                          <a:solidFill>
                            <a:srgbClr val="164C47"/>
                          </a:solidFill>
                          <a:latin typeface="Arial"/>
                          <a:ea typeface="Arial"/>
                          <a:cs typeface="Arial"/>
                        </a:rPr>
                        <a:t>Liều lượng hoặc hướng dẫn</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time</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Một hoặc nhiều giờ HH:mm, cách bằng dấu phẩy</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days_mask</a:t>
                      </a:r>
                    </a:p>
                  </a:txBody>
                  <a:tcPr>
                    <a:solidFill>
                      <a:srgbClr val="FFFFFF"/>
                    </a:solidFill>
                  </a:tcPr>
                </a:tc>
                <a:tc>
                  <a:txBody>
                    <a:bodyPr/>
                    <a:lstStyle/>
                    <a:p>
                      <a:r>
                        <a:rPr sz="1650" b="0">
                          <a:solidFill>
                            <a:srgbClr val="164C47"/>
                          </a:solidFill>
                          <a:latin typeface="Arial"/>
                          <a:ea typeface="Arial"/>
                          <a:cs typeface="Arial"/>
                        </a:rPr>
                        <a:t>INTEGER, mặc định 127</a:t>
                      </a:r>
                    </a:p>
                  </a:txBody>
                  <a:tcPr>
                    <a:solidFill>
                      <a:srgbClr val="FFFFFF"/>
                    </a:solidFill>
                  </a:tcPr>
                </a:tc>
                <a:tc>
                  <a:txBody>
                    <a:bodyPr/>
                    <a:lstStyle/>
                    <a:p>
                      <a:r>
                        <a:rPr sz="1650" b="0">
                          <a:solidFill>
                            <a:srgbClr val="164C47"/>
                          </a:solidFill>
                          <a:latin typeface="Arial"/>
                          <a:ea typeface="Arial"/>
                          <a:cs typeface="Arial"/>
                        </a:rPr>
                        <a:t>Mặt nạ 7 bit, 127 tương ứng cả tuần</a:t>
                      </a:r>
                    </a:p>
                  </a:txBody>
                  <a:tcPr>
                    <a:solidFill>
                      <a:srgbClr val="FFFFFF"/>
                    </a:solidFill>
                  </a:tcPr>
                </a:tc>
                <a:extLst>
                  <a:ext uri="{0D108BD9-81ED-4DB2-BD59-A6C34878D82A}">
                    <a16:rowId xmlns:a16="http://schemas.microsoft.com/office/drawing/2014/main" val="10005"/>
                  </a:ext>
                </a:extLst>
              </a:tr>
              <a:tr h="523875">
                <a:tc>
                  <a:txBody>
                    <a:bodyPr/>
                    <a:lstStyle/>
                    <a:p>
                      <a:r>
                        <a:rPr sz="1650" b="0">
                          <a:solidFill>
                            <a:srgbClr val="164C47"/>
                          </a:solidFill>
                          <a:latin typeface="Arial"/>
                          <a:ea typeface="Arial"/>
                          <a:cs typeface="Arial"/>
                        </a:rPr>
                        <a:t>is_active</a:t>
                      </a:r>
                    </a:p>
                  </a:txBody>
                  <a:tcPr>
                    <a:solidFill>
                      <a:srgbClr val="EAF3EE"/>
                    </a:solidFill>
                  </a:tcPr>
                </a:tc>
                <a:tc>
                  <a:txBody>
                    <a:bodyPr/>
                    <a:lstStyle/>
                    <a:p>
                      <a:r>
                        <a:rPr sz="1650" b="0">
                          <a:solidFill>
                            <a:srgbClr val="164C47"/>
                          </a:solidFill>
                          <a:latin typeface="Arial"/>
                          <a:ea typeface="Arial"/>
                          <a:cs typeface="Arial"/>
                        </a:rPr>
                        <a:t>INTEGER, mặc định 1</a:t>
                      </a:r>
                    </a:p>
                  </a:txBody>
                  <a:tcPr>
                    <a:solidFill>
                      <a:srgbClr val="EAF3EE"/>
                    </a:solidFill>
                  </a:tcPr>
                </a:tc>
                <a:tc>
                  <a:txBody>
                    <a:bodyPr/>
                    <a:lstStyle/>
                    <a:p>
                      <a:r>
                        <a:rPr sz="1650" b="0">
                          <a:solidFill>
                            <a:srgbClr val="164C47"/>
                          </a:solidFill>
                          <a:latin typeface="Arial"/>
                          <a:ea typeface="Arial"/>
                          <a:cs typeface="Arial"/>
                        </a:rPr>
                        <a:t>1: bật lịch nhắc, 0: tắt lịch nhắc</a:t>
                      </a:r>
                    </a:p>
                  </a:txBody>
                  <a:tcPr>
                    <a:solidFill>
                      <a:srgbClr val="EAF3EE"/>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FBC15A6B-968B-4FDE-9EF0-2F924810BE50}"/>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Nhiều giờ uống vẫn thuộc cùng một thuốc. Cữ cụ thể được phân biệt thêm ngày và giờ dự kiến.</a:t>
            </a:r>
          </a:p>
        </p:txBody>
      </p:sp>
    </p:spTree>
    <p:extLst>
      <p:ext uri="{BB962C8B-B14F-4D97-AF65-F5344CB8AC3E}">
        <p14:creationId xmlns:p14="http://schemas.microsoft.com/office/powerpoint/2010/main" val="68109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43D976-FF47-4F6C-87AC-BA4138C7A77E}"/>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MEDICINE_LOGS</a:t>
            </a:r>
          </a:p>
        </p:txBody>
      </p:sp>
      <p:sp>
        <p:nvSpPr>
          <p:cNvPr id="2" name="Rectangle 1">
            <a:extLst>
              <a:ext uri="{FF2B5EF4-FFF2-40B4-BE49-F238E27FC236}">
                <a16:creationId xmlns:a16="http://schemas.microsoft.com/office/drawing/2014/main" id="{E32D400A-7025-4B3B-93BC-72C569907722}"/>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medicine_logs: kết quả xác nhận từng cữ</a:t>
            </a:r>
          </a:p>
        </p:txBody>
      </p:sp>
      <p:sp>
        <p:nvSpPr>
          <p:cNvPr id="3" name="Rectangle 2">
            <a:extLst>
              <a:ext uri="{FF2B5EF4-FFF2-40B4-BE49-F238E27FC236}">
                <a16:creationId xmlns:a16="http://schemas.microsoft.com/office/drawing/2014/main" id="{23B33A0E-2D64-4F40-B907-D588CF998E60}"/>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9417EDA3-31E8-4968-8510-E8C0D165B6C6}"/>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17</a:t>
            </a:r>
          </a:p>
        </p:txBody>
      </p:sp>
      <p:graphicFrame>
        <p:nvGraphicFramePr>
          <p:cNvPr id="5" name="Table 4">
            <a:extLst>
              <a:ext uri="{FF2B5EF4-FFF2-40B4-BE49-F238E27FC236}">
                <a16:creationId xmlns:a16="http://schemas.microsoft.com/office/drawing/2014/main" id="{583434A6-6E3C-4359-834A-FB2A5BA7E396}"/>
              </a:ext>
            </a:extLst>
          </p:cNvPr>
          <p:cNvGraphicFramePr/>
          <p:nvPr/>
        </p:nvGraphicFramePr>
        <p:xfrm>
          <a:off x="514350" y="1457325"/>
          <a:ext cx="11144250" cy="3737610"/>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 medicine_id</a:t>
                      </a:r>
                    </a:p>
                  </a:txBody>
                  <a:tcPr>
                    <a:solidFill>
                      <a:srgbClr val="FFFFFF"/>
                    </a:solidFill>
                  </a:tcPr>
                </a:tc>
                <a:tc>
                  <a:txBody>
                    <a:bodyPr/>
                    <a:lstStyle/>
                    <a:p>
                      <a:r>
                        <a:rPr sz="1650" b="0">
                          <a:solidFill>
                            <a:srgbClr val="164C47"/>
                          </a:solidFill>
                          <a:latin typeface="Arial"/>
                          <a:ea typeface="Arial"/>
                          <a:cs typeface="Arial"/>
                        </a:rPr>
                        <a:t>INTEGER, PK / FK</a:t>
                      </a:r>
                    </a:p>
                  </a:txBody>
                  <a:tcPr>
                    <a:solidFill>
                      <a:srgbClr val="FFFFFF"/>
                    </a:solidFill>
                  </a:tcPr>
                </a:tc>
                <a:tc>
                  <a:txBody>
                    <a:bodyPr/>
                    <a:lstStyle/>
                    <a:p>
                      <a:r>
                        <a:rPr sz="1650" b="0">
                          <a:solidFill>
                            <a:srgbClr val="164C47"/>
                          </a:solidFill>
                          <a:latin typeface="Arial"/>
                          <a:ea typeface="Arial"/>
                          <a:cs typeface="Arial"/>
                        </a:rPr>
                        <a:t>Mã nhật ký và thuốc liên quan</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date, scheduled_time</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Ngày và giờ dự kiến của cữ thuốc</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status</a:t>
                      </a:r>
                    </a:p>
                  </a:txBody>
                  <a:tcPr>
                    <a:solidFill>
                      <a:srgbClr val="FFFFFF"/>
                    </a:solidFill>
                  </a:tcPr>
                </a:tc>
                <a:tc>
                  <a:txBody>
                    <a:bodyPr/>
                    <a:lstStyle/>
                    <a:p>
                      <a:r>
                        <a:rPr sz="1650" b="0">
                          <a:solidFill>
                            <a:srgbClr val="164C47"/>
                          </a:solidFill>
                          <a:latin typeface="Arial"/>
                          <a:ea typeface="Arial"/>
                          <a:cs typeface="Arial"/>
                        </a:rPr>
                        <a:t>TEXT, NOT NULL</a:t>
                      </a:r>
                    </a:p>
                  </a:txBody>
                  <a:tcPr>
                    <a:solidFill>
                      <a:srgbClr val="FFFFFF"/>
                    </a:solidFill>
                  </a:tcPr>
                </a:tc>
                <a:tc>
                  <a:txBody>
                    <a:bodyPr/>
                    <a:lstStyle/>
                    <a:p>
                      <a:r>
                        <a:rPr sz="1650" b="0">
                          <a:solidFill>
                            <a:srgbClr val="164C47"/>
                          </a:solidFill>
                          <a:latin typeface="Arial"/>
                          <a:ea typeface="Arial"/>
                          <a:cs typeface="Arial"/>
                        </a:rPr>
                        <a:t>TAKEN: Đã uống, SKIPPED: Bỏ qua</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logged_at</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Thời điểm người dùng xác nhận</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medicine_name_snapshot,</a:t>
                      </a:r>
                    </a:p>
                    <a:p>
                      <a:r>
                        <a:rPr sz="1650" b="0">
                          <a:solidFill>
                            <a:srgbClr val="164C47"/>
                          </a:solidFill>
                          <a:latin typeface="Arial"/>
                          <a:ea typeface="Arial"/>
                          <a:cs typeface="Arial"/>
                        </a:rPr>
                        <a:t>dosage_snapshot</a:t>
                      </a:r>
                    </a:p>
                  </a:txBody>
                  <a:tcPr>
                    <a:solidFill>
                      <a:srgbClr val="FFFFFF"/>
                    </a:solidFill>
                  </a:tcPr>
                </a:tc>
                <a:tc>
                  <a:txBody>
                    <a:bodyPr/>
                    <a:lstStyle/>
                    <a:p>
                      <a:r>
                        <a:rPr sz="1650" b="0">
                          <a:solidFill>
                            <a:srgbClr val="164C47"/>
                          </a:solidFill>
                          <a:latin typeface="Arial"/>
                          <a:ea typeface="Arial"/>
                          <a:cs typeface="Arial"/>
                        </a:rPr>
                        <a:t>TEXT</a:t>
                      </a:r>
                    </a:p>
                  </a:txBody>
                  <a:tcPr>
                    <a:solidFill>
                      <a:srgbClr val="FFFFFF"/>
                    </a:solidFill>
                  </a:tcPr>
                </a:tc>
                <a:tc>
                  <a:txBody>
                    <a:bodyPr/>
                    <a:lstStyle/>
                    <a:p>
                      <a:r>
                        <a:rPr sz="1650" b="0">
                          <a:solidFill>
                            <a:srgbClr val="164C47"/>
                          </a:solidFill>
                          <a:latin typeface="Arial"/>
                          <a:ea typeface="Arial"/>
                          <a:cs typeface="Arial"/>
                        </a:rPr>
                        <a:t>Tên và liều lượng tại lúc ghi nhận</a:t>
                      </a:r>
                    </a:p>
                  </a:txBody>
                  <a:tcPr>
                    <a:solidFill>
                      <a:srgbClr val="FFFFFF"/>
                    </a:solidFill>
                  </a:tcPr>
                </a:tc>
                <a:extLst>
                  <a:ext uri="{0D108BD9-81ED-4DB2-BD59-A6C34878D82A}">
                    <a16:rowId xmlns:a16="http://schemas.microsoft.com/office/drawing/2014/main" val="10005"/>
                  </a:ext>
                </a:extLst>
              </a:tr>
              <a:tr h="523875">
                <a:tc>
                  <a:txBody>
                    <a:bodyPr/>
                    <a:lstStyle/>
                    <a:p>
                      <a:r>
                        <a:rPr sz="1650" b="0">
                          <a:solidFill>
                            <a:srgbClr val="164C47"/>
                          </a:solidFill>
                          <a:latin typeface="Arial"/>
                          <a:ea typeface="Arial"/>
                          <a:cs typeface="Arial"/>
                        </a:rPr>
                        <a:t>snapshot_inherited</a:t>
                      </a:r>
                    </a:p>
                  </a:txBody>
                  <a:tcPr>
                    <a:solidFill>
                      <a:srgbClr val="EAF3EE"/>
                    </a:solidFill>
                  </a:tcPr>
                </a:tc>
                <a:tc>
                  <a:txBody>
                    <a:bodyPr/>
                    <a:lstStyle/>
                    <a:p>
                      <a:r>
                        <a:rPr sz="1650" b="0">
                          <a:solidFill>
                            <a:srgbClr val="164C47"/>
                          </a:solidFill>
                          <a:latin typeface="Arial"/>
                          <a:ea typeface="Arial"/>
                          <a:cs typeface="Arial"/>
                        </a:rPr>
                        <a:t>INTEGER, mặc định 0</a:t>
                      </a:r>
                    </a:p>
                  </a:txBody>
                  <a:tcPr>
                    <a:solidFill>
                      <a:srgbClr val="EAF3EE"/>
                    </a:solidFill>
                  </a:tcPr>
                </a:tc>
                <a:tc>
                  <a:txBody>
                    <a:bodyPr/>
                    <a:lstStyle/>
                    <a:p>
                      <a:r>
                        <a:rPr sz="1650" b="0">
                          <a:solidFill>
                            <a:srgbClr val="164C47"/>
                          </a:solidFill>
                          <a:latin typeface="Arial"/>
                          <a:ea typeface="Arial"/>
                          <a:cs typeface="Arial"/>
                        </a:rPr>
                        <a:t>Dấu hiệu kế thừa thông tin khi nâng cấp</a:t>
                      </a:r>
                    </a:p>
                  </a:txBody>
                  <a:tcPr>
                    <a:solidFill>
                      <a:srgbClr val="EAF3EE"/>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BD5EBB7C-B994-431D-AC33-C458EB5E61A4}"/>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Sắp tới và Chưa xác nhận được tính khi hiển thị, không lưu thành kết quả trong bảng này.</a:t>
            </a:r>
          </a:p>
        </p:txBody>
      </p:sp>
    </p:spTree>
    <p:extLst>
      <p:ext uri="{BB962C8B-B14F-4D97-AF65-F5344CB8AC3E}">
        <p14:creationId xmlns:p14="http://schemas.microsoft.com/office/powerpoint/2010/main" val="956903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2123CE1-3664-45E8-A7AC-182D7B81E220}"/>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CẤU TRÚC BẢNG WATER_LOGS</a:t>
            </a:r>
          </a:p>
        </p:txBody>
      </p:sp>
      <p:sp>
        <p:nvSpPr>
          <p:cNvPr id="2" name="Rectangle 1">
            <a:extLst>
              <a:ext uri="{FF2B5EF4-FFF2-40B4-BE49-F238E27FC236}">
                <a16:creationId xmlns:a16="http://schemas.microsoft.com/office/drawing/2014/main" id="{57602C0D-8D88-4732-8F25-F48936E18E9B}"/>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water_logs: dữ liệu từng lần uống nước</a:t>
            </a:r>
          </a:p>
        </p:txBody>
      </p:sp>
      <p:sp>
        <p:nvSpPr>
          <p:cNvPr id="3" name="Rectangle 2">
            <a:extLst>
              <a:ext uri="{FF2B5EF4-FFF2-40B4-BE49-F238E27FC236}">
                <a16:creationId xmlns:a16="http://schemas.microsoft.com/office/drawing/2014/main" id="{35192A93-C298-4797-84A7-1F2DAFAB542C}"/>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C6460768-E451-4979-8483-09582FF3F70B}"/>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18</a:t>
            </a:r>
          </a:p>
        </p:txBody>
      </p:sp>
      <p:graphicFrame>
        <p:nvGraphicFramePr>
          <p:cNvPr id="5" name="Table 4">
            <a:extLst>
              <a:ext uri="{FF2B5EF4-FFF2-40B4-BE49-F238E27FC236}">
                <a16:creationId xmlns:a16="http://schemas.microsoft.com/office/drawing/2014/main" id="{3854A61B-69CD-4AEC-8E10-CE637FD0504A}"/>
              </a:ext>
            </a:extLst>
          </p:cNvPr>
          <p:cNvGraphicFramePr/>
          <p:nvPr/>
        </p:nvGraphicFramePr>
        <p:xfrm>
          <a:off x="514350" y="1457325"/>
          <a:ext cx="11144250" cy="3143250"/>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a:t>
                      </a:r>
                    </a:p>
                  </a:txBody>
                  <a:tcPr>
                    <a:solidFill>
                      <a:srgbClr val="FFFFFF"/>
                    </a:solidFill>
                  </a:tcPr>
                </a:tc>
                <a:tc>
                  <a:txBody>
                    <a:bodyPr/>
                    <a:lstStyle/>
                    <a:p>
                      <a:r>
                        <a:rPr sz="1650" b="0">
                          <a:solidFill>
                            <a:srgbClr val="164C47"/>
                          </a:solidFill>
                          <a:latin typeface="Arial"/>
                          <a:ea typeface="Arial"/>
                          <a:cs typeface="Arial"/>
                        </a:rPr>
                        <a:t>INTEGER, PK, tự tăng</a:t>
                      </a:r>
                    </a:p>
                  </a:txBody>
                  <a:tcPr>
                    <a:solidFill>
                      <a:srgbClr val="FFFFFF"/>
                    </a:solidFill>
                  </a:tcPr>
                </a:tc>
                <a:tc>
                  <a:txBody>
                    <a:bodyPr/>
                    <a:lstStyle/>
                    <a:p>
                      <a:r>
                        <a:rPr sz="1650" b="0">
                          <a:solidFill>
                            <a:srgbClr val="164C47"/>
                          </a:solidFill>
                          <a:latin typeface="Arial"/>
                          <a:ea typeface="Arial"/>
                          <a:cs typeface="Arial"/>
                        </a:rPr>
                        <a:t>Mã lần ghi nhận</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user_id</a:t>
                      </a:r>
                    </a:p>
                  </a:txBody>
                  <a:tcPr>
                    <a:solidFill>
                      <a:srgbClr val="EAF3EE"/>
                    </a:solidFill>
                  </a:tcPr>
                </a:tc>
                <a:tc>
                  <a:txBody>
                    <a:bodyPr/>
                    <a:lstStyle/>
                    <a:p>
                      <a:r>
                        <a:rPr sz="1650" b="0">
                          <a:solidFill>
                            <a:srgbClr val="164C47"/>
                          </a:solidFill>
                          <a:latin typeface="Arial"/>
                          <a:ea typeface="Arial"/>
                          <a:cs typeface="Arial"/>
                        </a:rPr>
                        <a:t>INTEGER, FK, NOT NULL</a:t>
                      </a:r>
                    </a:p>
                  </a:txBody>
                  <a:tcPr>
                    <a:solidFill>
                      <a:srgbClr val="EAF3EE"/>
                    </a:solidFill>
                  </a:tcPr>
                </a:tc>
                <a:tc>
                  <a:txBody>
                    <a:bodyPr/>
                    <a:lstStyle/>
                    <a:p>
                      <a:r>
                        <a:rPr sz="1650" b="0">
                          <a:solidFill>
                            <a:srgbClr val="164C47"/>
                          </a:solidFill>
                          <a:latin typeface="Arial"/>
                          <a:ea typeface="Arial"/>
                          <a:cs typeface="Arial"/>
                        </a:rPr>
                        <a:t>Tham chiếu users.id</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date</a:t>
                      </a:r>
                    </a:p>
                  </a:txBody>
                  <a:tcPr>
                    <a:solidFill>
                      <a:srgbClr val="FFFFFF"/>
                    </a:solidFill>
                  </a:tcPr>
                </a:tc>
                <a:tc>
                  <a:txBody>
                    <a:bodyPr/>
                    <a:lstStyle/>
                    <a:p>
                      <a:r>
                        <a:rPr sz="1650" b="0">
                          <a:solidFill>
                            <a:srgbClr val="164C47"/>
                          </a:solidFill>
                          <a:latin typeface="Arial"/>
                          <a:ea typeface="Arial"/>
                          <a:cs typeface="Arial"/>
                        </a:rPr>
                        <a:t>TEXT, NOT NULL</a:t>
                      </a:r>
                    </a:p>
                  </a:txBody>
                  <a:tcPr>
                    <a:solidFill>
                      <a:srgbClr val="FFFFFF"/>
                    </a:solidFill>
                  </a:tcPr>
                </a:tc>
                <a:tc>
                  <a:txBody>
                    <a:bodyPr/>
                    <a:lstStyle/>
                    <a:p>
                      <a:r>
                        <a:rPr sz="1650" b="0">
                          <a:solidFill>
                            <a:srgbClr val="164C47"/>
                          </a:solidFill>
                          <a:latin typeface="Arial"/>
                          <a:ea typeface="Arial"/>
                          <a:cs typeface="Arial"/>
                        </a:rPr>
                        <a:t>Ngày ghi nhận, yyyy-MM-dd</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amount_ml</a:t>
                      </a:r>
                    </a:p>
                  </a:txBody>
                  <a:tcPr>
                    <a:solidFill>
                      <a:srgbClr val="EAF3EE"/>
                    </a:solidFill>
                  </a:tcPr>
                </a:tc>
                <a:tc>
                  <a:txBody>
                    <a:bodyPr/>
                    <a:lstStyle/>
                    <a:p>
                      <a:r>
                        <a:rPr sz="1650" b="0">
                          <a:solidFill>
                            <a:srgbClr val="164C47"/>
                          </a:solidFill>
                          <a:latin typeface="Arial"/>
                          <a:ea typeface="Arial"/>
                          <a:cs typeface="Arial"/>
                        </a:rPr>
                        <a:t>INTEGER, NOT NULL</a:t>
                      </a:r>
                    </a:p>
                  </a:txBody>
                  <a:tcPr>
                    <a:solidFill>
                      <a:srgbClr val="EAF3EE"/>
                    </a:solidFill>
                  </a:tcPr>
                </a:tc>
                <a:tc>
                  <a:txBody>
                    <a:bodyPr/>
                    <a:lstStyle/>
                    <a:p>
                      <a:r>
                        <a:rPr sz="1650" b="0">
                          <a:solidFill>
                            <a:srgbClr val="164C47"/>
                          </a:solidFill>
                          <a:latin typeface="Arial"/>
                          <a:ea typeface="Arial"/>
                          <a:cs typeface="Arial"/>
                        </a:rPr>
                        <a:t>Lượng nước của lần uống, đơn vị ml</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logged_at</a:t>
                      </a:r>
                    </a:p>
                  </a:txBody>
                  <a:tcPr>
                    <a:solidFill>
                      <a:srgbClr val="FFFFFF"/>
                    </a:solidFill>
                  </a:tcPr>
                </a:tc>
                <a:tc>
                  <a:txBody>
                    <a:bodyPr/>
                    <a:lstStyle/>
                    <a:p>
                      <a:r>
                        <a:rPr sz="1650" b="0">
                          <a:solidFill>
                            <a:srgbClr val="164C47"/>
                          </a:solidFill>
                          <a:latin typeface="Arial"/>
                          <a:ea typeface="Arial"/>
                          <a:cs typeface="Arial"/>
                        </a:rPr>
                        <a:t>TEXT, NOT NULL</a:t>
                      </a:r>
                    </a:p>
                  </a:txBody>
                  <a:tcPr>
                    <a:solidFill>
                      <a:srgbClr val="FFFFFF"/>
                    </a:solidFill>
                  </a:tcPr>
                </a:tc>
                <a:tc>
                  <a:txBody>
                    <a:bodyPr/>
                    <a:lstStyle/>
                    <a:p>
                      <a:r>
                        <a:rPr sz="1650" b="0">
                          <a:solidFill>
                            <a:srgbClr val="164C47"/>
                          </a:solidFill>
                          <a:latin typeface="Arial"/>
                          <a:ea typeface="Arial"/>
                          <a:cs typeface="Arial"/>
                        </a:rPr>
                        <a:t>Thời điểm ghi, yyyy-MM-dd HH:mm:ss</a:t>
                      </a:r>
                    </a:p>
                  </a:txBody>
                  <a:tcP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7DC9493-6792-48B2-9F8C-F9AAA7F08971}"/>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Tổng nước được tính từ nhật ký theo tài khoản và ngày. Sửa hoặc xóa một hàng sẽ cập nhật tiến độ.</a:t>
            </a:r>
          </a:p>
        </p:txBody>
      </p:sp>
    </p:spTree>
    <p:extLst>
      <p:ext uri="{BB962C8B-B14F-4D97-AF65-F5344CB8AC3E}">
        <p14:creationId xmlns:p14="http://schemas.microsoft.com/office/powerpoint/2010/main" val="184280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20FBB17-DCF2-4A5D-B264-4E867DC94679}"/>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TÍNH NHẤT QUÁN DỮ LIỆU</a:t>
            </a:r>
          </a:p>
        </p:txBody>
      </p:sp>
      <p:sp>
        <p:nvSpPr>
          <p:cNvPr id="2" name="Rectangle 1">
            <a:extLst>
              <a:ext uri="{FF2B5EF4-FFF2-40B4-BE49-F238E27FC236}">
                <a16:creationId xmlns:a16="http://schemas.microsoft.com/office/drawing/2014/main" id="{440D135E-8B0D-48AD-BC63-68E8CB3539ED}"/>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Khóa ngoại, chỉ mục và phạm vi dữ liệu</a:t>
            </a:r>
          </a:p>
        </p:txBody>
      </p:sp>
      <p:sp>
        <p:nvSpPr>
          <p:cNvPr id="3" name="Rectangle 2">
            <a:extLst>
              <a:ext uri="{FF2B5EF4-FFF2-40B4-BE49-F238E27FC236}">
                <a16:creationId xmlns:a16="http://schemas.microsoft.com/office/drawing/2014/main" id="{CD89A9FB-053F-42C5-8ACC-FDABCC2008D4}"/>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31EF0A0-EABF-4D8D-AAA7-15C2FEA70D0C}"/>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19</a:t>
            </a:r>
          </a:p>
        </p:txBody>
      </p:sp>
      <p:sp>
        <p:nvSpPr>
          <p:cNvPr id="5" name="Rectangle 4">
            <a:extLst>
              <a:ext uri="{FF2B5EF4-FFF2-40B4-BE49-F238E27FC236}">
                <a16:creationId xmlns:a16="http://schemas.microsoft.com/office/drawing/2014/main" id="{2BF8D84A-C711-4AB2-AA4F-96CB54C8C309}"/>
              </a:ext>
            </a:extLst>
          </p:cNvPr>
          <p:cNvSpPr>
            <a:spLocks noGrp="1"/>
          </p:cNvSpPr>
          <p:nvPr/>
        </p:nvSpPr>
        <p:spPr>
          <a:xfrm>
            <a:off x="514350" y="1619250"/>
            <a:ext cx="5334000"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Quan hệ một nhiều</a:t>
            </a:r>
          </a:p>
        </p:txBody>
      </p:sp>
      <p:sp>
        <p:nvSpPr>
          <p:cNvPr id="6" name="Rectangle 5">
            <a:extLst>
              <a:ext uri="{FF2B5EF4-FFF2-40B4-BE49-F238E27FC236}">
                <a16:creationId xmlns:a16="http://schemas.microsoft.com/office/drawing/2014/main" id="{3AEE0FFE-901C-406D-BB93-40E1E8A8BBA3}"/>
              </a:ext>
            </a:extLst>
          </p:cNvPr>
          <p:cNvSpPr>
            <a:spLocks noGrp="1"/>
          </p:cNvSpPr>
          <p:nvPr/>
        </p:nvSpPr>
        <p:spPr>
          <a:xfrm>
            <a:off x="514350" y="2190750"/>
            <a:ext cx="5238750" cy="1285875"/>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users có nhiều health_records, medicines và water_logs. medicines có nhiều medicine_logs.</a:t>
            </a:r>
          </a:p>
        </p:txBody>
      </p:sp>
      <p:sp>
        <p:nvSpPr>
          <p:cNvPr id="7" name="Rectangle 6">
            <a:extLst>
              <a:ext uri="{FF2B5EF4-FFF2-40B4-BE49-F238E27FC236}">
                <a16:creationId xmlns:a16="http://schemas.microsoft.com/office/drawing/2014/main" id="{ED1FFEC2-084F-4A05-8CE8-D2C73A5E8813}"/>
              </a:ext>
            </a:extLst>
          </p:cNvPr>
          <p:cNvSpPr>
            <a:spLocks noGrp="1"/>
          </p:cNvSpPr>
          <p:nvPr/>
        </p:nvSpPr>
        <p:spPr>
          <a:xfrm>
            <a:off x="6524625" y="1619250"/>
            <a:ext cx="5143500"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Truy vấn theo tài khoản</a:t>
            </a:r>
          </a:p>
        </p:txBody>
      </p:sp>
      <p:sp>
        <p:nvSpPr>
          <p:cNvPr id="8" name="Rectangle 7">
            <a:extLst>
              <a:ext uri="{FF2B5EF4-FFF2-40B4-BE49-F238E27FC236}">
                <a16:creationId xmlns:a16="http://schemas.microsoft.com/office/drawing/2014/main" id="{FCCA36B0-2308-42E8-A4E3-A75792B3129E}"/>
              </a:ext>
            </a:extLst>
          </p:cNvPr>
          <p:cNvSpPr>
            <a:spLocks noGrp="1"/>
          </p:cNvSpPr>
          <p:nvPr/>
        </p:nvSpPr>
        <p:spPr>
          <a:xfrm>
            <a:off x="6524625" y="2190750"/>
            <a:ext cx="5095875" cy="1285875"/>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Mỗi thao tác chỉ truy cập dữ liệu của tài khoản hiện tại. Nhật ký thuốc xác định chủ sở hữu qua medicines.</a:t>
            </a:r>
          </a:p>
        </p:txBody>
      </p:sp>
      <p:sp>
        <p:nvSpPr>
          <p:cNvPr id="9" name="Rectangle 8">
            <a:extLst>
              <a:ext uri="{FF2B5EF4-FFF2-40B4-BE49-F238E27FC236}">
                <a16:creationId xmlns:a16="http://schemas.microsoft.com/office/drawing/2014/main" id="{C192F9B6-53BE-4C7A-BF39-C23B1DA951BC}"/>
              </a:ext>
            </a:extLst>
          </p:cNvPr>
          <p:cNvSpPr>
            <a:spLocks noGrp="1"/>
          </p:cNvSpPr>
          <p:nvPr/>
        </p:nvSpPr>
        <p:spPr>
          <a:xfrm>
            <a:off x="514350" y="4048125"/>
            <a:ext cx="5334000"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Khóa ngoại và xóa dữ liệu</a:t>
            </a:r>
          </a:p>
        </p:txBody>
      </p:sp>
      <p:sp>
        <p:nvSpPr>
          <p:cNvPr id="10" name="Rectangle 9">
            <a:extLst>
              <a:ext uri="{FF2B5EF4-FFF2-40B4-BE49-F238E27FC236}">
                <a16:creationId xmlns:a16="http://schemas.microsoft.com/office/drawing/2014/main" id="{7DB4A626-7257-4BE0-8C75-13E3D074DDE5}"/>
              </a:ext>
            </a:extLst>
          </p:cNvPr>
          <p:cNvSpPr>
            <a:spLocks noGrp="1"/>
          </p:cNvSpPr>
          <p:nvPr/>
        </p:nvSpPr>
        <p:spPr>
          <a:xfrm>
            <a:off x="514350" y="4610100"/>
            <a:ext cx="5238750" cy="13335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Bật khóa ngoại trong onConfigure. ON DELETE CASCADE xóa các hàng phụ thuộc khi xóa tài khoản hoặc thuốc.</a:t>
            </a:r>
          </a:p>
        </p:txBody>
      </p:sp>
      <p:sp>
        <p:nvSpPr>
          <p:cNvPr id="11" name="Rectangle 10">
            <a:extLst>
              <a:ext uri="{FF2B5EF4-FFF2-40B4-BE49-F238E27FC236}">
                <a16:creationId xmlns:a16="http://schemas.microsoft.com/office/drawing/2014/main" id="{931A2275-4347-4D10-BE0D-EB6D4B6C2EC0}"/>
              </a:ext>
            </a:extLst>
          </p:cNvPr>
          <p:cNvSpPr>
            <a:spLocks noGrp="1"/>
          </p:cNvSpPr>
          <p:nvPr/>
        </p:nvSpPr>
        <p:spPr>
          <a:xfrm>
            <a:off x="6524625" y="4048125"/>
            <a:ext cx="5095875"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Chỉ mục tra cứu</a:t>
            </a:r>
          </a:p>
        </p:txBody>
      </p:sp>
      <p:sp>
        <p:nvSpPr>
          <p:cNvPr id="12" name="Rectangle 11">
            <a:extLst>
              <a:ext uri="{FF2B5EF4-FFF2-40B4-BE49-F238E27FC236}">
                <a16:creationId xmlns:a16="http://schemas.microsoft.com/office/drawing/2014/main" id="{C5AC8B38-1173-4B91-B558-8F8548B9CD78}"/>
              </a:ext>
            </a:extLst>
          </p:cNvPr>
          <p:cNvSpPr>
            <a:spLocks noGrp="1"/>
          </p:cNvSpPr>
          <p:nvPr/>
        </p:nvSpPr>
        <p:spPr>
          <a:xfrm>
            <a:off x="6524625" y="4610100"/>
            <a:ext cx="5095875" cy="13335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Sức khỏe, nước: (user_id, date).</a:t>
            </a:r>
          </a:p>
          <a:p>
            <a:pPr>
              <a:buNone/>
              <a:defRPr sz="1875" b="0">
                <a:solidFill>
                  <a:srgbClr val="526B66"/>
                </a:solidFill>
                <a:latin typeface="Arial"/>
                <a:ea typeface="Arial"/>
                <a:cs typeface="Arial"/>
              </a:defRPr>
            </a:pPr>
            <a:r>
              <a:rPr sz="1875" b="0">
                <a:solidFill>
                  <a:srgbClr val="526B66"/>
                </a:solidFill>
                <a:latin typeface="Arial"/>
                <a:ea typeface="Arial"/>
                <a:cs typeface="Arial"/>
              </a:rPr>
              <a:t>Cữ thuốc: (medicine_id, date, scheduled_time). Chỉ mục cữ thuốc không phải UNIQUE.</a:t>
            </a:r>
          </a:p>
        </p:txBody>
      </p:sp>
    </p:spTree>
    <p:extLst>
      <p:ext uri="{BB962C8B-B14F-4D97-AF65-F5344CB8AC3E}">
        <p14:creationId xmlns:p14="http://schemas.microsoft.com/office/powerpoint/2010/main" val="1094968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AFA3BA5-0B04-43A2-B27B-DBEBCEAC4450}"/>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1.5  PHÂN CÔNG THỰC HIỆN</a:t>
            </a:r>
          </a:p>
        </p:txBody>
      </p:sp>
      <p:sp>
        <p:nvSpPr>
          <p:cNvPr id="2" name="Rectangle 1">
            <a:extLst>
              <a:ext uri="{FF2B5EF4-FFF2-40B4-BE49-F238E27FC236}">
                <a16:creationId xmlns:a16="http://schemas.microsoft.com/office/drawing/2014/main" id="{8EEE6651-4D2F-4834-A9C3-4BC805B6F19F}"/>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Vai trò thành viên và tổng kết</a:t>
            </a:r>
          </a:p>
        </p:txBody>
      </p:sp>
      <p:sp>
        <p:nvSpPr>
          <p:cNvPr id="3" name="Rectangle 2">
            <a:extLst>
              <a:ext uri="{FF2B5EF4-FFF2-40B4-BE49-F238E27FC236}">
                <a16:creationId xmlns:a16="http://schemas.microsoft.com/office/drawing/2014/main" id="{4D32358A-DE0C-4C92-9A31-47D9E47670F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6AD288F0-2E33-416A-A620-86757B933519}"/>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20</a:t>
            </a:r>
          </a:p>
        </p:txBody>
      </p:sp>
      <p:sp>
        <p:nvSpPr>
          <p:cNvPr id="5" name="Rectangle 4">
            <a:extLst>
              <a:ext uri="{FF2B5EF4-FFF2-40B4-BE49-F238E27FC236}">
                <a16:creationId xmlns:a16="http://schemas.microsoft.com/office/drawing/2014/main" id="{C4345700-BD20-48F7-9BBD-78480DC4718B}"/>
              </a:ext>
            </a:extLst>
          </p:cNvPr>
          <p:cNvSpPr>
            <a:spLocks noGrp="1"/>
          </p:cNvSpPr>
          <p:nvPr/>
        </p:nvSpPr>
        <p:spPr>
          <a:xfrm>
            <a:off x="514350" y="1619250"/>
            <a:ext cx="5238750" cy="476250"/>
          </a:xfrm>
          <a:prstGeom prst="rect">
            <a:avLst/>
          </a:prstGeom>
          <a:noFill/>
          <a:ln w="0">
            <a:noFill/>
          </a:ln>
        </p:spPr>
        <p:txBody>
          <a:bodyPr/>
          <a:lstStyle>
            <a:defPPr>
              <a:defRPr sz="2400" b="1">
                <a:solidFill>
                  <a:srgbClr val="164C47"/>
                </a:solidFill>
                <a:latin typeface="Arial"/>
                <a:ea typeface="Arial"/>
                <a:cs typeface="Arial"/>
              </a:defRPr>
            </a:defPPr>
            <a:lvl1pPr>
              <a:buNone/>
              <a:defRPr sz="2400" b="1">
                <a:solidFill>
                  <a:srgbClr val="164C47"/>
                </a:solidFill>
                <a:latin typeface="Arial"/>
                <a:ea typeface="Arial"/>
                <a:cs typeface="Arial"/>
              </a:defRPr>
            </a:lvl1pPr>
            <a:lvl2pPr>
              <a:buNone/>
              <a:defRPr sz="2400" b="1">
                <a:solidFill>
                  <a:srgbClr val="164C47"/>
                </a:solidFill>
                <a:latin typeface="Arial"/>
                <a:ea typeface="Arial"/>
                <a:cs typeface="Arial"/>
              </a:defRPr>
            </a:lvl2pPr>
            <a:lvl3pPr>
              <a:buNone/>
              <a:defRPr sz="2400" b="1">
                <a:solidFill>
                  <a:srgbClr val="164C47"/>
                </a:solidFill>
                <a:latin typeface="Arial"/>
                <a:ea typeface="Arial"/>
                <a:cs typeface="Arial"/>
              </a:defRPr>
            </a:lvl3pPr>
            <a:lvl4pPr>
              <a:buNone/>
              <a:defRPr sz="2400" b="1">
                <a:solidFill>
                  <a:srgbClr val="164C47"/>
                </a:solidFill>
                <a:latin typeface="Arial"/>
                <a:ea typeface="Arial"/>
                <a:cs typeface="Arial"/>
              </a:defRPr>
            </a:lvl4pPr>
            <a:lvl5pPr>
              <a:buNone/>
              <a:defRPr sz="2400" b="1">
                <a:solidFill>
                  <a:srgbClr val="164C47"/>
                </a:solidFill>
                <a:latin typeface="Arial"/>
                <a:ea typeface="Arial"/>
                <a:cs typeface="Arial"/>
              </a:defRPr>
            </a:lvl5pPr>
            <a:lvl6pPr>
              <a:buNone/>
              <a:defRPr sz="2400" b="1">
                <a:solidFill>
                  <a:srgbClr val="164C47"/>
                </a:solidFill>
                <a:latin typeface="Arial"/>
                <a:ea typeface="Arial"/>
                <a:cs typeface="Arial"/>
              </a:defRPr>
            </a:lvl6pPr>
            <a:lvl7pPr>
              <a:buNone/>
              <a:defRPr sz="2400" b="1">
                <a:solidFill>
                  <a:srgbClr val="164C47"/>
                </a:solidFill>
                <a:latin typeface="Arial"/>
                <a:ea typeface="Arial"/>
                <a:cs typeface="Arial"/>
              </a:defRPr>
            </a:lvl7pPr>
            <a:lvl8pPr>
              <a:buNone/>
              <a:defRPr sz="2400" b="1">
                <a:solidFill>
                  <a:srgbClr val="164C47"/>
                </a:solidFill>
                <a:latin typeface="Arial"/>
                <a:ea typeface="Arial"/>
                <a:cs typeface="Arial"/>
              </a:defRPr>
            </a:lvl8pPr>
            <a:lvl9pPr>
              <a:buNone/>
              <a:defRPr sz="2400" b="1">
                <a:solidFill>
                  <a:srgbClr val="164C47"/>
                </a:solidFill>
                <a:latin typeface="Arial"/>
                <a:ea typeface="Arial"/>
                <a:cs typeface="Arial"/>
              </a:defRPr>
            </a:lvl9pPr>
          </a:lstStyle>
          <a:p>
            <a:pPr>
              <a:buNone/>
              <a:defRPr sz="2400" b="1">
                <a:solidFill>
                  <a:srgbClr val="164C47"/>
                </a:solidFill>
                <a:latin typeface="Arial"/>
                <a:ea typeface="Arial"/>
                <a:cs typeface="Arial"/>
              </a:defRPr>
            </a:pPr>
            <a:r>
              <a:rPr sz="2400" b="1">
                <a:solidFill>
                  <a:srgbClr val="164C47"/>
                </a:solidFill>
                <a:latin typeface="Arial"/>
                <a:ea typeface="Arial"/>
                <a:cs typeface="Arial"/>
              </a:rPr>
              <a:t>Huỳnh Trung Tín</a:t>
            </a:r>
          </a:p>
        </p:txBody>
      </p:sp>
      <p:sp>
        <p:nvSpPr>
          <p:cNvPr id="6" name="Rectangle 5">
            <a:extLst>
              <a:ext uri="{FF2B5EF4-FFF2-40B4-BE49-F238E27FC236}">
                <a16:creationId xmlns:a16="http://schemas.microsoft.com/office/drawing/2014/main" id="{698596A8-3843-4629-B2AB-21B92921A61A}"/>
              </a:ext>
            </a:extLst>
          </p:cNvPr>
          <p:cNvSpPr>
            <a:spLocks noGrp="1"/>
          </p:cNvSpPr>
          <p:nvPr/>
        </p:nvSpPr>
        <p:spPr>
          <a:xfrm>
            <a:off x="514350" y="2333625"/>
            <a:ext cx="5238750" cy="2571750"/>
          </a:xfrm>
          <a:prstGeom prst="rect">
            <a:avLst/>
          </a:prstGeom>
          <a:noFill/>
          <a:ln w="0">
            <a:noFill/>
          </a:ln>
        </p:spPr>
        <p:txBody>
          <a:bodyPr/>
          <a:lstStyle>
            <a:defPPr>
              <a:defRPr sz="1950" b="0">
                <a:solidFill>
                  <a:srgbClr val="526B66"/>
                </a:solidFill>
                <a:latin typeface="Arial"/>
                <a:ea typeface="Arial"/>
                <a:cs typeface="Arial"/>
              </a:defRPr>
            </a:defPPr>
            <a:lvl1pPr>
              <a:buNone/>
              <a:defRPr sz="1950" b="0">
                <a:solidFill>
                  <a:srgbClr val="526B66"/>
                </a:solidFill>
                <a:latin typeface="Arial"/>
                <a:ea typeface="Arial"/>
                <a:cs typeface="Arial"/>
              </a:defRPr>
            </a:lvl1pPr>
            <a:lvl2pPr>
              <a:buNone/>
              <a:defRPr sz="1950" b="0">
                <a:solidFill>
                  <a:srgbClr val="526B66"/>
                </a:solidFill>
                <a:latin typeface="Arial"/>
                <a:ea typeface="Arial"/>
                <a:cs typeface="Arial"/>
              </a:defRPr>
            </a:lvl2pPr>
            <a:lvl3pPr>
              <a:buNone/>
              <a:defRPr sz="1950" b="0">
                <a:solidFill>
                  <a:srgbClr val="526B66"/>
                </a:solidFill>
                <a:latin typeface="Arial"/>
                <a:ea typeface="Arial"/>
                <a:cs typeface="Arial"/>
              </a:defRPr>
            </a:lvl3pPr>
            <a:lvl4pPr>
              <a:buNone/>
              <a:defRPr sz="1950" b="0">
                <a:solidFill>
                  <a:srgbClr val="526B66"/>
                </a:solidFill>
                <a:latin typeface="Arial"/>
                <a:ea typeface="Arial"/>
                <a:cs typeface="Arial"/>
              </a:defRPr>
            </a:lvl4pPr>
            <a:lvl5pPr>
              <a:buNone/>
              <a:defRPr sz="1950" b="0">
                <a:solidFill>
                  <a:srgbClr val="526B66"/>
                </a:solidFill>
                <a:latin typeface="Arial"/>
                <a:ea typeface="Arial"/>
                <a:cs typeface="Arial"/>
              </a:defRPr>
            </a:lvl5pPr>
            <a:lvl6pPr>
              <a:buNone/>
              <a:defRPr sz="1950" b="0">
                <a:solidFill>
                  <a:srgbClr val="526B66"/>
                </a:solidFill>
                <a:latin typeface="Arial"/>
                <a:ea typeface="Arial"/>
                <a:cs typeface="Arial"/>
              </a:defRPr>
            </a:lvl6pPr>
            <a:lvl7pPr>
              <a:buNone/>
              <a:defRPr sz="1950" b="0">
                <a:solidFill>
                  <a:srgbClr val="526B66"/>
                </a:solidFill>
                <a:latin typeface="Arial"/>
                <a:ea typeface="Arial"/>
                <a:cs typeface="Arial"/>
              </a:defRPr>
            </a:lvl7pPr>
            <a:lvl8pPr>
              <a:buNone/>
              <a:defRPr sz="1950" b="0">
                <a:solidFill>
                  <a:srgbClr val="526B66"/>
                </a:solidFill>
                <a:latin typeface="Arial"/>
                <a:ea typeface="Arial"/>
                <a:cs typeface="Arial"/>
              </a:defRPr>
            </a:lvl8pPr>
            <a:lvl9pPr>
              <a:buNone/>
              <a:defRPr sz="1950" b="0">
                <a:solidFill>
                  <a:srgbClr val="526B66"/>
                </a:solidFill>
                <a:latin typeface="Arial"/>
                <a:ea typeface="Arial"/>
                <a:cs typeface="Arial"/>
              </a:defRPr>
            </a:lvl9pPr>
          </a:lstStyle>
          <a:p>
            <a:pPr>
              <a:buNone/>
              <a:defRPr sz="1950" b="0">
                <a:solidFill>
                  <a:srgbClr val="526B66"/>
                </a:solidFill>
                <a:latin typeface="Arial"/>
                <a:ea typeface="Arial"/>
                <a:cs typeface="Arial"/>
              </a:defRPr>
            </a:pPr>
            <a:r>
              <a:rPr sz="1950" b="0">
                <a:solidFill>
                  <a:srgbClr val="526B66"/>
                </a:solidFill>
                <a:latin typeface="Arial"/>
                <a:ea typeface="Arial"/>
                <a:cs typeface="Arial"/>
              </a:rPr>
              <a:t>Trưởng nhóm · Đóng góp 50%</a:t>
            </a:r>
          </a:p>
          <a:p>
            <a:endParaRPr sz="1950" b="0">
              <a:solidFill>
                <a:srgbClr val="526B66"/>
              </a:solidFill>
              <a:latin typeface="Arial"/>
              <a:ea typeface="Arial"/>
              <a:cs typeface="Arial"/>
            </a:endParaRPr>
          </a:p>
          <a:p>
            <a:pPr>
              <a:buNone/>
              <a:defRPr sz="1950" b="0">
                <a:solidFill>
                  <a:srgbClr val="526B66"/>
                </a:solidFill>
                <a:latin typeface="Arial"/>
                <a:ea typeface="Arial"/>
                <a:cs typeface="Arial"/>
              </a:defRPr>
            </a:pPr>
            <a:r>
              <a:rPr sz="1950" b="0">
                <a:solidFill>
                  <a:srgbClr val="526B66"/>
                </a:solidFill>
                <a:latin typeface="Arial"/>
                <a:ea typeface="Arial"/>
                <a:cs typeface="Arial"/>
              </a:rPr>
              <a:t>Giao diện và trải nghiệm sử dụng.</a:t>
            </a:r>
          </a:p>
          <a:p>
            <a:pPr>
              <a:buNone/>
              <a:defRPr sz="1950" b="0">
                <a:solidFill>
                  <a:srgbClr val="526B66"/>
                </a:solidFill>
                <a:latin typeface="Arial"/>
                <a:ea typeface="Arial"/>
                <a:cs typeface="Arial"/>
              </a:defRPr>
            </a:pPr>
            <a:r>
              <a:rPr sz="1950" b="0">
                <a:solidFill>
                  <a:srgbClr val="526B66"/>
                </a:solidFill>
                <a:latin typeface="Arial"/>
                <a:ea typeface="Arial"/>
                <a:cs typeface="Arial"/>
              </a:rPr>
              <a:t>Tích hợp danh sách, biểu đồ và BMI.</a:t>
            </a:r>
          </a:p>
          <a:p>
            <a:pPr>
              <a:buNone/>
              <a:defRPr sz="1950" b="0">
                <a:solidFill>
                  <a:srgbClr val="526B66"/>
                </a:solidFill>
                <a:latin typeface="Arial"/>
                <a:ea typeface="Arial"/>
                <a:cs typeface="Arial"/>
              </a:defRPr>
            </a:pPr>
            <a:r>
              <a:rPr sz="1950" b="0">
                <a:solidFill>
                  <a:srgbClr val="526B66"/>
                </a:solidFill>
                <a:latin typeface="Arial"/>
                <a:ea typeface="Arial"/>
                <a:cs typeface="Arial"/>
              </a:rPr>
              <a:t>Tổng hợp, biên soạn báo cáo.</a:t>
            </a:r>
          </a:p>
        </p:txBody>
      </p:sp>
      <p:sp>
        <p:nvSpPr>
          <p:cNvPr id="7" name="Rectangle 6">
            <a:extLst>
              <a:ext uri="{FF2B5EF4-FFF2-40B4-BE49-F238E27FC236}">
                <a16:creationId xmlns:a16="http://schemas.microsoft.com/office/drawing/2014/main" id="{3B19CD27-947C-4054-B58B-59880422F222}"/>
              </a:ext>
            </a:extLst>
          </p:cNvPr>
          <p:cNvSpPr>
            <a:spLocks noGrp="1"/>
          </p:cNvSpPr>
          <p:nvPr/>
        </p:nvSpPr>
        <p:spPr>
          <a:xfrm>
            <a:off x="6477000" y="1619250"/>
            <a:ext cx="5143500" cy="476250"/>
          </a:xfrm>
          <a:prstGeom prst="rect">
            <a:avLst/>
          </a:prstGeom>
          <a:noFill/>
          <a:ln w="0">
            <a:noFill/>
          </a:ln>
        </p:spPr>
        <p:txBody>
          <a:bodyPr/>
          <a:lstStyle>
            <a:defPPr>
              <a:defRPr sz="2400" b="1">
                <a:solidFill>
                  <a:srgbClr val="164C47"/>
                </a:solidFill>
                <a:latin typeface="Arial"/>
                <a:ea typeface="Arial"/>
                <a:cs typeface="Arial"/>
              </a:defRPr>
            </a:defPPr>
            <a:lvl1pPr>
              <a:buNone/>
              <a:defRPr sz="2400" b="1">
                <a:solidFill>
                  <a:srgbClr val="164C47"/>
                </a:solidFill>
                <a:latin typeface="Arial"/>
                <a:ea typeface="Arial"/>
                <a:cs typeface="Arial"/>
              </a:defRPr>
            </a:lvl1pPr>
            <a:lvl2pPr>
              <a:buNone/>
              <a:defRPr sz="2400" b="1">
                <a:solidFill>
                  <a:srgbClr val="164C47"/>
                </a:solidFill>
                <a:latin typeface="Arial"/>
                <a:ea typeface="Arial"/>
                <a:cs typeface="Arial"/>
              </a:defRPr>
            </a:lvl2pPr>
            <a:lvl3pPr>
              <a:buNone/>
              <a:defRPr sz="2400" b="1">
                <a:solidFill>
                  <a:srgbClr val="164C47"/>
                </a:solidFill>
                <a:latin typeface="Arial"/>
                <a:ea typeface="Arial"/>
                <a:cs typeface="Arial"/>
              </a:defRPr>
            </a:lvl3pPr>
            <a:lvl4pPr>
              <a:buNone/>
              <a:defRPr sz="2400" b="1">
                <a:solidFill>
                  <a:srgbClr val="164C47"/>
                </a:solidFill>
                <a:latin typeface="Arial"/>
                <a:ea typeface="Arial"/>
                <a:cs typeface="Arial"/>
              </a:defRPr>
            </a:lvl4pPr>
            <a:lvl5pPr>
              <a:buNone/>
              <a:defRPr sz="2400" b="1">
                <a:solidFill>
                  <a:srgbClr val="164C47"/>
                </a:solidFill>
                <a:latin typeface="Arial"/>
                <a:ea typeface="Arial"/>
                <a:cs typeface="Arial"/>
              </a:defRPr>
            </a:lvl5pPr>
            <a:lvl6pPr>
              <a:buNone/>
              <a:defRPr sz="2400" b="1">
                <a:solidFill>
                  <a:srgbClr val="164C47"/>
                </a:solidFill>
                <a:latin typeface="Arial"/>
                <a:ea typeface="Arial"/>
                <a:cs typeface="Arial"/>
              </a:defRPr>
            </a:lvl6pPr>
            <a:lvl7pPr>
              <a:buNone/>
              <a:defRPr sz="2400" b="1">
                <a:solidFill>
                  <a:srgbClr val="164C47"/>
                </a:solidFill>
                <a:latin typeface="Arial"/>
                <a:ea typeface="Arial"/>
                <a:cs typeface="Arial"/>
              </a:defRPr>
            </a:lvl7pPr>
            <a:lvl8pPr>
              <a:buNone/>
              <a:defRPr sz="2400" b="1">
                <a:solidFill>
                  <a:srgbClr val="164C47"/>
                </a:solidFill>
                <a:latin typeface="Arial"/>
                <a:ea typeface="Arial"/>
                <a:cs typeface="Arial"/>
              </a:defRPr>
            </a:lvl8pPr>
            <a:lvl9pPr>
              <a:buNone/>
              <a:defRPr sz="2400" b="1">
                <a:solidFill>
                  <a:srgbClr val="164C47"/>
                </a:solidFill>
                <a:latin typeface="Arial"/>
                <a:ea typeface="Arial"/>
                <a:cs typeface="Arial"/>
              </a:defRPr>
            </a:lvl9pPr>
          </a:lstStyle>
          <a:p>
            <a:pPr>
              <a:buNone/>
              <a:defRPr sz="2400" b="1">
                <a:solidFill>
                  <a:srgbClr val="164C47"/>
                </a:solidFill>
                <a:latin typeface="Arial"/>
                <a:ea typeface="Arial"/>
                <a:cs typeface="Arial"/>
              </a:defRPr>
            </a:pPr>
            <a:r>
              <a:rPr sz="2400" b="1">
                <a:solidFill>
                  <a:srgbClr val="164C47"/>
                </a:solidFill>
                <a:latin typeface="Arial"/>
                <a:ea typeface="Arial"/>
                <a:cs typeface="Arial"/>
              </a:rPr>
              <a:t>Đinh Tấn Minh</a:t>
            </a:r>
          </a:p>
        </p:txBody>
      </p:sp>
      <p:sp>
        <p:nvSpPr>
          <p:cNvPr id="8" name="Rectangle 7">
            <a:extLst>
              <a:ext uri="{FF2B5EF4-FFF2-40B4-BE49-F238E27FC236}">
                <a16:creationId xmlns:a16="http://schemas.microsoft.com/office/drawing/2014/main" id="{C7FFAA38-1DF9-452B-8806-3D84CA581C21}"/>
              </a:ext>
            </a:extLst>
          </p:cNvPr>
          <p:cNvSpPr>
            <a:spLocks noGrp="1"/>
          </p:cNvSpPr>
          <p:nvPr/>
        </p:nvSpPr>
        <p:spPr>
          <a:xfrm>
            <a:off x="6477000" y="2333625"/>
            <a:ext cx="5095875" cy="2571750"/>
          </a:xfrm>
          <a:prstGeom prst="rect">
            <a:avLst/>
          </a:prstGeom>
          <a:noFill/>
          <a:ln w="0">
            <a:noFill/>
          </a:ln>
        </p:spPr>
        <p:txBody>
          <a:bodyPr/>
          <a:lstStyle>
            <a:defPPr>
              <a:defRPr sz="1950" b="0">
                <a:solidFill>
                  <a:srgbClr val="526B66"/>
                </a:solidFill>
                <a:latin typeface="Arial"/>
                <a:ea typeface="Arial"/>
                <a:cs typeface="Arial"/>
              </a:defRPr>
            </a:defPPr>
            <a:lvl1pPr>
              <a:buNone/>
              <a:defRPr sz="1950" b="0">
                <a:solidFill>
                  <a:srgbClr val="526B66"/>
                </a:solidFill>
                <a:latin typeface="Arial"/>
                <a:ea typeface="Arial"/>
                <a:cs typeface="Arial"/>
              </a:defRPr>
            </a:lvl1pPr>
            <a:lvl2pPr>
              <a:buNone/>
              <a:defRPr sz="1950" b="0">
                <a:solidFill>
                  <a:srgbClr val="526B66"/>
                </a:solidFill>
                <a:latin typeface="Arial"/>
                <a:ea typeface="Arial"/>
                <a:cs typeface="Arial"/>
              </a:defRPr>
            </a:lvl2pPr>
            <a:lvl3pPr>
              <a:buNone/>
              <a:defRPr sz="1950" b="0">
                <a:solidFill>
                  <a:srgbClr val="526B66"/>
                </a:solidFill>
                <a:latin typeface="Arial"/>
                <a:ea typeface="Arial"/>
                <a:cs typeface="Arial"/>
              </a:defRPr>
            </a:lvl3pPr>
            <a:lvl4pPr>
              <a:buNone/>
              <a:defRPr sz="1950" b="0">
                <a:solidFill>
                  <a:srgbClr val="526B66"/>
                </a:solidFill>
                <a:latin typeface="Arial"/>
                <a:ea typeface="Arial"/>
                <a:cs typeface="Arial"/>
              </a:defRPr>
            </a:lvl4pPr>
            <a:lvl5pPr>
              <a:buNone/>
              <a:defRPr sz="1950" b="0">
                <a:solidFill>
                  <a:srgbClr val="526B66"/>
                </a:solidFill>
                <a:latin typeface="Arial"/>
                <a:ea typeface="Arial"/>
                <a:cs typeface="Arial"/>
              </a:defRPr>
            </a:lvl5pPr>
            <a:lvl6pPr>
              <a:buNone/>
              <a:defRPr sz="1950" b="0">
                <a:solidFill>
                  <a:srgbClr val="526B66"/>
                </a:solidFill>
                <a:latin typeface="Arial"/>
                <a:ea typeface="Arial"/>
                <a:cs typeface="Arial"/>
              </a:defRPr>
            </a:lvl6pPr>
            <a:lvl7pPr>
              <a:buNone/>
              <a:defRPr sz="1950" b="0">
                <a:solidFill>
                  <a:srgbClr val="526B66"/>
                </a:solidFill>
                <a:latin typeface="Arial"/>
                <a:ea typeface="Arial"/>
                <a:cs typeface="Arial"/>
              </a:defRPr>
            </a:lvl7pPr>
            <a:lvl8pPr>
              <a:buNone/>
              <a:defRPr sz="1950" b="0">
                <a:solidFill>
                  <a:srgbClr val="526B66"/>
                </a:solidFill>
                <a:latin typeface="Arial"/>
                <a:ea typeface="Arial"/>
                <a:cs typeface="Arial"/>
              </a:defRPr>
            </a:lvl8pPr>
            <a:lvl9pPr>
              <a:buNone/>
              <a:defRPr sz="1950" b="0">
                <a:solidFill>
                  <a:srgbClr val="526B66"/>
                </a:solidFill>
                <a:latin typeface="Arial"/>
                <a:ea typeface="Arial"/>
                <a:cs typeface="Arial"/>
              </a:defRPr>
            </a:lvl9pPr>
          </a:lstStyle>
          <a:p>
            <a:pPr>
              <a:buNone/>
              <a:defRPr sz="1950" b="0">
                <a:solidFill>
                  <a:srgbClr val="526B66"/>
                </a:solidFill>
                <a:latin typeface="Arial"/>
                <a:ea typeface="Arial"/>
                <a:cs typeface="Arial"/>
              </a:defRPr>
            </a:pPr>
            <a:r>
              <a:rPr sz="1950" b="0">
                <a:solidFill>
                  <a:srgbClr val="526B66"/>
                </a:solidFill>
                <a:latin typeface="Arial"/>
                <a:ea typeface="Arial"/>
                <a:cs typeface="Arial"/>
              </a:rPr>
              <a:t>Đóng góp 50%</a:t>
            </a:r>
          </a:p>
          <a:p>
            <a:endParaRPr sz="1950" b="0">
              <a:solidFill>
                <a:srgbClr val="526B66"/>
              </a:solidFill>
              <a:latin typeface="Arial"/>
              <a:ea typeface="Arial"/>
              <a:cs typeface="Arial"/>
            </a:endParaRPr>
          </a:p>
          <a:p>
            <a:pPr>
              <a:buNone/>
              <a:defRPr sz="1950" b="0">
                <a:solidFill>
                  <a:srgbClr val="526B66"/>
                </a:solidFill>
                <a:latin typeface="Arial"/>
                <a:ea typeface="Arial"/>
                <a:cs typeface="Arial"/>
              </a:defRPr>
            </a:pPr>
            <a:r>
              <a:rPr sz="1950" b="0">
                <a:solidFill>
                  <a:srgbClr val="526B66"/>
                </a:solidFill>
                <a:latin typeface="Arial"/>
                <a:ea typeface="Arial"/>
                <a:cs typeface="Arial"/>
              </a:rPr>
              <a:t>Cơ sở dữ liệu, nghiệp vụ và xác thực.</a:t>
            </a:r>
          </a:p>
          <a:p>
            <a:pPr>
              <a:buNone/>
              <a:defRPr sz="1950" b="0">
                <a:solidFill>
                  <a:srgbClr val="526B66"/>
                </a:solidFill>
                <a:latin typeface="Arial"/>
                <a:ea typeface="Arial"/>
                <a:cs typeface="Arial"/>
              </a:defRPr>
            </a:pPr>
            <a:r>
              <a:rPr sz="1950" b="0">
                <a:solidFill>
                  <a:srgbClr val="526B66"/>
                </a:solidFill>
                <a:latin typeface="Arial"/>
                <a:ea typeface="Arial"/>
                <a:cs typeface="Arial"/>
              </a:rPr>
              <a:t>Lập lịch thuốc, nước và thông báo.</a:t>
            </a:r>
          </a:p>
          <a:p>
            <a:pPr>
              <a:buNone/>
              <a:defRPr sz="1950" b="0">
                <a:solidFill>
                  <a:srgbClr val="526B66"/>
                </a:solidFill>
                <a:latin typeface="Arial"/>
                <a:ea typeface="Arial"/>
                <a:cs typeface="Arial"/>
              </a:defRPr>
            </a:pPr>
            <a:r>
              <a:rPr sz="1950" b="0">
                <a:solidFill>
                  <a:srgbClr val="526B66"/>
                </a:solidFill>
                <a:latin typeface="Arial"/>
                <a:ea typeface="Arial"/>
                <a:cs typeface="Arial"/>
              </a:rPr>
              <a:t>Chuẩn bị thuyết trình và demo.</a:t>
            </a:r>
          </a:p>
        </p:txBody>
      </p:sp>
      <p:sp>
        <p:nvSpPr>
          <p:cNvPr id="9" name="Rectangle 8">
            <a:extLst>
              <a:ext uri="{FF2B5EF4-FFF2-40B4-BE49-F238E27FC236}">
                <a16:creationId xmlns:a16="http://schemas.microsoft.com/office/drawing/2014/main" id="{DE5397D9-B69C-4F66-A20B-71B62872BF90}"/>
              </a:ext>
            </a:extLst>
          </p:cNvPr>
          <p:cNvSpPr>
            <a:spLocks noGrp="1"/>
          </p:cNvSpPr>
          <p:nvPr/>
        </p:nvSpPr>
        <p:spPr>
          <a:xfrm>
            <a:off x="514350" y="5429250"/>
            <a:ext cx="10953750" cy="828675"/>
          </a:xfrm>
          <a:prstGeom prst="rect">
            <a:avLst/>
          </a:prstGeom>
          <a:noFill/>
          <a:ln w="0">
            <a:noFill/>
          </a:ln>
        </p:spPr>
        <p:txBody>
          <a:bodyPr/>
          <a:lstStyle>
            <a:defPPr>
              <a:defRPr sz="1950" b="1">
                <a:solidFill>
                  <a:srgbClr val="087F72"/>
                </a:solidFill>
                <a:latin typeface="Arial"/>
                <a:ea typeface="Arial"/>
                <a:cs typeface="Arial"/>
              </a:defRPr>
            </a:defPPr>
            <a:lvl1pPr>
              <a:buNone/>
              <a:defRPr sz="1950" b="1">
                <a:solidFill>
                  <a:srgbClr val="087F72"/>
                </a:solidFill>
                <a:latin typeface="Arial"/>
                <a:ea typeface="Arial"/>
                <a:cs typeface="Arial"/>
              </a:defRPr>
            </a:lvl1pPr>
            <a:lvl2pPr>
              <a:buNone/>
              <a:defRPr sz="1950" b="1">
                <a:solidFill>
                  <a:srgbClr val="087F72"/>
                </a:solidFill>
                <a:latin typeface="Arial"/>
                <a:ea typeface="Arial"/>
                <a:cs typeface="Arial"/>
              </a:defRPr>
            </a:lvl2pPr>
            <a:lvl3pPr>
              <a:buNone/>
              <a:defRPr sz="1950" b="1">
                <a:solidFill>
                  <a:srgbClr val="087F72"/>
                </a:solidFill>
                <a:latin typeface="Arial"/>
                <a:ea typeface="Arial"/>
                <a:cs typeface="Arial"/>
              </a:defRPr>
            </a:lvl3pPr>
            <a:lvl4pPr>
              <a:buNone/>
              <a:defRPr sz="1950" b="1">
                <a:solidFill>
                  <a:srgbClr val="087F72"/>
                </a:solidFill>
                <a:latin typeface="Arial"/>
                <a:ea typeface="Arial"/>
                <a:cs typeface="Arial"/>
              </a:defRPr>
            </a:lvl4pPr>
            <a:lvl5pPr>
              <a:buNone/>
              <a:defRPr sz="1950" b="1">
                <a:solidFill>
                  <a:srgbClr val="087F72"/>
                </a:solidFill>
                <a:latin typeface="Arial"/>
                <a:ea typeface="Arial"/>
                <a:cs typeface="Arial"/>
              </a:defRPr>
            </a:lvl5pPr>
            <a:lvl6pPr>
              <a:buNone/>
              <a:defRPr sz="1950" b="1">
                <a:solidFill>
                  <a:srgbClr val="087F72"/>
                </a:solidFill>
                <a:latin typeface="Arial"/>
                <a:ea typeface="Arial"/>
                <a:cs typeface="Arial"/>
              </a:defRPr>
            </a:lvl6pPr>
            <a:lvl7pPr>
              <a:buNone/>
              <a:defRPr sz="1950" b="1">
                <a:solidFill>
                  <a:srgbClr val="087F72"/>
                </a:solidFill>
                <a:latin typeface="Arial"/>
                <a:ea typeface="Arial"/>
                <a:cs typeface="Arial"/>
              </a:defRPr>
            </a:lvl7pPr>
            <a:lvl8pPr>
              <a:buNone/>
              <a:defRPr sz="1950" b="1">
                <a:solidFill>
                  <a:srgbClr val="087F72"/>
                </a:solidFill>
                <a:latin typeface="Arial"/>
                <a:ea typeface="Arial"/>
                <a:cs typeface="Arial"/>
              </a:defRPr>
            </a:lvl8pPr>
            <a:lvl9pPr>
              <a:buNone/>
              <a:defRPr sz="1950" b="1">
                <a:solidFill>
                  <a:srgbClr val="087F72"/>
                </a:solidFill>
                <a:latin typeface="Arial"/>
                <a:ea typeface="Arial"/>
                <a:cs typeface="Arial"/>
              </a:defRPr>
            </a:lvl9pPr>
          </a:lstStyle>
          <a:p>
            <a:pPr>
              <a:buNone/>
              <a:defRPr sz="1950" b="1">
                <a:solidFill>
                  <a:srgbClr val="087F72"/>
                </a:solidFill>
                <a:latin typeface="Arial"/>
                <a:ea typeface="Arial"/>
                <a:cs typeface="Arial"/>
              </a:defRPr>
            </a:pPr>
            <a:r>
              <a:rPr sz="1950" b="1">
                <a:solidFill>
                  <a:srgbClr val="087F72"/>
                </a:solidFill>
                <a:latin typeface="Arial"/>
                <a:ea typeface="Arial"/>
                <a:cs typeface="Arial"/>
              </a:rPr>
              <a:t>Vita tổ chức việc ghi chép sức khỏe, thuốc và nước trên thiết bị. Dữ liệu cục bộ chưa có đồng bộ hoặc xuất sao lưu.</a:t>
            </a:r>
          </a:p>
        </p:txBody>
      </p:sp>
    </p:spTree>
    <p:extLst>
      <p:ext uri="{BB962C8B-B14F-4D97-AF65-F5344CB8AC3E}">
        <p14:creationId xmlns:p14="http://schemas.microsoft.com/office/powerpoint/2010/main" val="2125282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3647</Words>
  <Application>Microsoft Office PowerPoint</Application>
  <DocSecurity>0</DocSecurity>
  <PresentationFormat>Widescreen</PresentationFormat>
  <Paragraphs>345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Tín Huỳnh</cp:lastModifiedBy>
  <cp:revision>4</cp:revision>
  <dcterms:created xsi:type="dcterms:W3CDTF">2026-10-26T14:48:29Z</dcterms:created>
  <dcterms:modified xsi:type="dcterms:W3CDTF">2026-10-26T14:58:38Z</dcterms:modified>
</cp:coreProperties>
</file>