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Sơ đồ cập nhật: docs/assets/Vita_UseCase_13_UC.png, đủ UC01–UC13. Khi trình bày, tập trung các nhóm chức năng và đường liên kết chính. Không yêu cầu người nghe đọc từng nhãn nhỏ trong hình.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Sơ đồ thay thế theo ảnh người dùng cung cấp. Nét chấm là lối mở hồ sơ, nét liền là hướng điều hướng. Nét uốn ở giao điểm phân biệt hai đường không nối nhau. Khi trình bày, tập trung các nhóm chức năng và đường liên kết chính. Không yêu cầu người nghe đọc từng nhãn nhỏ trong hình.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Ký hiệu Crow’s Foot: hai vạch biểu thị đúng một, vòng tròn kết hợp chân quạ biểu thị 0 đến nhiều. Khóa ngoại trên hàng con tham chiếu khóa chính của hàng cha. Khi trình bày, tập trung các nhóm chức năng và đường liên kết chính. Không yêu cầu người nghe đọc từng nhãn nhỏ trong hình.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0CFC6F4-2164-4098-89D5-337912CCBBC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D92A910B-76E0-42F7-A638-9F34B8DB861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84A74F9-9C30-4E3B-9097-CEFD60CBA9C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31F67FD-8DC5-46BE-B471-4A7E71E23B9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0E7D3D9B-073E-4504-A898-9581CD2F5DC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408C434-DC12-4EEC-8403-B96E87EADD8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9CED4CF-7143-43E0-9A6D-C714632FCFE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928B9A4A-D903-4DDE-8B84-D350AF606D6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74F3C63-CE0C-4B9E-985D-3B80A79D32A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E6E32CE-7F64-4E78-AC36-DFFFB30C10C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2E3B077-605B-40FB-87D0-0A161F66B7B5}"/>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CHƯƠNG 1  /  MÔ TẢ BÀI TOÁN VÀ SƠ ĐỒ CHỨC NĂNG</a:t>
            </a:r>
          </a:p>
        </p:txBody>
      </p:sp>
      <p:sp>
        <p:nvSpPr>
          <p:cNvPr id="2" name="Rectangle 1">
            <a:extLst>
              <a:ext uri="{FF2B5EF4-FFF2-40B4-BE49-F238E27FC236}">
                <a16:creationId xmlns:a16="http://schemas.microsoft.com/office/drawing/2014/main" id="{B76A73FB-6287-46F2-8C83-B4FC57D8F1DA}"/>
              </a:ext>
            </a:extLst>
          </p:cNvPr>
          <p:cNvSpPr>
            <a:spLocks noGrp="1"/>
          </p:cNvSpPr>
          <p:nvPr/>
        </p:nvSpPr>
        <p:spPr>
          <a:xfrm>
            <a:off x="514350" y="1381125"/>
            <a:ext cx="8096250" cy="1524000"/>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Ứng dụng Android quản lý</a:t>
            </a:r>
          </a:p>
          <a:p>
            <a:pPr>
              <a:buNone/>
              <a:defRPr sz="2925" b="1">
                <a:solidFill>
                  <a:srgbClr val="164C47"/>
                </a:solidFill>
                <a:latin typeface="Arial"/>
                <a:ea typeface="Arial"/>
                <a:cs typeface="Arial"/>
              </a:defRPr>
            </a:pPr>
            <a:r>
              <a:rPr sz="2925" b="1">
                <a:solidFill>
                  <a:srgbClr val="164C47"/>
                </a:solidFill>
                <a:latin typeface="Arial"/>
                <a:ea typeface="Arial"/>
                <a:cs typeface="Arial"/>
              </a:rPr>
              <a:t>sức khỏe tại nhà Vita</a:t>
            </a:r>
          </a:p>
        </p:txBody>
      </p:sp>
      <p:sp>
        <p:nvSpPr>
          <p:cNvPr id="3" name="Rectangle 2">
            <a:extLst>
              <a:ext uri="{FF2B5EF4-FFF2-40B4-BE49-F238E27FC236}">
                <a16:creationId xmlns:a16="http://schemas.microsoft.com/office/drawing/2014/main" id="{CE7BCCF6-7AF2-439B-A799-5F0C373C0EC7}"/>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8DEBFC61-3D6C-4DF3-90CD-2A97D9D8B9EA}"/>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01</a:t>
            </a:r>
          </a:p>
        </p:txBody>
      </p:sp>
      <p:sp>
        <p:nvSpPr>
          <p:cNvPr id="5" name="Rectangle 4">
            <a:extLst>
              <a:ext uri="{FF2B5EF4-FFF2-40B4-BE49-F238E27FC236}">
                <a16:creationId xmlns:a16="http://schemas.microsoft.com/office/drawing/2014/main" id="{616BA151-614A-49FD-8D3D-EF13BBF0403C}"/>
              </a:ext>
            </a:extLst>
          </p:cNvPr>
          <p:cNvSpPr>
            <a:spLocks noGrp="1"/>
          </p:cNvSpPr>
          <p:nvPr/>
        </p:nvSpPr>
        <p:spPr>
          <a:xfrm>
            <a:off x="514350" y="3190875"/>
            <a:ext cx="7239000" cy="1047750"/>
          </a:xfrm>
          <a:prstGeom prst="rect">
            <a:avLst/>
          </a:prstGeom>
          <a:noFill/>
          <a:ln w="0">
            <a:noFill/>
          </a:ln>
        </p:spPr>
        <p:txBody>
          <a:bodyPr/>
          <a:lstStyle>
            <a:defPPr>
              <a:defRPr sz="2250" b="0">
                <a:solidFill>
                  <a:srgbClr val="087F72"/>
                </a:solidFill>
                <a:latin typeface="Arial"/>
                <a:ea typeface="Arial"/>
                <a:cs typeface="Arial"/>
              </a:defRPr>
            </a:defPPr>
            <a:lvl1pPr>
              <a:buNone/>
              <a:defRPr sz="2250" b="0">
                <a:solidFill>
                  <a:srgbClr val="087F72"/>
                </a:solidFill>
                <a:latin typeface="Arial"/>
                <a:ea typeface="Arial"/>
                <a:cs typeface="Arial"/>
              </a:defRPr>
            </a:lvl1pPr>
            <a:lvl2pPr>
              <a:buNone/>
              <a:defRPr sz="2250" b="0">
                <a:solidFill>
                  <a:srgbClr val="087F72"/>
                </a:solidFill>
                <a:latin typeface="Arial"/>
                <a:ea typeface="Arial"/>
                <a:cs typeface="Arial"/>
              </a:defRPr>
            </a:lvl2pPr>
            <a:lvl3pPr>
              <a:buNone/>
              <a:defRPr sz="2250" b="0">
                <a:solidFill>
                  <a:srgbClr val="087F72"/>
                </a:solidFill>
                <a:latin typeface="Arial"/>
                <a:ea typeface="Arial"/>
                <a:cs typeface="Arial"/>
              </a:defRPr>
            </a:lvl3pPr>
            <a:lvl4pPr>
              <a:buNone/>
              <a:defRPr sz="2250" b="0">
                <a:solidFill>
                  <a:srgbClr val="087F72"/>
                </a:solidFill>
                <a:latin typeface="Arial"/>
                <a:ea typeface="Arial"/>
                <a:cs typeface="Arial"/>
              </a:defRPr>
            </a:lvl4pPr>
            <a:lvl5pPr>
              <a:buNone/>
              <a:defRPr sz="2250" b="0">
                <a:solidFill>
                  <a:srgbClr val="087F72"/>
                </a:solidFill>
                <a:latin typeface="Arial"/>
                <a:ea typeface="Arial"/>
                <a:cs typeface="Arial"/>
              </a:defRPr>
            </a:lvl5pPr>
            <a:lvl6pPr>
              <a:buNone/>
              <a:defRPr sz="2250" b="0">
                <a:solidFill>
                  <a:srgbClr val="087F72"/>
                </a:solidFill>
                <a:latin typeface="Arial"/>
                <a:ea typeface="Arial"/>
                <a:cs typeface="Arial"/>
              </a:defRPr>
            </a:lvl6pPr>
            <a:lvl7pPr>
              <a:buNone/>
              <a:defRPr sz="2250" b="0">
                <a:solidFill>
                  <a:srgbClr val="087F72"/>
                </a:solidFill>
                <a:latin typeface="Arial"/>
                <a:ea typeface="Arial"/>
                <a:cs typeface="Arial"/>
              </a:defRPr>
            </a:lvl7pPr>
            <a:lvl8pPr>
              <a:buNone/>
              <a:defRPr sz="2250" b="0">
                <a:solidFill>
                  <a:srgbClr val="087F72"/>
                </a:solidFill>
                <a:latin typeface="Arial"/>
                <a:ea typeface="Arial"/>
                <a:cs typeface="Arial"/>
              </a:defRPr>
            </a:lvl8pPr>
            <a:lvl9pPr>
              <a:buNone/>
              <a:defRPr sz="2250" b="0">
                <a:solidFill>
                  <a:srgbClr val="087F72"/>
                </a:solidFill>
                <a:latin typeface="Arial"/>
                <a:ea typeface="Arial"/>
                <a:cs typeface="Arial"/>
              </a:defRPr>
            </a:lvl9pPr>
          </a:lstStyle>
          <a:p>
            <a:pPr>
              <a:buNone/>
              <a:defRPr sz="2250" b="0">
                <a:solidFill>
                  <a:srgbClr val="087F72"/>
                </a:solidFill>
                <a:latin typeface="Arial"/>
                <a:ea typeface="Arial"/>
                <a:cs typeface="Arial"/>
              </a:defRPr>
            </a:pPr>
            <a:r>
              <a:rPr sz="2250" b="1">
                <a:solidFill>
                  <a:srgbClr val="087F72"/>
                </a:solidFill>
                <a:latin typeface="Arial"/>
                <a:ea typeface="Arial"/>
                <a:cs typeface="Arial"/>
              </a:rPr>
              <a:t>Tổng quan đề tài, chức năng, màn hình và cơ sở dữ liệu</a:t>
            </a:r>
          </a:p>
        </p:txBody>
      </p:sp>
      <p:sp>
        <p:nvSpPr>
          <p:cNvPr id="6" name="Rectangle 5">
            <a:extLst>
              <a:ext uri="{FF2B5EF4-FFF2-40B4-BE49-F238E27FC236}">
                <a16:creationId xmlns:a16="http://schemas.microsoft.com/office/drawing/2014/main" id="{82AD07CD-6F9E-4881-A244-9F51936CE81A}"/>
              </a:ext>
            </a:extLst>
          </p:cNvPr>
          <p:cNvSpPr>
            <a:spLocks noGrp="1"/>
          </p:cNvSpPr>
          <p:nvPr/>
        </p:nvSpPr>
        <p:spPr>
          <a:xfrm>
            <a:off x="514350" y="5067300"/>
            <a:ext cx="8096250" cy="1047750"/>
          </a:xfrm>
          <a:prstGeom prst="rect">
            <a:avLst/>
          </a:prstGeom>
          <a:noFill/>
          <a:ln w="0">
            <a:noFill/>
          </a:ln>
        </p:spPr>
        <p:txBody>
          <a:bodyPr/>
          <a:lstStyle>
            <a:defPPr>
              <a:defRPr sz="1725" b="0">
                <a:solidFill>
                  <a:srgbClr val="526B66"/>
                </a:solidFill>
                <a:latin typeface="Arial"/>
                <a:ea typeface="Arial"/>
                <a:cs typeface="Arial"/>
              </a:defRPr>
            </a:defPPr>
            <a:lvl1pPr>
              <a:buNone/>
              <a:defRPr sz="1725" b="0">
                <a:solidFill>
                  <a:srgbClr val="526B66"/>
                </a:solidFill>
                <a:latin typeface="Arial"/>
                <a:ea typeface="Arial"/>
                <a:cs typeface="Arial"/>
              </a:defRPr>
            </a:lvl1pPr>
            <a:lvl2pPr>
              <a:buNone/>
              <a:defRPr sz="1725" b="0">
                <a:solidFill>
                  <a:srgbClr val="526B66"/>
                </a:solidFill>
                <a:latin typeface="Arial"/>
                <a:ea typeface="Arial"/>
                <a:cs typeface="Arial"/>
              </a:defRPr>
            </a:lvl2pPr>
            <a:lvl3pPr>
              <a:buNone/>
              <a:defRPr sz="1725" b="0">
                <a:solidFill>
                  <a:srgbClr val="526B66"/>
                </a:solidFill>
                <a:latin typeface="Arial"/>
                <a:ea typeface="Arial"/>
                <a:cs typeface="Arial"/>
              </a:defRPr>
            </a:lvl3pPr>
            <a:lvl4pPr>
              <a:buNone/>
              <a:defRPr sz="1725" b="0">
                <a:solidFill>
                  <a:srgbClr val="526B66"/>
                </a:solidFill>
                <a:latin typeface="Arial"/>
                <a:ea typeface="Arial"/>
                <a:cs typeface="Arial"/>
              </a:defRPr>
            </a:lvl4pPr>
            <a:lvl5pPr>
              <a:buNone/>
              <a:defRPr sz="1725" b="0">
                <a:solidFill>
                  <a:srgbClr val="526B66"/>
                </a:solidFill>
                <a:latin typeface="Arial"/>
                <a:ea typeface="Arial"/>
                <a:cs typeface="Arial"/>
              </a:defRPr>
            </a:lvl5pPr>
            <a:lvl6pPr>
              <a:buNone/>
              <a:defRPr sz="1725" b="0">
                <a:solidFill>
                  <a:srgbClr val="526B66"/>
                </a:solidFill>
                <a:latin typeface="Arial"/>
                <a:ea typeface="Arial"/>
                <a:cs typeface="Arial"/>
              </a:defRPr>
            </a:lvl6pPr>
            <a:lvl7pPr>
              <a:buNone/>
              <a:defRPr sz="1725" b="0">
                <a:solidFill>
                  <a:srgbClr val="526B66"/>
                </a:solidFill>
                <a:latin typeface="Arial"/>
                <a:ea typeface="Arial"/>
                <a:cs typeface="Arial"/>
              </a:defRPr>
            </a:lvl7pPr>
            <a:lvl8pPr>
              <a:buNone/>
              <a:defRPr sz="1725" b="0">
                <a:solidFill>
                  <a:srgbClr val="526B66"/>
                </a:solidFill>
                <a:latin typeface="Arial"/>
                <a:ea typeface="Arial"/>
                <a:cs typeface="Arial"/>
              </a:defRPr>
            </a:lvl8pPr>
            <a:lvl9pPr>
              <a:buNone/>
              <a:defRPr sz="1725" b="0">
                <a:solidFill>
                  <a:srgbClr val="526B66"/>
                </a:solidFill>
                <a:latin typeface="Arial"/>
                <a:ea typeface="Arial"/>
                <a:cs typeface="Arial"/>
              </a:defRPr>
            </a:lvl9pPr>
          </a:lstStyle>
          <a:p>
            <a:pPr>
              <a:buNone/>
              <a:defRPr sz="1725" b="0">
                <a:solidFill>
                  <a:srgbClr val="526B66"/>
                </a:solidFill>
                <a:latin typeface="Arial"/>
                <a:ea typeface="Arial"/>
                <a:cs typeface="Arial"/>
              </a:defRPr>
            </a:pPr>
            <a:r>
              <a:rPr sz="1725" b="0">
                <a:solidFill>
                  <a:srgbClr val="526B66"/>
                </a:solidFill>
                <a:latin typeface="Arial"/>
                <a:ea typeface="Arial"/>
                <a:cs typeface="Arial"/>
              </a:rPr>
              <a:t>Huỳnh Trung Tín · Đinh Tấn Minh</a:t>
            </a:r>
          </a:p>
          <a:p>
            <a:pPr>
              <a:buNone/>
              <a:defRPr sz="1725" b="0">
                <a:solidFill>
                  <a:srgbClr val="526B66"/>
                </a:solidFill>
                <a:latin typeface="Arial"/>
                <a:ea typeface="Arial"/>
                <a:cs typeface="Arial"/>
              </a:defRPr>
            </a:pPr>
            <a:r>
              <a:rPr sz="1725" b="0">
                <a:solidFill>
                  <a:srgbClr val="526B66"/>
                </a:solidFill>
                <a:latin typeface="Arial"/>
                <a:ea typeface="Arial"/>
                <a:cs typeface="Arial"/>
              </a:rPr>
              <a:t>GVHD: ThS. Nguyễn Kim Duy</a:t>
            </a:r>
          </a:p>
          <a:p>
            <a:pPr>
              <a:buNone/>
              <a:defRPr sz="1725" b="0">
                <a:solidFill>
                  <a:srgbClr val="526B66"/>
                </a:solidFill>
                <a:latin typeface="Arial"/>
                <a:ea typeface="Arial"/>
                <a:cs typeface="Arial"/>
              </a:defRPr>
            </a:pPr>
            <a:r>
              <a:rPr sz="1725" b="0">
                <a:solidFill>
                  <a:srgbClr val="526B66"/>
                </a:solidFill>
                <a:latin typeface="Arial"/>
                <a:ea typeface="Arial"/>
                <a:cs typeface="Arial"/>
              </a:rPr>
              <a:t>Trường Đại học Thủ Dầu Một · Tháng 10/2026</a:t>
            </a:r>
          </a:p>
        </p:txBody>
      </p:sp>
      <p:pic>
        <p:nvPicPr>
          <p:cNvPr id="7" name="Picture 6">
            <a:extLst>
              <a:ext uri="{FF2B5EF4-FFF2-40B4-BE49-F238E27FC236}">
                <a16:creationId xmlns:a16="http://schemas.microsoft.com/office/drawing/2014/main" id="{76FD10FA-755C-4423-9A9C-C57D550DAE5B}"/>
              </a:ext>
            </a:extLst>
          </p:cNvPr>
          <p:cNvPicPr>
            <a:picLocks noChangeAspect="1"/>
          </p:cNvPicPr>
          <p:nvPr/>
        </p:nvPicPr>
        <p:blipFill>
          <a:blip r:embed="rId3"/>
          <a:stretch/>
        </p:blipFill>
        <p:spPr>
          <a:xfrm>
            <a:off x="9048750" y="2190750"/>
            <a:ext cx="2190750" cy="2190750"/>
          </a:xfrm>
          <a:prstGeom prst="rect">
            <a:avLst/>
          </a:prstGeom>
        </p:spPr>
      </p:pic>
    </p:spTree>
    <p:extLst>
      <p:ext uri="{BB962C8B-B14F-4D97-AF65-F5344CB8AC3E}">
        <p14:creationId xmlns:p14="http://schemas.microsoft.com/office/powerpoint/2010/main" val="93927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38C1D46-80B1-4EBF-AD9D-FF412413814B}"/>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1.1  MÔ TẢ BÀI TOÁN</a:t>
            </a:r>
          </a:p>
        </p:txBody>
      </p:sp>
      <p:sp>
        <p:nvSpPr>
          <p:cNvPr id="2" name="Rectangle 1">
            <a:extLst>
              <a:ext uri="{FF2B5EF4-FFF2-40B4-BE49-F238E27FC236}">
                <a16:creationId xmlns:a16="http://schemas.microsoft.com/office/drawing/2014/main" id="{CE693B24-C1C3-4970-B8E4-7F5425DEE22E}"/>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Bài toán, mục tiêu và phạm vi</a:t>
            </a:r>
          </a:p>
        </p:txBody>
      </p:sp>
      <p:sp>
        <p:nvSpPr>
          <p:cNvPr id="3" name="Rectangle 2">
            <a:extLst>
              <a:ext uri="{FF2B5EF4-FFF2-40B4-BE49-F238E27FC236}">
                <a16:creationId xmlns:a16="http://schemas.microsoft.com/office/drawing/2014/main" id="{4D801CC7-08C2-4CB6-A078-6EB5BE5C254B}"/>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5E568C56-42ED-4760-84F7-8608BE56168A}"/>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02</a:t>
            </a:r>
          </a:p>
        </p:txBody>
      </p:sp>
      <p:sp>
        <p:nvSpPr>
          <p:cNvPr id="5" name="Rectangle 4">
            <a:extLst>
              <a:ext uri="{FF2B5EF4-FFF2-40B4-BE49-F238E27FC236}">
                <a16:creationId xmlns:a16="http://schemas.microsoft.com/office/drawing/2014/main" id="{7C799CC5-8FE6-4FEA-A248-59023712AD70}"/>
              </a:ext>
            </a:extLst>
          </p:cNvPr>
          <p:cNvSpPr>
            <a:spLocks noGrp="1"/>
          </p:cNvSpPr>
          <p:nvPr/>
        </p:nvSpPr>
        <p:spPr>
          <a:xfrm>
            <a:off x="514350" y="1571625"/>
            <a:ext cx="500062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Hiện trạng</a:t>
            </a:r>
          </a:p>
        </p:txBody>
      </p:sp>
      <p:sp>
        <p:nvSpPr>
          <p:cNvPr id="6" name="Rectangle 5">
            <a:extLst>
              <a:ext uri="{FF2B5EF4-FFF2-40B4-BE49-F238E27FC236}">
                <a16:creationId xmlns:a16="http://schemas.microsoft.com/office/drawing/2014/main" id="{D7ADC618-3C01-4696-AF6A-B6E51D20C7DA}"/>
              </a:ext>
            </a:extLst>
          </p:cNvPr>
          <p:cNvSpPr>
            <a:spLocks noGrp="1"/>
          </p:cNvSpPr>
          <p:nvPr/>
        </p:nvSpPr>
        <p:spPr>
          <a:xfrm>
            <a:off x="514350" y="2000250"/>
            <a:ext cx="500062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Kết quả đo rời rạc, thiếu thời điểm và bối cảnh nên khó theo dõi thay đổi.</a:t>
            </a:r>
          </a:p>
        </p:txBody>
      </p:sp>
      <p:sp>
        <p:nvSpPr>
          <p:cNvPr id="7" name="Rectangle 6">
            <a:extLst>
              <a:ext uri="{FF2B5EF4-FFF2-40B4-BE49-F238E27FC236}">
                <a16:creationId xmlns:a16="http://schemas.microsoft.com/office/drawing/2014/main" id="{44BC73F4-341E-4F1C-8F85-B561409A8F96}"/>
              </a:ext>
            </a:extLst>
          </p:cNvPr>
          <p:cNvSpPr>
            <a:spLocks noGrp="1"/>
          </p:cNvSpPr>
          <p:nvPr/>
        </p:nvSpPr>
        <p:spPr>
          <a:xfrm>
            <a:off x="514350" y="3048000"/>
            <a:ext cx="500062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Mục tiêu</a:t>
            </a:r>
          </a:p>
        </p:txBody>
      </p:sp>
      <p:sp>
        <p:nvSpPr>
          <p:cNvPr id="8" name="Rectangle 7">
            <a:extLst>
              <a:ext uri="{FF2B5EF4-FFF2-40B4-BE49-F238E27FC236}">
                <a16:creationId xmlns:a16="http://schemas.microsoft.com/office/drawing/2014/main" id="{6F3A2D4F-6E13-43A1-91E0-1AAE1BBB24A9}"/>
              </a:ext>
            </a:extLst>
          </p:cNvPr>
          <p:cNvSpPr>
            <a:spLocks noGrp="1"/>
          </p:cNvSpPr>
          <p:nvPr/>
        </p:nvSpPr>
        <p:spPr>
          <a:xfrm>
            <a:off x="514350" y="3476625"/>
            <a:ext cx="500062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Ghi chỉ số, quản lý thuốc, nước uống và thống kê trong một ứng dụng.</a:t>
            </a:r>
          </a:p>
        </p:txBody>
      </p:sp>
      <p:sp>
        <p:nvSpPr>
          <p:cNvPr id="9" name="Rectangle 8">
            <a:extLst>
              <a:ext uri="{FF2B5EF4-FFF2-40B4-BE49-F238E27FC236}">
                <a16:creationId xmlns:a16="http://schemas.microsoft.com/office/drawing/2014/main" id="{0236E66E-C246-4C32-B7A0-529483EBBCE7}"/>
              </a:ext>
            </a:extLst>
          </p:cNvPr>
          <p:cNvSpPr>
            <a:spLocks noGrp="1"/>
          </p:cNvSpPr>
          <p:nvPr/>
        </p:nvSpPr>
        <p:spPr>
          <a:xfrm>
            <a:off x="514350" y="4524375"/>
            <a:ext cx="500062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Đối tượng</a:t>
            </a:r>
          </a:p>
        </p:txBody>
      </p:sp>
      <p:sp>
        <p:nvSpPr>
          <p:cNvPr id="10" name="Rectangle 9">
            <a:extLst>
              <a:ext uri="{FF2B5EF4-FFF2-40B4-BE49-F238E27FC236}">
                <a16:creationId xmlns:a16="http://schemas.microsoft.com/office/drawing/2014/main" id="{E358B10F-2078-434D-BAFD-9D6BAA637FA6}"/>
              </a:ext>
            </a:extLst>
          </p:cNvPr>
          <p:cNvSpPr>
            <a:spLocks noGrp="1"/>
          </p:cNvSpPr>
          <p:nvPr/>
        </p:nvSpPr>
        <p:spPr>
          <a:xfrm>
            <a:off x="514350" y="4953000"/>
            <a:ext cx="500062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Cá nhân tự ghi chép và theo dõi sức khỏe tại nhà.</a:t>
            </a:r>
          </a:p>
        </p:txBody>
      </p:sp>
      <p:sp>
        <p:nvSpPr>
          <p:cNvPr id="11" name="Rectangle 10">
            <a:extLst>
              <a:ext uri="{FF2B5EF4-FFF2-40B4-BE49-F238E27FC236}">
                <a16:creationId xmlns:a16="http://schemas.microsoft.com/office/drawing/2014/main" id="{2E666DBC-434C-46FB-AD61-5425A1B8E2A5}"/>
              </a:ext>
            </a:extLst>
          </p:cNvPr>
          <p:cNvSpPr>
            <a:spLocks noGrp="1"/>
          </p:cNvSpPr>
          <p:nvPr/>
        </p:nvSpPr>
        <p:spPr>
          <a:xfrm>
            <a:off x="6477000" y="1571625"/>
            <a:ext cx="509587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Nền tảng</a:t>
            </a:r>
          </a:p>
        </p:txBody>
      </p:sp>
      <p:sp>
        <p:nvSpPr>
          <p:cNvPr id="12" name="Rectangle 11">
            <a:extLst>
              <a:ext uri="{FF2B5EF4-FFF2-40B4-BE49-F238E27FC236}">
                <a16:creationId xmlns:a16="http://schemas.microsoft.com/office/drawing/2014/main" id="{EB11B574-08F6-429A-88CE-6524299F7ED9}"/>
              </a:ext>
            </a:extLst>
          </p:cNvPr>
          <p:cNvSpPr>
            <a:spLocks noGrp="1"/>
          </p:cNvSpPr>
          <p:nvPr/>
        </p:nvSpPr>
        <p:spPr>
          <a:xfrm>
            <a:off x="6477000" y="2000250"/>
            <a:ext cx="509587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Java, giao diện XML, Android 7.0 trở lên. Dữ liệu cục bộ bằng SQLite.</a:t>
            </a:r>
          </a:p>
        </p:txBody>
      </p:sp>
      <p:sp>
        <p:nvSpPr>
          <p:cNvPr id="13" name="Rectangle 12">
            <a:extLst>
              <a:ext uri="{FF2B5EF4-FFF2-40B4-BE49-F238E27FC236}">
                <a16:creationId xmlns:a16="http://schemas.microsoft.com/office/drawing/2014/main" id="{24894B55-9097-4D23-96FE-EF763E85FFE6}"/>
              </a:ext>
            </a:extLst>
          </p:cNvPr>
          <p:cNvSpPr>
            <a:spLocks noGrp="1"/>
          </p:cNvSpPr>
          <p:nvPr/>
        </p:nvSpPr>
        <p:spPr>
          <a:xfrm>
            <a:off x="6477000" y="3048000"/>
            <a:ext cx="509587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Phạm vi hiện tại</a:t>
            </a:r>
          </a:p>
        </p:txBody>
      </p:sp>
      <p:sp>
        <p:nvSpPr>
          <p:cNvPr id="14" name="Rectangle 13">
            <a:extLst>
              <a:ext uri="{FF2B5EF4-FFF2-40B4-BE49-F238E27FC236}">
                <a16:creationId xmlns:a16="http://schemas.microsoft.com/office/drawing/2014/main" id="{0CDBEFFF-1A52-46FF-89FB-A3C5D791C553}"/>
              </a:ext>
            </a:extLst>
          </p:cNvPr>
          <p:cNvSpPr>
            <a:spLocks noGrp="1"/>
          </p:cNvSpPr>
          <p:nvPr/>
        </p:nvSpPr>
        <p:spPr>
          <a:xfrm>
            <a:off x="6477000" y="3476625"/>
            <a:ext cx="509587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Nhập thủ công. Chưa đồng bộ đám mây, kết nối thiết bị đo hay theo dõi giấc ngủ.</a:t>
            </a:r>
          </a:p>
        </p:txBody>
      </p:sp>
      <p:sp>
        <p:nvSpPr>
          <p:cNvPr id="15" name="Rectangle 14">
            <a:extLst>
              <a:ext uri="{FF2B5EF4-FFF2-40B4-BE49-F238E27FC236}">
                <a16:creationId xmlns:a16="http://schemas.microsoft.com/office/drawing/2014/main" id="{FE627BF6-3994-44F3-82D9-DC12A4BCEA4D}"/>
              </a:ext>
            </a:extLst>
          </p:cNvPr>
          <p:cNvSpPr>
            <a:spLocks noGrp="1"/>
          </p:cNvSpPr>
          <p:nvPr/>
        </p:nvSpPr>
        <p:spPr>
          <a:xfrm>
            <a:off x="6477000" y="4524375"/>
            <a:ext cx="5095875" cy="381000"/>
          </a:xfrm>
          <a:prstGeom prst="rect">
            <a:avLst/>
          </a:prstGeom>
          <a:noFill/>
          <a:ln w="0">
            <a:noFill/>
          </a:ln>
        </p:spPr>
        <p:txBody>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Giới hạn sử dụng</a:t>
            </a:r>
          </a:p>
        </p:txBody>
      </p:sp>
      <p:sp>
        <p:nvSpPr>
          <p:cNvPr id="16" name="Rectangle 15">
            <a:extLst>
              <a:ext uri="{FF2B5EF4-FFF2-40B4-BE49-F238E27FC236}">
                <a16:creationId xmlns:a16="http://schemas.microsoft.com/office/drawing/2014/main" id="{8F69550B-2174-4316-B317-7A614BA6FDE2}"/>
              </a:ext>
            </a:extLst>
          </p:cNvPr>
          <p:cNvSpPr>
            <a:spLocks noGrp="1"/>
          </p:cNvSpPr>
          <p:nvPr/>
        </p:nvSpPr>
        <p:spPr>
          <a:xfrm>
            <a:off x="6477000" y="4953000"/>
            <a:ext cx="5095875" cy="9906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Nhận xét chỉ số và BMI chỉ để tham khảo, không chẩn đoán hoặc chỉ định điều trị.</a:t>
            </a:r>
          </a:p>
        </p:txBody>
      </p:sp>
    </p:spTree>
    <p:extLst>
      <p:ext uri="{BB962C8B-B14F-4D97-AF65-F5344CB8AC3E}">
        <p14:creationId xmlns:p14="http://schemas.microsoft.com/office/powerpoint/2010/main" val="1208459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B879D3B-2D0D-45BC-AF47-23D7514ADDA7}"/>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1.1  NHU CẦU VÀ CHỨC NĂNG</a:t>
            </a:r>
          </a:p>
        </p:txBody>
      </p:sp>
      <p:sp>
        <p:nvSpPr>
          <p:cNvPr id="2" name="Rectangle 1">
            <a:extLst>
              <a:ext uri="{FF2B5EF4-FFF2-40B4-BE49-F238E27FC236}">
                <a16:creationId xmlns:a16="http://schemas.microsoft.com/office/drawing/2014/main" id="{BA2E3239-A28E-42F3-A018-47AD3CF059EC}"/>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Các chức năng chính của Vita</a:t>
            </a:r>
          </a:p>
        </p:txBody>
      </p:sp>
      <p:sp>
        <p:nvSpPr>
          <p:cNvPr id="3" name="Rectangle 2">
            <a:extLst>
              <a:ext uri="{FF2B5EF4-FFF2-40B4-BE49-F238E27FC236}">
                <a16:creationId xmlns:a16="http://schemas.microsoft.com/office/drawing/2014/main" id="{4FFAB801-2313-47A9-B3F5-D3A7B90D591C}"/>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ECB4E4A6-C4A8-45CB-A323-8E1A93F720B1}"/>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03</a:t>
            </a:r>
          </a:p>
        </p:txBody>
      </p:sp>
      <p:sp>
        <p:nvSpPr>
          <p:cNvPr id="5" name="Rectangle 4">
            <a:extLst>
              <a:ext uri="{FF2B5EF4-FFF2-40B4-BE49-F238E27FC236}">
                <a16:creationId xmlns:a16="http://schemas.microsoft.com/office/drawing/2014/main" id="{F076D15A-D755-4DF5-A929-8F601242C531}"/>
              </a:ext>
            </a:extLst>
          </p:cNvPr>
          <p:cNvSpPr>
            <a:spLocks noGrp="1"/>
          </p:cNvSpPr>
          <p:nvPr/>
        </p:nvSpPr>
        <p:spPr>
          <a:xfrm>
            <a:off x="514350" y="1571625"/>
            <a:ext cx="500062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Tài khoản và hồ sơ</a:t>
            </a:r>
          </a:p>
        </p:txBody>
      </p:sp>
      <p:sp>
        <p:nvSpPr>
          <p:cNvPr id="6" name="Rectangle 5">
            <a:extLst>
              <a:ext uri="{FF2B5EF4-FFF2-40B4-BE49-F238E27FC236}">
                <a16:creationId xmlns:a16="http://schemas.microsoft.com/office/drawing/2014/main" id="{D63D9F0F-978F-403B-95FA-C7C1ABD62030}"/>
              </a:ext>
            </a:extLst>
          </p:cNvPr>
          <p:cNvSpPr>
            <a:spLocks noGrp="1"/>
          </p:cNvSpPr>
          <p:nvPr/>
        </p:nvSpPr>
        <p:spPr>
          <a:xfrm>
            <a:off x="514350" y="2000250"/>
            <a:ext cx="500062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Đăng ký hai bước, đăng nhập, sửa hồ sơ, đăng xuất và xóa tài khoản.</a:t>
            </a:r>
          </a:p>
        </p:txBody>
      </p:sp>
      <p:sp>
        <p:nvSpPr>
          <p:cNvPr id="7" name="Rectangle 6">
            <a:extLst>
              <a:ext uri="{FF2B5EF4-FFF2-40B4-BE49-F238E27FC236}">
                <a16:creationId xmlns:a16="http://schemas.microsoft.com/office/drawing/2014/main" id="{1F78970C-7BCA-4CEC-AB8D-ACE794B4BEC7}"/>
              </a:ext>
            </a:extLst>
          </p:cNvPr>
          <p:cNvSpPr>
            <a:spLocks noGrp="1"/>
          </p:cNvSpPr>
          <p:nvPr/>
        </p:nvSpPr>
        <p:spPr>
          <a:xfrm>
            <a:off x="514350" y="3048000"/>
            <a:ext cx="500062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Chỉ số và BMI</a:t>
            </a:r>
          </a:p>
        </p:txBody>
      </p:sp>
      <p:sp>
        <p:nvSpPr>
          <p:cNvPr id="8" name="Rectangle 7">
            <a:extLst>
              <a:ext uri="{FF2B5EF4-FFF2-40B4-BE49-F238E27FC236}">
                <a16:creationId xmlns:a16="http://schemas.microsoft.com/office/drawing/2014/main" id="{A94CE127-E730-44E9-8B11-027322788825}"/>
              </a:ext>
            </a:extLst>
          </p:cNvPr>
          <p:cNvSpPr>
            <a:spLocks noGrp="1"/>
          </p:cNvSpPr>
          <p:nvPr/>
        </p:nvSpPr>
        <p:spPr>
          <a:xfrm>
            <a:off x="514350" y="3476625"/>
            <a:ext cx="500062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Thêm, sửa, tra cứu lần đo. Tính BMI và phân loại khi đủ điều kiện tuổi.</a:t>
            </a:r>
          </a:p>
        </p:txBody>
      </p:sp>
      <p:sp>
        <p:nvSpPr>
          <p:cNvPr id="9" name="Rectangle 8">
            <a:extLst>
              <a:ext uri="{FF2B5EF4-FFF2-40B4-BE49-F238E27FC236}">
                <a16:creationId xmlns:a16="http://schemas.microsoft.com/office/drawing/2014/main" id="{72179ADF-68AF-47B3-9369-8872DAE61B01}"/>
              </a:ext>
            </a:extLst>
          </p:cNvPr>
          <p:cNvSpPr>
            <a:spLocks noGrp="1"/>
          </p:cNvSpPr>
          <p:nvPr/>
        </p:nvSpPr>
        <p:spPr>
          <a:xfrm>
            <a:off x="514350" y="4524375"/>
            <a:ext cx="500062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Thuốc và cữ uống</a:t>
            </a:r>
          </a:p>
        </p:txBody>
      </p:sp>
      <p:sp>
        <p:nvSpPr>
          <p:cNvPr id="10" name="Rectangle 9">
            <a:extLst>
              <a:ext uri="{FF2B5EF4-FFF2-40B4-BE49-F238E27FC236}">
                <a16:creationId xmlns:a16="http://schemas.microsoft.com/office/drawing/2014/main" id="{0E922565-49E3-49A7-B0FE-B55B24EEF93A}"/>
              </a:ext>
            </a:extLst>
          </p:cNvPr>
          <p:cNvSpPr>
            <a:spLocks noGrp="1"/>
          </p:cNvSpPr>
          <p:nvPr/>
        </p:nvSpPr>
        <p:spPr>
          <a:xfrm>
            <a:off x="514350" y="4953000"/>
            <a:ext cx="500062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Nhiều giờ, ngày lặp. Người dùng xác nhận Đã uống hoặc Bỏ qua.</a:t>
            </a:r>
          </a:p>
        </p:txBody>
      </p:sp>
      <p:sp>
        <p:nvSpPr>
          <p:cNvPr id="11" name="Rectangle 10">
            <a:extLst>
              <a:ext uri="{FF2B5EF4-FFF2-40B4-BE49-F238E27FC236}">
                <a16:creationId xmlns:a16="http://schemas.microsoft.com/office/drawing/2014/main" id="{1C5C3438-0A1C-47FB-9506-13305B14CDF2}"/>
              </a:ext>
            </a:extLst>
          </p:cNvPr>
          <p:cNvSpPr>
            <a:spLocks noGrp="1"/>
          </p:cNvSpPr>
          <p:nvPr/>
        </p:nvSpPr>
        <p:spPr>
          <a:xfrm>
            <a:off x="6477000" y="1571625"/>
            <a:ext cx="509587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Nước uống</a:t>
            </a:r>
          </a:p>
        </p:txBody>
      </p:sp>
      <p:sp>
        <p:nvSpPr>
          <p:cNvPr id="12" name="Rectangle 11">
            <a:extLst>
              <a:ext uri="{FF2B5EF4-FFF2-40B4-BE49-F238E27FC236}">
                <a16:creationId xmlns:a16="http://schemas.microsoft.com/office/drawing/2014/main" id="{70C81692-BF69-4AC9-A02C-8C2900D41C45}"/>
              </a:ext>
            </a:extLst>
          </p:cNvPr>
          <p:cNvSpPr>
            <a:spLocks noGrp="1"/>
          </p:cNvSpPr>
          <p:nvPr/>
        </p:nvSpPr>
        <p:spPr>
          <a:xfrm>
            <a:off x="6477000" y="2000250"/>
            <a:ext cx="509587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Ghi từng lần uống, sửa nhật ký và theo dõi mục tiêu trong ngày.</a:t>
            </a:r>
          </a:p>
        </p:txBody>
      </p:sp>
      <p:sp>
        <p:nvSpPr>
          <p:cNvPr id="13" name="Rectangle 12">
            <a:extLst>
              <a:ext uri="{FF2B5EF4-FFF2-40B4-BE49-F238E27FC236}">
                <a16:creationId xmlns:a16="http://schemas.microsoft.com/office/drawing/2014/main" id="{3C910C09-9462-4AD8-9575-3459EBC5B87C}"/>
              </a:ext>
            </a:extLst>
          </p:cNvPr>
          <p:cNvSpPr>
            <a:spLocks noGrp="1"/>
          </p:cNvSpPr>
          <p:nvPr/>
        </p:nvSpPr>
        <p:spPr>
          <a:xfrm>
            <a:off x="6477000" y="3048000"/>
            <a:ext cx="509587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Tổng quan và thống kê</a:t>
            </a:r>
          </a:p>
        </p:txBody>
      </p:sp>
      <p:sp>
        <p:nvSpPr>
          <p:cNvPr id="14" name="Rectangle 13">
            <a:extLst>
              <a:ext uri="{FF2B5EF4-FFF2-40B4-BE49-F238E27FC236}">
                <a16:creationId xmlns:a16="http://schemas.microsoft.com/office/drawing/2014/main" id="{10376935-1D65-4ED3-B60F-6F37E91EED17}"/>
              </a:ext>
            </a:extLst>
          </p:cNvPr>
          <p:cNvSpPr>
            <a:spLocks noGrp="1"/>
          </p:cNvSpPr>
          <p:nvPr/>
        </p:nvSpPr>
        <p:spPr>
          <a:xfrm>
            <a:off x="6477000" y="3476625"/>
            <a:ext cx="509587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Dữ liệu mới nhất, cữ kế tiếp, biểu đồ 7 hoặc 30 ngày.</a:t>
            </a:r>
          </a:p>
        </p:txBody>
      </p:sp>
      <p:sp>
        <p:nvSpPr>
          <p:cNvPr id="15" name="Rectangle 14">
            <a:extLst>
              <a:ext uri="{FF2B5EF4-FFF2-40B4-BE49-F238E27FC236}">
                <a16:creationId xmlns:a16="http://schemas.microsoft.com/office/drawing/2014/main" id="{3662B7CA-9A57-44F4-A3F6-E105D5A6BBDB}"/>
              </a:ext>
            </a:extLst>
          </p:cNvPr>
          <p:cNvSpPr>
            <a:spLocks noGrp="1"/>
          </p:cNvSpPr>
          <p:nvPr/>
        </p:nvSpPr>
        <p:spPr>
          <a:xfrm>
            <a:off x="6477000" y="4524375"/>
            <a:ext cx="5095875" cy="381000"/>
          </a:xfrm>
          <a:prstGeom prst="rect">
            <a:avLst/>
          </a:prstGeom>
          <a:noFill/>
          <a:ln w="0">
            <a:noFill/>
          </a:ln>
        </p:spPr>
        <p:txBody>
          <a:bodyPr/>
          <a:lstStyle>
            <a:defPPr>
              <a:defRPr sz="2025" b="1">
                <a:solidFill>
                  <a:srgbClr val="164C47"/>
                </a:solidFill>
                <a:latin typeface="Arial"/>
                <a:ea typeface="Arial"/>
                <a:cs typeface="Arial"/>
              </a:defRPr>
            </a:defPPr>
            <a:lvl1pPr>
              <a:buNone/>
              <a:defRPr sz="2025" b="1">
                <a:solidFill>
                  <a:srgbClr val="164C47"/>
                </a:solidFill>
                <a:latin typeface="Arial"/>
                <a:ea typeface="Arial"/>
                <a:cs typeface="Arial"/>
              </a:defRPr>
            </a:lvl1pPr>
            <a:lvl2pPr>
              <a:buNone/>
              <a:defRPr sz="2025" b="1">
                <a:solidFill>
                  <a:srgbClr val="164C47"/>
                </a:solidFill>
                <a:latin typeface="Arial"/>
                <a:ea typeface="Arial"/>
                <a:cs typeface="Arial"/>
              </a:defRPr>
            </a:lvl2pPr>
            <a:lvl3pPr>
              <a:buNone/>
              <a:defRPr sz="2025" b="1">
                <a:solidFill>
                  <a:srgbClr val="164C47"/>
                </a:solidFill>
                <a:latin typeface="Arial"/>
                <a:ea typeface="Arial"/>
                <a:cs typeface="Arial"/>
              </a:defRPr>
            </a:lvl3pPr>
            <a:lvl4pPr>
              <a:buNone/>
              <a:defRPr sz="2025" b="1">
                <a:solidFill>
                  <a:srgbClr val="164C47"/>
                </a:solidFill>
                <a:latin typeface="Arial"/>
                <a:ea typeface="Arial"/>
                <a:cs typeface="Arial"/>
              </a:defRPr>
            </a:lvl4pPr>
            <a:lvl5pPr>
              <a:buNone/>
              <a:defRPr sz="2025" b="1">
                <a:solidFill>
                  <a:srgbClr val="164C47"/>
                </a:solidFill>
                <a:latin typeface="Arial"/>
                <a:ea typeface="Arial"/>
                <a:cs typeface="Arial"/>
              </a:defRPr>
            </a:lvl5pPr>
            <a:lvl6pPr>
              <a:buNone/>
              <a:defRPr sz="2025" b="1">
                <a:solidFill>
                  <a:srgbClr val="164C47"/>
                </a:solidFill>
                <a:latin typeface="Arial"/>
                <a:ea typeface="Arial"/>
                <a:cs typeface="Arial"/>
              </a:defRPr>
            </a:lvl6pPr>
            <a:lvl7pPr>
              <a:buNone/>
              <a:defRPr sz="2025" b="1">
                <a:solidFill>
                  <a:srgbClr val="164C47"/>
                </a:solidFill>
                <a:latin typeface="Arial"/>
                <a:ea typeface="Arial"/>
                <a:cs typeface="Arial"/>
              </a:defRPr>
            </a:lvl7pPr>
            <a:lvl8pPr>
              <a:buNone/>
              <a:defRPr sz="2025" b="1">
                <a:solidFill>
                  <a:srgbClr val="164C47"/>
                </a:solidFill>
                <a:latin typeface="Arial"/>
                <a:ea typeface="Arial"/>
                <a:cs typeface="Arial"/>
              </a:defRPr>
            </a:lvl8pPr>
            <a:lvl9pPr>
              <a:buNone/>
              <a:defRPr sz="2025" b="1">
                <a:solidFill>
                  <a:srgbClr val="164C47"/>
                </a:solidFill>
                <a:latin typeface="Arial"/>
                <a:ea typeface="Arial"/>
                <a:cs typeface="Arial"/>
              </a:defRPr>
            </a:lvl9pPr>
          </a:lstStyle>
          <a:p>
            <a:pPr>
              <a:buNone/>
              <a:defRPr sz="2025" b="1">
                <a:solidFill>
                  <a:srgbClr val="164C47"/>
                </a:solidFill>
                <a:latin typeface="Arial"/>
                <a:ea typeface="Arial"/>
                <a:cs typeface="Arial"/>
              </a:defRPr>
            </a:pPr>
            <a:r>
              <a:rPr sz="2025" b="1">
                <a:solidFill>
                  <a:srgbClr val="164C47"/>
                </a:solidFill>
                <a:latin typeface="Arial"/>
                <a:ea typeface="Arial"/>
                <a:cs typeface="Arial"/>
              </a:rPr>
              <a:t>Điều kiện nhắc nhở</a:t>
            </a:r>
          </a:p>
        </p:txBody>
      </p:sp>
      <p:sp>
        <p:nvSpPr>
          <p:cNvPr id="16" name="Rectangle 15">
            <a:extLst>
              <a:ext uri="{FF2B5EF4-FFF2-40B4-BE49-F238E27FC236}">
                <a16:creationId xmlns:a16="http://schemas.microsoft.com/office/drawing/2014/main" id="{2763C1E6-A7EC-4DC1-825B-D2C6C26CBEB8}"/>
              </a:ext>
            </a:extLst>
          </p:cNvPr>
          <p:cNvSpPr>
            <a:spLocks noGrp="1"/>
          </p:cNvSpPr>
          <p:nvPr/>
        </p:nvSpPr>
        <p:spPr>
          <a:xfrm>
            <a:off x="6477000" y="4953000"/>
            <a:ext cx="5095875" cy="990600"/>
          </a:xfrm>
          <a:prstGeom prst="rect">
            <a:avLst/>
          </a:prstGeom>
          <a:noFill/>
          <a:ln w="0">
            <a:noFill/>
          </a:ln>
        </p:spPr>
        <p:txBody>
          <a:bodyPr/>
          <a:lstStyle>
            <a:defPPr>
              <a:defRPr sz="1800" b="0">
                <a:solidFill>
                  <a:srgbClr val="526B66"/>
                </a:solidFill>
                <a:latin typeface="Arial"/>
                <a:ea typeface="Arial"/>
                <a:cs typeface="Arial"/>
              </a:defRPr>
            </a:defPPr>
            <a:lvl1pPr>
              <a:buNone/>
              <a:defRPr sz="1800" b="0">
                <a:solidFill>
                  <a:srgbClr val="526B66"/>
                </a:solidFill>
                <a:latin typeface="Arial"/>
                <a:ea typeface="Arial"/>
                <a:cs typeface="Arial"/>
              </a:defRPr>
            </a:lvl1pPr>
            <a:lvl2pPr>
              <a:buNone/>
              <a:defRPr sz="1800" b="0">
                <a:solidFill>
                  <a:srgbClr val="526B66"/>
                </a:solidFill>
                <a:latin typeface="Arial"/>
                <a:ea typeface="Arial"/>
                <a:cs typeface="Arial"/>
              </a:defRPr>
            </a:lvl2pPr>
            <a:lvl3pPr>
              <a:buNone/>
              <a:defRPr sz="1800" b="0">
                <a:solidFill>
                  <a:srgbClr val="526B66"/>
                </a:solidFill>
                <a:latin typeface="Arial"/>
                <a:ea typeface="Arial"/>
                <a:cs typeface="Arial"/>
              </a:defRPr>
            </a:lvl3pPr>
            <a:lvl4pPr>
              <a:buNone/>
              <a:defRPr sz="1800" b="0">
                <a:solidFill>
                  <a:srgbClr val="526B66"/>
                </a:solidFill>
                <a:latin typeface="Arial"/>
                <a:ea typeface="Arial"/>
                <a:cs typeface="Arial"/>
              </a:defRPr>
            </a:lvl4pPr>
            <a:lvl5pPr>
              <a:buNone/>
              <a:defRPr sz="1800" b="0">
                <a:solidFill>
                  <a:srgbClr val="526B66"/>
                </a:solidFill>
                <a:latin typeface="Arial"/>
                <a:ea typeface="Arial"/>
                <a:cs typeface="Arial"/>
              </a:defRPr>
            </a:lvl5pPr>
            <a:lvl6pPr>
              <a:buNone/>
              <a:defRPr sz="1800" b="0">
                <a:solidFill>
                  <a:srgbClr val="526B66"/>
                </a:solidFill>
                <a:latin typeface="Arial"/>
                <a:ea typeface="Arial"/>
                <a:cs typeface="Arial"/>
              </a:defRPr>
            </a:lvl6pPr>
            <a:lvl7pPr>
              <a:buNone/>
              <a:defRPr sz="1800" b="0">
                <a:solidFill>
                  <a:srgbClr val="526B66"/>
                </a:solidFill>
                <a:latin typeface="Arial"/>
                <a:ea typeface="Arial"/>
                <a:cs typeface="Arial"/>
              </a:defRPr>
            </a:lvl7pPr>
            <a:lvl8pPr>
              <a:buNone/>
              <a:defRPr sz="1800" b="0">
                <a:solidFill>
                  <a:srgbClr val="526B66"/>
                </a:solidFill>
                <a:latin typeface="Arial"/>
                <a:ea typeface="Arial"/>
                <a:cs typeface="Arial"/>
              </a:defRPr>
            </a:lvl8pPr>
            <a:lvl9pPr>
              <a:buNone/>
              <a:defRPr sz="1800" b="0">
                <a:solidFill>
                  <a:srgbClr val="526B66"/>
                </a:solidFill>
                <a:latin typeface="Arial"/>
                <a:ea typeface="Arial"/>
                <a:cs typeface="Arial"/>
              </a:defRPr>
            </a:lvl9pPr>
          </a:lstStyle>
          <a:p>
            <a:pPr>
              <a:buNone/>
              <a:defRPr sz="1800" b="0">
                <a:solidFill>
                  <a:srgbClr val="526B66"/>
                </a:solidFill>
                <a:latin typeface="Arial"/>
                <a:ea typeface="Arial"/>
                <a:cs typeface="Arial"/>
              </a:defRPr>
            </a:pPr>
            <a:r>
              <a:rPr sz="1800" b="0">
                <a:solidFill>
                  <a:srgbClr val="526B66"/>
                </a:solidFill>
                <a:latin typeface="Arial"/>
                <a:ea typeface="Arial"/>
                <a:cs typeface="Arial"/>
              </a:rPr>
              <a:t>Phụ thuộc quyền thông báo và báo thức Android. Ghi nhận dữ liệu vẫn hoạt động khi tắt thông báo.</a:t>
            </a:r>
          </a:p>
        </p:txBody>
      </p:sp>
    </p:spTree>
    <p:extLst>
      <p:ext uri="{BB962C8B-B14F-4D97-AF65-F5344CB8AC3E}">
        <p14:creationId xmlns:p14="http://schemas.microsoft.com/office/powerpoint/2010/main" val="946610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93521AE-D849-46DD-B4A2-BE6B805225A9}"/>
              </a:ext>
            </a:extLst>
          </p:cNvPr>
          <p:cNvSpPr>
            <a:spLocks noGrp="1"/>
          </p:cNvSpPr>
          <p:nvPr/>
        </p:nvSpPr>
        <p:spPr>
          <a:xfrm>
            <a:off x="514350" y="238125"/>
            <a:ext cx="10477500" cy="238125"/>
          </a:xfrm>
          <a:prstGeom prst="rect">
            <a:avLst/>
          </a:prstGeom>
          <a:noFill/>
          <a:ln w="0">
            <a:noFill/>
          </a:ln>
        </p:spPr>
        <p:txBody>
          <a:bodyPr wrap="square">
            <a:noAutofit/>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1.2  SƠ ĐỒ CHỨC NĂNG</a:t>
            </a:r>
          </a:p>
        </p:txBody>
      </p:sp>
      <p:sp>
        <p:nvSpPr>
          <p:cNvPr id="2" name="Rectangle 1">
            <a:extLst>
              <a:ext uri="{FF2B5EF4-FFF2-40B4-BE49-F238E27FC236}">
                <a16:creationId xmlns:a16="http://schemas.microsoft.com/office/drawing/2014/main" id="{772019FE-293C-4807-8886-ED0688FA47CB}"/>
              </a:ext>
            </a:extLst>
          </p:cNvPr>
          <p:cNvSpPr>
            <a:spLocks noGrp="1"/>
          </p:cNvSpPr>
          <p:nvPr/>
        </p:nvSpPr>
        <p:spPr>
          <a:xfrm>
            <a:off x="514350" y="628650"/>
            <a:ext cx="11144250" cy="600075"/>
          </a:xfrm>
          <a:prstGeom prst="rect">
            <a:avLst/>
          </a:prstGeom>
          <a:noFill/>
          <a:ln w="0">
            <a:noFill/>
          </a:ln>
        </p:spPr>
        <p:txBody>
          <a:bodyPr wrap="square">
            <a:noAutofit/>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Sơ đồ ca sử dụng tổng quát</a:t>
            </a:r>
          </a:p>
        </p:txBody>
      </p:sp>
      <p:sp>
        <p:nvSpPr>
          <p:cNvPr id="3" name="Rectangle 2">
            <a:extLst>
              <a:ext uri="{FF2B5EF4-FFF2-40B4-BE49-F238E27FC236}">
                <a16:creationId xmlns:a16="http://schemas.microsoft.com/office/drawing/2014/main" id="{E8873348-6EA1-4833-A0B6-5F4A36D0A23F}"/>
              </a:ext>
            </a:extLst>
          </p:cNvPr>
          <p:cNvSpPr>
            <a:spLocks noGrp="1"/>
          </p:cNvSpPr>
          <p:nvPr/>
        </p:nvSpPr>
        <p:spPr>
          <a:xfrm>
            <a:off x="514350" y="6515100"/>
            <a:ext cx="9525000" cy="209550"/>
          </a:xfrm>
          <a:prstGeom prst="rect">
            <a:avLst/>
          </a:prstGeom>
          <a:noFill/>
          <a:ln w="0">
            <a:noFill/>
          </a:ln>
        </p:spPr>
        <p:txBody>
          <a:bodyPr wrap="square">
            <a:noAutofit/>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8201C466-9977-468A-A776-E990F3575B61}"/>
              </a:ext>
            </a:extLst>
          </p:cNvPr>
          <p:cNvSpPr>
            <a:spLocks noGrp="1"/>
          </p:cNvSpPr>
          <p:nvPr/>
        </p:nvSpPr>
        <p:spPr>
          <a:xfrm>
            <a:off x="11258550" y="6477000"/>
            <a:ext cx="476250" cy="238125"/>
          </a:xfrm>
          <a:prstGeom prst="rect">
            <a:avLst/>
          </a:prstGeom>
          <a:noFill/>
          <a:ln w="0">
            <a:noFill/>
          </a:ln>
        </p:spPr>
        <p:txBody>
          <a:bodyPr wrap="square">
            <a:noAutofit/>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04</a:t>
            </a:r>
          </a:p>
        </p:txBody>
      </p:sp>
      <p:pic>
        <p:nvPicPr>
          <p:cNvPr id="5" name="Picture 4">
            <a:extLst>
              <a:ext uri="{FF2B5EF4-FFF2-40B4-BE49-F238E27FC236}">
                <a16:creationId xmlns:a16="http://schemas.microsoft.com/office/drawing/2014/main" id="{5241ED69-E7E6-4F18-BA5D-1155F46F29B7}"/>
              </a:ext>
            </a:extLst>
          </p:cNvPr>
          <p:cNvPicPr>
            <a:picLocks noChangeAspect="1"/>
          </p:cNvPicPr>
          <p:nvPr/>
        </p:nvPicPr>
        <p:blipFill>
          <a:blip r:embed="rId3"/>
          <a:stretch/>
        </p:blipFill>
        <p:spPr>
          <a:xfrm>
            <a:off x="1423988" y="1381125"/>
            <a:ext cx="4371975" cy="4857750"/>
          </a:xfrm>
          <a:prstGeom prst="rect">
            <a:avLst/>
          </a:prstGeom>
        </p:spPr>
      </p:pic>
      <p:sp>
        <p:nvSpPr>
          <p:cNvPr id="6" name="Rectangle 5">
            <a:extLst>
              <a:ext uri="{FF2B5EF4-FFF2-40B4-BE49-F238E27FC236}">
                <a16:creationId xmlns:a16="http://schemas.microsoft.com/office/drawing/2014/main" id="{C6E47C78-4225-435A-9C6A-17F82553E5D1}"/>
              </a:ext>
            </a:extLst>
          </p:cNvPr>
          <p:cNvSpPr>
            <a:spLocks noGrp="1"/>
          </p:cNvSpPr>
          <p:nvPr/>
        </p:nvSpPr>
        <p:spPr>
          <a:xfrm>
            <a:off x="7191375" y="1666875"/>
            <a:ext cx="4286250" cy="476250"/>
          </a:xfrm>
          <a:prstGeom prst="rect">
            <a:avLst/>
          </a:prstGeom>
          <a:noFill/>
          <a:ln w="0">
            <a:noFill/>
          </a:ln>
        </p:spPr>
        <p:txBody>
          <a:bodyPr wrap="square">
            <a:noAutofit/>
          </a:bodyPr>
          <a:lstStyle>
            <a:defPPr>
              <a:defRPr sz="2400" b="1">
                <a:solidFill>
                  <a:srgbClr val="164C47"/>
                </a:solidFill>
                <a:latin typeface="Arial"/>
                <a:ea typeface="Arial"/>
                <a:cs typeface="Arial"/>
              </a:defRPr>
            </a:defPPr>
            <a:lvl1pPr>
              <a:buNone/>
              <a:defRPr sz="2400" b="1">
                <a:solidFill>
                  <a:srgbClr val="164C47"/>
                </a:solidFill>
                <a:latin typeface="Arial"/>
                <a:ea typeface="Arial"/>
                <a:cs typeface="Arial"/>
              </a:defRPr>
            </a:lvl1pPr>
            <a:lvl2pPr>
              <a:buNone/>
              <a:defRPr sz="2400" b="1">
                <a:solidFill>
                  <a:srgbClr val="164C47"/>
                </a:solidFill>
                <a:latin typeface="Arial"/>
                <a:ea typeface="Arial"/>
                <a:cs typeface="Arial"/>
              </a:defRPr>
            </a:lvl2pPr>
            <a:lvl3pPr>
              <a:buNone/>
              <a:defRPr sz="2400" b="1">
                <a:solidFill>
                  <a:srgbClr val="164C47"/>
                </a:solidFill>
                <a:latin typeface="Arial"/>
                <a:ea typeface="Arial"/>
                <a:cs typeface="Arial"/>
              </a:defRPr>
            </a:lvl3pPr>
            <a:lvl4pPr>
              <a:buNone/>
              <a:defRPr sz="2400" b="1">
                <a:solidFill>
                  <a:srgbClr val="164C47"/>
                </a:solidFill>
                <a:latin typeface="Arial"/>
                <a:ea typeface="Arial"/>
                <a:cs typeface="Arial"/>
              </a:defRPr>
            </a:lvl4pPr>
            <a:lvl5pPr>
              <a:buNone/>
              <a:defRPr sz="2400" b="1">
                <a:solidFill>
                  <a:srgbClr val="164C47"/>
                </a:solidFill>
                <a:latin typeface="Arial"/>
                <a:ea typeface="Arial"/>
                <a:cs typeface="Arial"/>
              </a:defRPr>
            </a:lvl5pPr>
            <a:lvl6pPr>
              <a:buNone/>
              <a:defRPr sz="2400" b="1">
                <a:solidFill>
                  <a:srgbClr val="164C47"/>
                </a:solidFill>
                <a:latin typeface="Arial"/>
                <a:ea typeface="Arial"/>
                <a:cs typeface="Arial"/>
              </a:defRPr>
            </a:lvl6pPr>
            <a:lvl7pPr>
              <a:buNone/>
              <a:defRPr sz="2400" b="1">
                <a:solidFill>
                  <a:srgbClr val="164C47"/>
                </a:solidFill>
                <a:latin typeface="Arial"/>
                <a:ea typeface="Arial"/>
                <a:cs typeface="Arial"/>
              </a:defRPr>
            </a:lvl7pPr>
            <a:lvl8pPr>
              <a:buNone/>
              <a:defRPr sz="2400" b="1">
                <a:solidFill>
                  <a:srgbClr val="164C47"/>
                </a:solidFill>
                <a:latin typeface="Arial"/>
                <a:ea typeface="Arial"/>
                <a:cs typeface="Arial"/>
              </a:defRPr>
            </a:lvl8pPr>
            <a:lvl9pPr>
              <a:buNone/>
              <a:defRPr sz="2400" b="1">
                <a:solidFill>
                  <a:srgbClr val="164C47"/>
                </a:solidFill>
                <a:latin typeface="Arial"/>
                <a:ea typeface="Arial"/>
                <a:cs typeface="Arial"/>
              </a:defRPr>
            </a:lvl9pPr>
          </a:lstStyle>
          <a:p>
            <a:pPr>
              <a:buNone/>
              <a:defRPr sz="2400" b="1">
                <a:solidFill>
                  <a:srgbClr val="164C47"/>
                </a:solidFill>
                <a:latin typeface="Arial"/>
                <a:ea typeface="Arial"/>
                <a:cs typeface="Arial"/>
              </a:defRPr>
            </a:pPr>
            <a:r>
              <a:rPr sz="2400" b="1">
                <a:solidFill>
                  <a:srgbClr val="164C47"/>
                </a:solidFill>
                <a:latin typeface="Arial"/>
                <a:ea typeface="Arial"/>
                <a:cs typeface="Arial"/>
              </a:rPr>
              <a:t>13 </a:t>
            </a:r>
            <a:r>
              <a:rPr lang="en-US"/>
              <a:t>UC</a:t>
            </a:r>
            <a:r>
              <a:rPr sz="2400" b="1">
                <a:solidFill>
                  <a:srgbClr val="164C47"/>
                </a:solidFill>
                <a:latin typeface="Arial"/>
                <a:ea typeface="Arial"/>
                <a:cs typeface="Arial"/>
              </a:rPr>
              <a:t> sử dụng</a:t>
            </a:r>
          </a:p>
        </p:txBody>
      </p:sp>
      <p:sp>
        <p:nvSpPr>
          <p:cNvPr id="7" name="Rectangle 6">
            <a:extLst>
              <a:ext uri="{FF2B5EF4-FFF2-40B4-BE49-F238E27FC236}">
                <a16:creationId xmlns:a16="http://schemas.microsoft.com/office/drawing/2014/main" id="{8E49D5F0-F36F-4E1B-8FC6-553B702CBF32}"/>
              </a:ext>
            </a:extLst>
          </p:cNvPr>
          <p:cNvSpPr>
            <a:spLocks noGrp="1"/>
          </p:cNvSpPr>
          <p:nvPr/>
        </p:nvSpPr>
        <p:spPr>
          <a:xfrm>
            <a:off x="7191375" y="2381250"/>
            <a:ext cx="4286250" cy="1285875"/>
          </a:xfrm>
          <a:prstGeom prst="rect">
            <a:avLst/>
          </a:prstGeom>
          <a:noFill/>
          <a:ln w="0">
            <a:noFill/>
          </a:ln>
        </p:spPr>
        <p:txBody>
          <a:bodyPr wrap="square">
            <a:noAutofit/>
          </a:bodyPr>
          <a:lstStyle>
            <a:defPPr>
              <a:defRPr sz="2025" b="0">
                <a:solidFill>
                  <a:srgbClr val="526B66"/>
                </a:solidFill>
                <a:latin typeface="Arial"/>
                <a:ea typeface="Arial"/>
                <a:cs typeface="Arial"/>
              </a:defRPr>
            </a:defPPr>
            <a:lvl1pPr>
              <a:buNone/>
              <a:defRPr sz="2025" b="0">
                <a:solidFill>
                  <a:srgbClr val="526B66"/>
                </a:solidFill>
                <a:latin typeface="Arial"/>
                <a:ea typeface="Arial"/>
                <a:cs typeface="Arial"/>
              </a:defRPr>
            </a:lvl1pPr>
            <a:lvl2pPr>
              <a:buNone/>
              <a:defRPr sz="2025" b="0">
                <a:solidFill>
                  <a:srgbClr val="526B66"/>
                </a:solidFill>
                <a:latin typeface="Arial"/>
                <a:ea typeface="Arial"/>
                <a:cs typeface="Arial"/>
              </a:defRPr>
            </a:lvl2pPr>
            <a:lvl3pPr>
              <a:buNone/>
              <a:defRPr sz="2025" b="0">
                <a:solidFill>
                  <a:srgbClr val="526B66"/>
                </a:solidFill>
                <a:latin typeface="Arial"/>
                <a:ea typeface="Arial"/>
                <a:cs typeface="Arial"/>
              </a:defRPr>
            </a:lvl3pPr>
            <a:lvl4pPr>
              <a:buNone/>
              <a:defRPr sz="2025" b="0">
                <a:solidFill>
                  <a:srgbClr val="526B66"/>
                </a:solidFill>
                <a:latin typeface="Arial"/>
                <a:ea typeface="Arial"/>
                <a:cs typeface="Arial"/>
              </a:defRPr>
            </a:lvl4pPr>
            <a:lvl5pPr>
              <a:buNone/>
              <a:defRPr sz="2025" b="0">
                <a:solidFill>
                  <a:srgbClr val="526B66"/>
                </a:solidFill>
                <a:latin typeface="Arial"/>
                <a:ea typeface="Arial"/>
                <a:cs typeface="Arial"/>
              </a:defRPr>
            </a:lvl5pPr>
            <a:lvl6pPr>
              <a:buNone/>
              <a:defRPr sz="2025" b="0">
                <a:solidFill>
                  <a:srgbClr val="526B66"/>
                </a:solidFill>
                <a:latin typeface="Arial"/>
                <a:ea typeface="Arial"/>
                <a:cs typeface="Arial"/>
              </a:defRPr>
            </a:lvl6pPr>
            <a:lvl7pPr>
              <a:buNone/>
              <a:defRPr sz="2025" b="0">
                <a:solidFill>
                  <a:srgbClr val="526B66"/>
                </a:solidFill>
                <a:latin typeface="Arial"/>
                <a:ea typeface="Arial"/>
                <a:cs typeface="Arial"/>
              </a:defRPr>
            </a:lvl7pPr>
            <a:lvl8pPr>
              <a:buNone/>
              <a:defRPr sz="2025" b="0">
                <a:solidFill>
                  <a:srgbClr val="526B66"/>
                </a:solidFill>
                <a:latin typeface="Arial"/>
                <a:ea typeface="Arial"/>
                <a:cs typeface="Arial"/>
              </a:defRPr>
            </a:lvl8pPr>
            <a:lvl9pPr>
              <a:buNone/>
              <a:defRPr sz="2025" b="0">
                <a:solidFill>
                  <a:srgbClr val="526B66"/>
                </a:solidFill>
                <a:latin typeface="Arial"/>
                <a:ea typeface="Arial"/>
                <a:cs typeface="Arial"/>
              </a:defRPr>
            </a:lvl9pPr>
          </a:lstStyle>
          <a:p>
            <a:pPr>
              <a:buNone/>
              <a:defRPr sz="2025" b="0">
                <a:solidFill>
                  <a:srgbClr val="526B66"/>
                </a:solidFill>
                <a:latin typeface="Arial"/>
                <a:ea typeface="Arial"/>
                <a:cs typeface="Arial"/>
              </a:defRPr>
            </a:pPr>
            <a:r>
              <a:rPr sz="2025" b="0">
                <a:solidFill>
                  <a:srgbClr val="526B66"/>
                </a:solidFill>
                <a:latin typeface="Arial"/>
                <a:ea typeface="Arial"/>
                <a:cs typeface="Arial"/>
              </a:rPr>
              <a:t>Người dùng là tác nhân nghiệp vụ chính. Android hỗ trợ báo thức và thông báo.</a:t>
            </a:r>
          </a:p>
        </p:txBody>
      </p:sp>
      <p:sp>
        <p:nvSpPr>
          <p:cNvPr id="8" name="Rectangle 7">
            <a:extLst>
              <a:ext uri="{FF2B5EF4-FFF2-40B4-BE49-F238E27FC236}">
                <a16:creationId xmlns:a16="http://schemas.microsoft.com/office/drawing/2014/main" id="{C751E4B7-9EB6-4911-BBA0-1B941A0B6F0D}"/>
              </a:ext>
            </a:extLst>
          </p:cNvPr>
          <p:cNvSpPr>
            <a:spLocks noGrp="1"/>
          </p:cNvSpPr>
          <p:nvPr/>
        </p:nvSpPr>
        <p:spPr>
          <a:xfrm>
            <a:off x="7191375" y="4000500"/>
            <a:ext cx="4286250" cy="1238250"/>
          </a:xfrm>
          <a:prstGeom prst="rect">
            <a:avLst/>
          </a:prstGeom>
          <a:noFill/>
          <a:ln w="0">
            <a:noFill/>
          </a:ln>
        </p:spPr>
        <p:txBody>
          <a:bodyPr wrap="square">
            <a:noAutofit/>
          </a:bodyPr>
          <a:lstStyle>
            <a:defPPr>
              <a:defRPr sz="2025" b="0">
                <a:solidFill>
                  <a:srgbClr val="526B66"/>
                </a:solidFill>
                <a:latin typeface="Arial"/>
                <a:ea typeface="Arial"/>
                <a:cs typeface="Arial"/>
              </a:defRPr>
            </a:defPPr>
            <a:lvl1pPr>
              <a:buNone/>
              <a:defRPr sz="2025" b="0">
                <a:solidFill>
                  <a:srgbClr val="526B66"/>
                </a:solidFill>
                <a:latin typeface="Arial"/>
                <a:ea typeface="Arial"/>
                <a:cs typeface="Arial"/>
              </a:defRPr>
            </a:lvl1pPr>
            <a:lvl2pPr>
              <a:buNone/>
              <a:defRPr sz="2025" b="0">
                <a:solidFill>
                  <a:srgbClr val="526B66"/>
                </a:solidFill>
                <a:latin typeface="Arial"/>
                <a:ea typeface="Arial"/>
                <a:cs typeface="Arial"/>
              </a:defRPr>
            </a:lvl2pPr>
            <a:lvl3pPr>
              <a:buNone/>
              <a:defRPr sz="2025" b="0">
                <a:solidFill>
                  <a:srgbClr val="526B66"/>
                </a:solidFill>
                <a:latin typeface="Arial"/>
                <a:ea typeface="Arial"/>
                <a:cs typeface="Arial"/>
              </a:defRPr>
            </a:lvl3pPr>
            <a:lvl4pPr>
              <a:buNone/>
              <a:defRPr sz="2025" b="0">
                <a:solidFill>
                  <a:srgbClr val="526B66"/>
                </a:solidFill>
                <a:latin typeface="Arial"/>
                <a:ea typeface="Arial"/>
                <a:cs typeface="Arial"/>
              </a:defRPr>
            </a:lvl4pPr>
            <a:lvl5pPr>
              <a:buNone/>
              <a:defRPr sz="2025" b="0">
                <a:solidFill>
                  <a:srgbClr val="526B66"/>
                </a:solidFill>
                <a:latin typeface="Arial"/>
                <a:ea typeface="Arial"/>
                <a:cs typeface="Arial"/>
              </a:defRPr>
            </a:lvl5pPr>
            <a:lvl6pPr>
              <a:buNone/>
              <a:defRPr sz="2025" b="0">
                <a:solidFill>
                  <a:srgbClr val="526B66"/>
                </a:solidFill>
                <a:latin typeface="Arial"/>
                <a:ea typeface="Arial"/>
                <a:cs typeface="Arial"/>
              </a:defRPr>
            </a:lvl6pPr>
            <a:lvl7pPr>
              <a:buNone/>
              <a:defRPr sz="2025" b="0">
                <a:solidFill>
                  <a:srgbClr val="526B66"/>
                </a:solidFill>
                <a:latin typeface="Arial"/>
                <a:ea typeface="Arial"/>
                <a:cs typeface="Arial"/>
              </a:defRPr>
            </a:lvl7pPr>
            <a:lvl8pPr>
              <a:buNone/>
              <a:defRPr sz="2025" b="0">
                <a:solidFill>
                  <a:srgbClr val="526B66"/>
                </a:solidFill>
                <a:latin typeface="Arial"/>
                <a:ea typeface="Arial"/>
                <a:cs typeface="Arial"/>
              </a:defRPr>
            </a:lvl8pPr>
            <a:lvl9pPr>
              <a:buNone/>
              <a:defRPr sz="2025" b="0">
                <a:solidFill>
                  <a:srgbClr val="526B66"/>
                </a:solidFill>
                <a:latin typeface="Arial"/>
                <a:ea typeface="Arial"/>
                <a:cs typeface="Arial"/>
              </a:defRPr>
            </a:lvl9pPr>
          </a:lstStyle>
          <a:p>
            <a:pPr>
              <a:buNone/>
              <a:defRPr sz="2025" b="0">
                <a:solidFill>
                  <a:srgbClr val="526B66"/>
                </a:solidFill>
                <a:latin typeface="Arial"/>
                <a:ea typeface="Arial"/>
                <a:cs typeface="Arial"/>
              </a:defRPr>
            </a:pPr>
            <a:r>
              <a:rPr sz="2025" b="0">
                <a:solidFill>
                  <a:srgbClr val="526B66"/>
                </a:solidFill>
                <a:latin typeface="Arial"/>
                <a:ea typeface="Arial"/>
                <a:cs typeface="Arial"/>
              </a:rPr>
              <a:t>Các nghiệp vụ yêu cầu phiên đăng nhập hợp lệ, trừ đăng ký và đăng nhập.</a:t>
            </a:r>
          </a:p>
        </p:txBody>
      </p:sp>
      <p:sp>
        <p:nvSpPr>
          <p:cNvPr id="9" name="Rectangle 8">
            <a:extLst>
              <a:ext uri="{FF2B5EF4-FFF2-40B4-BE49-F238E27FC236}">
                <a16:creationId xmlns:a16="http://schemas.microsoft.com/office/drawing/2014/main" id="{43293EA4-D80C-4B45-89E3-8A1658226A97}"/>
              </a:ext>
            </a:extLst>
          </p:cNvPr>
          <p:cNvSpPr>
            <a:spLocks noGrp="1"/>
          </p:cNvSpPr>
          <p:nvPr/>
        </p:nvSpPr>
        <p:spPr>
          <a:xfrm>
            <a:off x="7191375" y="5334000"/>
            <a:ext cx="4286250" cy="990600"/>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Sơ đồ thể hiện riêng 13 </a:t>
            </a:r>
            <a:r>
              <a:rPr lang="en-US"/>
              <a:t>UC</a:t>
            </a:r>
            <a:r>
              <a:rPr sz="1650" b="0">
                <a:solidFill>
                  <a:srgbClr val="526B66"/>
                </a:solidFill>
                <a:latin typeface="Arial"/>
                <a:ea typeface="Arial"/>
                <a:cs typeface="Arial"/>
              </a:rPr>
              <a:t> sử dụng, tương ứng UC01–UC13 trong Bảng 1.1 của báo cáo.</a:t>
            </a:r>
          </a:p>
        </p:txBody>
      </p:sp>
    </p:spTree>
    <p:extLst>
      <p:ext uri="{BB962C8B-B14F-4D97-AF65-F5344CB8AC3E}">
        <p14:creationId xmlns:p14="http://schemas.microsoft.com/office/powerpoint/2010/main" val="687906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F91D660-CECB-4A92-9DB8-B02564AE475B}"/>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TỔNG QUAN MÀN HÌNH</a:t>
            </a:r>
          </a:p>
        </p:txBody>
      </p:sp>
      <p:sp>
        <p:nvSpPr>
          <p:cNvPr id="2" name="Rectangle 1">
            <a:extLst>
              <a:ext uri="{FF2B5EF4-FFF2-40B4-BE49-F238E27FC236}">
                <a16:creationId xmlns:a16="http://schemas.microsoft.com/office/drawing/2014/main" id="{CECAEE92-B376-4759-8041-C52651BE8958}"/>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Tổ chức giao diện ứng dụng</a:t>
            </a:r>
          </a:p>
        </p:txBody>
      </p:sp>
      <p:sp>
        <p:nvSpPr>
          <p:cNvPr id="3" name="Rectangle 2">
            <a:extLst>
              <a:ext uri="{FF2B5EF4-FFF2-40B4-BE49-F238E27FC236}">
                <a16:creationId xmlns:a16="http://schemas.microsoft.com/office/drawing/2014/main" id="{5B2BAF88-6A4A-48BA-9A3A-FB8662D343A6}"/>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A16616DD-A832-404C-ADC6-086B2F370590}"/>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05</a:t>
            </a:r>
          </a:p>
        </p:txBody>
      </p:sp>
      <p:sp>
        <p:nvSpPr>
          <p:cNvPr id="5" name="Rectangle 4">
            <a:extLst>
              <a:ext uri="{FF2B5EF4-FFF2-40B4-BE49-F238E27FC236}">
                <a16:creationId xmlns:a16="http://schemas.microsoft.com/office/drawing/2014/main" id="{1E9AD455-8B8C-4E42-A29F-32D50CC793A0}"/>
              </a:ext>
            </a:extLst>
          </p:cNvPr>
          <p:cNvSpPr>
            <a:spLocks noGrp="1"/>
          </p:cNvSpPr>
          <p:nvPr/>
        </p:nvSpPr>
        <p:spPr>
          <a:xfrm>
            <a:off x="514350" y="1200150"/>
            <a:ext cx="11049000" cy="438150"/>
          </a:xfrm>
          <a:prstGeom prst="rect">
            <a:avLst/>
          </a:prstGeom>
          <a:noFill/>
          <a:ln w="0">
            <a:noFill/>
          </a:ln>
        </p:spPr>
        <p:txBody>
          <a:bodyPr/>
          <a:lstStyle>
            <a:defPPr>
              <a:defRPr sz="1725" b="0">
                <a:solidFill>
                  <a:srgbClr val="526B66"/>
                </a:solidFill>
                <a:latin typeface="Arial"/>
                <a:ea typeface="Arial"/>
                <a:cs typeface="Arial"/>
              </a:defRPr>
            </a:defPPr>
            <a:lvl1pPr>
              <a:buNone/>
              <a:defRPr sz="1725" b="0">
                <a:solidFill>
                  <a:srgbClr val="526B66"/>
                </a:solidFill>
                <a:latin typeface="Arial"/>
                <a:ea typeface="Arial"/>
                <a:cs typeface="Arial"/>
              </a:defRPr>
            </a:lvl1pPr>
            <a:lvl2pPr>
              <a:buNone/>
              <a:defRPr sz="1725" b="0">
                <a:solidFill>
                  <a:srgbClr val="526B66"/>
                </a:solidFill>
                <a:latin typeface="Arial"/>
                <a:ea typeface="Arial"/>
                <a:cs typeface="Arial"/>
              </a:defRPr>
            </a:lvl2pPr>
            <a:lvl3pPr>
              <a:buNone/>
              <a:defRPr sz="1725" b="0">
                <a:solidFill>
                  <a:srgbClr val="526B66"/>
                </a:solidFill>
                <a:latin typeface="Arial"/>
                <a:ea typeface="Arial"/>
                <a:cs typeface="Arial"/>
              </a:defRPr>
            </a:lvl3pPr>
            <a:lvl4pPr>
              <a:buNone/>
              <a:defRPr sz="1725" b="0">
                <a:solidFill>
                  <a:srgbClr val="526B66"/>
                </a:solidFill>
                <a:latin typeface="Arial"/>
                <a:ea typeface="Arial"/>
                <a:cs typeface="Arial"/>
              </a:defRPr>
            </a:lvl4pPr>
            <a:lvl5pPr>
              <a:buNone/>
              <a:defRPr sz="1725" b="0">
                <a:solidFill>
                  <a:srgbClr val="526B66"/>
                </a:solidFill>
                <a:latin typeface="Arial"/>
                <a:ea typeface="Arial"/>
                <a:cs typeface="Arial"/>
              </a:defRPr>
            </a:lvl5pPr>
            <a:lvl6pPr>
              <a:buNone/>
              <a:defRPr sz="1725" b="0">
                <a:solidFill>
                  <a:srgbClr val="526B66"/>
                </a:solidFill>
                <a:latin typeface="Arial"/>
                <a:ea typeface="Arial"/>
                <a:cs typeface="Arial"/>
              </a:defRPr>
            </a:lvl6pPr>
            <a:lvl7pPr>
              <a:buNone/>
              <a:defRPr sz="1725" b="0">
                <a:solidFill>
                  <a:srgbClr val="526B66"/>
                </a:solidFill>
                <a:latin typeface="Arial"/>
                <a:ea typeface="Arial"/>
                <a:cs typeface="Arial"/>
              </a:defRPr>
            </a:lvl7pPr>
            <a:lvl8pPr>
              <a:buNone/>
              <a:defRPr sz="1725" b="0">
                <a:solidFill>
                  <a:srgbClr val="526B66"/>
                </a:solidFill>
                <a:latin typeface="Arial"/>
                <a:ea typeface="Arial"/>
                <a:cs typeface="Arial"/>
              </a:defRPr>
            </a:lvl8pPr>
            <a:lvl9pPr>
              <a:buNone/>
              <a:defRPr sz="1725" b="0">
                <a:solidFill>
                  <a:srgbClr val="526B66"/>
                </a:solidFill>
                <a:latin typeface="Arial"/>
                <a:ea typeface="Arial"/>
                <a:cs typeface="Arial"/>
              </a:defRPr>
            </a:lvl9pPr>
          </a:lstStyle>
          <a:p>
            <a:pPr>
              <a:buNone/>
              <a:defRPr sz="1725" b="0">
                <a:solidFill>
                  <a:srgbClr val="526B66"/>
                </a:solidFill>
                <a:latin typeface="Arial"/>
                <a:ea typeface="Arial"/>
                <a:cs typeface="Arial"/>
              </a:defRPr>
            </a:pPr>
            <a:r>
              <a:rPr sz="1725" b="0">
                <a:solidFill>
                  <a:srgbClr val="526B66"/>
                </a:solidFill>
                <a:latin typeface="Arial"/>
                <a:ea typeface="Arial"/>
                <a:cs typeface="Arial"/>
              </a:rPr>
              <a:t>10 Activity và 4 Fragment chính. MainActivity giữ các tab bằng cơ chế ẩn và hiện.</a:t>
            </a:r>
          </a:p>
        </p:txBody>
      </p:sp>
      <p:pic>
        <p:nvPicPr>
          <p:cNvPr id="6" name="Picture 5">
            <a:extLst>
              <a:ext uri="{FF2B5EF4-FFF2-40B4-BE49-F238E27FC236}">
                <a16:creationId xmlns:a16="http://schemas.microsoft.com/office/drawing/2014/main" id="{5305264A-6971-4DEA-AD37-151A8B965927}"/>
              </a:ext>
            </a:extLst>
          </p:cNvPr>
          <p:cNvPicPr>
            <a:picLocks noChangeAspect="1"/>
          </p:cNvPicPr>
          <p:nvPr/>
        </p:nvPicPr>
        <p:blipFill>
          <a:blip r:embed="rId3"/>
          <a:stretch/>
        </p:blipFill>
        <p:spPr>
          <a:xfrm>
            <a:off x="963216" y="1762125"/>
            <a:ext cx="1907381" cy="4238625"/>
          </a:xfrm>
          <a:prstGeom prst="rect">
            <a:avLst/>
          </a:prstGeom>
        </p:spPr>
      </p:pic>
      <p:sp>
        <p:nvSpPr>
          <p:cNvPr id="7" name="Rectangle 6">
            <a:extLst>
              <a:ext uri="{FF2B5EF4-FFF2-40B4-BE49-F238E27FC236}">
                <a16:creationId xmlns:a16="http://schemas.microsoft.com/office/drawing/2014/main" id="{3445A334-AF34-4689-A437-A379579C0269}"/>
              </a:ext>
            </a:extLst>
          </p:cNvPr>
          <p:cNvSpPr>
            <a:spLocks noGrp="1"/>
          </p:cNvSpPr>
          <p:nvPr/>
        </p:nvSpPr>
        <p:spPr>
          <a:xfrm>
            <a:off x="533400" y="6067425"/>
            <a:ext cx="2767013"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8" name="Picture 7">
            <a:extLst>
              <a:ext uri="{FF2B5EF4-FFF2-40B4-BE49-F238E27FC236}">
                <a16:creationId xmlns:a16="http://schemas.microsoft.com/office/drawing/2014/main" id="{44CB0178-6437-4164-A59B-70F02D17545A}"/>
              </a:ext>
            </a:extLst>
          </p:cNvPr>
          <p:cNvPicPr>
            <a:picLocks noChangeAspect="1"/>
          </p:cNvPicPr>
          <p:nvPr/>
        </p:nvPicPr>
        <p:blipFill>
          <a:blip r:embed="rId4"/>
          <a:stretch/>
        </p:blipFill>
        <p:spPr>
          <a:xfrm>
            <a:off x="3749278" y="1762125"/>
            <a:ext cx="1907381" cy="4238625"/>
          </a:xfrm>
          <a:prstGeom prst="rect">
            <a:avLst/>
          </a:prstGeom>
        </p:spPr>
      </p:pic>
      <p:sp>
        <p:nvSpPr>
          <p:cNvPr id="9" name="Rectangle 8">
            <a:extLst>
              <a:ext uri="{FF2B5EF4-FFF2-40B4-BE49-F238E27FC236}">
                <a16:creationId xmlns:a16="http://schemas.microsoft.com/office/drawing/2014/main" id="{2194DA90-5202-4E20-9A19-853D4D64A1C1}"/>
              </a:ext>
            </a:extLst>
          </p:cNvPr>
          <p:cNvSpPr>
            <a:spLocks noGrp="1"/>
          </p:cNvSpPr>
          <p:nvPr/>
        </p:nvSpPr>
        <p:spPr>
          <a:xfrm>
            <a:off x="3319463" y="6067425"/>
            <a:ext cx="2767013"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Sức khỏe</a:t>
            </a:r>
          </a:p>
        </p:txBody>
      </p:sp>
      <p:pic>
        <p:nvPicPr>
          <p:cNvPr id="10" name="Picture 9">
            <a:extLst>
              <a:ext uri="{FF2B5EF4-FFF2-40B4-BE49-F238E27FC236}">
                <a16:creationId xmlns:a16="http://schemas.microsoft.com/office/drawing/2014/main" id="{35C19F25-2151-49DE-B303-8B520DC69709}"/>
              </a:ext>
            </a:extLst>
          </p:cNvPr>
          <p:cNvPicPr>
            <a:picLocks noChangeAspect="1"/>
          </p:cNvPicPr>
          <p:nvPr/>
        </p:nvPicPr>
        <p:blipFill>
          <a:blip r:embed="rId5"/>
          <a:stretch/>
        </p:blipFill>
        <p:spPr>
          <a:xfrm>
            <a:off x="6535341" y="1762125"/>
            <a:ext cx="1907381" cy="4238625"/>
          </a:xfrm>
          <a:prstGeom prst="rect">
            <a:avLst/>
          </a:prstGeom>
        </p:spPr>
      </p:pic>
      <p:sp>
        <p:nvSpPr>
          <p:cNvPr id="11" name="Rectangle 10">
            <a:extLst>
              <a:ext uri="{FF2B5EF4-FFF2-40B4-BE49-F238E27FC236}">
                <a16:creationId xmlns:a16="http://schemas.microsoft.com/office/drawing/2014/main" id="{C24F206E-ED34-4DBA-9566-281B0BDFD324}"/>
              </a:ext>
            </a:extLst>
          </p:cNvPr>
          <p:cNvSpPr>
            <a:spLocks noGrp="1"/>
          </p:cNvSpPr>
          <p:nvPr/>
        </p:nvSpPr>
        <p:spPr>
          <a:xfrm>
            <a:off x="6105525" y="6067425"/>
            <a:ext cx="2767013"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Nhắc nhở</a:t>
            </a:r>
          </a:p>
        </p:txBody>
      </p:sp>
      <p:pic>
        <p:nvPicPr>
          <p:cNvPr id="12" name="Picture 11">
            <a:extLst>
              <a:ext uri="{FF2B5EF4-FFF2-40B4-BE49-F238E27FC236}">
                <a16:creationId xmlns:a16="http://schemas.microsoft.com/office/drawing/2014/main" id="{24693F20-2311-4FC0-B7B7-A193817E6B05}"/>
              </a:ext>
            </a:extLst>
          </p:cNvPr>
          <p:cNvPicPr>
            <a:picLocks noChangeAspect="1"/>
          </p:cNvPicPr>
          <p:nvPr/>
        </p:nvPicPr>
        <p:blipFill>
          <a:blip r:embed="rId6"/>
          <a:stretch/>
        </p:blipFill>
        <p:spPr>
          <a:xfrm>
            <a:off x="9321403" y="1762125"/>
            <a:ext cx="1907381" cy="4238625"/>
          </a:xfrm>
          <a:prstGeom prst="rect">
            <a:avLst/>
          </a:prstGeom>
        </p:spPr>
      </p:pic>
      <p:sp>
        <p:nvSpPr>
          <p:cNvPr id="13" name="Rectangle 12">
            <a:extLst>
              <a:ext uri="{FF2B5EF4-FFF2-40B4-BE49-F238E27FC236}">
                <a16:creationId xmlns:a16="http://schemas.microsoft.com/office/drawing/2014/main" id="{EC47373B-855F-4BBD-98DD-09D52BA45B6F}"/>
              </a:ext>
            </a:extLst>
          </p:cNvPr>
          <p:cNvSpPr>
            <a:spLocks noGrp="1"/>
          </p:cNvSpPr>
          <p:nvPr/>
        </p:nvSpPr>
        <p:spPr>
          <a:xfrm>
            <a:off x="8891588" y="6067425"/>
            <a:ext cx="2767013"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Thống kê</a:t>
            </a:r>
          </a:p>
        </p:txBody>
      </p:sp>
    </p:spTree>
    <p:extLst>
      <p:ext uri="{BB962C8B-B14F-4D97-AF65-F5344CB8AC3E}">
        <p14:creationId xmlns:p14="http://schemas.microsoft.com/office/powerpoint/2010/main" val="1251360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8FED357-7EB9-4996-BA2E-0F14835892F4}"/>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LUỒNG ĐĂNG NHẬP VÀ ĐĂNG KÝ</a:t>
            </a:r>
          </a:p>
        </p:txBody>
      </p:sp>
      <p:sp>
        <p:nvSpPr>
          <p:cNvPr id="2" name="Rectangle 1">
            <a:extLst>
              <a:ext uri="{FF2B5EF4-FFF2-40B4-BE49-F238E27FC236}">
                <a16:creationId xmlns:a16="http://schemas.microsoft.com/office/drawing/2014/main" id="{A8C5E805-0BDD-45A8-B55A-CEFEBF79C7EE}"/>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Khởi động và xác thực tài khoản</a:t>
            </a:r>
          </a:p>
        </p:txBody>
      </p:sp>
      <p:sp>
        <p:nvSpPr>
          <p:cNvPr id="3" name="Rectangle 2">
            <a:extLst>
              <a:ext uri="{FF2B5EF4-FFF2-40B4-BE49-F238E27FC236}">
                <a16:creationId xmlns:a16="http://schemas.microsoft.com/office/drawing/2014/main" id="{4A958EED-3C78-4F1B-873A-D4E40789776D}"/>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B5594CC9-0D17-4E79-BA70-FD64C8309AC2}"/>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06</a:t>
            </a:r>
          </a:p>
        </p:txBody>
      </p:sp>
      <p:sp>
        <p:nvSpPr>
          <p:cNvPr id="5" name="Rectangle 4">
            <a:extLst>
              <a:ext uri="{FF2B5EF4-FFF2-40B4-BE49-F238E27FC236}">
                <a16:creationId xmlns:a16="http://schemas.microsoft.com/office/drawing/2014/main" id="{B27AF49A-6BD1-45AD-B428-4164A287AEC1}"/>
              </a:ext>
            </a:extLst>
          </p:cNvPr>
          <p:cNvSpPr>
            <a:spLocks noGrp="1"/>
          </p:cNvSpPr>
          <p:nvPr/>
        </p:nvSpPr>
        <p:spPr>
          <a:xfrm>
            <a:off x="514350" y="161925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SplashActivity</a:t>
            </a:r>
          </a:p>
        </p:txBody>
      </p:sp>
      <p:sp>
        <p:nvSpPr>
          <p:cNvPr id="6" name="Rectangle 5">
            <a:extLst>
              <a:ext uri="{FF2B5EF4-FFF2-40B4-BE49-F238E27FC236}">
                <a16:creationId xmlns:a16="http://schemas.microsoft.com/office/drawing/2014/main" id="{FB31025A-99BC-4ABA-B607-82B4EC23CE2F}"/>
              </a:ext>
            </a:extLst>
          </p:cNvPr>
          <p:cNvSpPr>
            <a:spLocks noGrp="1"/>
          </p:cNvSpPr>
          <p:nvPr/>
        </p:nvSpPr>
        <p:spPr>
          <a:xfrm>
            <a:off x="514350" y="204787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Kiểm tra phiên để mở LoginActivity hoặc MainActivity.</a:t>
            </a:r>
          </a:p>
        </p:txBody>
      </p:sp>
      <p:sp>
        <p:nvSpPr>
          <p:cNvPr id="7" name="Rectangle 6">
            <a:extLst>
              <a:ext uri="{FF2B5EF4-FFF2-40B4-BE49-F238E27FC236}">
                <a16:creationId xmlns:a16="http://schemas.microsoft.com/office/drawing/2014/main" id="{EB4493C3-28A6-4C47-A4FB-82EFCBD21FD6}"/>
              </a:ext>
            </a:extLst>
          </p:cNvPr>
          <p:cNvSpPr>
            <a:spLocks noGrp="1"/>
          </p:cNvSpPr>
          <p:nvPr/>
        </p:nvSpPr>
        <p:spPr>
          <a:xfrm>
            <a:off x="514350" y="3095625"/>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LoginActivity</a:t>
            </a:r>
          </a:p>
        </p:txBody>
      </p:sp>
      <p:sp>
        <p:nvSpPr>
          <p:cNvPr id="8" name="Rectangle 7">
            <a:extLst>
              <a:ext uri="{FF2B5EF4-FFF2-40B4-BE49-F238E27FC236}">
                <a16:creationId xmlns:a16="http://schemas.microsoft.com/office/drawing/2014/main" id="{CE440871-FD48-47A1-AF11-84D45B287244}"/>
              </a:ext>
            </a:extLst>
          </p:cNvPr>
          <p:cNvSpPr>
            <a:spLocks noGrp="1"/>
          </p:cNvSpPr>
          <p:nvPr/>
        </p:nvSpPr>
        <p:spPr>
          <a:xfrm>
            <a:off x="514350" y="3524250"/>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Đăng nhập thành công dẫn đến màn hình chính. Có lối mở đăng ký.</a:t>
            </a:r>
          </a:p>
        </p:txBody>
      </p:sp>
      <p:sp>
        <p:nvSpPr>
          <p:cNvPr id="9" name="Rectangle 8">
            <a:extLst>
              <a:ext uri="{FF2B5EF4-FFF2-40B4-BE49-F238E27FC236}">
                <a16:creationId xmlns:a16="http://schemas.microsoft.com/office/drawing/2014/main" id="{F0358835-1A9F-49BA-82A2-B48EB83C4019}"/>
              </a:ext>
            </a:extLst>
          </p:cNvPr>
          <p:cNvSpPr>
            <a:spLocks noGrp="1"/>
          </p:cNvSpPr>
          <p:nvPr/>
        </p:nvSpPr>
        <p:spPr>
          <a:xfrm>
            <a:off x="514350" y="457200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RegisterActivity</a:t>
            </a:r>
          </a:p>
        </p:txBody>
      </p:sp>
      <p:sp>
        <p:nvSpPr>
          <p:cNvPr id="10" name="Rectangle 9">
            <a:extLst>
              <a:ext uri="{FF2B5EF4-FFF2-40B4-BE49-F238E27FC236}">
                <a16:creationId xmlns:a16="http://schemas.microsoft.com/office/drawing/2014/main" id="{62E729A3-A6BF-4353-8DAF-D861DA78E3B2}"/>
              </a:ext>
            </a:extLst>
          </p:cNvPr>
          <p:cNvSpPr>
            <a:spLocks noGrp="1"/>
          </p:cNvSpPr>
          <p:nvPr/>
        </p:nvSpPr>
        <p:spPr>
          <a:xfrm>
            <a:off x="514350" y="500062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Hai bước trong cùng một Activity: tài khoản và hồ sơ ban đầu.</a:t>
            </a:r>
          </a:p>
        </p:txBody>
      </p:sp>
      <p:pic>
        <p:nvPicPr>
          <p:cNvPr id="11" name="Picture 10">
            <a:extLst>
              <a:ext uri="{FF2B5EF4-FFF2-40B4-BE49-F238E27FC236}">
                <a16:creationId xmlns:a16="http://schemas.microsoft.com/office/drawing/2014/main" id="{5C106082-063F-4C01-80BF-198A3FF87BE4}"/>
              </a:ext>
            </a:extLst>
          </p:cNvPr>
          <p:cNvPicPr>
            <a:picLocks noChangeAspect="1"/>
          </p:cNvPicPr>
          <p:nvPr/>
        </p:nvPicPr>
        <p:blipFill>
          <a:blip r:embed="rId3"/>
          <a:stretch/>
        </p:blipFill>
        <p:spPr>
          <a:xfrm>
            <a:off x="4452144" y="1409700"/>
            <a:ext cx="2100263" cy="4667250"/>
          </a:xfrm>
          <a:prstGeom prst="rect">
            <a:avLst/>
          </a:prstGeom>
        </p:spPr>
      </p:pic>
      <p:sp>
        <p:nvSpPr>
          <p:cNvPr id="12" name="Rectangle 11">
            <a:extLst>
              <a:ext uri="{FF2B5EF4-FFF2-40B4-BE49-F238E27FC236}">
                <a16:creationId xmlns:a16="http://schemas.microsoft.com/office/drawing/2014/main" id="{9934AC0D-9B85-4775-B817-889E617AF7F6}"/>
              </a:ext>
            </a:extLst>
          </p:cNvPr>
          <p:cNvSpPr>
            <a:spLocks noGrp="1"/>
          </p:cNvSpPr>
          <p:nvPr/>
        </p:nvSpPr>
        <p:spPr>
          <a:xfrm>
            <a:off x="4305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Đăng nhập</a:t>
            </a:r>
          </a:p>
        </p:txBody>
      </p:sp>
      <p:pic>
        <p:nvPicPr>
          <p:cNvPr id="13" name="Picture 12">
            <a:extLst>
              <a:ext uri="{FF2B5EF4-FFF2-40B4-BE49-F238E27FC236}">
                <a16:creationId xmlns:a16="http://schemas.microsoft.com/office/drawing/2014/main" id="{3E55D86E-618E-41C8-9177-9D8C02EFE221}"/>
              </a:ext>
            </a:extLst>
          </p:cNvPr>
          <p:cNvPicPr>
            <a:picLocks noChangeAspect="1"/>
          </p:cNvPicPr>
          <p:nvPr/>
        </p:nvPicPr>
        <p:blipFill>
          <a:blip r:embed="rId4"/>
          <a:stretch/>
        </p:blipFill>
        <p:spPr>
          <a:xfrm>
            <a:off x="6865144" y="1409700"/>
            <a:ext cx="2100263" cy="4667250"/>
          </a:xfrm>
          <a:prstGeom prst="rect">
            <a:avLst/>
          </a:prstGeom>
        </p:spPr>
      </p:pic>
      <p:sp>
        <p:nvSpPr>
          <p:cNvPr id="14" name="Rectangle 13">
            <a:extLst>
              <a:ext uri="{FF2B5EF4-FFF2-40B4-BE49-F238E27FC236}">
                <a16:creationId xmlns:a16="http://schemas.microsoft.com/office/drawing/2014/main" id="{42BC5349-5D2E-40BE-A2A8-F13120AA95C5}"/>
              </a:ext>
            </a:extLst>
          </p:cNvPr>
          <p:cNvSpPr>
            <a:spLocks noGrp="1"/>
          </p:cNvSpPr>
          <p:nvPr/>
        </p:nvSpPr>
        <p:spPr>
          <a:xfrm>
            <a:off x="6718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Đăng ký: tài khoản</a:t>
            </a:r>
          </a:p>
        </p:txBody>
      </p:sp>
      <p:pic>
        <p:nvPicPr>
          <p:cNvPr id="15" name="Picture 14">
            <a:extLst>
              <a:ext uri="{FF2B5EF4-FFF2-40B4-BE49-F238E27FC236}">
                <a16:creationId xmlns:a16="http://schemas.microsoft.com/office/drawing/2014/main" id="{B38DF2FA-DF3B-4F33-AD19-C579FEAA2D00}"/>
              </a:ext>
            </a:extLst>
          </p:cNvPr>
          <p:cNvPicPr>
            <a:picLocks noChangeAspect="1"/>
          </p:cNvPicPr>
          <p:nvPr/>
        </p:nvPicPr>
        <p:blipFill>
          <a:blip r:embed="rId5"/>
          <a:stretch/>
        </p:blipFill>
        <p:spPr>
          <a:xfrm>
            <a:off x="9278144" y="1409700"/>
            <a:ext cx="2100263" cy="4667250"/>
          </a:xfrm>
          <a:prstGeom prst="rect">
            <a:avLst/>
          </a:prstGeom>
        </p:spPr>
      </p:pic>
      <p:sp>
        <p:nvSpPr>
          <p:cNvPr id="16" name="Rectangle 15">
            <a:extLst>
              <a:ext uri="{FF2B5EF4-FFF2-40B4-BE49-F238E27FC236}">
                <a16:creationId xmlns:a16="http://schemas.microsoft.com/office/drawing/2014/main" id="{C3CD0DF8-895E-4432-94DE-4D56CCEA920F}"/>
              </a:ext>
            </a:extLst>
          </p:cNvPr>
          <p:cNvSpPr>
            <a:spLocks noGrp="1"/>
          </p:cNvSpPr>
          <p:nvPr/>
        </p:nvSpPr>
        <p:spPr>
          <a:xfrm>
            <a:off x="9131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Đăng ký: hồ sơ</a:t>
            </a:r>
          </a:p>
        </p:txBody>
      </p:sp>
    </p:spTree>
    <p:extLst>
      <p:ext uri="{BB962C8B-B14F-4D97-AF65-F5344CB8AC3E}">
        <p14:creationId xmlns:p14="http://schemas.microsoft.com/office/powerpoint/2010/main" val="1870232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9CD2C6F-4C90-435F-A508-F3390F42A64E}"/>
              </a:ext>
            </a:extLst>
          </p:cNvPr>
          <p:cNvSpPr>
            <a:spLocks noGrp="1"/>
          </p:cNvSpPr>
          <p:nvPr/>
        </p:nvSpPr>
        <p:spPr>
          <a:xfrm>
            <a:off x="514350" y="238125"/>
            <a:ext cx="10477500" cy="238125"/>
          </a:xfrm>
          <a:prstGeom prst="rect">
            <a:avLst/>
          </a:prstGeom>
          <a:noFill/>
          <a:ln w="0">
            <a:noFill/>
          </a:ln>
        </p:spPr>
        <p:txBody>
          <a:bodyPr wrap="square">
            <a:noAutofit/>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CÁC ĐIỂM TRUY CẬP NHANH</a:t>
            </a:r>
          </a:p>
        </p:txBody>
      </p:sp>
      <p:sp>
        <p:nvSpPr>
          <p:cNvPr id="2" name="Rectangle 1">
            <a:extLst>
              <a:ext uri="{FF2B5EF4-FFF2-40B4-BE49-F238E27FC236}">
                <a16:creationId xmlns:a16="http://schemas.microsoft.com/office/drawing/2014/main" id="{42D0CF5A-91FC-4217-B63B-A6E94D13B4E2}"/>
              </a:ext>
            </a:extLst>
          </p:cNvPr>
          <p:cNvSpPr>
            <a:spLocks noGrp="1"/>
          </p:cNvSpPr>
          <p:nvPr/>
        </p:nvSpPr>
        <p:spPr>
          <a:xfrm>
            <a:off x="514350" y="628650"/>
            <a:ext cx="11144250" cy="600075"/>
          </a:xfrm>
          <a:prstGeom prst="rect">
            <a:avLst/>
          </a:prstGeom>
          <a:noFill/>
          <a:ln w="0">
            <a:noFill/>
          </a:ln>
        </p:spPr>
        <p:txBody>
          <a:bodyPr wrap="square">
            <a:noAutofit/>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Trang chủ và quản lý hồ sơ</a:t>
            </a:r>
          </a:p>
        </p:txBody>
      </p:sp>
      <p:sp>
        <p:nvSpPr>
          <p:cNvPr id="3" name="Rectangle 2">
            <a:extLst>
              <a:ext uri="{FF2B5EF4-FFF2-40B4-BE49-F238E27FC236}">
                <a16:creationId xmlns:a16="http://schemas.microsoft.com/office/drawing/2014/main" id="{42238663-1CC6-4035-8714-35AF5BF9FDE0}"/>
              </a:ext>
            </a:extLst>
          </p:cNvPr>
          <p:cNvSpPr>
            <a:spLocks noGrp="1"/>
          </p:cNvSpPr>
          <p:nvPr/>
        </p:nvSpPr>
        <p:spPr>
          <a:xfrm>
            <a:off x="514350" y="6515100"/>
            <a:ext cx="9525000" cy="209550"/>
          </a:xfrm>
          <a:prstGeom prst="rect">
            <a:avLst/>
          </a:prstGeom>
          <a:noFill/>
          <a:ln w="0">
            <a:noFill/>
          </a:ln>
        </p:spPr>
        <p:txBody>
          <a:bodyPr wrap="square">
            <a:noAutofit/>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6FC47F94-E801-4173-9FC1-FEB992D44B43}"/>
              </a:ext>
            </a:extLst>
          </p:cNvPr>
          <p:cNvSpPr>
            <a:spLocks noGrp="1"/>
          </p:cNvSpPr>
          <p:nvPr/>
        </p:nvSpPr>
        <p:spPr>
          <a:xfrm>
            <a:off x="11258550" y="6477000"/>
            <a:ext cx="476250" cy="238125"/>
          </a:xfrm>
          <a:prstGeom prst="rect">
            <a:avLst/>
          </a:prstGeom>
          <a:noFill/>
          <a:ln w="0">
            <a:noFill/>
          </a:ln>
        </p:spPr>
        <p:txBody>
          <a:bodyPr wrap="square">
            <a:noAutofit/>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07</a:t>
            </a:r>
          </a:p>
        </p:txBody>
      </p:sp>
      <p:sp>
        <p:nvSpPr>
          <p:cNvPr id="5" name="Rectangle 4">
            <a:extLst>
              <a:ext uri="{FF2B5EF4-FFF2-40B4-BE49-F238E27FC236}">
                <a16:creationId xmlns:a16="http://schemas.microsoft.com/office/drawing/2014/main" id="{51CF1CB1-D102-4B91-B907-9C2C69EA4F66}"/>
              </a:ext>
            </a:extLst>
          </p:cNvPr>
          <p:cNvSpPr>
            <a:spLocks noGrp="1"/>
          </p:cNvSpPr>
          <p:nvPr/>
        </p:nvSpPr>
        <p:spPr>
          <a:xfrm>
            <a:off x="514350" y="1495425"/>
            <a:ext cx="3476625" cy="342900"/>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HomeFragment</a:t>
            </a:r>
          </a:p>
        </p:txBody>
      </p:sp>
      <p:sp>
        <p:nvSpPr>
          <p:cNvPr id="6" name="Rectangle 5">
            <a:extLst>
              <a:ext uri="{FF2B5EF4-FFF2-40B4-BE49-F238E27FC236}">
                <a16:creationId xmlns:a16="http://schemas.microsoft.com/office/drawing/2014/main" id="{19E677F2-318A-4B23-90A3-76E01F7DD8FE}"/>
              </a:ext>
            </a:extLst>
          </p:cNvPr>
          <p:cNvSpPr>
            <a:spLocks noGrp="1"/>
          </p:cNvSpPr>
          <p:nvPr/>
        </p:nvSpPr>
        <p:spPr>
          <a:xfrm>
            <a:off x="514350" y="1895475"/>
            <a:ext cx="3476625" cy="714375"/>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Chỉ số mới nhất, cữ kế tiếp</a:t>
            </a:r>
          </a:p>
          <a:p>
            <a:pPr>
              <a:buNone/>
              <a:defRPr sz="1650" b="0">
                <a:solidFill>
                  <a:srgbClr val="526B66"/>
                </a:solidFill>
                <a:latin typeface="Arial"/>
                <a:ea typeface="Arial"/>
                <a:cs typeface="Arial"/>
              </a:defRPr>
            </a:pPr>
            <a:r>
              <a:rPr sz="1650" b="0">
                <a:solidFill>
                  <a:srgbClr val="526B66"/>
                </a:solidFill>
                <a:latin typeface="Arial"/>
                <a:ea typeface="Arial"/>
                <a:cs typeface="Arial"/>
              </a:rPr>
              <a:t>và tiến độ nước.</a:t>
            </a:r>
          </a:p>
        </p:txBody>
      </p:sp>
      <p:sp>
        <p:nvSpPr>
          <p:cNvPr id="7" name="Rectangle 6">
            <a:extLst>
              <a:ext uri="{FF2B5EF4-FFF2-40B4-BE49-F238E27FC236}">
                <a16:creationId xmlns:a16="http://schemas.microsoft.com/office/drawing/2014/main" id="{A45EFD7B-7BC7-4F6A-A5E1-CDEE0CA27E05}"/>
              </a:ext>
            </a:extLst>
          </p:cNvPr>
          <p:cNvSpPr>
            <a:spLocks noGrp="1"/>
          </p:cNvSpPr>
          <p:nvPr/>
        </p:nvSpPr>
        <p:spPr>
          <a:xfrm>
            <a:off x="514350" y="2676525"/>
            <a:ext cx="3476625" cy="342900"/>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ProfileActivity</a:t>
            </a:r>
          </a:p>
        </p:txBody>
      </p:sp>
      <p:sp>
        <p:nvSpPr>
          <p:cNvPr id="8" name="Rectangle 7">
            <a:extLst>
              <a:ext uri="{FF2B5EF4-FFF2-40B4-BE49-F238E27FC236}">
                <a16:creationId xmlns:a16="http://schemas.microsoft.com/office/drawing/2014/main" id="{A5A3D8BB-7EF3-4B48-8B06-0C27D0A6909A}"/>
              </a:ext>
            </a:extLst>
          </p:cNvPr>
          <p:cNvSpPr>
            <a:spLocks noGrp="1"/>
          </p:cNvSpPr>
          <p:nvPr/>
        </p:nvSpPr>
        <p:spPr>
          <a:xfrm>
            <a:off x="514350" y="3076575"/>
            <a:ext cx="3476625" cy="714375"/>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Xem hồ sơ, mở BMI</a:t>
            </a:r>
          </a:p>
          <a:p>
            <a:pPr>
              <a:buNone/>
              <a:defRPr sz="1650" b="0">
                <a:solidFill>
                  <a:srgbClr val="526B66"/>
                </a:solidFill>
                <a:latin typeface="Arial"/>
                <a:ea typeface="Arial"/>
                <a:cs typeface="Arial"/>
              </a:defRPr>
            </a:pPr>
            <a:r>
              <a:rPr sz="1650" b="0">
                <a:solidFill>
                  <a:srgbClr val="526B66"/>
                </a:solidFill>
                <a:latin typeface="Arial"/>
                <a:ea typeface="Arial"/>
                <a:cs typeface="Arial"/>
              </a:rPr>
              <a:t>và thiết lập nước.</a:t>
            </a:r>
          </a:p>
        </p:txBody>
      </p:sp>
      <p:sp>
        <p:nvSpPr>
          <p:cNvPr id="9" name="Rectangle 8">
            <a:extLst>
              <a:ext uri="{FF2B5EF4-FFF2-40B4-BE49-F238E27FC236}">
                <a16:creationId xmlns:a16="http://schemas.microsoft.com/office/drawing/2014/main" id="{77F661E7-CAD6-4F8B-AA27-555E2AB1F8A1}"/>
              </a:ext>
            </a:extLst>
          </p:cNvPr>
          <p:cNvSpPr>
            <a:spLocks noGrp="1"/>
          </p:cNvSpPr>
          <p:nvPr/>
        </p:nvSpPr>
        <p:spPr>
          <a:xfrm>
            <a:off x="514350" y="3857625"/>
            <a:ext cx="3476625" cy="342900"/>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EditProfileActivity</a:t>
            </a:r>
          </a:p>
        </p:txBody>
      </p:sp>
      <p:sp>
        <p:nvSpPr>
          <p:cNvPr id="10" name="Rectangle 9">
            <a:extLst>
              <a:ext uri="{FF2B5EF4-FFF2-40B4-BE49-F238E27FC236}">
                <a16:creationId xmlns:a16="http://schemas.microsoft.com/office/drawing/2014/main" id="{0020720F-E35F-4277-954B-0E209E3984A1}"/>
              </a:ext>
            </a:extLst>
          </p:cNvPr>
          <p:cNvSpPr>
            <a:spLocks noGrp="1"/>
          </p:cNvSpPr>
          <p:nvPr/>
        </p:nvSpPr>
        <p:spPr>
          <a:xfrm>
            <a:off x="514350" y="4257675"/>
            <a:ext cx="3476625" cy="714375"/>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Sửa hồ sơ, cảnh báo</a:t>
            </a:r>
          </a:p>
          <a:p>
            <a:pPr>
              <a:buNone/>
              <a:defRPr sz="1650" b="0">
                <a:solidFill>
                  <a:srgbClr val="526B66"/>
                </a:solidFill>
                <a:latin typeface="Arial"/>
                <a:ea typeface="Arial"/>
                <a:cs typeface="Arial"/>
              </a:defRPr>
            </a:pPr>
            <a:r>
              <a:rPr sz="1650" b="0">
                <a:solidFill>
                  <a:srgbClr val="526B66"/>
                </a:solidFill>
                <a:latin typeface="Arial"/>
                <a:ea typeface="Arial"/>
                <a:cs typeface="Arial"/>
              </a:rPr>
              <a:t>khi rời biểu mẫu chưa lưu.</a:t>
            </a:r>
          </a:p>
        </p:txBody>
      </p:sp>
      <p:sp>
        <p:nvSpPr>
          <p:cNvPr id="11" name="Rectangle 10">
            <a:extLst>
              <a:ext uri="{FF2B5EF4-FFF2-40B4-BE49-F238E27FC236}">
                <a16:creationId xmlns:a16="http://schemas.microsoft.com/office/drawing/2014/main" id="{15AD8637-65F8-4B2E-B39A-524248F7BF73}"/>
              </a:ext>
            </a:extLst>
          </p:cNvPr>
          <p:cNvSpPr>
            <a:spLocks noGrp="1"/>
          </p:cNvSpPr>
          <p:nvPr/>
        </p:nvSpPr>
        <p:spPr>
          <a:xfrm>
            <a:off x="514350" y="5038725"/>
            <a:ext cx="3476625" cy="342900"/>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BmiActivity</a:t>
            </a:r>
          </a:p>
        </p:txBody>
      </p:sp>
      <p:sp>
        <p:nvSpPr>
          <p:cNvPr id="12" name="Rectangle 11">
            <a:extLst>
              <a:ext uri="{FF2B5EF4-FFF2-40B4-BE49-F238E27FC236}">
                <a16:creationId xmlns:a16="http://schemas.microsoft.com/office/drawing/2014/main" id="{16CE2458-9596-439F-8363-9D59DC0EDCAA}"/>
              </a:ext>
            </a:extLst>
          </p:cNvPr>
          <p:cNvSpPr>
            <a:spLocks noGrp="1"/>
          </p:cNvSpPr>
          <p:nvPr/>
        </p:nvSpPr>
        <p:spPr>
          <a:xfrm>
            <a:off x="514350" y="5438775"/>
            <a:ext cx="3476625" cy="714375"/>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Mở từ Trang chủ hoặc Hồ sơ.</a:t>
            </a:r>
          </a:p>
          <a:p>
            <a:pPr>
              <a:buNone/>
              <a:defRPr sz="1650" b="0">
                <a:solidFill>
                  <a:srgbClr val="526B66"/>
                </a:solidFill>
                <a:latin typeface="Arial"/>
                <a:ea typeface="Arial"/>
                <a:cs typeface="Arial"/>
              </a:defRPr>
            </a:pPr>
            <a:r>
              <a:rPr sz="1650" b="0">
                <a:solidFill>
                  <a:srgbClr val="526B66"/>
                </a:solidFill>
                <a:latin typeface="Arial"/>
                <a:ea typeface="Arial"/>
                <a:cs typeface="Arial"/>
              </a:rPr>
              <a:t>Tính BMI, chọn bộ ngưỡng.</a:t>
            </a:r>
          </a:p>
        </p:txBody>
      </p:sp>
      <p:pic>
        <p:nvPicPr>
          <p:cNvPr id="13" name="Picture 12">
            <a:extLst>
              <a:ext uri="{FF2B5EF4-FFF2-40B4-BE49-F238E27FC236}">
                <a16:creationId xmlns:a16="http://schemas.microsoft.com/office/drawing/2014/main" id="{8006F9C7-34AB-4EBB-8F5B-F2F6A9D964B2}"/>
              </a:ext>
            </a:extLst>
          </p:cNvPr>
          <p:cNvPicPr>
            <a:picLocks noChangeAspect="1"/>
          </p:cNvPicPr>
          <p:nvPr/>
        </p:nvPicPr>
        <p:blipFill>
          <a:blip r:embed="rId3"/>
          <a:stretch/>
        </p:blipFill>
        <p:spPr>
          <a:xfrm>
            <a:off x="4452144" y="1409700"/>
            <a:ext cx="2100263" cy="4667250"/>
          </a:xfrm>
          <a:prstGeom prst="rect">
            <a:avLst/>
          </a:prstGeom>
        </p:spPr>
      </p:pic>
      <p:sp>
        <p:nvSpPr>
          <p:cNvPr id="14" name="Rectangle 13">
            <a:extLst>
              <a:ext uri="{FF2B5EF4-FFF2-40B4-BE49-F238E27FC236}">
                <a16:creationId xmlns:a16="http://schemas.microsoft.com/office/drawing/2014/main" id="{E4B1419A-3261-49C7-87D4-3A49B0F026ED}"/>
              </a:ext>
            </a:extLst>
          </p:cNvPr>
          <p:cNvSpPr>
            <a:spLocks noGrp="1"/>
          </p:cNvSpPr>
          <p:nvPr/>
        </p:nvSpPr>
        <p:spPr>
          <a:xfrm>
            <a:off x="4305300" y="6143625"/>
            <a:ext cx="2393950" cy="304800"/>
          </a:xfrm>
          <a:prstGeom prst="rect">
            <a:avLst/>
          </a:prstGeom>
          <a:noFill/>
          <a:ln w="0">
            <a:noFill/>
          </a:ln>
        </p:spPr>
        <p:txBody>
          <a:bodyPr wrap="square">
            <a:noAutofit/>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15" name="Picture 14">
            <a:extLst>
              <a:ext uri="{FF2B5EF4-FFF2-40B4-BE49-F238E27FC236}">
                <a16:creationId xmlns:a16="http://schemas.microsoft.com/office/drawing/2014/main" id="{EEA60E23-4A81-4CA7-A039-C92241B0348E}"/>
              </a:ext>
            </a:extLst>
          </p:cNvPr>
          <p:cNvPicPr>
            <a:picLocks noChangeAspect="1"/>
          </p:cNvPicPr>
          <p:nvPr/>
        </p:nvPicPr>
        <p:blipFill>
          <a:blip r:embed="rId4"/>
          <a:stretch/>
        </p:blipFill>
        <p:spPr>
          <a:xfrm>
            <a:off x="6865144" y="1409700"/>
            <a:ext cx="2100263" cy="4667250"/>
          </a:xfrm>
          <a:prstGeom prst="rect">
            <a:avLst/>
          </a:prstGeom>
        </p:spPr>
      </p:pic>
      <p:sp>
        <p:nvSpPr>
          <p:cNvPr id="16" name="Rectangle 15">
            <a:extLst>
              <a:ext uri="{FF2B5EF4-FFF2-40B4-BE49-F238E27FC236}">
                <a16:creationId xmlns:a16="http://schemas.microsoft.com/office/drawing/2014/main" id="{8AF52B0A-667B-4EFD-B73F-0990D91FD770}"/>
              </a:ext>
            </a:extLst>
          </p:cNvPr>
          <p:cNvSpPr>
            <a:spLocks noGrp="1"/>
          </p:cNvSpPr>
          <p:nvPr/>
        </p:nvSpPr>
        <p:spPr>
          <a:xfrm>
            <a:off x="6718300" y="6143625"/>
            <a:ext cx="2393950" cy="304800"/>
          </a:xfrm>
          <a:prstGeom prst="rect">
            <a:avLst/>
          </a:prstGeom>
          <a:noFill/>
          <a:ln w="0">
            <a:noFill/>
          </a:ln>
        </p:spPr>
        <p:txBody>
          <a:bodyPr wrap="square">
            <a:noAutofit/>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Hồ sơ</a:t>
            </a:r>
          </a:p>
        </p:txBody>
      </p:sp>
      <p:pic>
        <p:nvPicPr>
          <p:cNvPr id="17" name="Picture 16">
            <a:extLst>
              <a:ext uri="{FF2B5EF4-FFF2-40B4-BE49-F238E27FC236}">
                <a16:creationId xmlns:a16="http://schemas.microsoft.com/office/drawing/2014/main" id="{F3452FCC-DCFE-4D10-AFB0-C6A3C378719F}"/>
              </a:ext>
            </a:extLst>
          </p:cNvPr>
          <p:cNvPicPr>
            <a:picLocks noChangeAspect="1"/>
          </p:cNvPicPr>
          <p:nvPr/>
        </p:nvPicPr>
        <p:blipFill>
          <a:blip r:embed="rId5"/>
          <a:stretch/>
        </p:blipFill>
        <p:spPr>
          <a:xfrm>
            <a:off x="9278144" y="1409700"/>
            <a:ext cx="2100263" cy="4667250"/>
          </a:xfrm>
          <a:prstGeom prst="rect">
            <a:avLst/>
          </a:prstGeom>
        </p:spPr>
      </p:pic>
      <p:sp>
        <p:nvSpPr>
          <p:cNvPr id="18" name="Rectangle 17">
            <a:extLst>
              <a:ext uri="{FF2B5EF4-FFF2-40B4-BE49-F238E27FC236}">
                <a16:creationId xmlns:a16="http://schemas.microsoft.com/office/drawing/2014/main" id="{34461A3C-AFA9-442D-B4C8-978FE4AC97D5}"/>
              </a:ext>
            </a:extLst>
          </p:cNvPr>
          <p:cNvSpPr>
            <a:spLocks noGrp="1"/>
          </p:cNvSpPr>
          <p:nvPr/>
        </p:nvSpPr>
        <p:spPr>
          <a:xfrm>
            <a:off x="9131300" y="6143625"/>
            <a:ext cx="2393950" cy="304800"/>
          </a:xfrm>
          <a:prstGeom prst="rect">
            <a:avLst/>
          </a:prstGeom>
          <a:noFill/>
          <a:ln w="0">
            <a:noFill/>
          </a:ln>
        </p:spPr>
        <p:txBody>
          <a:bodyPr wrap="square">
            <a:noAutofit/>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Chỉnh sửa hồ sơ</a:t>
            </a:r>
          </a:p>
        </p:txBody>
      </p:sp>
    </p:spTree>
    <p:extLst>
      <p:ext uri="{BB962C8B-B14F-4D97-AF65-F5344CB8AC3E}">
        <p14:creationId xmlns:p14="http://schemas.microsoft.com/office/powerpoint/2010/main" val="1120671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95E8C14-6DC6-4B68-9237-A16B04BBCA19}"/>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LUỒNG MÀN HÌNH SỨC KHỎE</a:t>
            </a:r>
          </a:p>
        </p:txBody>
      </p:sp>
      <p:sp>
        <p:nvSpPr>
          <p:cNvPr id="2" name="Rectangle 1">
            <a:extLst>
              <a:ext uri="{FF2B5EF4-FFF2-40B4-BE49-F238E27FC236}">
                <a16:creationId xmlns:a16="http://schemas.microsoft.com/office/drawing/2014/main" id="{EA05981B-BE17-4DB1-9C2F-969B4C229558}"/>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Danh sách, nhập liệu và chi tiết lần đo</a:t>
            </a:r>
          </a:p>
        </p:txBody>
      </p:sp>
      <p:sp>
        <p:nvSpPr>
          <p:cNvPr id="3" name="Rectangle 2">
            <a:extLst>
              <a:ext uri="{FF2B5EF4-FFF2-40B4-BE49-F238E27FC236}">
                <a16:creationId xmlns:a16="http://schemas.microsoft.com/office/drawing/2014/main" id="{46C921A8-4F9A-40C6-959F-93921EBAE6EC}"/>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AF42BE20-1B78-4F05-8190-5675CD0B993A}"/>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08</a:t>
            </a:r>
          </a:p>
        </p:txBody>
      </p:sp>
      <p:sp>
        <p:nvSpPr>
          <p:cNvPr id="5" name="Rectangle 4">
            <a:extLst>
              <a:ext uri="{FF2B5EF4-FFF2-40B4-BE49-F238E27FC236}">
                <a16:creationId xmlns:a16="http://schemas.microsoft.com/office/drawing/2014/main" id="{4B6F2DF0-FA26-498A-9B58-83ADDE60F204}"/>
              </a:ext>
            </a:extLst>
          </p:cNvPr>
          <p:cNvSpPr>
            <a:spLocks noGrp="1"/>
          </p:cNvSpPr>
          <p:nvPr/>
        </p:nvSpPr>
        <p:spPr>
          <a:xfrm>
            <a:off x="514350" y="161925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HealthFragment</a:t>
            </a:r>
          </a:p>
        </p:txBody>
      </p:sp>
      <p:sp>
        <p:nvSpPr>
          <p:cNvPr id="6" name="Rectangle 5">
            <a:extLst>
              <a:ext uri="{FF2B5EF4-FFF2-40B4-BE49-F238E27FC236}">
                <a16:creationId xmlns:a16="http://schemas.microsoft.com/office/drawing/2014/main" id="{BF1C6495-C844-426C-8CDD-2478E99A4D50}"/>
              </a:ext>
            </a:extLst>
          </p:cNvPr>
          <p:cNvSpPr>
            <a:spLocks noGrp="1"/>
          </p:cNvSpPr>
          <p:nvPr/>
        </p:nvSpPr>
        <p:spPr>
          <a:xfrm>
            <a:off x="514350" y="204787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Lọc lần đo theo khoảng ngày, chọn bản ghi để xem chi tiết.</a:t>
            </a:r>
          </a:p>
        </p:txBody>
      </p:sp>
      <p:sp>
        <p:nvSpPr>
          <p:cNvPr id="7" name="Rectangle 6">
            <a:extLst>
              <a:ext uri="{FF2B5EF4-FFF2-40B4-BE49-F238E27FC236}">
                <a16:creationId xmlns:a16="http://schemas.microsoft.com/office/drawing/2014/main" id="{FCC75994-D75F-42C1-8E14-AB5BB90C60E9}"/>
              </a:ext>
            </a:extLst>
          </p:cNvPr>
          <p:cNvSpPr>
            <a:spLocks noGrp="1"/>
          </p:cNvSpPr>
          <p:nvPr/>
        </p:nvSpPr>
        <p:spPr>
          <a:xfrm>
            <a:off x="514350" y="3095625"/>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AddHealthActivity</a:t>
            </a:r>
          </a:p>
        </p:txBody>
      </p:sp>
      <p:sp>
        <p:nvSpPr>
          <p:cNvPr id="8" name="Rectangle 7">
            <a:extLst>
              <a:ext uri="{FF2B5EF4-FFF2-40B4-BE49-F238E27FC236}">
                <a16:creationId xmlns:a16="http://schemas.microsoft.com/office/drawing/2014/main" id="{6671ADB1-2D60-49B0-BFB7-F19A372ED89D}"/>
              </a:ext>
            </a:extLst>
          </p:cNvPr>
          <p:cNvSpPr>
            <a:spLocks noGrp="1"/>
          </p:cNvSpPr>
          <p:nvPr/>
        </p:nvSpPr>
        <p:spPr>
          <a:xfrm>
            <a:off x="514350" y="3524250"/>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Dùng chung cho thêm mới và chỉnh sửa bản ghi sức khỏe.</a:t>
            </a:r>
          </a:p>
        </p:txBody>
      </p:sp>
      <p:sp>
        <p:nvSpPr>
          <p:cNvPr id="9" name="Rectangle 8">
            <a:extLst>
              <a:ext uri="{FF2B5EF4-FFF2-40B4-BE49-F238E27FC236}">
                <a16:creationId xmlns:a16="http://schemas.microsoft.com/office/drawing/2014/main" id="{12A1B64C-E8D4-4460-B0D8-BCBA3E2FA760}"/>
              </a:ext>
            </a:extLst>
          </p:cNvPr>
          <p:cNvSpPr>
            <a:spLocks noGrp="1"/>
          </p:cNvSpPr>
          <p:nvPr/>
        </p:nvSpPr>
        <p:spPr>
          <a:xfrm>
            <a:off x="514350" y="457200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DetailHealthActivity</a:t>
            </a:r>
          </a:p>
        </p:txBody>
      </p:sp>
      <p:sp>
        <p:nvSpPr>
          <p:cNvPr id="10" name="Rectangle 9">
            <a:extLst>
              <a:ext uri="{FF2B5EF4-FFF2-40B4-BE49-F238E27FC236}">
                <a16:creationId xmlns:a16="http://schemas.microsoft.com/office/drawing/2014/main" id="{C4FA7ABC-4792-4D51-BA8C-85B7A9CF891D}"/>
              </a:ext>
            </a:extLst>
          </p:cNvPr>
          <p:cNvSpPr>
            <a:spLocks noGrp="1"/>
          </p:cNvSpPr>
          <p:nvPr/>
        </p:nvSpPr>
        <p:spPr>
          <a:xfrm>
            <a:off x="514350" y="500062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Xem ngày giờ, giá trị, đơn vị và đối chiếu với lần đo trước phù hợp.</a:t>
            </a:r>
          </a:p>
        </p:txBody>
      </p:sp>
      <p:pic>
        <p:nvPicPr>
          <p:cNvPr id="11" name="Picture 10">
            <a:extLst>
              <a:ext uri="{FF2B5EF4-FFF2-40B4-BE49-F238E27FC236}">
                <a16:creationId xmlns:a16="http://schemas.microsoft.com/office/drawing/2014/main" id="{7AE6C875-4FCC-4B5F-BCD3-BFD08AF8B607}"/>
              </a:ext>
            </a:extLst>
          </p:cNvPr>
          <p:cNvPicPr>
            <a:picLocks noChangeAspect="1"/>
          </p:cNvPicPr>
          <p:nvPr/>
        </p:nvPicPr>
        <p:blipFill>
          <a:blip r:embed="rId3"/>
          <a:stretch/>
        </p:blipFill>
        <p:spPr>
          <a:xfrm>
            <a:off x="4452144" y="1409700"/>
            <a:ext cx="2100263" cy="4667250"/>
          </a:xfrm>
          <a:prstGeom prst="rect">
            <a:avLst/>
          </a:prstGeom>
        </p:spPr>
      </p:pic>
      <p:sp>
        <p:nvSpPr>
          <p:cNvPr id="12" name="Rectangle 11">
            <a:extLst>
              <a:ext uri="{FF2B5EF4-FFF2-40B4-BE49-F238E27FC236}">
                <a16:creationId xmlns:a16="http://schemas.microsoft.com/office/drawing/2014/main" id="{2025D0A0-AAA1-4EEE-97B8-E58E9ABDA0D6}"/>
              </a:ext>
            </a:extLst>
          </p:cNvPr>
          <p:cNvSpPr>
            <a:spLocks noGrp="1"/>
          </p:cNvSpPr>
          <p:nvPr/>
        </p:nvSpPr>
        <p:spPr>
          <a:xfrm>
            <a:off x="4305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Danh sách lần đo</a:t>
            </a:r>
          </a:p>
        </p:txBody>
      </p:sp>
      <p:pic>
        <p:nvPicPr>
          <p:cNvPr id="13" name="Picture 12">
            <a:extLst>
              <a:ext uri="{FF2B5EF4-FFF2-40B4-BE49-F238E27FC236}">
                <a16:creationId xmlns:a16="http://schemas.microsoft.com/office/drawing/2014/main" id="{93E82F2F-242F-4851-825B-6DE4154D8A90}"/>
              </a:ext>
            </a:extLst>
          </p:cNvPr>
          <p:cNvPicPr>
            <a:picLocks noChangeAspect="1"/>
          </p:cNvPicPr>
          <p:nvPr/>
        </p:nvPicPr>
        <p:blipFill>
          <a:blip r:embed="rId4"/>
          <a:stretch/>
        </p:blipFill>
        <p:spPr>
          <a:xfrm>
            <a:off x="6865144" y="1409700"/>
            <a:ext cx="2100263" cy="4667250"/>
          </a:xfrm>
          <a:prstGeom prst="rect">
            <a:avLst/>
          </a:prstGeom>
        </p:spPr>
      </p:pic>
      <p:sp>
        <p:nvSpPr>
          <p:cNvPr id="14" name="Rectangle 13">
            <a:extLst>
              <a:ext uri="{FF2B5EF4-FFF2-40B4-BE49-F238E27FC236}">
                <a16:creationId xmlns:a16="http://schemas.microsoft.com/office/drawing/2014/main" id="{7CCD9225-D26D-4CB0-A75C-58431307267F}"/>
              </a:ext>
            </a:extLst>
          </p:cNvPr>
          <p:cNvSpPr>
            <a:spLocks noGrp="1"/>
          </p:cNvSpPr>
          <p:nvPr/>
        </p:nvSpPr>
        <p:spPr>
          <a:xfrm>
            <a:off x="6718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Ghi chỉ số</a:t>
            </a:r>
          </a:p>
        </p:txBody>
      </p:sp>
      <p:pic>
        <p:nvPicPr>
          <p:cNvPr id="15" name="Picture 14">
            <a:extLst>
              <a:ext uri="{FF2B5EF4-FFF2-40B4-BE49-F238E27FC236}">
                <a16:creationId xmlns:a16="http://schemas.microsoft.com/office/drawing/2014/main" id="{C15B55F8-C3A8-4F44-A9B2-A5177226FE79}"/>
              </a:ext>
            </a:extLst>
          </p:cNvPr>
          <p:cNvPicPr>
            <a:picLocks noChangeAspect="1"/>
          </p:cNvPicPr>
          <p:nvPr/>
        </p:nvPicPr>
        <p:blipFill>
          <a:blip r:embed="rId5"/>
          <a:stretch/>
        </p:blipFill>
        <p:spPr>
          <a:xfrm>
            <a:off x="9278144" y="1409700"/>
            <a:ext cx="2100263" cy="4667250"/>
          </a:xfrm>
          <a:prstGeom prst="rect">
            <a:avLst/>
          </a:prstGeom>
        </p:spPr>
      </p:pic>
      <p:sp>
        <p:nvSpPr>
          <p:cNvPr id="16" name="Rectangle 15">
            <a:extLst>
              <a:ext uri="{FF2B5EF4-FFF2-40B4-BE49-F238E27FC236}">
                <a16:creationId xmlns:a16="http://schemas.microsoft.com/office/drawing/2014/main" id="{8D9A4F81-9D2F-48A8-B9E7-0B212817D5B8}"/>
              </a:ext>
            </a:extLst>
          </p:cNvPr>
          <p:cNvSpPr>
            <a:spLocks noGrp="1"/>
          </p:cNvSpPr>
          <p:nvPr/>
        </p:nvSpPr>
        <p:spPr>
          <a:xfrm>
            <a:off x="9131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Chi tiết lần đo</a:t>
            </a:r>
          </a:p>
        </p:txBody>
      </p:sp>
    </p:spTree>
    <p:extLst>
      <p:ext uri="{BB962C8B-B14F-4D97-AF65-F5344CB8AC3E}">
        <p14:creationId xmlns:p14="http://schemas.microsoft.com/office/powerpoint/2010/main" val="1502940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2CBA9BC-5145-448F-8973-0B68F0C11947}"/>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NHẮC NHỞ VÀ THUỐC</a:t>
            </a:r>
          </a:p>
        </p:txBody>
      </p:sp>
      <p:sp>
        <p:nvSpPr>
          <p:cNvPr id="2" name="Rectangle 1">
            <a:extLst>
              <a:ext uri="{FF2B5EF4-FFF2-40B4-BE49-F238E27FC236}">
                <a16:creationId xmlns:a16="http://schemas.microsoft.com/office/drawing/2014/main" id="{E27CC688-5064-44D8-A45D-229CFDFACCAE}"/>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Các màn hình quản lý lịch thuốc</a:t>
            </a:r>
          </a:p>
        </p:txBody>
      </p:sp>
      <p:sp>
        <p:nvSpPr>
          <p:cNvPr id="3" name="Rectangle 2">
            <a:extLst>
              <a:ext uri="{FF2B5EF4-FFF2-40B4-BE49-F238E27FC236}">
                <a16:creationId xmlns:a16="http://schemas.microsoft.com/office/drawing/2014/main" id="{15F1E02F-4F28-4DF3-A076-C8861043A817}"/>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92AFC330-681F-4D8A-8AAE-B14AD92ED6C5}"/>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09</a:t>
            </a:r>
          </a:p>
        </p:txBody>
      </p:sp>
      <p:sp>
        <p:nvSpPr>
          <p:cNvPr id="5" name="Rectangle 4">
            <a:extLst>
              <a:ext uri="{FF2B5EF4-FFF2-40B4-BE49-F238E27FC236}">
                <a16:creationId xmlns:a16="http://schemas.microsoft.com/office/drawing/2014/main" id="{B4E4975F-DD5D-431A-B6E4-638A413AE2FD}"/>
              </a:ext>
            </a:extLst>
          </p:cNvPr>
          <p:cNvSpPr>
            <a:spLocks noGrp="1"/>
          </p:cNvSpPr>
          <p:nvPr/>
        </p:nvSpPr>
        <p:spPr>
          <a:xfrm>
            <a:off x="514350" y="161925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ReminderFragment</a:t>
            </a:r>
          </a:p>
        </p:txBody>
      </p:sp>
      <p:sp>
        <p:nvSpPr>
          <p:cNvPr id="6" name="Rectangle 5">
            <a:extLst>
              <a:ext uri="{FF2B5EF4-FFF2-40B4-BE49-F238E27FC236}">
                <a16:creationId xmlns:a16="http://schemas.microsoft.com/office/drawing/2014/main" id="{FEE27065-4D9F-4F23-A079-B0F03F6619FC}"/>
              </a:ext>
            </a:extLst>
          </p:cNvPr>
          <p:cNvSpPr>
            <a:spLocks noGrp="1"/>
          </p:cNvSpPr>
          <p:nvPr/>
        </p:nvSpPr>
        <p:spPr>
          <a:xfrm>
            <a:off x="514350" y="204787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Chuyển giữa cữ hôm nay và danh sách thuốc.</a:t>
            </a:r>
          </a:p>
        </p:txBody>
      </p:sp>
      <p:sp>
        <p:nvSpPr>
          <p:cNvPr id="7" name="Rectangle 6">
            <a:extLst>
              <a:ext uri="{FF2B5EF4-FFF2-40B4-BE49-F238E27FC236}">
                <a16:creationId xmlns:a16="http://schemas.microsoft.com/office/drawing/2014/main" id="{126B4C5C-47E5-4502-A8D1-72D602A95AFF}"/>
              </a:ext>
            </a:extLst>
          </p:cNvPr>
          <p:cNvSpPr>
            <a:spLocks noGrp="1"/>
          </p:cNvSpPr>
          <p:nvPr/>
        </p:nvSpPr>
        <p:spPr>
          <a:xfrm>
            <a:off x="514350" y="3095625"/>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AddMedicineActivity</a:t>
            </a:r>
          </a:p>
        </p:txBody>
      </p:sp>
      <p:sp>
        <p:nvSpPr>
          <p:cNvPr id="8" name="Rectangle 7">
            <a:extLst>
              <a:ext uri="{FF2B5EF4-FFF2-40B4-BE49-F238E27FC236}">
                <a16:creationId xmlns:a16="http://schemas.microsoft.com/office/drawing/2014/main" id="{9718CCFC-427C-42A2-BFFC-C08BA189302A}"/>
              </a:ext>
            </a:extLst>
          </p:cNvPr>
          <p:cNvSpPr>
            <a:spLocks noGrp="1"/>
          </p:cNvSpPr>
          <p:nvPr/>
        </p:nvSpPr>
        <p:spPr>
          <a:xfrm>
            <a:off x="514350" y="3524250"/>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Thêm hoặc sửa thuốc, giờ uống và ngày lặp trong tuần.</a:t>
            </a:r>
          </a:p>
        </p:txBody>
      </p:sp>
      <p:sp>
        <p:nvSpPr>
          <p:cNvPr id="9" name="Rectangle 8">
            <a:extLst>
              <a:ext uri="{FF2B5EF4-FFF2-40B4-BE49-F238E27FC236}">
                <a16:creationId xmlns:a16="http://schemas.microsoft.com/office/drawing/2014/main" id="{2A4E6CB2-7F3E-4BA6-8211-59364C536106}"/>
              </a:ext>
            </a:extLst>
          </p:cNvPr>
          <p:cNvSpPr>
            <a:spLocks noGrp="1"/>
          </p:cNvSpPr>
          <p:nvPr/>
        </p:nvSpPr>
        <p:spPr>
          <a:xfrm>
            <a:off x="514350" y="457200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MedicineDoseDialogs</a:t>
            </a:r>
          </a:p>
        </p:txBody>
      </p:sp>
      <p:sp>
        <p:nvSpPr>
          <p:cNvPr id="10" name="Rectangle 9">
            <a:extLst>
              <a:ext uri="{FF2B5EF4-FFF2-40B4-BE49-F238E27FC236}">
                <a16:creationId xmlns:a16="http://schemas.microsoft.com/office/drawing/2014/main" id="{5F3D30E6-83B4-41B6-89A2-10B4A1558342}"/>
              </a:ext>
            </a:extLst>
          </p:cNvPr>
          <p:cNvSpPr>
            <a:spLocks noGrp="1"/>
          </p:cNvSpPr>
          <p:nvPr/>
        </p:nvSpPr>
        <p:spPr>
          <a:xfrm>
            <a:off x="514350" y="500062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Mở xác nhận cữ, điều chỉnh kết quả, lịch sử và xác nhận xóa thuốc.</a:t>
            </a:r>
          </a:p>
        </p:txBody>
      </p:sp>
      <p:pic>
        <p:nvPicPr>
          <p:cNvPr id="11" name="Picture 10">
            <a:extLst>
              <a:ext uri="{FF2B5EF4-FFF2-40B4-BE49-F238E27FC236}">
                <a16:creationId xmlns:a16="http://schemas.microsoft.com/office/drawing/2014/main" id="{C95EEE89-962A-430C-9F4B-3C6B03853D4B}"/>
              </a:ext>
            </a:extLst>
          </p:cNvPr>
          <p:cNvPicPr>
            <a:picLocks noChangeAspect="1"/>
          </p:cNvPicPr>
          <p:nvPr/>
        </p:nvPicPr>
        <p:blipFill>
          <a:blip r:embed="rId3"/>
          <a:stretch/>
        </p:blipFill>
        <p:spPr>
          <a:xfrm>
            <a:off x="4452144" y="1409700"/>
            <a:ext cx="2100263" cy="4667250"/>
          </a:xfrm>
          <a:prstGeom prst="rect">
            <a:avLst/>
          </a:prstGeom>
        </p:spPr>
      </p:pic>
      <p:sp>
        <p:nvSpPr>
          <p:cNvPr id="12" name="Rectangle 11">
            <a:extLst>
              <a:ext uri="{FF2B5EF4-FFF2-40B4-BE49-F238E27FC236}">
                <a16:creationId xmlns:a16="http://schemas.microsoft.com/office/drawing/2014/main" id="{04F59B4E-9317-47F7-827E-341908A9D74F}"/>
              </a:ext>
            </a:extLst>
          </p:cNvPr>
          <p:cNvSpPr>
            <a:spLocks noGrp="1"/>
          </p:cNvSpPr>
          <p:nvPr/>
        </p:nvSpPr>
        <p:spPr>
          <a:xfrm>
            <a:off x="4305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Danh sách thuốc</a:t>
            </a:r>
          </a:p>
        </p:txBody>
      </p:sp>
      <p:pic>
        <p:nvPicPr>
          <p:cNvPr id="13" name="Picture 12">
            <a:extLst>
              <a:ext uri="{FF2B5EF4-FFF2-40B4-BE49-F238E27FC236}">
                <a16:creationId xmlns:a16="http://schemas.microsoft.com/office/drawing/2014/main" id="{FDF88A60-6479-4331-BCC1-47D8C30D33CA}"/>
              </a:ext>
            </a:extLst>
          </p:cNvPr>
          <p:cNvPicPr>
            <a:picLocks noChangeAspect="1"/>
          </p:cNvPicPr>
          <p:nvPr/>
        </p:nvPicPr>
        <p:blipFill>
          <a:blip r:embed="rId4"/>
          <a:stretch/>
        </p:blipFill>
        <p:spPr>
          <a:xfrm>
            <a:off x="6865144" y="1409700"/>
            <a:ext cx="2100263" cy="4667250"/>
          </a:xfrm>
          <a:prstGeom prst="rect">
            <a:avLst/>
          </a:prstGeom>
        </p:spPr>
      </p:pic>
      <p:sp>
        <p:nvSpPr>
          <p:cNvPr id="14" name="Rectangle 13">
            <a:extLst>
              <a:ext uri="{FF2B5EF4-FFF2-40B4-BE49-F238E27FC236}">
                <a16:creationId xmlns:a16="http://schemas.microsoft.com/office/drawing/2014/main" id="{7F7B400D-43E4-4499-B42F-2F1200FB066E}"/>
              </a:ext>
            </a:extLst>
          </p:cNvPr>
          <p:cNvSpPr>
            <a:spLocks noGrp="1"/>
          </p:cNvSpPr>
          <p:nvPr/>
        </p:nvSpPr>
        <p:spPr>
          <a:xfrm>
            <a:off x="6718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Thiết lập lịch</a:t>
            </a:r>
          </a:p>
        </p:txBody>
      </p:sp>
      <p:pic>
        <p:nvPicPr>
          <p:cNvPr id="15" name="Picture 14">
            <a:extLst>
              <a:ext uri="{FF2B5EF4-FFF2-40B4-BE49-F238E27FC236}">
                <a16:creationId xmlns:a16="http://schemas.microsoft.com/office/drawing/2014/main" id="{96F0FE9F-3FE0-4B35-AC23-1D7DCDD9493B}"/>
              </a:ext>
            </a:extLst>
          </p:cNvPr>
          <p:cNvPicPr>
            <a:picLocks noChangeAspect="1"/>
          </p:cNvPicPr>
          <p:nvPr/>
        </p:nvPicPr>
        <p:blipFill>
          <a:blip r:embed="rId5"/>
          <a:stretch/>
        </p:blipFill>
        <p:spPr>
          <a:xfrm>
            <a:off x="9278144" y="1409700"/>
            <a:ext cx="2100263" cy="4667250"/>
          </a:xfrm>
          <a:prstGeom prst="rect">
            <a:avLst/>
          </a:prstGeom>
        </p:spPr>
      </p:pic>
      <p:sp>
        <p:nvSpPr>
          <p:cNvPr id="16" name="Rectangle 15">
            <a:extLst>
              <a:ext uri="{FF2B5EF4-FFF2-40B4-BE49-F238E27FC236}">
                <a16:creationId xmlns:a16="http://schemas.microsoft.com/office/drawing/2014/main" id="{36CC924F-D375-4F9E-B514-51C48F2418BC}"/>
              </a:ext>
            </a:extLst>
          </p:cNvPr>
          <p:cNvSpPr>
            <a:spLocks noGrp="1"/>
          </p:cNvSpPr>
          <p:nvPr/>
        </p:nvSpPr>
        <p:spPr>
          <a:xfrm>
            <a:off x="9131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Xác nhận cữ thuốc</a:t>
            </a:r>
          </a:p>
        </p:txBody>
      </p:sp>
    </p:spTree>
    <p:extLst>
      <p:ext uri="{BB962C8B-B14F-4D97-AF65-F5344CB8AC3E}">
        <p14:creationId xmlns:p14="http://schemas.microsoft.com/office/powerpoint/2010/main" val="978467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9DFD8FC-62B5-4B2B-8C68-EEF6934DA835}"/>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GIAO DIỆN THEO DÕI NƯỚC</a:t>
            </a:r>
          </a:p>
        </p:txBody>
      </p:sp>
      <p:sp>
        <p:nvSpPr>
          <p:cNvPr id="2" name="Rectangle 1">
            <a:extLst>
              <a:ext uri="{FF2B5EF4-FFF2-40B4-BE49-F238E27FC236}">
                <a16:creationId xmlns:a16="http://schemas.microsoft.com/office/drawing/2014/main" id="{21FB1205-A242-4BA4-BB7D-5D4ED7665F9E}"/>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Nhật ký nước và các biểu mẫu bổ trợ</a:t>
            </a:r>
          </a:p>
        </p:txBody>
      </p:sp>
      <p:sp>
        <p:nvSpPr>
          <p:cNvPr id="3" name="Rectangle 2">
            <a:extLst>
              <a:ext uri="{FF2B5EF4-FFF2-40B4-BE49-F238E27FC236}">
                <a16:creationId xmlns:a16="http://schemas.microsoft.com/office/drawing/2014/main" id="{53E8F84A-0400-4978-A85F-97236EABD04B}"/>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3E603F45-3AF7-4DDF-ADB7-0913BE4ACBC8}"/>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10</a:t>
            </a:r>
          </a:p>
        </p:txBody>
      </p:sp>
      <p:sp>
        <p:nvSpPr>
          <p:cNvPr id="5" name="Rectangle 4">
            <a:extLst>
              <a:ext uri="{FF2B5EF4-FFF2-40B4-BE49-F238E27FC236}">
                <a16:creationId xmlns:a16="http://schemas.microsoft.com/office/drawing/2014/main" id="{2960CC1C-0004-4D74-9A52-600DBBD9F459}"/>
              </a:ext>
            </a:extLst>
          </p:cNvPr>
          <p:cNvSpPr>
            <a:spLocks noGrp="1"/>
          </p:cNvSpPr>
          <p:nvPr/>
        </p:nvSpPr>
        <p:spPr>
          <a:xfrm>
            <a:off x="514350" y="161925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Nhật ký từng lần uống</a:t>
            </a:r>
          </a:p>
        </p:txBody>
      </p:sp>
      <p:sp>
        <p:nvSpPr>
          <p:cNvPr id="6" name="Rectangle 5">
            <a:extLst>
              <a:ext uri="{FF2B5EF4-FFF2-40B4-BE49-F238E27FC236}">
                <a16:creationId xmlns:a16="http://schemas.microsoft.com/office/drawing/2014/main" id="{17A96DE1-0066-4DFF-8403-7AD3DE3708EE}"/>
              </a:ext>
            </a:extLst>
          </p:cNvPr>
          <p:cNvSpPr>
            <a:spLocks noGrp="1"/>
          </p:cNvSpPr>
          <p:nvPr/>
        </p:nvSpPr>
        <p:spPr>
          <a:xfrm>
            <a:off x="514350" y="204787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WaterJournalDialog là DialogFragment, không phải Activity riêng.</a:t>
            </a:r>
          </a:p>
        </p:txBody>
      </p:sp>
      <p:sp>
        <p:nvSpPr>
          <p:cNvPr id="7" name="Rectangle 6">
            <a:extLst>
              <a:ext uri="{FF2B5EF4-FFF2-40B4-BE49-F238E27FC236}">
                <a16:creationId xmlns:a16="http://schemas.microsoft.com/office/drawing/2014/main" id="{52BBCAD4-B6A6-4340-B76F-7281595C588F}"/>
              </a:ext>
            </a:extLst>
          </p:cNvPr>
          <p:cNvSpPr>
            <a:spLocks noGrp="1"/>
          </p:cNvSpPr>
          <p:nvPr/>
        </p:nvSpPr>
        <p:spPr>
          <a:xfrm>
            <a:off x="514350" y="3095625"/>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Các điểm truy cập</a:t>
            </a:r>
          </a:p>
        </p:txBody>
      </p:sp>
      <p:sp>
        <p:nvSpPr>
          <p:cNvPr id="8" name="Rectangle 7">
            <a:extLst>
              <a:ext uri="{FF2B5EF4-FFF2-40B4-BE49-F238E27FC236}">
                <a16:creationId xmlns:a16="http://schemas.microsoft.com/office/drawing/2014/main" id="{A184A2C0-31FE-43FF-8A6F-D0B2241F5527}"/>
              </a:ext>
            </a:extLst>
          </p:cNvPr>
          <p:cNvSpPr>
            <a:spLocks noGrp="1"/>
          </p:cNvSpPr>
          <p:nvPr/>
        </p:nvSpPr>
        <p:spPr>
          <a:xfrm>
            <a:off x="514350" y="3524250"/>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Mở từ Trang chủ, Nhắc nhở hoặc dữ liệu thống kê nước.</a:t>
            </a:r>
          </a:p>
        </p:txBody>
      </p:sp>
      <p:sp>
        <p:nvSpPr>
          <p:cNvPr id="9" name="Rectangle 8">
            <a:extLst>
              <a:ext uri="{FF2B5EF4-FFF2-40B4-BE49-F238E27FC236}">
                <a16:creationId xmlns:a16="http://schemas.microsoft.com/office/drawing/2014/main" id="{A4EE6EE8-DDEC-46AD-AEDE-F8EC732D94F6}"/>
              </a:ext>
            </a:extLst>
          </p:cNvPr>
          <p:cNvSpPr>
            <a:spLocks noGrp="1"/>
          </p:cNvSpPr>
          <p:nvPr/>
        </p:nvSpPr>
        <p:spPr>
          <a:xfrm>
            <a:off x="514350" y="457200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Các thao tác</a:t>
            </a:r>
          </a:p>
        </p:txBody>
      </p:sp>
      <p:sp>
        <p:nvSpPr>
          <p:cNvPr id="10" name="Rectangle 9">
            <a:extLst>
              <a:ext uri="{FF2B5EF4-FFF2-40B4-BE49-F238E27FC236}">
                <a16:creationId xmlns:a16="http://schemas.microsoft.com/office/drawing/2014/main" id="{AB2183A4-9E14-4B34-BAFF-AC94F0A1C774}"/>
              </a:ext>
            </a:extLst>
          </p:cNvPr>
          <p:cNvSpPr>
            <a:spLocks noGrp="1"/>
          </p:cNvSpPr>
          <p:nvPr/>
        </p:nvSpPr>
        <p:spPr>
          <a:xfrm>
            <a:off x="514350" y="500062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Thêm lượng nước, chỉnh sửa lần ghi nhận và thiết lập lịch nhắc trong hồ sơ.</a:t>
            </a:r>
          </a:p>
        </p:txBody>
      </p:sp>
      <p:pic>
        <p:nvPicPr>
          <p:cNvPr id="11" name="Picture 10">
            <a:extLst>
              <a:ext uri="{FF2B5EF4-FFF2-40B4-BE49-F238E27FC236}">
                <a16:creationId xmlns:a16="http://schemas.microsoft.com/office/drawing/2014/main" id="{C12E7AE7-DABE-4051-A0C5-C60F874073D9}"/>
              </a:ext>
            </a:extLst>
          </p:cNvPr>
          <p:cNvPicPr>
            <a:picLocks noChangeAspect="1"/>
          </p:cNvPicPr>
          <p:nvPr/>
        </p:nvPicPr>
        <p:blipFill>
          <a:blip r:embed="rId3"/>
          <a:stretch/>
        </p:blipFill>
        <p:spPr>
          <a:xfrm>
            <a:off x="4452144" y="1409700"/>
            <a:ext cx="2100263" cy="4667250"/>
          </a:xfrm>
          <a:prstGeom prst="rect">
            <a:avLst/>
          </a:prstGeom>
        </p:spPr>
      </p:pic>
      <p:sp>
        <p:nvSpPr>
          <p:cNvPr id="12" name="Rectangle 11">
            <a:extLst>
              <a:ext uri="{FF2B5EF4-FFF2-40B4-BE49-F238E27FC236}">
                <a16:creationId xmlns:a16="http://schemas.microsoft.com/office/drawing/2014/main" id="{F8CEDF82-13A9-488D-AE16-BAE429949855}"/>
              </a:ext>
            </a:extLst>
          </p:cNvPr>
          <p:cNvSpPr>
            <a:spLocks noGrp="1"/>
          </p:cNvSpPr>
          <p:nvPr/>
        </p:nvSpPr>
        <p:spPr>
          <a:xfrm>
            <a:off x="4305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Nhật ký nước</a:t>
            </a:r>
          </a:p>
        </p:txBody>
      </p:sp>
      <p:pic>
        <p:nvPicPr>
          <p:cNvPr id="13" name="Picture 12">
            <a:extLst>
              <a:ext uri="{FF2B5EF4-FFF2-40B4-BE49-F238E27FC236}">
                <a16:creationId xmlns:a16="http://schemas.microsoft.com/office/drawing/2014/main" id="{9E7EA335-724F-4F77-B4C6-4BD8D3CED43A}"/>
              </a:ext>
            </a:extLst>
          </p:cNvPr>
          <p:cNvPicPr>
            <a:picLocks noChangeAspect="1"/>
          </p:cNvPicPr>
          <p:nvPr/>
        </p:nvPicPr>
        <p:blipFill>
          <a:blip r:embed="rId4"/>
          <a:stretch/>
        </p:blipFill>
        <p:spPr>
          <a:xfrm>
            <a:off x="6865144" y="1409700"/>
            <a:ext cx="2100263" cy="4667250"/>
          </a:xfrm>
          <a:prstGeom prst="rect">
            <a:avLst/>
          </a:prstGeom>
        </p:spPr>
      </p:pic>
      <p:sp>
        <p:nvSpPr>
          <p:cNvPr id="14" name="Rectangle 13">
            <a:extLst>
              <a:ext uri="{FF2B5EF4-FFF2-40B4-BE49-F238E27FC236}">
                <a16:creationId xmlns:a16="http://schemas.microsoft.com/office/drawing/2014/main" id="{6853CBB6-9983-4356-9F48-766E13D49D0D}"/>
              </a:ext>
            </a:extLst>
          </p:cNvPr>
          <p:cNvSpPr>
            <a:spLocks noGrp="1"/>
          </p:cNvSpPr>
          <p:nvPr/>
        </p:nvSpPr>
        <p:spPr>
          <a:xfrm>
            <a:off x="6718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Sửa lần uống</a:t>
            </a:r>
          </a:p>
        </p:txBody>
      </p:sp>
      <p:pic>
        <p:nvPicPr>
          <p:cNvPr id="15" name="Picture 14">
            <a:extLst>
              <a:ext uri="{FF2B5EF4-FFF2-40B4-BE49-F238E27FC236}">
                <a16:creationId xmlns:a16="http://schemas.microsoft.com/office/drawing/2014/main" id="{93AC81E5-3A93-486C-9AD9-F773DB97AC7B}"/>
              </a:ext>
            </a:extLst>
          </p:cNvPr>
          <p:cNvPicPr>
            <a:picLocks noChangeAspect="1"/>
          </p:cNvPicPr>
          <p:nvPr/>
        </p:nvPicPr>
        <p:blipFill>
          <a:blip r:embed="rId5"/>
          <a:stretch/>
        </p:blipFill>
        <p:spPr>
          <a:xfrm>
            <a:off x="9278144" y="1409700"/>
            <a:ext cx="2100263" cy="4667250"/>
          </a:xfrm>
          <a:prstGeom prst="rect">
            <a:avLst/>
          </a:prstGeom>
        </p:spPr>
      </p:pic>
      <p:sp>
        <p:nvSpPr>
          <p:cNvPr id="16" name="Rectangle 15">
            <a:extLst>
              <a:ext uri="{FF2B5EF4-FFF2-40B4-BE49-F238E27FC236}">
                <a16:creationId xmlns:a16="http://schemas.microsoft.com/office/drawing/2014/main" id="{8F1A10E6-D33A-4765-AE96-35F3EE628E50}"/>
              </a:ext>
            </a:extLst>
          </p:cNvPr>
          <p:cNvSpPr>
            <a:spLocks noGrp="1"/>
          </p:cNvSpPr>
          <p:nvPr/>
        </p:nvSpPr>
        <p:spPr>
          <a:xfrm>
            <a:off x="9131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Cài đặt nước</a:t>
            </a:r>
          </a:p>
        </p:txBody>
      </p:sp>
    </p:spTree>
    <p:extLst>
      <p:ext uri="{BB962C8B-B14F-4D97-AF65-F5344CB8AC3E}">
        <p14:creationId xmlns:p14="http://schemas.microsoft.com/office/powerpoint/2010/main" val="701566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63F5A1E-0477-4D29-BB20-C404B3101D6B}"/>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STATSFRAGMENT</a:t>
            </a:r>
          </a:p>
        </p:txBody>
      </p:sp>
      <p:sp>
        <p:nvSpPr>
          <p:cNvPr id="2" name="Rectangle 1">
            <a:extLst>
              <a:ext uri="{FF2B5EF4-FFF2-40B4-BE49-F238E27FC236}">
                <a16:creationId xmlns:a16="http://schemas.microsoft.com/office/drawing/2014/main" id="{51FE91C4-D31D-4EE7-B3CB-78B57B94231F}"/>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Màn hình thống kê và trạng thái dữ liệu</a:t>
            </a:r>
          </a:p>
        </p:txBody>
      </p:sp>
      <p:sp>
        <p:nvSpPr>
          <p:cNvPr id="3" name="Rectangle 2">
            <a:extLst>
              <a:ext uri="{FF2B5EF4-FFF2-40B4-BE49-F238E27FC236}">
                <a16:creationId xmlns:a16="http://schemas.microsoft.com/office/drawing/2014/main" id="{DEDA2AD7-C365-4184-87AA-4C754DD96BD4}"/>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AA736EBE-8F6F-4BAF-A7D2-A2018BB989FB}"/>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11</a:t>
            </a:r>
          </a:p>
        </p:txBody>
      </p:sp>
      <p:sp>
        <p:nvSpPr>
          <p:cNvPr id="5" name="Rectangle 4">
            <a:extLst>
              <a:ext uri="{FF2B5EF4-FFF2-40B4-BE49-F238E27FC236}">
                <a16:creationId xmlns:a16="http://schemas.microsoft.com/office/drawing/2014/main" id="{3D121896-D979-48B4-A219-7070D6E5E30E}"/>
              </a:ext>
            </a:extLst>
          </p:cNvPr>
          <p:cNvSpPr>
            <a:spLocks noGrp="1"/>
          </p:cNvSpPr>
          <p:nvPr/>
        </p:nvSpPr>
        <p:spPr>
          <a:xfrm>
            <a:off x="514350" y="161925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Chọn khoảng thời gian</a:t>
            </a:r>
          </a:p>
        </p:txBody>
      </p:sp>
      <p:sp>
        <p:nvSpPr>
          <p:cNvPr id="6" name="Rectangle 5">
            <a:extLst>
              <a:ext uri="{FF2B5EF4-FFF2-40B4-BE49-F238E27FC236}">
                <a16:creationId xmlns:a16="http://schemas.microsoft.com/office/drawing/2014/main" id="{0E412A53-F9CE-495E-81A6-A8A08C082FA7}"/>
              </a:ext>
            </a:extLst>
          </p:cNvPr>
          <p:cNvSpPr>
            <a:spLocks noGrp="1"/>
          </p:cNvSpPr>
          <p:nvPr/>
        </p:nvSpPr>
        <p:spPr>
          <a:xfrm>
            <a:off x="514350" y="204787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Theo dõi 7 hoặc 30 ngày, chọn chỉ số cần xem.</a:t>
            </a:r>
          </a:p>
        </p:txBody>
      </p:sp>
      <p:sp>
        <p:nvSpPr>
          <p:cNvPr id="7" name="Rectangle 6">
            <a:extLst>
              <a:ext uri="{FF2B5EF4-FFF2-40B4-BE49-F238E27FC236}">
                <a16:creationId xmlns:a16="http://schemas.microsoft.com/office/drawing/2014/main" id="{B669ED87-56D2-42B1-8D27-744DCE341A6C}"/>
              </a:ext>
            </a:extLst>
          </p:cNvPr>
          <p:cNvSpPr>
            <a:spLocks noGrp="1"/>
          </p:cNvSpPr>
          <p:nvPr/>
        </p:nvSpPr>
        <p:spPr>
          <a:xfrm>
            <a:off x="514350" y="3095625"/>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Biểu đồ theo dữ liệu</a:t>
            </a:r>
          </a:p>
        </p:txBody>
      </p:sp>
      <p:sp>
        <p:nvSpPr>
          <p:cNvPr id="8" name="Rectangle 7">
            <a:extLst>
              <a:ext uri="{FF2B5EF4-FFF2-40B4-BE49-F238E27FC236}">
                <a16:creationId xmlns:a16="http://schemas.microsoft.com/office/drawing/2014/main" id="{948A5752-3510-455C-ADB0-B27671A60C5F}"/>
              </a:ext>
            </a:extLst>
          </p:cNvPr>
          <p:cNvSpPr>
            <a:spLocks noGrp="1"/>
          </p:cNvSpPr>
          <p:nvPr/>
        </p:nvSpPr>
        <p:spPr>
          <a:xfrm>
            <a:off x="514350" y="3524250"/>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Chỉ số đo dùng biểu đồ đường. Nước uống dùng biểu đồ cột theo ngày.</a:t>
            </a:r>
          </a:p>
        </p:txBody>
      </p:sp>
      <p:sp>
        <p:nvSpPr>
          <p:cNvPr id="9" name="Rectangle 8">
            <a:extLst>
              <a:ext uri="{FF2B5EF4-FFF2-40B4-BE49-F238E27FC236}">
                <a16:creationId xmlns:a16="http://schemas.microsoft.com/office/drawing/2014/main" id="{0DEEC6A8-0AA6-44FD-9C54-10D698F2370A}"/>
              </a:ext>
            </a:extLst>
          </p:cNvPr>
          <p:cNvSpPr>
            <a:spLocks noGrp="1"/>
          </p:cNvSpPr>
          <p:nvPr/>
        </p:nvSpPr>
        <p:spPr>
          <a:xfrm>
            <a:off x="514350" y="4572000"/>
            <a:ext cx="3476625" cy="381000"/>
          </a:xfrm>
          <a:prstGeom prst="rect">
            <a:avLst/>
          </a:prstGeom>
          <a:noFill/>
          <a:ln w="0">
            <a:noFill/>
          </a:ln>
        </p:spPr>
        <p:txBody>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Bối cảnh và dữ liệu trống</a:t>
            </a:r>
          </a:p>
        </p:txBody>
      </p:sp>
      <p:sp>
        <p:nvSpPr>
          <p:cNvPr id="10" name="Rectangle 9">
            <a:extLst>
              <a:ext uri="{FF2B5EF4-FFF2-40B4-BE49-F238E27FC236}">
                <a16:creationId xmlns:a16="http://schemas.microsoft.com/office/drawing/2014/main" id="{09C504DF-ED76-485C-A130-6E2E05900D9D}"/>
              </a:ext>
            </a:extLst>
          </p:cNvPr>
          <p:cNvSpPr>
            <a:spLocks noGrp="1"/>
          </p:cNvSpPr>
          <p:nvPr/>
        </p:nvSpPr>
        <p:spPr>
          <a:xfrm>
            <a:off x="514350" y="5000625"/>
            <a:ext cx="3476625" cy="990600"/>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Đường huyết lọc theo bữa ăn. Khi chưa có dữ liệu, hiển thị trạng thái trống.</a:t>
            </a:r>
          </a:p>
        </p:txBody>
      </p:sp>
      <p:pic>
        <p:nvPicPr>
          <p:cNvPr id="11" name="Picture 10">
            <a:extLst>
              <a:ext uri="{FF2B5EF4-FFF2-40B4-BE49-F238E27FC236}">
                <a16:creationId xmlns:a16="http://schemas.microsoft.com/office/drawing/2014/main" id="{F1A32070-F908-424E-884F-DDDB4D1944CE}"/>
              </a:ext>
            </a:extLst>
          </p:cNvPr>
          <p:cNvPicPr>
            <a:picLocks noChangeAspect="1"/>
          </p:cNvPicPr>
          <p:nvPr/>
        </p:nvPicPr>
        <p:blipFill>
          <a:blip r:embed="rId3"/>
          <a:stretch/>
        </p:blipFill>
        <p:spPr>
          <a:xfrm>
            <a:off x="4452144" y="1409700"/>
            <a:ext cx="2100263" cy="4667250"/>
          </a:xfrm>
          <a:prstGeom prst="rect">
            <a:avLst/>
          </a:prstGeom>
        </p:spPr>
      </p:pic>
      <p:sp>
        <p:nvSpPr>
          <p:cNvPr id="12" name="Rectangle 11">
            <a:extLst>
              <a:ext uri="{FF2B5EF4-FFF2-40B4-BE49-F238E27FC236}">
                <a16:creationId xmlns:a16="http://schemas.microsoft.com/office/drawing/2014/main" id="{BAA1CC71-D81C-4137-947F-12552CD93239}"/>
              </a:ext>
            </a:extLst>
          </p:cNvPr>
          <p:cNvSpPr>
            <a:spLocks noGrp="1"/>
          </p:cNvSpPr>
          <p:nvPr/>
        </p:nvSpPr>
        <p:spPr>
          <a:xfrm>
            <a:off x="4305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Đường huyết</a:t>
            </a:r>
          </a:p>
        </p:txBody>
      </p:sp>
      <p:pic>
        <p:nvPicPr>
          <p:cNvPr id="13" name="Picture 12">
            <a:extLst>
              <a:ext uri="{FF2B5EF4-FFF2-40B4-BE49-F238E27FC236}">
                <a16:creationId xmlns:a16="http://schemas.microsoft.com/office/drawing/2014/main" id="{5DAF0C07-2BB9-4847-AA0B-B53362E79661}"/>
              </a:ext>
            </a:extLst>
          </p:cNvPr>
          <p:cNvPicPr>
            <a:picLocks noChangeAspect="1"/>
          </p:cNvPicPr>
          <p:nvPr/>
        </p:nvPicPr>
        <p:blipFill>
          <a:blip r:embed="rId4"/>
          <a:stretch/>
        </p:blipFill>
        <p:spPr>
          <a:xfrm>
            <a:off x="6865144" y="1409700"/>
            <a:ext cx="2100263" cy="4667250"/>
          </a:xfrm>
          <a:prstGeom prst="rect">
            <a:avLst/>
          </a:prstGeom>
        </p:spPr>
      </p:pic>
      <p:sp>
        <p:nvSpPr>
          <p:cNvPr id="14" name="Rectangle 13">
            <a:extLst>
              <a:ext uri="{FF2B5EF4-FFF2-40B4-BE49-F238E27FC236}">
                <a16:creationId xmlns:a16="http://schemas.microsoft.com/office/drawing/2014/main" id="{1575A4D9-6519-49BA-A3CD-824A5595D435}"/>
              </a:ext>
            </a:extLst>
          </p:cNvPr>
          <p:cNvSpPr>
            <a:spLocks noGrp="1"/>
          </p:cNvSpPr>
          <p:nvPr/>
        </p:nvSpPr>
        <p:spPr>
          <a:xfrm>
            <a:off x="6718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Nước uống</a:t>
            </a:r>
          </a:p>
        </p:txBody>
      </p:sp>
      <p:pic>
        <p:nvPicPr>
          <p:cNvPr id="15" name="Picture 14">
            <a:extLst>
              <a:ext uri="{FF2B5EF4-FFF2-40B4-BE49-F238E27FC236}">
                <a16:creationId xmlns:a16="http://schemas.microsoft.com/office/drawing/2014/main" id="{7F4DD0CC-8ACE-440A-AC84-3927684A5695}"/>
              </a:ext>
            </a:extLst>
          </p:cNvPr>
          <p:cNvPicPr>
            <a:picLocks noChangeAspect="1"/>
          </p:cNvPicPr>
          <p:nvPr/>
        </p:nvPicPr>
        <p:blipFill>
          <a:blip r:embed="rId5"/>
          <a:stretch/>
        </p:blipFill>
        <p:spPr>
          <a:xfrm>
            <a:off x="9278144" y="1409700"/>
            <a:ext cx="2100263" cy="4667250"/>
          </a:xfrm>
          <a:prstGeom prst="rect">
            <a:avLst/>
          </a:prstGeom>
        </p:spPr>
      </p:pic>
      <p:sp>
        <p:nvSpPr>
          <p:cNvPr id="16" name="Rectangle 15">
            <a:extLst>
              <a:ext uri="{FF2B5EF4-FFF2-40B4-BE49-F238E27FC236}">
                <a16:creationId xmlns:a16="http://schemas.microsoft.com/office/drawing/2014/main" id="{B152F131-66F7-4677-BEEE-66EFCE9E565F}"/>
              </a:ext>
            </a:extLst>
          </p:cNvPr>
          <p:cNvSpPr>
            <a:spLocks noGrp="1"/>
          </p:cNvSpPr>
          <p:nvPr/>
        </p:nvSpPr>
        <p:spPr>
          <a:xfrm>
            <a:off x="9131300" y="6143625"/>
            <a:ext cx="2393950" cy="304800"/>
          </a:xfrm>
          <a:prstGeom prst="rect">
            <a:avLst/>
          </a:prstGeom>
          <a:noFill/>
          <a:ln w="0">
            <a:noFill/>
          </a:ln>
        </p:spPr>
        <p:txBody>
          <a:bodyPr/>
          <a:lstStyle>
            <a:defPPr>
              <a:defRPr sz="1275" b="0">
                <a:solidFill>
                  <a:srgbClr val="526B66"/>
                </a:solidFill>
                <a:latin typeface="Arial"/>
                <a:ea typeface="Arial"/>
                <a:cs typeface="Arial"/>
              </a:defRPr>
            </a:defPPr>
            <a:lvl1pPr>
              <a:buNone/>
              <a:defRPr sz="1275" b="0">
                <a:solidFill>
                  <a:srgbClr val="526B66"/>
                </a:solidFill>
                <a:latin typeface="Arial"/>
                <a:ea typeface="Arial"/>
                <a:cs typeface="Arial"/>
              </a:defRPr>
            </a:lvl1pPr>
            <a:lvl2pPr>
              <a:buNone/>
              <a:defRPr sz="1275" b="0">
                <a:solidFill>
                  <a:srgbClr val="526B66"/>
                </a:solidFill>
                <a:latin typeface="Arial"/>
                <a:ea typeface="Arial"/>
                <a:cs typeface="Arial"/>
              </a:defRPr>
            </a:lvl2pPr>
            <a:lvl3pPr>
              <a:buNone/>
              <a:defRPr sz="1275" b="0">
                <a:solidFill>
                  <a:srgbClr val="526B66"/>
                </a:solidFill>
                <a:latin typeface="Arial"/>
                <a:ea typeface="Arial"/>
                <a:cs typeface="Arial"/>
              </a:defRPr>
            </a:lvl3pPr>
            <a:lvl4pPr>
              <a:buNone/>
              <a:defRPr sz="1275" b="0">
                <a:solidFill>
                  <a:srgbClr val="526B66"/>
                </a:solidFill>
                <a:latin typeface="Arial"/>
                <a:ea typeface="Arial"/>
                <a:cs typeface="Arial"/>
              </a:defRPr>
            </a:lvl4pPr>
            <a:lvl5pPr>
              <a:buNone/>
              <a:defRPr sz="1275" b="0">
                <a:solidFill>
                  <a:srgbClr val="526B66"/>
                </a:solidFill>
                <a:latin typeface="Arial"/>
                <a:ea typeface="Arial"/>
                <a:cs typeface="Arial"/>
              </a:defRPr>
            </a:lvl5pPr>
            <a:lvl6pPr>
              <a:buNone/>
              <a:defRPr sz="1275" b="0">
                <a:solidFill>
                  <a:srgbClr val="526B66"/>
                </a:solidFill>
                <a:latin typeface="Arial"/>
                <a:ea typeface="Arial"/>
                <a:cs typeface="Arial"/>
              </a:defRPr>
            </a:lvl6pPr>
            <a:lvl7pPr>
              <a:buNone/>
              <a:defRPr sz="1275" b="0">
                <a:solidFill>
                  <a:srgbClr val="526B66"/>
                </a:solidFill>
                <a:latin typeface="Arial"/>
                <a:ea typeface="Arial"/>
                <a:cs typeface="Arial"/>
              </a:defRPr>
            </a:lvl7pPr>
            <a:lvl8pPr>
              <a:buNone/>
              <a:defRPr sz="1275" b="0">
                <a:solidFill>
                  <a:srgbClr val="526B66"/>
                </a:solidFill>
                <a:latin typeface="Arial"/>
                <a:ea typeface="Arial"/>
                <a:cs typeface="Arial"/>
              </a:defRPr>
            </a:lvl8pPr>
            <a:lvl9pPr>
              <a:buNone/>
              <a:defRPr sz="1275" b="0">
                <a:solidFill>
                  <a:srgbClr val="526B66"/>
                </a:solidFill>
                <a:latin typeface="Arial"/>
                <a:ea typeface="Arial"/>
                <a:cs typeface="Arial"/>
              </a:defRPr>
            </a:lvl9pPr>
          </a:lstStyle>
          <a:p>
            <a:pPr>
              <a:buNone/>
              <a:defRPr sz="1275" b="0">
                <a:solidFill>
                  <a:srgbClr val="526B66"/>
                </a:solidFill>
                <a:latin typeface="Arial"/>
                <a:ea typeface="Arial"/>
                <a:cs typeface="Arial"/>
              </a:defRPr>
            </a:pPr>
            <a:r>
              <a:rPr sz="1275" b="0">
                <a:solidFill>
                  <a:srgbClr val="526B66"/>
                </a:solidFill>
                <a:latin typeface="Arial"/>
                <a:ea typeface="Arial"/>
                <a:cs typeface="Arial"/>
              </a:rPr>
              <a:t>Chưa có dữ liệu</a:t>
            </a:r>
          </a:p>
        </p:txBody>
      </p:sp>
    </p:spTree>
    <p:extLst>
      <p:ext uri="{BB962C8B-B14F-4D97-AF65-F5344CB8AC3E}">
        <p14:creationId xmlns:p14="http://schemas.microsoft.com/office/powerpoint/2010/main" val="1759575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197C15-7817-411F-A2D2-29AE1229D4A2}"/>
              </a:ext>
            </a:extLst>
          </p:cNvPr>
          <p:cNvPicPr>
            <a:picLocks noChangeAspect="1"/>
          </p:cNvPicPr>
          <p:nvPr/>
        </p:nvPicPr>
        <p:blipFill>
          <a:blip r:embed="rId3"/>
          <a:stretch/>
        </p:blipFill>
        <p:spPr>
          <a:xfrm>
            <a:off x="609600" y="633137"/>
            <a:ext cx="6113059" cy="5805763"/>
          </a:xfrm>
          <a:prstGeom prst="rect">
            <a:avLst/>
          </a:prstGeom>
        </p:spPr>
      </p:pic>
      <p:sp>
        <p:nvSpPr>
          <p:cNvPr id="14" name="Rectangle 13">
            <a:extLst>
              <a:ext uri="{FF2B5EF4-FFF2-40B4-BE49-F238E27FC236}">
                <a16:creationId xmlns:a16="http://schemas.microsoft.com/office/drawing/2014/main" id="{AA7BE69E-C3CA-42E8-B864-10DF07176C73}"/>
              </a:ext>
            </a:extLst>
          </p:cNvPr>
          <p:cNvSpPr>
            <a:spLocks noGrp="1"/>
          </p:cNvSpPr>
          <p:nvPr/>
        </p:nvSpPr>
        <p:spPr>
          <a:xfrm>
            <a:off x="514350" y="238125"/>
            <a:ext cx="10477500" cy="238125"/>
          </a:xfrm>
          <a:prstGeom prst="rect">
            <a:avLst/>
          </a:prstGeom>
          <a:noFill/>
          <a:ln w="0">
            <a:noFill/>
          </a:ln>
        </p:spPr>
        <p:txBody>
          <a:bodyPr wrap="square">
            <a:noAutofit/>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1.3  LUỒNG ĐIỀU HƯỚNG VÀ CHÚ GIẢI</a:t>
            </a:r>
          </a:p>
        </p:txBody>
      </p:sp>
      <p:sp>
        <p:nvSpPr>
          <p:cNvPr id="2" name="Rectangle 1">
            <a:extLst>
              <a:ext uri="{FF2B5EF4-FFF2-40B4-BE49-F238E27FC236}">
                <a16:creationId xmlns:a16="http://schemas.microsoft.com/office/drawing/2014/main" id="{4ABBB40E-7493-4776-A30C-42A90128D2B5}"/>
              </a:ext>
            </a:extLst>
          </p:cNvPr>
          <p:cNvSpPr>
            <a:spLocks noGrp="1"/>
          </p:cNvSpPr>
          <p:nvPr/>
        </p:nvSpPr>
        <p:spPr>
          <a:xfrm>
            <a:off x="7762874" y="581025"/>
            <a:ext cx="3495676" cy="600075"/>
          </a:xfrm>
          <a:prstGeom prst="rect">
            <a:avLst/>
          </a:prstGeom>
          <a:noFill/>
          <a:ln w="0">
            <a:noFill/>
          </a:ln>
        </p:spPr>
        <p:txBody>
          <a:bodyPr wrap="square">
            <a:noAutofit/>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lgn="ctr">
              <a:buNone/>
              <a:defRPr sz="2925" b="1">
                <a:solidFill>
                  <a:srgbClr val="164C47"/>
                </a:solidFill>
                <a:latin typeface="Arial"/>
                <a:ea typeface="Arial"/>
                <a:cs typeface="Arial"/>
              </a:defRPr>
            </a:pPr>
            <a:r>
              <a:rPr sz="2400" b="1">
                <a:solidFill>
                  <a:srgbClr val="164C47"/>
                </a:solidFill>
                <a:latin typeface="Arial"/>
                <a:ea typeface="Arial"/>
                <a:cs typeface="Arial"/>
              </a:rPr>
              <a:t>Sơ đồ liên kết các</a:t>
            </a:r>
            <a:r>
              <a:rPr lang="en-US" sz="2400" b="1">
                <a:solidFill>
                  <a:srgbClr val="164C47"/>
                </a:solidFill>
                <a:latin typeface="Arial"/>
                <a:ea typeface="Arial"/>
                <a:cs typeface="Arial"/>
              </a:rPr>
              <a:t> </a:t>
            </a:r>
            <a:r>
              <a:rPr sz="2400" b="1">
                <a:solidFill>
                  <a:srgbClr val="164C47"/>
                </a:solidFill>
                <a:latin typeface="Arial"/>
                <a:ea typeface="Arial"/>
                <a:cs typeface="Arial"/>
              </a:rPr>
              <a:t>màn hình chính</a:t>
            </a:r>
          </a:p>
        </p:txBody>
      </p:sp>
      <p:sp>
        <p:nvSpPr>
          <p:cNvPr id="3" name="Rectangle 2">
            <a:extLst>
              <a:ext uri="{FF2B5EF4-FFF2-40B4-BE49-F238E27FC236}">
                <a16:creationId xmlns:a16="http://schemas.microsoft.com/office/drawing/2014/main" id="{6E789E60-DCBC-40C7-818C-CC3C9DD32197}"/>
              </a:ext>
            </a:extLst>
          </p:cNvPr>
          <p:cNvSpPr>
            <a:spLocks noGrp="1"/>
          </p:cNvSpPr>
          <p:nvPr/>
        </p:nvSpPr>
        <p:spPr>
          <a:xfrm>
            <a:off x="514350" y="6515100"/>
            <a:ext cx="9525000" cy="209550"/>
          </a:xfrm>
          <a:prstGeom prst="rect">
            <a:avLst/>
          </a:prstGeom>
          <a:noFill/>
          <a:ln w="0">
            <a:noFill/>
          </a:ln>
        </p:spPr>
        <p:txBody>
          <a:bodyPr wrap="square">
            <a:noAutofit/>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EAD1C648-DADF-4178-B5C1-518760D148F8}"/>
              </a:ext>
            </a:extLst>
          </p:cNvPr>
          <p:cNvSpPr>
            <a:spLocks noGrp="1"/>
          </p:cNvSpPr>
          <p:nvPr/>
        </p:nvSpPr>
        <p:spPr>
          <a:xfrm>
            <a:off x="11258550" y="6477000"/>
            <a:ext cx="476250" cy="238125"/>
          </a:xfrm>
          <a:prstGeom prst="rect">
            <a:avLst/>
          </a:prstGeom>
          <a:noFill/>
          <a:ln w="0">
            <a:noFill/>
          </a:ln>
        </p:spPr>
        <p:txBody>
          <a:bodyPr wrap="square">
            <a:noAutofit/>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12</a:t>
            </a:r>
          </a:p>
        </p:txBody>
      </p:sp>
      <p:sp>
        <p:nvSpPr>
          <p:cNvPr id="6" name="Rectangle 5">
            <a:extLst>
              <a:ext uri="{FF2B5EF4-FFF2-40B4-BE49-F238E27FC236}">
                <a16:creationId xmlns:a16="http://schemas.microsoft.com/office/drawing/2014/main" id="{DF1AB6EF-6BFF-4C00-BDD7-D4DC8313B049}"/>
              </a:ext>
            </a:extLst>
          </p:cNvPr>
          <p:cNvSpPr>
            <a:spLocks noGrp="1"/>
          </p:cNvSpPr>
          <p:nvPr/>
        </p:nvSpPr>
        <p:spPr>
          <a:xfrm>
            <a:off x="7762875" y="1959692"/>
            <a:ext cx="3667125" cy="381000"/>
          </a:xfrm>
          <a:prstGeom prst="rect">
            <a:avLst/>
          </a:prstGeom>
          <a:noFill/>
          <a:ln w="0">
            <a:noFill/>
          </a:ln>
        </p:spPr>
        <p:txBody>
          <a:bodyPr wrap="square">
            <a:noAutofit/>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Cách đọc các nét</a:t>
            </a:r>
          </a:p>
        </p:txBody>
      </p:sp>
      <p:sp>
        <p:nvSpPr>
          <p:cNvPr id="7" name="Rectangle 6">
            <a:extLst>
              <a:ext uri="{FF2B5EF4-FFF2-40B4-BE49-F238E27FC236}">
                <a16:creationId xmlns:a16="http://schemas.microsoft.com/office/drawing/2014/main" id="{C8837F3F-0F72-4101-88DA-50DEDB34460A}"/>
              </a:ext>
            </a:extLst>
          </p:cNvPr>
          <p:cNvSpPr>
            <a:spLocks noGrp="1"/>
          </p:cNvSpPr>
          <p:nvPr/>
        </p:nvSpPr>
        <p:spPr>
          <a:xfrm>
            <a:off x="7762875" y="2578817"/>
            <a:ext cx="3667125" cy="333375"/>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Nét liền và mũi tên</a:t>
            </a:r>
          </a:p>
        </p:txBody>
      </p:sp>
      <p:sp>
        <p:nvSpPr>
          <p:cNvPr id="8" name="Rectangle 7">
            <a:extLst>
              <a:ext uri="{FF2B5EF4-FFF2-40B4-BE49-F238E27FC236}">
                <a16:creationId xmlns:a16="http://schemas.microsoft.com/office/drawing/2014/main" id="{9B9E6853-2128-48B6-9F48-805B8542E028}"/>
              </a:ext>
            </a:extLst>
          </p:cNvPr>
          <p:cNvSpPr>
            <a:spLocks noGrp="1"/>
          </p:cNvSpPr>
          <p:nvPr/>
        </p:nvSpPr>
        <p:spPr>
          <a:xfrm>
            <a:off x="7762875" y="2978867"/>
            <a:ext cx="3667125" cy="952500"/>
          </a:xfrm>
          <a:prstGeom prst="rect">
            <a:avLst/>
          </a:prstGeom>
          <a:noFill/>
          <a:ln w="0">
            <a:noFill/>
          </a:ln>
        </p:spPr>
        <p:txBody>
          <a:bodyPr wrap="square">
            <a:noAutofit/>
          </a:bodyPr>
          <a:lstStyle>
            <a:defPPr>
              <a:defRPr sz="1725" b="0">
                <a:solidFill>
                  <a:srgbClr val="526B66"/>
                </a:solidFill>
                <a:latin typeface="Arial"/>
                <a:ea typeface="Arial"/>
                <a:cs typeface="Arial"/>
              </a:defRPr>
            </a:defPPr>
            <a:lvl1pPr>
              <a:buNone/>
              <a:defRPr sz="1725" b="0">
                <a:solidFill>
                  <a:srgbClr val="526B66"/>
                </a:solidFill>
                <a:latin typeface="Arial"/>
                <a:ea typeface="Arial"/>
                <a:cs typeface="Arial"/>
              </a:defRPr>
            </a:lvl1pPr>
            <a:lvl2pPr>
              <a:buNone/>
              <a:defRPr sz="1725" b="0">
                <a:solidFill>
                  <a:srgbClr val="526B66"/>
                </a:solidFill>
                <a:latin typeface="Arial"/>
                <a:ea typeface="Arial"/>
                <a:cs typeface="Arial"/>
              </a:defRPr>
            </a:lvl2pPr>
            <a:lvl3pPr>
              <a:buNone/>
              <a:defRPr sz="1725" b="0">
                <a:solidFill>
                  <a:srgbClr val="526B66"/>
                </a:solidFill>
                <a:latin typeface="Arial"/>
                <a:ea typeface="Arial"/>
                <a:cs typeface="Arial"/>
              </a:defRPr>
            </a:lvl3pPr>
            <a:lvl4pPr>
              <a:buNone/>
              <a:defRPr sz="1725" b="0">
                <a:solidFill>
                  <a:srgbClr val="526B66"/>
                </a:solidFill>
                <a:latin typeface="Arial"/>
                <a:ea typeface="Arial"/>
                <a:cs typeface="Arial"/>
              </a:defRPr>
            </a:lvl4pPr>
            <a:lvl5pPr>
              <a:buNone/>
              <a:defRPr sz="1725" b="0">
                <a:solidFill>
                  <a:srgbClr val="526B66"/>
                </a:solidFill>
                <a:latin typeface="Arial"/>
                <a:ea typeface="Arial"/>
                <a:cs typeface="Arial"/>
              </a:defRPr>
            </a:lvl5pPr>
            <a:lvl6pPr>
              <a:buNone/>
              <a:defRPr sz="1725" b="0">
                <a:solidFill>
                  <a:srgbClr val="526B66"/>
                </a:solidFill>
                <a:latin typeface="Arial"/>
                <a:ea typeface="Arial"/>
                <a:cs typeface="Arial"/>
              </a:defRPr>
            </a:lvl6pPr>
            <a:lvl7pPr>
              <a:buNone/>
              <a:defRPr sz="1725" b="0">
                <a:solidFill>
                  <a:srgbClr val="526B66"/>
                </a:solidFill>
                <a:latin typeface="Arial"/>
                <a:ea typeface="Arial"/>
                <a:cs typeface="Arial"/>
              </a:defRPr>
            </a:lvl7pPr>
            <a:lvl8pPr>
              <a:buNone/>
              <a:defRPr sz="1725" b="0">
                <a:solidFill>
                  <a:srgbClr val="526B66"/>
                </a:solidFill>
                <a:latin typeface="Arial"/>
                <a:ea typeface="Arial"/>
                <a:cs typeface="Arial"/>
              </a:defRPr>
            </a:lvl8pPr>
            <a:lvl9pPr>
              <a:buNone/>
              <a:defRPr sz="1725" b="0">
                <a:solidFill>
                  <a:srgbClr val="526B66"/>
                </a:solidFill>
                <a:latin typeface="Arial"/>
                <a:ea typeface="Arial"/>
                <a:cs typeface="Arial"/>
              </a:defRPr>
            </a:lvl9pPr>
          </a:lstStyle>
          <a:p>
            <a:pPr>
              <a:buNone/>
              <a:defRPr sz="1725" b="0">
                <a:solidFill>
                  <a:srgbClr val="526B66"/>
                </a:solidFill>
                <a:latin typeface="Arial"/>
                <a:ea typeface="Arial"/>
                <a:cs typeface="Arial"/>
              </a:defRPr>
            </a:pPr>
            <a:r>
              <a:rPr sz="1725" b="0">
                <a:solidFill>
                  <a:srgbClr val="526B66"/>
                </a:solidFill>
                <a:latin typeface="Arial"/>
                <a:ea typeface="Arial"/>
                <a:cs typeface="Arial"/>
              </a:rPr>
              <a:t>Hướng mở giao diện.</a:t>
            </a:r>
          </a:p>
          <a:p>
            <a:pPr>
              <a:buNone/>
              <a:defRPr sz="1725" b="0">
                <a:solidFill>
                  <a:srgbClr val="526B66"/>
                </a:solidFill>
                <a:latin typeface="Arial"/>
                <a:ea typeface="Arial"/>
                <a:cs typeface="Arial"/>
              </a:defRPr>
            </a:pPr>
            <a:r>
              <a:rPr sz="1725" b="0">
                <a:solidFill>
                  <a:srgbClr val="526B66"/>
                </a:solidFill>
                <a:latin typeface="Arial"/>
                <a:ea typeface="Arial"/>
                <a:cs typeface="Arial"/>
              </a:rPr>
              <a:t>Nhãn nêu thao tác hoặc</a:t>
            </a:r>
          </a:p>
          <a:p>
            <a:pPr>
              <a:buNone/>
              <a:defRPr sz="1725" b="0">
                <a:solidFill>
                  <a:srgbClr val="526B66"/>
                </a:solidFill>
                <a:latin typeface="Arial"/>
                <a:ea typeface="Arial"/>
                <a:cs typeface="Arial"/>
              </a:defRPr>
            </a:pPr>
            <a:r>
              <a:rPr sz="1725" b="0">
                <a:solidFill>
                  <a:srgbClr val="526B66"/>
                </a:solidFill>
                <a:latin typeface="Arial"/>
                <a:ea typeface="Arial"/>
                <a:cs typeface="Arial"/>
              </a:rPr>
              <a:t>điều kiện chuyển màn hình.</a:t>
            </a:r>
          </a:p>
        </p:txBody>
      </p:sp>
      <p:sp>
        <p:nvSpPr>
          <p:cNvPr id="9" name="Rectangle 8">
            <a:extLst>
              <a:ext uri="{FF2B5EF4-FFF2-40B4-BE49-F238E27FC236}">
                <a16:creationId xmlns:a16="http://schemas.microsoft.com/office/drawing/2014/main" id="{EB89BC7C-E46C-4C75-8D8F-F37DA8A933A5}"/>
              </a:ext>
            </a:extLst>
          </p:cNvPr>
          <p:cNvSpPr>
            <a:spLocks noGrp="1"/>
          </p:cNvSpPr>
          <p:nvPr/>
        </p:nvSpPr>
        <p:spPr>
          <a:xfrm>
            <a:off x="7762875" y="4102817"/>
            <a:ext cx="3667125" cy="333375"/>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r>
              <a:rPr sz="1875" b="1">
                <a:solidFill>
                  <a:srgbClr val="164C47"/>
                </a:solidFill>
                <a:latin typeface="Arial"/>
                <a:ea typeface="Arial"/>
                <a:cs typeface="Arial"/>
              </a:rPr>
              <a:t>Nét chấm</a:t>
            </a:r>
          </a:p>
        </p:txBody>
      </p:sp>
      <p:sp>
        <p:nvSpPr>
          <p:cNvPr id="10" name="Rectangle 9">
            <a:extLst>
              <a:ext uri="{FF2B5EF4-FFF2-40B4-BE49-F238E27FC236}">
                <a16:creationId xmlns:a16="http://schemas.microsoft.com/office/drawing/2014/main" id="{14F1CF78-1770-4D72-A6CD-E330ED1593FD}"/>
              </a:ext>
            </a:extLst>
          </p:cNvPr>
          <p:cNvSpPr>
            <a:spLocks noGrp="1"/>
          </p:cNvSpPr>
          <p:nvPr/>
        </p:nvSpPr>
        <p:spPr>
          <a:xfrm>
            <a:off x="7762875" y="4502867"/>
            <a:ext cx="3667125" cy="571500"/>
          </a:xfrm>
          <a:prstGeom prst="rect">
            <a:avLst/>
          </a:prstGeom>
          <a:noFill/>
          <a:ln w="0">
            <a:noFill/>
          </a:ln>
        </p:spPr>
        <p:txBody>
          <a:bodyPr wrap="square">
            <a:noAutofit/>
          </a:bodyPr>
          <a:lstStyle>
            <a:defPPr>
              <a:defRPr sz="1725" b="0">
                <a:solidFill>
                  <a:srgbClr val="526B66"/>
                </a:solidFill>
                <a:latin typeface="Arial"/>
                <a:ea typeface="Arial"/>
                <a:cs typeface="Arial"/>
              </a:defRPr>
            </a:defPPr>
            <a:lvl1pPr>
              <a:buNone/>
              <a:defRPr sz="1725" b="0">
                <a:solidFill>
                  <a:srgbClr val="526B66"/>
                </a:solidFill>
                <a:latin typeface="Arial"/>
                <a:ea typeface="Arial"/>
                <a:cs typeface="Arial"/>
              </a:defRPr>
            </a:lvl1pPr>
            <a:lvl2pPr>
              <a:buNone/>
              <a:defRPr sz="1725" b="0">
                <a:solidFill>
                  <a:srgbClr val="526B66"/>
                </a:solidFill>
                <a:latin typeface="Arial"/>
                <a:ea typeface="Arial"/>
                <a:cs typeface="Arial"/>
              </a:defRPr>
            </a:lvl2pPr>
            <a:lvl3pPr>
              <a:buNone/>
              <a:defRPr sz="1725" b="0">
                <a:solidFill>
                  <a:srgbClr val="526B66"/>
                </a:solidFill>
                <a:latin typeface="Arial"/>
                <a:ea typeface="Arial"/>
                <a:cs typeface="Arial"/>
              </a:defRPr>
            </a:lvl3pPr>
            <a:lvl4pPr>
              <a:buNone/>
              <a:defRPr sz="1725" b="0">
                <a:solidFill>
                  <a:srgbClr val="526B66"/>
                </a:solidFill>
                <a:latin typeface="Arial"/>
                <a:ea typeface="Arial"/>
                <a:cs typeface="Arial"/>
              </a:defRPr>
            </a:lvl4pPr>
            <a:lvl5pPr>
              <a:buNone/>
              <a:defRPr sz="1725" b="0">
                <a:solidFill>
                  <a:srgbClr val="526B66"/>
                </a:solidFill>
                <a:latin typeface="Arial"/>
                <a:ea typeface="Arial"/>
                <a:cs typeface="Arial"/>
              </a:defRPr>
            </a:lvl5pPr>
            <a:lvl6pPr>
              <a:buNone/>
              <a:defRPr sz="1725" b="0">
                <a:solidFill>
                  <a:srgbClr val="526B66"/>
                </a:solidFill>
                <a:latin typeface="Arial"/>
                <a:ea typeface="Arial"/>
                <a:cs typeface="Arial"/>
              </a:defRPr>
            </a:lvl6pPr>
            <a:lvl7pPr>
              <a:buNone/>
              <a:defRPr sz="1725" b="0">
                <a:solidFill>
                  <a:srgbClr val="526B66"/>
                </a:solidFill>
                <a:latin typeface="Arial"/>
                <a:ea typeface="Arial"/>
                <a:cs typeface="Arial"/>
              </a:defRPr>
            </a:lvl7pPr>
            <a:lvl8pPr>
              <a:buNone/>
              <a:defRPr sz="1725" b="0">
                <a:solidFill>
                  <a:srgbClr val="526B66"/>
                </a:solidFill>
                <a:latin typeface="Arial"/>
                <a:ea typeface="Arial"/>
                <a:cs typeface="Arial"/>
              </a:defRPr>
            </a:lvl8pPr>
            <a:lvl9pPr>
              <a:buNone/>
              <a:defRPr sz="1725" b="0">
                <a:solidFill>
                  <a:srgbClr val="526B66"/>
                </a:solidFill>
                <a:latin typeface="Arial"/>
                <a:ea typeface="Arial"/>
                <a:cs typeface="Arial"/>
              </a:defRPr>
            </a:lvl9pPr>
          </a:lstStyle>
          <a:p>
            <a:pPr>
              <a:buNone/>
              <a:defRPr sz="1725" b="0">
                <a:solidFill>
                  <a:srgbClr val="526B66"/>
                </a:solidFill>
                <a:latin typeface="Arial"/>
                <a:ea typeface="Arial"/>
                <a:cs typeface="Arial"/>
              </a:defRPr>
            </a:pPr>
            <a:r>
              <a:rPr sz="1725" b="0">
                <a:solidFill>
                  <a:srgbClr val="526B66"/>
                </a:solidFill>
                <a:latin typeface="Arial"/>
                <a:ea typeface="Arial"/>
                <a:cs typeface="Arial"/>
              </a:rPr>
              <a:t>Lối mở hồ sơ từ bốn tab.</a:t>
            </a:r>
          </a:p>
        </p:txBody>
      </p:sp>
      <p:sp>
        <p:nvSpPr>
          <p:cNvPr id="11" name="Rectangle 10">
            <a:extLst>
              <a:ext uri="{FF2B5EF4-FFF2-40B4-BE49-F238E27FC236}">
                <a16:creationId xmlns:a16="http://schemas.microsoft.com/office/drawing/2014/main" id="{482C3245-D664-4E63-86EC-9C86E07EFC75}"/>
              </a:ext>
            </a:extLst>
          </p:cNvPr>
          <p:cNvSpPr>
            <a:spLocks noGrp="1"/>
          </p:cNvSpPr>
          <p:nvPr/>
        </p:nvSpPr>
        <p:spPr>
          <a:xfrm>
            <a:off x="7762875" y="5198192"/>
            <a:ext cx="3667125" cy="333375"/>
          </a:xfrm>
          <a:prstGeom prst="rect">
            <a:avLst/>
          </a:prstGeom>
          <a:noFill/>
          <a:ln w="0">
            <a:noFill/>
          </a:ln>
        </p:spPr>
        <p:txBody>
          <a:bodyPr wrap="square">
            <a:noAutofit/>
          </a:bodyPr>
          <a:lstStyle>
            <a:defPPr>
              <a:defRPr sz="1875" b="1">
                <a:solidFill>
                  <a:srgbClr val="164C47"/>
                </a:solidFill>
                <a:latin typeface="Arial"/>
                <a:ea typeface="Arial"/>
                <a:cs typeface="Arial"/>
              </a:defRPr>
            </a:defPPr>
            <a:lvl1pPr>
              <a:buNone/>
              <a:defRPr sz="1875" b="1">
                <a:solidFill>
                  <a:srgbClr val="164C47"/>
                </a:solidFill>
                <a:latin typeface="Arial"/>
                <a:ea typeface="Arial"/>
                <a:cs typeface="Arial"/>
              </a:defRPr>
            </a:lvl1pPr>
            <a:lvl2pPr>
              <a:buNone/>
              <a:defRPr sz="1875" b="1">
                <a:solidFill>
                  <a:srgbClr val="164C47"/>
                </a:solidFill>
                <a:latin typeface="Arial"/>
                <a:ea typeface="Arial"/>
                <a:cs typeface="Arial"/>
              </a:defRPr>
            </a:lvl2pPr>
            <a:lvl3pPr>
              <a:buNone/>
              <a:defRPr sz="1875" b="1">
                <a:solidFill>
                  <a:srgbClr val="164C47"/>
                </a:solidFill>
                <a:latin typeface="Arial"/>
                <a:ea typeface="Arial"/>
                <a:cs typeface="Arial"/>
              </a:defRPr>
            </a:lvl3pPr>
            <a:lvl4pPr>
              <a:buNone/>
              <a:defRPr sz="1875" b="1">
                <a:solidFill>
                  <a:srgbClr val="164C47"/>
                </a:solidFill>
                <a:latin typeface="Arial"/>
                <a:ea typeface="Arial"/>
                <a:cs typeface="Arial"/>
              </a:defRPr>
            </a:lvl4pPr>
            <a:lvl5pPr>
              <a:buNone/>
              <a:defRPr sz="1875" b="1">
                <a:solidFill>
                  <a:srgbClr val="164C47"/>
                </a:solidFill>
                <a:latin typeface="Arial"/>
                <a:ea typeface="Arial"/>
                <a:cs typeface="Arial"/>
              </a:defRPr>
            </a:lvl5pPr>
            <a:lvl6pPr>
              <a:buNone/>
              <a:defRPr sz="1875" b="1">
                <a:solidFill>
                  <a:srgbClr val="164C47"/>
                </a:solidFill>
                <a:latin typeface="Arial"/>
                <a:ea typeface="Arial"/>
                <a:cs typeface="Arial"/>
              </a:defRPr>
            </a:lvl6pPr>
            <a:lvl7pPr>
              <a:buNone/>
              <a:defRPr sz="1875" b="1">
                <a:solidFill>
                  <a:srgbClr val="164C47"/>
                </a:solidFill>
                <a:latin typeface="Arial"/>
                <a:ea typeface="Arial"/>
                <a:cs typeface="Arial"/>
              </a:defRPr>
            </a:lvl7pPr>
            <a:lvl8pPr>
              <a:buNone/>
              <a:defRPr sz="1875" b="1">
                <a:solidFill>
                  <a:srgbClr val="164C47"/>
                </a:solidFill>
                <a:latin typeface="Arial"/>
                <a:ea typeface="Arial"/>
                <a:cs typeface="Arial"/>
              </a:defRPr>
            </a:lvl8pPr>
            <a:lvl9pPr>
              <a:buNone/>
              <a:defRPr sz="1875" b="1">
                <a:solidFill>
                  <a:srgbClr val="164C47"/>
                </a:solidFill>
                <a:latin typeface="Arial"/>
                <a:ea typeface="Arial"/>
                <a:cs typeface="Arial"/>
              </a:defRPr>
            </a:lvl9pPr>
          </a:lstStyle>
          <a:p>
            <a:pPr>
              <a:buNone/>
              <a:defRPr sz="1875" b="1">
                <a:solidFill>
                  <a:srgbClr val="164C47"/>
                </a:solidFill>
                <a:latin typeface="Arial"/>
                <a:ea typeface="Arial"/>
                <a:cs typeface="Arial"/>
              </a:defRPr>
            </a:pPr>
            <a:endParaRPr sz="1875" b="1">
              <a:solidFill>
                <a:srgbClr val="164C47"/>
              </a:solidFill>
              <a:latin typeface="Arial"/>
              <a:ea typeface="Arial"/>
              <a:cs typeface="Arial"/>
            </a:endParaRPr>
          </a:p>
        </p:txBody>
      </p:sp>
      <p:sp>
        <p:nvSpPr>
          <p:cNvPr id="13" name="Rectangle 12">
            <a:extLst>
              <a:ext uri="{FF2B5EF4-FFF2-40B4-BE49-F238E27FC236}">
                <a16:creationId xmlns:a16="http://schemas.microsoft.com/office/drawing/2014/main" id="{619EFABB-3972-46BB-8A3F-6754F638DD76}"/>
              </a:ext>
            </a:extLst>
          </p:cNvPr>
          <p:cNvSpPr>
            <a:spLocks noGrp="1"/>
          </p:cNvSpPr>
          <p:nvPr/>
        </p:nvSpPr>
        <p:spPr>
          <a:xfrm>
            <a:off x="7762874" y="5141042"/>
            <a:ext cx="3667125" cy="533400"/>
          </a:xfrm>
          <a:prstGeom prst="rect">
            <a:avLst/>
          </a:prstGeom>
          <a:noFill/>
          <a:ln w="0">
            <a:noFill/>
          </a:ln>
        </p:spPr>
        <p:txBody>
          <a:bodyPr wrap="square">
            <a:noAutofit/>
          </a:bodyPr>
          <a:lstStyle>
            <a:defPPr>
              <a:defRPr sz="1650" b="1">
                <a:solidFill>
                  <a:srgbClr val="087F72"/>
                </a:solidFill>
                <a:latin typeface="Arial"/>
                <a:ea typeface="Arial"/>
                <a:cs typeface="Arial"/>
              </a:defRPr>
            </a:defPPr>
            <a:lvl1pPr>
              <a:buNone/>
              <a:defRPr sz="1650" b="1">
                <a:solidFill>
                  <a:srgbClr val="087F72"/>
                </a:solidFill>
                <a:latin typeface="Arial"/>
                <a:ea typeface="Arial"/>
                <a:cs typeface="Arial"/>
              </a:defRPr>
            </a:lvl1pPr>
            <a:lvl2pPr>
              <a:buNone/>
              <a:defRPr sz="1650" b="1">
                <a:solidFill>
                  <a:srgbClr val="087F72"/>
                </a:solidFill>
                <a:latin typeface="Arial"/>
                <a:ea typeface="Arial"/>
                <a:cs typeface="Arial"/>
              </a:defRPr>
            </a:lvl2pPr>
            <a:lvl3pPr>
              <a:buNone/>
              <a:defRPr sz="1650" b="1">
                <a:solidFill>
                  <a:srgbClr val="087F72"/>
                </a:solidFill>
                <a:latin typeface="Arial"/>
                <a:ea typeface="Arial"/>
                <a:cs typeface="Arial"/>
              </a:defRPr>
            </a:lvl3pPr>
            <a:lvl4pPr>
              <a:buNone/>
              <a:defRPr sz="1650" b="1">
                <a:solidFill>
                  <a:srgbClr val="087F72"/>
                </a:solidFill>
                <a:latin typeface="Arial"/>
                <a:ea typeface="Arial"/>
                <a:cs typeface="Arial"/>
              </a:defRPr>
            </a:lvl4pPr>
            <a:lvl5pPr>
              <a:buNone/>
              <a:defRPr sz="1650" b="1">
                <a:solidFill>
                  <a:srgbClr val="087F72"/>
                </a:solidFill>
                <a:latin typeface="Arial"/>
                <a:ea typeface="Arial"/>
                <a:cs typeface="Arial"/>
              </a:defRPr>
            </a:lvl5pPr>
            <a:lvl6pPr>
              <a:buNone/>
              <a:defRPr sz="1650" b="1">
                <a:solidFill>
                  <a:srgbClr val="087F72"/>
                </a:solidFill>
                <a:latin typeface="Arial"/>
                <a:ea typeface="Arial"/>
                <a:cs typeface="Arial"/>
              </a:defRPr>
            </a:lvl6pPr>
            <a:lvl7pPr>
              <a:buNone/>
              <a:defRPr sz="1650" b="1">
                <a:solidFill>
                  <a:srgbClr val="087F72"/>
                </a:solidFill>
                <a:latin typeface="Arial"/>
                <a:ea typeface="Arial"/>
                <a:cs typeface="Arial"/>
              </a:defRPr>
            </a:lvl7pPr>
            <a:lvl8pPr>
              <a:buNone/>
              <a:defRPr sz="1650" b="1">
                <a:solidFill>
                  <a:srgbClr val="087F72"/>
                </a:solidFill>
                <a:latin typeface="Arial"/>
                <a:ea typeface="Arial"/>
                <a:cs typeface="Arial"/>
              </a:defRPr>
            </a:lvl8pPr>
            <a:lvl9pPr>
              <a:buNone/>
              <a:defRPr sz="1650" b="1">
                <a:solidFill>
                  <a:srgbClr val="087F72"/>
                </a:solidFill>
                <a:latin typeface="Arial"/>
                <a:ea typeface="Arial"/>
                <a:cs typeface="Arial"/>
              </a:defRPr>
            </a:lvl9pPr>
          </a:lstStyle>
          <a:p>
            <a:pPr>
              <a:buNone/>
              <a:defRPr sz="1650" b="1">
                <a:solidFill>
                  <a:srgbClr val="087F72"/>
                </a:solidFill>
                <a:latin typeface="Arial"/>
                <a:ea typeface="Arial"/>
                <a:cs typeface="Arial"/>
              </a:defRPr>
            </a:pPr>
            <a:r>
              <a:rPr sz="1650" b="1">
                <a:solidFill>
                  <a:srgbClr val="087F72"/>
                </a:solidFill>
                <a:latin typeface="Arial"/>
                <a:ea typeface="Arial"/>
                <a:cs typeface="Arial"/>
              </a:rPr>
              <a:t>Bốn ô màu: bốn tab chính</a:t>
            </a:r>
          </a:p>
          <a:p>
            <a:pPr>
              <a:buNone/>
              <a:defRPr sz="1650" b="1">
                <a:solidFill>
                  <a:srgbClr val="087F72"/>
                </a:solidFill>
                <a:latin typeface="Arial"/>
                <a:ea typeface="Arial"/>
                <a:cs typeface="Arial"/>
              </a:defRPr>
            </a:pPr>
            <a:r>
              <a:rPr sz="1650" b="1">
                <a:solidFill>
                  <a:srgbClr val="087F72"/>
                </a:solidFill>
                <a:latin typeface="Arial"/>
                <a:ea typeface="Arial"/>
                <a:cs typeface="Arial"/>
              </a:rPr>
              <a:t>bên trong MainActivity.</a:t>
            </a:r>
          </a:p>
        </p:txBody>
      </p:sp>
    </p:spTree>
    <p:extLst>
      <p:ext uri="{BB962C8B-B14F-4D97-AF65-F5344CB8AC3E}">
        <p14:creationId xmlns:p14="http://schemas.microsoft.com/office/powerpoint/2010/main" val="1694924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0E5187-39B9-4D41-8BFF-2F4CDCE56C00}"/>
              </a:ext>
            </a:extLst>
          </p:cNvPr>
          <p:cNvSpPr>
            <a:spLocks noGrp="1"/>
          </p:cNvSpPr>
          <p:nvPr/>
        </p:nvSpPr>
        <p:spPr>
          <a:xfrm>
            <a:off x="514350" y="238125"/>
            <a:ext cx="10477500" cy="238125"/>
          </a:xfrm>
          <a:prstGeom prst="rect">
            <a:avLst/>
          </a:prstGeom>
          <a:noFill/>
          <a:ln w="0">
            <a:noFill/>
          </a:ln>
        </p:spPr>
        <p:txBody>
          <a:bodyPr wrap="square">
            <a:noAutofit/>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SƠ ĐỒ QUAN HỆ VÀ CÁCH ĐỌC</a:t>
            </a:r>
          </a:p>
        </p:txBody>
      </p:sp>
      <p:sp>
        <p:nvSpPr>
          <p:cNvPr id="2" name="Rectangle 1">
            <a:extLst>
              <a:ext uri="{FF2B5EF4-FFF2-40B4-BE49-F238E27FC236}">
                <a16:creationId xmlns:a16="http://schemas.microsoft.com/office/drawing/2014/main" id="{956693DE-18A0-4EEE-9CB9-6E7438093878}"/>
              </a:ext>
            </a:extLst>
          </p:cNvPr>
          <p:cNvSpPr>
            <a:spLocks noGrp="1"/>
          </p:cNvSpPr>
          <p:nvPr/>
        </p:nvSpPr>
        <p:spPr>
          <a:xfrm>
            <a:off x="7177548" y="628650"/>
            <a:ext cx="4481051" cy="600075"/>
          </a:xfrm>
          <a:prstGeom prst="rect">
            <a:avLst/>
          </a:prstGeom>
          <a:noFill/>
          <a:ln w="0">
            <a:noFill/>
          </a:ln>
        </p:spPr>
        <p:txBody>
          <a:bodyPr wrap="square">
            <a:noAutofit/>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Quan hệ giữa năm bảng SQLite</a:t>
            </a:r>
          </a:p>
        </p:txBody>
      </p:sp>
      <p:sp>
        <p:nvSpPr>
          <p:cNvPr id="3" name="Rectangle 2">
            <a:extLst>
              <a:ext uri="{FF2B5EF4-FFF2-40B4-BE49-F238E27FC236}">
                <a16:creationId xmlns:a16="http://schemas.microsoft.com/office/drawing/2014/main" id="{D0BE0FA7-4FD6-4798-8CC4-0BA37C999134}"/>
              </a:ext>
            </a:extLst>
          </p:cNvPr>
          <p:cNvSpPr>
            <a:spLocks noGrp="1"/>
          </p:cNvSpPr>
          <p:nvPr/>
        </p:nvSpPr>
        <p:spPr>
          <a:xfrm>
            <a:off x="514350" y="6515100"/>
            <a:ext cx="9525000" cy="209550"/>
          </a:xfrm>
          <a:prstGeom prst="rect">
            <a:avLst/>
          </a:prstGeom>
          <a:noFill/>
          <a:ln w="0">
            <a:noFill/>
          </a:ln>
        </p:spPr>
        <p:txBody>
          <a:bodyPr wrap="square">
            <a:noAutofit/>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859BB491-D62E-499A-B0AC-57F23BF475F5}"/>
              </a:ext>
            </a:extLst>
          </p:cNvPr>
          <p:cNvSpPr>
            <a:spLocks noGrp="1"/>
          </p:cNvSpPr>
          <p:nvPr/>
        </p:nvSpPr>
        <p:spPr>
          <a:xfrm>
            <a:off x="11258550" y="6477000"/>
            <a:ext cx="476250" cy="238125"/>
          </a:xfrm>
          <a:prstGeom prst="rect">
            <a:avLst/>
          </a:prstGeom>
          <a:noFill/>
          <a:ln w="0">
            <a:noFill/>
          </a:ln>
        </p:spPr>
        <p:txBody>
          <a:bodyPr wrap="square">
            <a:noAutofit/>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13</a:t>
            </a:r>
          </a:p>
        </p:txBody>
      </p:sp>
      <p:pic>
        <p:nvPicPr>
          <p:cNvPr id="5" name="Picture 4">
            <a:extLst>
              <a:ext uri="{FF2B5EF4-FFF2-40B4-BE49-F238E27FC236}">
                <a16:creationId xmlns:a16="http://schemas.microsoft.com/office/drawing/2014/main" id="{F0DD4CAF-CD81-4894-98F8-441D05975524}"/>
              </a:ext>
            </a:extLst>
          </p:cNvPr>
          <p:cNvPicPr>
            <a:picLocks noChangeAspect="1"/>
          </p:cNvPicPr>
          <p:nvPr/>
        </p:nvPicPr>
        <p:blipFill>
          <a:blip r:embed="rId3"/>
          <a:stretch/>
        </p:blipFill>
        <p:spPr>
          <a:xfrm>
            <a:off x="968381" y="552993"/>
            <a:ext cx="5599566" cy="5885907"/>
          </a:xfrm>
          <a:prstGeom prst="rect">
            <a:avLst/>
          </a:prstGeom>
        </p:spPr>
      </p:pic>
      <p:sp>
        <p:nvSpPr>
          <p:cNvPr id="6" name="Rectangle 5">
            <a:extLst>
              <a:ext uri="{FF2B5EF4-FFF2-40B4-BE49-F238E27FC236}">
                <a16:creationId xmlns:a16="http://schemas.microsoft.com/office/drawing/2014/main" id="{83407CF8-5824-4161-82BC-38659E817FBE}"/>
              </a:ext>
            </a:extLst>
          </p:cNvPr>
          <p:cNvSpPr>
            <a:spLocks noGrp="1"/>
          </p:cNvSpPr>
          <p:nvPr/>
        </p:nvSpPr>
        <p:spPr>
          <a:xfrm>
            <a:off x="7762875" y="1573160"/>
            <a:ext cx="3667125" cy="428625"/>
          </a:xfrm>
          <a:prstGeom prst="rect">
            <a:avLst/>
          </a:prstGeom>
          <a:noFill/>
          <a:ln w="0">
            <a:noFill/>
          </a:ln>
        </p:spPr>
        <p:txBody>
          <a:bodyPr wrap="square">
            <a:noAutofit/>
          </a:bodyPr>
          <a:lstStyle>
            <a:defPPr>
              <a:defRPr sz="2100" b="1">
                <a:solidFill>
                  <a:srgbClr val="164C47"/>
                </a:solidFill>
                <a:latin typeface="Arial"/>
                <a:ea typeface="Arial"/>
                <a:cs typeface="Arial"/>
              </a:defRPr>
            </a:defPPr>
            <a:lvl1pPr>
              <a:buNone/>
              <a:defRPr sz="2100" b="1">
                <a:solidFill>
                  <a:srgbClr val="164C47"/>
                </a:solidFill>
                <a:latin typeface="Arial"/>
                <a:ea typeface="Arial"/>
                <a:cs typeface="Arial"/>
              </a:defRPr>
            </a:lvl1pPr>
            <a:lvl2pPr>
              <a:buNone/>
              <a:defRPr sz="2100" b="1">
                <a:solidFill>
                  <a:srgbClr val="164C47"/>
                </a:solidFill>
                <a:latin typeface="Arial"/>
                <a:ea typeface="Arial"/>
                <a:cs typeface="Arial"/>
              </a:defRPr>
            </a:lvl2pPr>
            <a:lvl3pPr>
              <a:buNone/>
              <a:defRPr sz="2100" b="1">
                <a:solidFill>
                  <a:srgbClr val="164C47"/>
                </a:solidFill>
                <a:latin typeface="Arial"/>
                <a:ea typeface="Arial"/>
                <a:cs typeface="Arial"/>
              </a:defRPr>
            </a:lvl3pPr>
            <a:lvl4pPr>
              <a:buNone/>
              <a:defRPr sz="2100" b="1">
                <a:solidFill>
                  <a:srgbClr val="164C47"/>
                </a:solidFill>
                <a:latin typeface="Arial"/>
                <a:ea typeface="Arial"/>
                <a:cs typeface="Arial"/>
              </a:defRPr>
            </a:lvl4pPr>
            <a:lvl5pPr>
              <a:buNone/>
              <a:defRPr sz="2100" b="1">
                <a:solidFill>
                  <a:srgbClr val="164C47"/>
                </a:solidFill>
                <a:latin typeface="Arial"/>
                <a:ea typeface="Arial"/>
                <a:cs typeface="Arial"/>
              </a:defRPr>
            </a:lvl5pPr>
            <a:lvl6pPr>
              <a:buNone/>
              <a:defRPr sz="2100" b="1">
                <a:solidFill>
                  <a:srgbClr val="164C47"/>
                </a:solidFill>
                <a:latin typeface="Arial"/>
                <a:ea typeface="Arial"/>
                <a:cs typeface="Arial"/>
              </a:defRPr>
            </a:lvl6pPr>
            <a:lvl7pPr>
              <a:buNone/>
              <a:defRPr sz="2100" b="1">
                <a:solidFill>
                  <a:srgbClr val="164C47"/>
                </a:solidFill>
                <a:latin typeface="Arial"/>
                <a:ea typeface="Arial"/>
                <a:cs typeface="Arial"/>
              </a:defRPr>
            </a:lvl7pPr>
            <a:lvl8pPr>
              <a:buNone/>
              <a:defRPr sz="2100" b="1">
                <a:solidFill>
                  <a:srgbClr val="164C47"/>
                </a:solidFill>
                <a:latin typeface="Arial"/>
                <a:ea typeface="Arial"/>
                <a:cs typeface="Arial"/>
              </a:defRPr>
            </a:lvl8pPr>
            <a:lvl9pPr>
              <a:buNone/>
              <a:defRPr sz="2100" b="1">
                <a:solidFill>
                  <a:srgbClr val="164C47"/>
                </a:solidFill>
                <a:latin typeface="Arial"/>
                <a:ea typeface="Arial"/>
                <a:cs typeface="Arial"/>
              </a:defRPr>
            </a:lvl9pPr>
          </a:lstStyle>
          <a:p>
            <a:pPr>
              <a:buNone/>
              <a:defRPr sz="2100" b="1">
                <a:solidFill>
                  <a:srgbClr val="164C47"/>
                </a:solidFill>
                <a:latin typeface="Arial"/>
                <a:ea typeface="Arial"/>
                <a:cs typeface="Arial"/>
              </a:defRPr>
            </a:pPr>
            <a:r>
              <a:rPr sz="2100" b="1">
                <a:solidFill>
                  <a:srgbClr val="164C47"/>
                </a:solidFill>
                <a:latin typeface="Arial"/>
                <a:ea typeface="Arial"/>
                <a:cs typeface="Arial"/>
              </a:rPr>
              <a:t>Các quan hệ chính</a:t>
            </a:r>
          </a:p>
        </p:txBody>
      </p:sp>
      <p:sp>
        <p:nvSpPr>
          <p:cNvPr id="7" name="Rectangle 6">
            <a:extLst>
              <a:ext uri="{FF2B5EF4-FFF2-40B4-BE49-F238E27FC236}">
                <a16:creationId xmlns:a16="http://schemas.microsoft.com/office/drawing/2014/main" id="{2142E890-DC2E-4AE1-AFF7-CD69460C3309}"/>
              </a:ext>
            </a:extLst>
          </p:cNvPr>
          <p:cNvSpPr>
            <a:spLocks noGrp="1"/>
          </p:cNvSpPr>
          <p:nvPr/>
        </p:nvSpPr>
        <p:spPr>
          <a:xfrm>
            <a:off x="7762875" y="2287535"/>
            <a:ext cx="3667125" cy="1095375"/>
          </a:xfrm>
          <a:prstGeom prst="rect">
            <a:avLst/>
          </a:prstGeom>
          <a:noFill/>
          <a:ln w="0">
            <a:noFill/>
          </a:ln>
        </p:spPr>
        <p:txBody>
          <a:bodyPr wrap="square">
            <a:noAutofit/>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Một người dùng có thể có nhiều lần đo sức khỏe, thuốc và nhật ký nước.</a:t>
            </a:r>
          </a:p>
        </p:txBody>
      </p:sp>
      <p:sp>
        <p:nvSpPr>
          <p:cNvPr id="8" name="Rectangle 7">
            <a:extLst>
              <a:ext uri="{FF2B5EF4-FFF2-40B4-BE49-F238E27FC236}">
                <a16:creationId xmlns:a16="http://schemas.microsoft.com/office/drawing/2014/main" id="{CA16C01F-783F-4E29-A061-2F2D0D0CBFA1}"/>
              </a:ext>
            </a:extLst>
          </p:cNvPr>
          <p:cNvSpPr>
            <a:spLocks noGrp="1"/>
          </p:cNvSpPr>
          <p:nvPr/>
        </p:nvSpPr>
        <p:spPr>
          <a:xfrm>
            <a:off x="7762875" y="3668660"/>
            <a:ext cx="3667125" cy="952500"/>
          </a:xfrm>
          <a:prstGeom prst="rect">
            <a:avLst/>
          </a:prstGeom>
          <a:noFill/>
          <a:ln w="0">
            <a:noFill/>
          </a:ln>
        </p:spPr>
        <p:txBody>
          <a:bodyPr wrap="square">
            <a:noAutofit/>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Một thuốc có thể có nhiều nhật ký xác nhận cữ uống.</a:t>
            </a:r>
          </a:p>
        </p:txBody>
      </p:sp>
      <p:sp>
        <p:nvSpPr>
          <p:cNvPr id="9" name="Rectangle 8">
            <a:extLst>
              <a:ext uri="{FF2B5EF4-FFF2-40B4-BE49-F238E27FC236}">
                <a16:creationId xmlns:a16="http://schemas.microsoft.com/office/drawing/2014/main" id="{ACF2C708-DD17-4FB1-9D2C-EEA5AB795AD2}"/>
              </a:ext>
            </a:extLst>
          </p:cNvPr>
          <p:cNvSpPr>
            <a:spLocks noGrp="1"/>
          </p:cNvSpPr>
          <p:nvPr/>
        </p:nvSpPr>
        <p:spPr>
          <a:xfrm>
            <a:off x="7762875" y="4906910"/>
            <a:ext cx="3667125" cy="1476375"/>
          </a:xfrm>
          <a:prstGeom prst="rect">
            <a:avLst/>
          </a:prstGeom>
          <a:noFill/>
          <a:ln w="0">
            <a:noFill/>
          </a:ln>
        </p:spPr>
        <p:txBody>
          <a:bodyPr wrap="square">
            <a:noAutofit/>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Mỗi bản ghi sức khỏe, thuốc hoặc nhật ký nước thuộc một người dùng. Mỗi nhật ký cữ uống thuộc một thuốc.</a:t>
            </a:r>
          </a:p>
        </p:txBody>
      </p:sp>
    </p:spTree>
    <p:extLst>
      <p:ext uri="{BB962C8B-B14F-4D97-AF65-F5344CB8AC3E}">
        <p14:creationId xmlns:p14="http://schemas.microsoft.com/office/powerpoint/2010/main" val="1743352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F71B5BD-E9CA-42E1-B09E-AC8E9C31F5E9}"/>
              </a:ext>
            </a:extLst>
          </p:cNvPr>
          <p:cNvSpPr>
            <a:spLocks noGrp="1"/>
          </p:cNvSpPr>
          <p:nvPr/>
        </p:nvSpPr>
        <p:spPr>
          <a:xfrm>
            <a:off x="514350" y="238125"/>
            <a:ext cx="10477500" cy="238125"/>
          </a:xfrm>
          <a:prstGeom prst="rect">
            <a:avLst/>
          </a:prstGeom>
          <a:noFill/>
          <a:ln w="0">
            <a:noFill/>
          </a:ln>
        </p:spPr>
        <p:txBody>
          <a:bodyPr wrap="square">
            <a:noAutofit/>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BẢNG NGƯỜI DÙNG</a:t>
            </a:r>
          </a:p>
        </p:txBody>
      </p:sp>
      <p:sp>
        <p:nvSpPr>
          <p:cNvPr id="2" name="Rectangle 1">
            <a:extLst>
              <a:ext uri="{FF2B5EF4-FFF2-40B4-BE49-F238E27FC236}">
                <a16:creationId xmlns:a16="http://schemas.microsoft.com/office/drawing/2014/main" id="{258E79D9-74BD-4970-989E-7D148E059508}"/>
              </a:ext>
            </a:extLst>
          </p:cNvPr>
          <p:cNvSpPr>
            <a:spLocks noGrp="1"/>
          </p:cNvSpPr>
          <p:nvPr/>
        </p:nvSpPr>
        <p:spPr>
          <a:xfrm>
            <a:off x="514350" y="628650"/>
            <a:ext cx="11144250" cy="600075"/>
          </a:xfrm>
          <a:prstGeom prst="rect">
            <a:avLst/>
          </a:prstGeom>
          <a:noFill/>
          <a:ln w="0">
            <a:noFill/>
          </a:ln>
        </p:spPr>
        <p:txBody>
          <a:bodyPr wrap="square">
            <a:noAutofit/>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users: tài khoản, hồ sơ và thiết lập</a:t>
            </a:r>
          </a:p>
        </p:txBody>
      </p:sp>
      <p:sp>
        <p:nvSpPr>
          <p:cNvPr id="3" name="Rectangle 2">
            <a:extLst>
              <a:ext uri="{FF2B5EF4-FFF2-40B4-BE49-F238E27FC236}">
                <a16:creationId xmlns:a16="http://schemas.microsoft.com/office/drawing/2014/main" id="{42D30C5F-8D17-4F8E-BA7D-CB4798DDD846}"/>
              </a:ext>
            </a:extLst>
          </p:cNvPr>
          <p:cNvSpPr>
            <a:spLocks noGrp="1"/>
          </p:cNvSpPr>
          <p:nvPr/>
        </p:nvSpPr>
        <p:spPr>
          <a:xfrm>
            <a:off x="514350" y="6515100"/>
            <a:ext cx="9525000" cy="209550"/>
          </a:xfrm>
          <a:prstGeom prst="rect">
            <a:avLst/>
          </a:prstGeom>
          <a:noFill/>
          <a:ln w="0">
            <a:noFill/>
          </a:ln>
        </p:spPr>
        <p:txBody>
          <a:bodyPr wrap="square">
            <a:noAutofit/>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79A6C902-2D03-46D8-9CF8-59403E9D4BB4}"/>
              </a:ext>
            </a:extLst>
          </p:cNvPr>
          <p:cNvSpPr>
            <a:spLocks noGrp="1"/>
          </p:cNvSpPr>
          <p:nvPr/>
        </p:nvSpPr>
        <p:spPr>
          <a:xfrm>
            <a:off x="11258550" y="6477000"/>
            <a:ext cx="476250" cy="238125"/>
          </a:xfrm>
          <a:prstGeom prst="rect">
            <a:avLst/>
          </a:prstGeom>
          <a:noFill/>
          <a:ln w="0">
            <a:noFill/>
          </a:ln>
        </p:spPr>
        <p:txBody>
          <a:bodyPr wrap="square">
            <a:noAutofit/>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14</a:t>
            </a:r>
          </a:p>
        </p:txBody>
      </p:sp>
      <p:graphicFrame>
        <p:nvGraphicFramePr>
          <p:cNvPr id="5" name="Table 4">
            <a:extLst>
              <a:ext uri="{FF2B5EF4-FFF2-40B4-BE49-F238E27FC236}">
                <a16:creationId xmlns:a16="http://schemas.microsoft.com/office/drawing/2014/main" id="{CCEC4F52-605F-4600-A439-A96944AD93BA}"/>
              </a:ext>
            </a:extLst>
          </p:cNvPr>
          <p:cNvGraphicFramePr/>
          <p:nvPr/>
        </p:nvGraphicFramePr>
        <p:xfrm>
          <a:off x="514350" y="1457325"/>
          <a:ext cx="11144250" cy="4219814"/>
        </p:xfrm>
        <a:graphic>
          <a:graphicData uri="http://schemas.openxmlformats.org/drawingml/2006/table">
            <a:tbl>
              <a:tblPr/>
              <a:tblGrid>
                <a:gridCol w="2952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095875">
                  <a:extLst>
                    <a:ext uri="{9D8B030D-6E8A-4147-A177-3AD203B41FA5}">
                      <a16:colId xmlns:a16="http://schemas.microsoft.com/office/drawing/2014/main" val="20002"/>
                    </a:ext>
                  </a:extLst>
                </a:gridCol>
              </a:tblGrid>
              <a:tr h="517922">
                <a:tc>
                  <a:txBody>
                    <a:bodyPr/>
                    <a:lstStyle/>
                    <a:p>
                      <a:r>
                        <a:rPr sz="1725" b="1">
                          <a:solidFill>
                            <a:srgbClr val="FFFFFF"/>
                          </a:solidFill>
                          <a:latin typeface="Arial"/>
                          <a:ea typeface="Arial"/>
                          <a:cs typeface="Arial"/>
                        </a:rPr>
                        <a:t>Trường dữ liệu</a:t>
                      </a:r>
                    </a:p>
                  </a:txBody>
                  <a:tcPr>
                    <a:solidFill>
                      <a:srgbClr val="164C47"/>
                    </a:solidFill>
                  </a:tcPr>
                </a:tc>
                <a:tc>
                  <a:txBody>
                    <a:bodyPr/>
                    <a:lstStyle/>
                    <a:p>
                      <a:r>
                        <a:rPr sz="1725" b="1">
                          <a:solidFill>
                            <a:srgbClr val="FFFFFF"/>
                          </a:solidFill>
                          <a:latin typeface="Arial"/>
                          <a:ea typeface="Arial"/>
                          <a:cs typeface="Arial"/>
                        </a:rPr>
                        <a:t>Kiểu / ràng buộc</a:t>
                      </a:r>
                    </a:p>
                  </a:txBody>
                  <a:tcPr>
                    <a:solidFill>
                      <a:srgbClr val="164C47"/>
                    </a:solidFill>
                  </a:tcPr>
                </a:tc>
                <a:tc>
                  <a:txBody>
                    <a:bodyPr/>
                    <a:lstStyle/>
                    <a:p>
                      <a:r>
                        <a:rPr sz="1725" b="1">
                          <a:solidFill>
                            <a:srgbClr val="FFFFFF"/>
                          </a:solidFill>
                          <a:latin typeface="Arial"/>
                          <a:ea typeface="Arial"/>
                          <a:cs typeface="Arial"/>
                        </a:rPr>
                        <a:t>Ý nghĩa</a:t>
                      </a:r>
                    </a:p>
                  </a:txBody>
                  <a:tcPr>
                    <a:solidFill>
                      <a:srgbClr val="164C47"/>
                    </a:solidFill>
                  </a:tcPr>
                </a:tc>
                <a:extLst>
                  <a:ext uri="{0D108BD9-81ED-4DB2-BD59-A6C34878D82A}">
                    <a16:rowId xmlns:a16="http://schemas.microsoft.com/office/drawing/2014/main" val="10000"/>
                  </a:ext>
                </a:extLst>
              </a:tr>
              <a:tr h="517922">
                <a:tc>
                  <a:txBody>
                    <a:bodyPr/>
                    <a:lstStyle/>
                    <a:p>
                      <a:r>
                        <a:rPr sz="1650" b="0">
                          <a:solidFill>
                            <a:srgbClr val="164C47"/>
                          </a:solidFill>
                          <a:latin typeface="Arial"/>
                          <a:ea typeface="Arial"/>
                          <a:cs typeface="Arial"/>
                        </a:rPr>
                        <a:t>id, username</a:t>
                      </a:r>
                    </a:p>
                  </a:txBody>
                  <a:tcPr>
                    <a:solidFill>
                      <a:srgbClr val="FFFFFF"/>
                    </a:solidFill>
                  </a:tcPr>
                </a:tc>
                <a:tc>
                  <a:txBody>
                    <a:bodyPr/>
                    <a:lstStyle/>
                    <a:p>
                      <a:r>
                        <a:rPr sz="1650" b="0">
                          <a:solidFill>
                            <a:srgbClr val="164C47"/>
                          </a:solidFill>
                          <a:latin typeface="Arial"/>
                          <a:ea typeface="Arial"/>
                          <a:cs typeface="Arial"/>
                        </a:rPr>
                        <a:t>PK / UNIQUE, NOT NULL</a:t>
                      </a:r>
                    </a:p>
                  </a:txBody>
                  <a:tcPr>
                    <a:solidFill>
                      <a:srgbClr val="FFFFFF"/>
                    </a:solidFill>
                  </a:tcPr>
                </a:tc>
                <a:tc>
                  <a:txBody>
                    <a:bodyPr/>
                    <a:lstStyle/>
                    <a:p>
                      <a:r>
                        <a:rPr sz="1650" b="0">
                          <a:solidFill>
                            <a:srgbClr val="164C47"/>
                          </a:solidFill>
                          <a:latin typeface="Arial"/>
                          <a:ea typeface="Arial"/>
                          <a:cs typeface="Arial"/>
                        </a:rPr>
                        <a:t>Mã tài khoản, tên đăng nhập duy nhất</a:t>
                      </a:r>
                    </a:p>
                  </a:txBody>
                  <a:tcPr>
                    <a:solidFill>
                      <a:srgbClr val="FFFFFF"/>
                    </a:solidFill>
                  </a:tcPr>
                </a:tc>
                <a:extLst>
                  <a:ext uri="{0D108BD9-81ED-4DB2-BD59-A6C34878D82A}">
                    <a16:rowId xmlns:a16="http://schemas.microsoft.com/office/drawing/2014/main" val="10001"/>
                  </a:ext>
                </a:extLst>
              </a:tr>
              <a:tr h="517922">
                <a:tc>
                  <a:txBody>
                    <a:bodyPr/>
                    <a:lstStyle/>
                    <a:p>
                      <a:r>
                        <a:rPr sz="1650" b="0">
                          <a:solidFill>
                            <a:srgbClr val="164C47"/>
                          </a:solidFill>
                          <a:latin typeface="Arial"/>
                          <a:ea typeface="Arial"/>
                          <a:cs typeface="Arial"/>
                        </a:rPr>
                        <a:t>password_hash, salt</a:t>
                      </a:r>
                    </a:p>
                  </a:txBody>
                  <a:tcPr>
                    <a:solidFill>
                      <a:srgbClr val="EAF3EE"/>
                    </a:solidFill>
                  </a:tcPr>
                </a:tc>
                <a:tc>
                  <a:txBody>
                    <a:bodyPr/>
                    <a:lstStyle/>
                    <a:p>
                      <a:r>
                        <a:rPr sz="1650" b="0">
                          <a:solidFill>
                            <a:srgbClr val="164C47"/>
                          </a:solidFill>
                          <a:latin typeface="Arial"/>
                          <a:ea typeface="Arial"/>
                          <a:cs typeface="Arial"/>
                        </a:rPr>
                        <a:t>TEXT, NOT NULL</a:t>
                      </a:r>
                    </a:p>
                  </a:txBody>
                  <a:tcPr>
                    <a:solidFill>
                      <a:srgbClr val="EAF3EE"/>
                    </a:solidFill>
                  </a:tcPr>
                </a:tc>
                <a:tc>
                  <a:txBody>
                    <a:bodyPr/>
                    <a:lstStyle/>
                    <a:p>
                      <a:r>
                        <a:rPr sz="1650" b="0">
                          <a:solidFill>
                            <a:srgbClr val="164C47"/>
                          </a:solidFill>
                          <a:latin typeface="Arial"/>
                          <a:ea typeface="Arial"/>
                          <a:cs typeface="Arial"/>
                        </a:rPr>
                        <a:t>Mật khẩu dẫn xuất PBKDF2 và salt</a:t>
                      </a:r>
                    </a:p>
                  </a:txBody>
                  <a:tcPr>
                    <a:solidFill>
                      <a:srgbClr val="EAF3EE"/>
                    </a:solidFill>
                  </a:tcPr>
                </a:tc>
                <a:extLst>
                  <a:ext uri="{0D108BD9-81ED-4DB2-BD59-A6C34878D82A}">
                    <a16:rowId xmlns:a16="http://schemas.microsoft.com/office/drawing/2014/main" val="10002"/>
                  </a:ext>
                </a:extLst>
              </a:tr>
              <a:tr h="517922">
                <a:tc>
                  <a:txBody>
                    <a:bodyPr/>
                    <a:lstStyle/>
                    <a:p>
                      <a:r>
                        <a:rPr sz="1650" b="0">
                          <a:solidFill>
                            <a:srgbClr val="164C47"/>
                          </a:solidFill>
                          <a:latin typeface="Arial"/>
                          <a:ea typeface="Arial"/>
                          <a:cs typeface="Arial"/>
                        </a:rPr>
                        <a:t>fullname, birth_year, gender</a:t>
                      </a:r>
                    </a:p>
                  </a:txBody>
                  <a:tcPr>
                    <a:solidFill>
                      <a:srgbClr val="FFFFFF"/>
                    </a:solidFill>
                  </a:tcPr>
                </a:tc>
                <a:tc>
                  <a:txBody>
                    <a:bodyPr/>
                    <a:lstStyle/>
                    <a:p>
                      <a:r>
                        <a:rPr sz="1650" b="0">
                          <a:solidFill>
                            <a:srgbClr val="164C47"/>
                          </a:solidFill>
                          <a:latin typeface="Arial"/>
                          <a:ea typeface="Arial"/>
                          <a:cs typeface="Arial"/>
                        </a:rPr>
                        <a:t>TEXT / INTEGER / TEXT</a:t>
                      </a:r>
                    </a:p>
                  </a:txBody>
                  <a:tcPr>
                    <a:solidFill>
                      <a:srgbClr val="FFFFFF"/>
                    </a:solidFill>
                  </a:tcPr>
                </a:tc>
                <a:tc>
                  <a:txBody>
                    <a:bodyPr/>
                    <a:lstStyle/>
                    <a:p>
                      <a:r>
                        <a:rPr sz="1650" b="0">
                          <a:solidFill>
                            <a:srgbClr val="164C47"/>
                          </a:solidFill>
                          <a:latin typeface="Arial"/>
                          <a:ea typeface="Arial"/>
                          <a:cs typeface="Arial"/>
                        </a:rPr>
                        <a:t>Họ tên, năm sinh, giới tính</a:t>
                      </a:r>
                    </a:p>
                  </a:txBody>
                  <a:tcPr>
                    <a:solidFill>
                      <a:srgbClr val="FFFFFF"/>
                    </a:solidFill>
                  </a:tcPr>
                </a:tc>
                <a:extLst>
                  <a:ext uri="{0D108BD9-81ED-4DB2-BD59-A6C34878D82A}">
                    <a16:rowId xmlns:a16="http://schemas.microsoft.com/office/drawing/2014/main" val="10003"/>
                  </a:ext>
                </a:extLst>
              </a:tr>
              <a:tr h="517922">
                <a:tc>
                  <a:txBody>
                    <a:bodyPr/>
                    <a:lstStyle/>
                    <a:p>
                      <a:r>
                        <a:rPr sz="1650" b="0">
                          <a:solidFill>
                            <a:srgbClr val="164C47"/>
                          </a:solidFill>
                          <a:latin typeface="Arial"/>
                          <a:ea typeface="Arial"/>
                          <a:cs typeface="Arial"/>
                        </a:rPr>
                        <a:t>height_cm, base_weight_kg</a:t>
                      </a:r>
                    </a:p>
                  </a:txBody>
                  <a:tcPr>
                    <a:solidFill>
                      <a:srgbClr val="EAF3EE"/>
                    </a:solidFill>
                  </a:tcPr>
                </a:tc>
                <a:tc>
                  <a:txBody>
                    <a:bodyPr/>
                    <a:lstStyle/>
                    <a:p>
                      <a:r>
                        <a:rPr sz="1650" b="0">
                          <a:solidFill>
                            <a:srgbClr val="164C47"/>
                          </a:solidFill>
                          <a:latin typeface="Arial"/>
                          <a:ea typeface="Arial"/>
                          <a:cs typeface="Arial"/>
                        </a:rPr>
                        <a:t>REAL</a:t>
                      </a:r>
                    </a:p>
                  </a:txBody>
                  <a:tcPr>
                    <a:solidFill>
                      <a:srgbClr val="EAF3EE"/>
                    </a:solidFill>
                  </a:tcPr>
                </a:tc>
                <a:tc>
                  <a:txBody>
                    <a:bodyPr/>
                    <a:lstStyle/>
                    <a:p>
                      <a:r>
                        <a:rPr sz="1650" b="0">
                          <a:solidFill>
                            <a:srgbClr val="164C47"/>
                          </a:solidFill>
                          <a:latin typeface="Arial"/>
                          <a:ea typeface="Arial"/>
                          <a:cs typeface="Arial"/>
                        </a:rPr>
                        <a:t>Chiều cao (cm), cân nặng cơ sở (kg)</a:t>
                      </a:r>
                    </a:p>
                  </a:txBody>
                  <a:tcPr>
                    <a:solidFill>
                      <a:srgbClr val="EAF3EE"/>
                    </a:solidFill>
                  </a:tcPr>
                </a:tc>
                <a:extLst>
                  <a:ext uri="{0D108BD9-81ED-4DB2-BD59-A6C34878D82A}">
                    <a16:rowId xmlns:a16="http://schemas.microsoft.com/office/drawing/2014/main" val="10004"/>
                  </a:ext>
                </a:extLst>
              </a:tr>
              <a:tr h="517922">
                <a:tc>
                  <a:txBody>
                    <a:bodyPr/>
                    <a:lstStyle/>
                    <a:p>
                      <a:r>
                        <a:rPr sz="1650" b="0">
                          <a:solidFill>
                            <a:srgbClr val="164C47"/>
                          </a:solidFill>
                          <a:latin typeface="Arial"/>
                          <a:ea typeface="Arial"/>
                          <a:cs typeface="Arial"/>
                        </a:rPr>
                        <a:t>bmi_standard, water_goal_ml</a:t>
                      </a:r>
                    </a:p>
                  </a:txBody>
                  <a:tcPr>
                    <a:solidFill>
                      <a:srgbClr val="FFFFFF"/>
                    </a:solidFill>
                  </a:tcPr>
                </a:tc>
                <a:tc>
                  <a:txBody>
                    <a:bodyPr/>
                    <a:lstStyle/>
                    <a:p>
                      <a:r>
                        <a:rPr sz="1650" b="0">
                          <a:solidFill>
                            <a:srgbClr val="164C47"/>
                          </a:solidFill>
                          <a:latin typeface="Arial"/>
                          <a:ea typeface="Arial"/>
                          <a:cs typeface="Arial"/>
                        </a:rPr>
                        <a:t>TEXT / INTEGER</a:t>
                      </a:r>
                    </a:p>
                  </a:txBody>
                  <a:tcPr>
                    <a:solidFill>
                      <a:srgbClr val="FFFFFF"/>
                    </a:solidFill>
                  </a:tcPr>
                </a:tc>
                <a:tc>
                  <a:txBody>
                    <a:bodyPr/>
                    <a:lstStyle/>
                    <a:p>
                      <a:r>
                        <a:rPr sz="1650" b="0">
                          <a:solidFill>
                            <a:srgbClr val="164C47"/>
                          </a:solidFill>
                          <a:latin typeface="Arial"/>
                          <a:ea typeface="Arial"/>
                          <a:cs typeface="Arial"/>
                        </a:rPr>
                        <a:t>Bộ ngưỡng BMI, mục tiêu nước (ml)</a:t>
                      </a:r>
                    </a:p>
                  </a:txBody>
                  <a:tcPr>
                    <a:solidFill>
                      <a:srgbClr val="FFFFFF"/>
                    </a:solidFill>
                  </a:tcPr>
                </a:tc>
                <a:extLst>
                  <a:ext uri="{0D108BD9-81ED-4DB2-BD59-A6C34878D82A}">
                    <a16:rowId xmlns:a16="http://schemas.microsoft.com/office/drawing/2014/main" val="10005"/>
                  </a:ext>
                </a:extLst>
              </a:tr>
              <a:tr h="517922">
                <a:tc>
                  <a:txBody>
                    <a:bodyPr/>
                    <a:lstStyle/>
                    <a:p>
                      <a:r>
                        <a:rPr sz="1650" b="0">
                          <a:solidFill>
                            <a:srgbClr val="164C47"/>
                          </a:solidFill>
                          <a:latin typeface="Arial"/>
                          <a:ea typeface="Arial"/>
                          <a:cs typeface="Arial"/>
                        </a:rPr>
                        <a:t>water_start, water_end,</a:t>
                      </a:r>
                    </a:p>
                    <a:p>
                      <a:r>
                        <a:rPr sz="1650" b="0">
                          <a:solidFill>
                            <a:srgbClr val="164C47"/>
                          </a:solidFill>
                          <a:latin typeface="Arial"/>
                          <a:ea typeface="Arial"/>
                          <a:cs typeface="Arial"/>
                        </a:rPr>
                        <a:t>water_times</a:t>
                      </a:r>
                    </a:p>
                  </a:txBody>
                  <a:tcPr>
                    <a:solidFill>
                      <a:srgbClr val="EAF3EE"/>
                    </a:solidFill>
                  </a:tcPr>
                </a:tc>
                <a:tc>
                  <a:txBody>
                    <a:bodyPr/>
                    <a:lstStyle/>
                    <a:p>
                      <a:r>
                        <a:rPr sz="1650" b="0">
                          <a:solidFill>
                            <a:srgbClr val="164C47"/>
                          </a:solidFill>
                          <a:latin typeface="Arial"/>
                          <a:ea typeface="Arial"/>
                          <a:cs typeface="Arial"/>
                        </a:rPr>
                        <a:t>TEXT</a:t>
                      </a:r>
                    </a:p>
                  </a:txBody>
                  <a:tcPr>
                    <a:solidFill>
                      <a:srgbClr val="EAF3EE"/>
                    </a:solidFill>
                  </a:tcPr>
                </a:tc>
                <a:tc>
                  <a:txBody>
                    <a:bodyPr/>
                    <a:lstStyle/>
                    <a:p>
                      <a:r>
                        <a:rPr sz="1650" b="0">
                          <a:solidFill>
                            <a:srgbClr val="164C47"/>
                          </a:solidFill>
                          <a:latin typeface="Arial"/>
                          <a:ea typeface="Arial"/>
                          <a:cs typeface="Arial"/>
                        </a:rPr>
                        <a:t>Khung giờ và các giờ nhắc nước</a:t>
                      </a:r>
                    </a:p>
                  </a:txBody>
                  <a:tcPr>
                    <a:solidFill>
                      <a:srgbClr val="EAF3EE"/>
                    </a:solidFill>
                  </a:tcPr>
                </a:tc>
                <a:extLst>
                  <a:ext uri="{0D108BD9-81ED-4DB2-BD59-A6C34878D82A}">
                    <a16:rowId xmlns:a16="http://schemas.microsoft.com/office/drawing/2014/main" val="10006"/>
                  </a:ext>
                </a:extLst>
              </a:tr>
              <a:tr h="517922">
                <a:tc>
                  <a:txBody>
                    <a:bodyPr/>
                    <a:lstStyle/>
                    <a:p>
                      <a:r>
                        <a:rPr sz="1650" b="0">
                          <a:solidFill>
                            <a:srgbClr val="164C47"/>
                          </a:solidFill>
                          <a:latin typeface="Arial"/>
                          <a:ea typeface="Arial"/>
                          <a:cs typeface="Arial"/>
                        </a:rPr>
                        <a:t>water_amount</a:t>
                      </a:r>
                    </a:p>
                  </a:txBody>
                  <a:tcPr>
                    <a:solidFill>
                      <a:srgbClr val="FFFFFF"/>
                    </a:solidFill>
                  </a:tcPr>
                </a:tc>
                <a:tc>
                  <a:txBody>
                    <a:bodyPr/>
                    <a:lstStyle/>
                    <a:p>
                      <a:r>
                        <a:rPr sz="1650" b="0">
                          <a:solidFill>
                            <a:srgbClr val="164C47"/>
                          </a:solidFill>
                          <a:latin typeface="Arial"/>
                          <a:ea typeface="Arial"/>
                          <a:cs typeface="Arial"/>
                        </a:rPr>
                        <a:t>INTEGER</a:t>
                      </a:r>
                    </a:p>
                  </a:txBody>
                  <a:tcPr>
                    <a:solidFill>
                      <a:srgbClr val="FFFFFF"/>
                    </a:solidFill>
                  </a:tcPr>
                </a:tc>
                <a:tc>
                  <a:txBody>
                    <a:bodyPr/>
                    <a:lstStyle/>
                    <a:p>
                      <a:r>
                        <a:rPr sz="1650" b="0">
                          <a:solidFill>
                            <a:srgbClr val="164C47"/>
                          </a:solidFill>
                          <a:latin typeface="Arial"/>
                          <a:ea typeface="Arial"/>
                          <a:cs typeface="Arial"/>
                        </a:rPr>
                        <a:t>Lượng thêm nhanh (ml)</a:t>
                      </a:r>
                    </a:p>
                  </a:txBody>
                  <a:tcPr>
                    <a:solidFill>
                      <a:srgbClr val="FFFFFF"/>
                    </a:solidFill>
                  </a:tcPr>
                </a:tc>
                <a:extLst>
                  <a:ext uri="{0D108BD9-81ED-4DB2-BD59-A6C34878D82A}">
                    <a16:rowId xmlns:a16="http://schemas.microsoft.com/office/drawing/2014/main" val="10007"/>
                  </a:ext>
                </a:extLst>
              </a:tr>
            </a:tbl>
          </a:graphicData>
        </a:graphic>
      </p:graphicFrame>
      <p:sp>
        <p:nvSpPr>
          <p:cNvPr id="6" name="Rectangle 5">
            <a:extLst>
              <a:ext uri="{FF2B5EF4-FFF2-40B4-BE49-F238E27FC236}">
                <a16:creationId xmlns:a16="http://schemas.microsoft.com/office/drawing/2014/main" id="{A0B8425D-57CB-4D6D-9720-4CA45D4E766A}"/>
              </a:ext>
            </a:extLst>
          </p:cNvPr>
          <p:cNvSpPr>
            <a:spLocks noGrp="1"/>
          </p:cNvSpPr>
          <p:nvPr/>
        </p:nvSpPr>
        <p:spPr>
          <a:xfrm>
            <a:off x="514350" y="5810250"/>
            <a:ext cx="11096625" cy="561975"/>
          </a:xfrm>
          <a:prstGeom prst="rect">
            <a:avLst/>
          </a:prstGeom>
          <a:noFill/>
          <a:ln w="0">
            <a:noFill/>
          </a:ln>
        </p:spPr>
        <p:txBody>
          <a:bodyPr wrap="square">
            <a:noAutofit/>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Phiên lưu riêng trong SharedPreferences. PBKDF2 không mã hóa toàn bộ tệp SQLite.</a:t>
            </a:r>
          </a:p>
        </p:txBody>
      </p:sp>
    </p:spTree>
    <p:extLst>
      <p:ext uri="{BB962C8B-B14F-4D97-AF65-F5344CB8AC3E}">
        <p14:creationId xmlns:p14="http://schemas.microsoft.com/office/powerpoint/2010/main" val="594167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D11CB0E-90BD-4AE8-9194-F71FC288FB08}"/>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BẢNG SỨC KHỎE</a:t>
            </a:r>
          </a:p>
        </p:txBody>
      </p:sp>
      <p:sp>
        <p:nvSpPr>
          <p:cNvPr id="2" name="Rectangle 1">
            <a:extLst>
              <a:ext uri="{FF2B5EF4-FFF2-40B4-BE49-F238E27FC236}">
                <a16:creationId xmlns:a16="http://schemas.microsoft.com/office/drawing/2014/main" id="{46A2F68B-E24B-43BA-8F66-489BCB4685CA}"/>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health_records: dữ liệu mỗi lần đo</a:t>
            </a:r>
          </a:p>
        </p:txBody>
      </p:sp>
      <p:sp>
        <p:nvSpPr>
          <p:cNvPr id="3" name="Rectangle 2">
            <a:extLst>
              <a:ext uri="{FF2B5EF4-FFF2-40B4-BE49-F238E27FC236}">
                <a16:creationId xmlns:a16="http://schemas.microsoft.com/office/drawing/2014/main" id="{29D2AC99-4154-4935-8500-D7602FD6E044}"/>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D70AD863-FEDE-480D-AAF3-AB493C286ACA}"/>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15</a:t>
            </a:r>
          </a:p>
        </p:txBody>
      </p:sp>
      <p:graphicFrame>
        <p:nvGraphicFramePr>
          <p:cNvPr id="5" name="Table 4">
            <a:extLst>
              <a:ext uri="{FF2B5EF4-FFF2-40B4-BE49-F238E27FC236}">
                <a16:creationId xmlns:a16="http://schemas.microsoft.com/office/drawing/2014/main" id="{3DF3785B-505B-4394-B831-25725E58A75A}"/>
              </a:ext>
            </a:extLst>
          </p:cNvPr>
          <p:cNvGraphicFramePr/>
          <p:nvPr/>
        </p:nvGraphicFramePr>
        <p:xfrm>
          <a:off x="514350" y="1457325"/>
          <a:ext cx="11144250" cy="3667125"/>
        </p:xfrm>
        <a:graphic>
          <a:graphicData uri="http://schemas.openxmlformats.org/drawingml/2006/table">
            <a:tbl>
              <a:tblPr/>
              <a:tblGrid>
                <a:gridCol w="2952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095875">
                  <a:extLst>
                    <a:ext uri="{9D8B030D-6E8A-4147-A177-3AD203B41FA5}">
                      <a16:colId xmlns:a16="http://schemas.microsoft.com/office/drawing/2014/main" val="20002"/>
                    </a:ext>
                  </a:extLst>
                </a:gridCol>
              </a:tblGrid>
              <a:tr h="523875">
                <a:tc>
                  <a:txBody>
                    <a:bodyPr/>
                    <a:lstStyle/>
                    <a:p>
                      <a:r>
                        <a:rPr sz="1725" b="1">
                          <a:solidFill>
                            <a:srgbClr val="FFFFFF"/>
                          </a:solidFill>
                          <a:latin typeface="Arial"/>
                          <a:ea typeface="Arial"/>
                          <a:cs typeface="Arial"/>
                        </a:rPr>
                        <a:t>Trường dữ liệu</a:t>
                      </a:r>
                    </a:p>
                  </a:txBody>
                  <a:tcPr>
                    <a:solidFill>
                      <a:srgbClr val="164C47"/>
                    </a:solidFill>
                  </a:tcPr>
                </a:tc>
                <a:tc>
                  <a:txBody>
                    <a:bodyPr/>
                    <a:lstStyle/>
                    <a:p>
                      <a:r>
                        <a:rPr sz="1725" b="1">
                          <a:solidFill>
                            <a:srgbClr val="FFFFFF"/>
                          </a:solidFill>
                          <a:latin typeface="Arial"/>
                          <a:ea typeface="Arial"/>
                          <a:cs typeface="Arial"/>
                        </a:rPr>
                        <a:t>Kiểu / ràng buộc</a:t>
                      </a:r>
                    </a:p>
                  </a:txBody>
                  <a:tcPr>
                    <a:solidFill>
                      <a:srgbClr val="164C47"/>
                    </a:solidFill>
                  </a:tcPr>
                </a:tc>
                <a:tc>
                  <a:txBody>
                    <a:bodyPr/>
                    <a:lstStyle/>
                    <a:p>
                      <a:r>
                        <a:rPr sz="1725" b="1">
                          <a:solidFill>
                            <a:srgbClr val="FFFFFF"/>
                          </a:solidFill>
                          <a:latin typeface="Arial"/>
                          <a:ea typeface="Arial"/>
                          <a:cs typeface="Arial"/>
                        </a:rPr>
                        <a:t>Ý nghĩa</a:t>
                      </a:r>
                    </a:p>
                  </a:txBody>
                  <a:tcPr>
                    <a:solidFill>
                      <a:srgbClr val="164C47"/>
                    </a:solidFill>
                  </a:tcPr>
                </a:tc>
                <a:extLst>
                  <a:ext uri="{0D108BD9-81ED-4DB2-BD59-A6C34878D82A}">
                    <a16:rowId xmlns:a16="http://schemas.microsoft.com/office/drawing/2014/main" val="10000"/>
                  </a:ext>
                </a:extLst>
              </a:tr>
              <a:tr h="523875">
                <a:tc>
                  <a:txBody>
                    <a:bodyPr/>
                    <a:lstStyle/>
                    <a:p>
                      <a:r>
                        <a:rPr sz="1650" b="0">
                          <a:solidFill>
                            <a:srgbClr val="164C47"/>
                          </a:solidFill>
                          <a:latin typeface="Arial"/>
                          <a:ea typeface="Arial"/>
                          <a:cs typeface="Arial"/>
                        </a:rPr>
                        <a:t>id, user_id</a:t>
                      </a:r>
                    </a:p>
                  </a:txBody>
                  <a:tcPr>
                    <a:solidFill>
                      <a:srgbClr val="FFFFFF"/>
                    </a:solidFill>
                  </a:tcPr>
                </a:tc>
                <a:tc>
                  <a:txBody>
                    <a:bodyPr/>
                    <a:lstStyle/>
                    <a:p>
                      <a:r>
                        <a:rPr sz="1650" b="0">
                          <a:solidFill>
                            <a:srgbClr val="164C47"/>
                          </a:solidFill>
                          <a:latin typeface="Arial"/>
                          <a:ea typeface="Arial"/>
                          <a:cs typeface="Arial"/>
                        </a:rPr>
                        <a:t>INTEGER, PK / FK</a:t>
                      </a:r>
                    </a:p>
                  </a:txBody>
                  <a:tcPr>
                    <a:solidFill>
                      <a:srgbClr val="FFFFFF"/>
                    </a:solidFill>
                  </a:tcPr>
                </a:tc>
                <a:tc>
                  <a:txBody>
                    <a:bodyPr/>
                    <a:lstStyle/>
                    <a:p>
                      <a:r>
                        <a:rPr sz="1650" b="0">
                          <a:solidFill>
                            <a:srgbClr val="164C47"/>
                          </a:solidFill>
                          <a:latin typeface="Arial"/>
                          <a:ea typeface="Arial"/>
                          <a:cs typeface="Arial"/>
                        </a:rPr>
                        <a:t>Bản ghi và chủ sở hữu</a:t>
                      </a:r>
                    </a:p>
                  </a:txBody>
                  <a:tcPr>
                    <a:solidFill>
                      <a:srgbClr val="FFFFFF"/>
                    </a:solidFill>
                  </a:tcPr>
                </a:tc>
                <a:extLst>
                  <a:ext uri="{0D108BD9-81ED-4DB2-BD59-A6C34878D82A}">
                    <a16:rowId xmlns:a16="http://schemas.microsoft.com/office/drawing/2014/main" val="10001"/>
                  </a:ext>
                </a:extLst>
              </a:tr>
              <a:tr h="523875">
                <a:tc>
                  <a:txBody>
                    <a:bodyPr/>
                    <a:lstStyle/>
                    <a:p>
                      <a:r>
                        <a:rPr sz="1650" b="0">
                          <a:solidFill>
                            <a:srgbClr val="164C47"/>
                          </a:solidFill>
                          <a:latin typeface="Arial"/>
                          <a:ea typeface="Arial"/>
                          <a:cs typeface="Arial"/>
                        </a:rPr>
                        <a:t>date, measured_time</a:t>
                      </a:r>
                    </a:p>
                  </a:txBody>
                  <a:tcPr>
                    <a:solidFill>
                      <a:srgbClr val="EAF3EE"/>
                    </a:solidFill>
                  </a:tcPr>
                </a:tc>
                <a:tc>
                  <a:txBody>
                    <a:bodyPr/>
                    <a:lstStyle/>
                    <a:p>
                      <a:r>
                        <a:rPr sz="1650" b="0">
                          <a:solidFill>
                            <a:srgbClr val="164C47"/>
                          </a:solidFill>
                          <a:latin typeface="Arial"/>
                          <a:ea typeface="Arial"/>
                          <a:cs typeface="Arial"/>
                        </a:rPr>
                        <a:t>TEXT</a:t>
                      </a:r>
                    </a:p>
                  </a:txBody>
                  <a:tcPr>
                    <a:solidFill>
                      <a:srgbClr val="EAF3EE"/>
                    </a:solidFill>
                  </a:tcPr>
                </a:tc>
                <a:tc>
                  <a:txBody>
                    <a:bodyPr/>
                    <a:lstStyle/>
                    <a:p>
                      <a:r>
                        <a:rPr sz="1650" b="0">
                          <a:solidFill>
                            <a:srgbClr val="164C47"/>
                          </a:solidFill>
                          <a:latin typeface="Arial"/>
                          <a:ea typeface="Arial"/>
                          <a:cs typeface="Arial"/>
                        </a:rPr>
                        <a:t>Ngày yyyy-MM-dd, giờ HH:mm</a:t>
                      </a:r>
                    </a:p>
                  </a:txBody>
                  <a:tcPr>
                    <a:solidFill>
                      <a:srgbClr val="EAF3EE"/>
                    </a:solidFill>
                  </a:tcPr>
                </a:tc>
                <a:extLst>
                  <a:ext uri="{0D108BD9-81ED-4DB2-BD59-A6C34878D82A}">
                    <a16:rowId xmlns:a16="http://schemas.microsoft.com/office/drawing/2014/main" val="10002"/>
                  </a:ext>
                </a:extLst>
              </a:tr>
              <a:tr h="523875">
                <a:tc>
                  <a:txBody>
                    <a:bodyPr/>
                    <a:lstStyle/>
                    <a:p>
                      <a:r>
                        <a:rPr sz="1650" b="0">
                          <a:solidFill>
                            <a:srgbClr val="164C47"/>
                          </a:solidFill>
                          <a:latin typeface="Arial"/>
                          <a:ea typeface="Arial"/>
                          <a:cs typeface="Arial"/>
                        </a:rPr>
                        <a:t>meal_context, note</a:t>
                      </a:r>
                    </a:p>
                  </a:txBody>
                  <a:tcPr>
                    <a:solidFill>
                      <a:srgbClr val="FFFFFF"/>
                    </a:solidFill>
                  </a:tcPr>
                </a:tc>
                <a:tc>
                  <a:txBody>
                    <a:bodyPr/>
                    <a:lstStyle/>
                    <a:p>
                      <a:r>
                        <a:rPr sz="1650" b="0">
                          <a:solidFill>
                            <a:srgbClr val="164C47"/>
                          </a:solidFill>
                          <a:latin typeface="Arial"/>
                          <a:ea typeface="Arial"/>
                          <a:cs typeface="Arial"/>
                        </a:rPr>
                        <a:t>TEXT</a:t>
                      </a:r>
                    </a:p>
                  </a:txBody>
                  <a:tcPr>
                    <a:solidFill>
                      <a:srgbClr val="FFFFFF"/>
                    </a:solidFill>
                  </a:tcPr>
                </a:tc>
                <a:tc>
                  <a:txBody>
                    <a:bodyPr/>
                    <a:lstStyle/>
                    <a:p>
                      <a:r>
                        <a:rPr sz="1650" b="0">
                          <a:solidFill>
                            <a:srgbClr val="164C47"/>
                          </a:solidFill>
                          <a:latin typeface="Arial"/>
                          <a:ea typeface="Arial"/>
                          <a:cs typeface="Arial"/>
                        </a:rPr>
                        <a:t>Bối cảnh đường huyết và ghi chú</a:t>
                      </a:r>
                    </a:p>
                  </a:txBody>
                  <a:tcPr>
                    <a:solidFill>
                      <a:srgbClr val="FFFFFF"/>
                    </a:solidFill>
                  </a:tcPr>
                </a:tc>
                <a:extLst>
                  <a:ext uri="{0D108BD9-81ED-4DB2-BD59-A6C34878D82A}">
                    <a16:rowId xmlns:a16="http://schemas.microsoft.com/office/drawing/2014/main" val="10003"/>
                  </a:ext>
                </a:extLst>
              </a:tr>
              <a:tr h="523875">
                <a:tc>
                  <a:txBody>
                    <a:bodyPr/>
                    <a:lstStyle/>
                    <a:p>
                      <a:r>
                        <a:rPr sz="1650" b="0">
                          <a:solidFill>
                            <a:srgbClr val="164C47"/>
                          </a:solidFill>
                          <a:latin typeface="Arial"/>
                          <a:ea typeface="Arial"/>
                          <a:cs typeface="Arial"/>
                        </a:rPr>
                        <a:t>weight_kg, blood_sugar</a:t>
                      </a:r>
                    </a:p>
                  </a:txBody>
                  <a:tcPr>
                    <a:solidFill>
                      <a:srgbClr val="EAF3EE"/>
                    </a:solidFill>
                  </a:tcPr>
                </a:tc>
                <a:tc>
                  <a:txBody>
                    <a:bodyPr/>
                    <a:lstStyle/>
                    <a:p>
                      <a:r>
                        <a:rPr sz="1650" b="0">
                          <a:solidFill>
                            <a:srgbClr val="164C47"/>
                          </a:solidFill>
                          <a:latin typeface="Arial"/>
                          <a:ea typeface="Arial"/>
                          <a:cs typeface="Arial"/>
                        </a:rPr>
                        <a:t>REAL, cho phép NULL</a:t>
                      </a:r>
                    </a:p>
                  </a:txBody>
                  <a:tcPr>
                    <a:solidFill>
                      <a:srgbClr val="EAF3EE"/>
                    </a:solidFill>
                  </a:tcPr>
                </a:tc>
                <a:tc>
                  <a:txBody>
                    <a:bodyPr/>
                    <a:lstStyle/>
                    <a:p>
                      <a:r>
                        <a:rPr sz="1650" b="0">
                          <a:solidFill>
                            <a:srgbClr val="164C47"/>
                          </a:solidFill>
                          <a:latin typeface="Arial"/>
                          <a:ea typeface="Arial"/>
                          <a:cs typeface="Arial"/>
                        </a:rPr>
                        <a:t>Cân nặng (kg), đường huyết (mg/dL)</a:t>
                      </a:r>
                    </a:p>
                  </a:txBody>
                  <a:tcPr>
                    <a:solidFill>
                      <a:srgbClr val="EAF3EE"/>
                    </a:solidFill>
                  </a:tcPr>
                </a:tc>
                <a:extLst>
                  <a:ext uri="{0D108BD9-81ED-4DB2-BD59-A6C34878D82A}">
                    <a16:rowId xmlns:a16="http://schemas.microsoft.com/office/drawing/2014/main" val="10004"/>
                  </a:ext>
                </a:extLst>
              </a:tr>
              <a:tr h="523875">
                <a:tc>
                  <a:txBody>
                    <a:bodyPr/>
                    <a:lstStyle/>
                    <a:p>
                      <a:r>
                        <a:rPr sz="1650" b="0">
                          <a:solidFill>
                            <a:srgbClr val="164C47"/>
                          </a:solidFill>
                          <a:latin typeface="Arial"/>
                          <a:ea typeface="Arial"/>
                          <a:cs typeface="Arial"/>
                        </a:rPr>
                        <a:t>systolic, diastolic</a:t>
                      </a:r>
                    </a:p>
                  </a:txBody>
                  <a:tcPr>
                    <a:solidFill>
                      <a:srgbClr val="FFFFFF"/>
                    </a:solidFill>
                  </a:tcPr>
                </a:tc>
                <a:tc>
                  <a:txBody>
                    <a:bodyPr/>
                    <a:lstStyle/>
                    <a:p>
                      <a:r>
                        <a:rPr sz="1650" b="0">
                          <a:solidFill>
                            <a:srgbClr val="164C47"/>
                          </a:solidFill>
                          <a:latin typeface="Arial"/>
                          <a:ea typeface="Arial"/>
                          <a:cs typeface="Arial"/>
                        </a:rPr>
                        <a:t>INTEGER, cho phép NULL</a:t>
                      </a:r>
                    </a:p>
                  </a:txBody>
                  <a:tcPr>
                    <a:solidFill>
                      <a:srgbClr val="FFFFFF"/>
                    </a:solidFill>
                  </a:tcPr>
                </a:tc>
                <a:tc>
                  <a:txBody>
                    <a:bodyPr/>
                    <a:lstStyle/>
                    <a:p>
                      <a:r>
                        <a:rPr sz="1650" b="0">
                          <a:solidFill>
                            <a:srgbClr val="164C47"/>
                          </a:solidFill>
                          <a:latin typeface="Arial"/>
                          <a:ea typeface="Arial"/>
                          <a:cs typeface="Arial"/>
                        </a:rPr>
                        <a:t>Huyết áp tâm thu / tâm trương (mmHg)</a:t>
                      </a:r>
                    </a:p>
                  </a:txBody>
                  <a:tcPr>
                    <a:solidFill>
                      <a:srgbClr val="FFFFFF"/>
                    </a:solidFill>
                  </a:tcPr>
                </a:tc>
                <a:extLst>
                  <a:ext uri="{0D108BD9-81ED-4DB2-BD59-A6C34878D82A}">
                    <a16:rowId xmlns:a16="http://schemas.microsoft.com/office/drawing/2014/main" val="10005"/>
                  </a:ext>
                </a:extLst>
              </a:tr>
              <a:tr h="523875">
                <a:tc>
                  <a:txBody>
                    <a:bodyPr/>
                    <a:lstStyle/>
                    <a:p>
                      <a:r>
                        <a:rPr sz="1650" b="0">
                          <a:solidFill>
                            <a:srgbClr val="164C47"/>
                          </a:solidFill>
                          <a:latin typeface="Arial"/>
                          <a:ea typeface="Arial"/>
                          <a:cs typeface="Arial"/>
                        </a:rPr>
                        <a:t>heart_rate</a:t>
                      </a:r>
                    </a:p>
                  </a:txBody>
                  <a:tcPr>
                    <a:solidFill>
                      <a:srgbClr val="EAF3EE"/>
                    </a:solidFill>
                  </a:tcPr>
                </a:tc>
                <a:tc>
                  <a:txBody>
                    <a:bodyPr/>
                    <a:lstStyle/>
                    <a:p>
                      <a:r>
                        <a:rPr sz="1650" b="0">
                          <a:solidFill>
                            <a:srgbClr val="164C47"/>
                          </a:solidFill>
                          <a:latin typeface="Arial"/>
                          <a:ea typeface="Arial"/>
                          <a:cs typeface="Arial"/>
                        </a:rPr>
                        <a:t>INTEGER, cho phép NULL</a:t>
                      </a:r>
                    </a:p>
                  </a:txBody>
                  <a:tcPr>
                    <a:solidFill>
                      <a:srgbClr val="EAF3EE"/>
                    </a:solidFill>
                  </a:tcPr>
                </a:tc>
                <a:tc>
                  <a:txBody>
                    <a:bodyPr/>
                    <a:lstStyle/>
                    <a:p>
                      <a:r>
                        <a:rPr sz="1650" b="0">
                          <a:solidFill>
                            <a:srgbClr val="164C47"/>
                          </a:solidFill>
                          <a:latin typeface="Arial"/>
                          <a:ea typeface="Arial"/>
                          <a:cs typeface="Arial"/>
                        </a:rPr>
                        <a:t>Nhịp tim (nhịp/phút)</a:t>
                      </a:r>
                    </a:p>
                  </a:txBody>
                  <a:tcPr>
                    <a:solidFill>
                      <a:srgbClr val="EAF3EE"/>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922CE5AE-DE4E-4027-AE21-6543ECDEB692}"/>
              </a:ext>
            </a:extLst>
          </p:cNvPr>
          <p:cNvSpPr>
            <a:spLocks noGrp="1"/>
          </p:cNvSpPr>
          <p:nvPr/>
        </p:nvSpPr>
        <p:spPr>
          <a:xfrm>
            <a:off x="514350" y="5810250"/>
            <a:ext cx="11096625" cy="561975"/>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Một ngày có nhiều lần đo. Chỉ số chưa nhập dùng NULL. Biểu mẫu yêu cầu huyết áp đủ cặp.</a:t>
            </a:r>
          </a:p>
        </p:txBody>
      </p:sp>
    </p:spTree>
    <p:extLst>
      <p:ext uri="{BB962C8B-B14F-4D97-AF65-F5344CB8AC3E}">
        <p14:creationId xmlns:p14="http://schemas.microsoft.com/office/powerpoint/2010/main" val="536377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39BC29-7756-4322-BF09-D00F324560A2}"/>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MEDICINES</a:t>
            </a:r>
          </a:p>
        </p:txBody>
      </p:sp>
      <p:sp>
        <p:nvSpPr>
          <p:cNvPr id="2" name="Rectangle 1">
            <a:extLst>
              <a:ext uri="{FF2B5EF4-FFF2-40B4-BE49-F238E27FC236}">
                <a16:creationId xmlns:a16="http://schemas.microsoft.com/office/drawing/2014/main" id="{FB973783-5994-49E7-BD9F-039A9A7CA199}"/>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medicines: thông tin thuốc và lịch uống</a:t>
            </a:r>
          </a:p>
        </p:txBody>
      </p:sp>
      <p:sp>
        <p:nvSpPr>
          <p:cNvPr id="3" name="Rectangle 2">
            <a:extLst>
              <a:ext uri="{FF2B5EF4-FFF2-40B4-BE49-F238E27FC236}">
                <a16:creationId xmlns:a16="http://schemas.microsoft.com/office/drawing/2014/main" id="{50B999CD-166D-447D-AFDF-AAA1C4E3071B}"/>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219BE29E-42B5-487C-9438-87B6DD4832E0}"/>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16</a:t>
            </a:r>
          </a:p>
        </p:txBody>
      </p:sp>
      <p:graphicFrame>
        <p:nvGraphicFramePr>
          <p:cNvPr id="5" name="Table 4">
            <a:extLst>
              <a:ext uri="{FF2B5EF4-FFF2-40B4-BE49-F238E27FC236}">
                <a16:creationId xmlns:a16="http://schemas.microsoft.com/office/drawing/2014/main" id="{40BA9AE0-1973-4927-BA52-33E656DEE218}"/>
              </a:ext>
            </a:extLst>
          </p:cNvPr>
          <p:cNvGraphicFramePr/>
          <p:nvPr/>
        </p:nvGraphicFramePr>
        <p:xfrm>
          <a:off x="514350" y="1457325"/>
          <a:ext cx="11144250" cy="3667125"/>
        </p:xfrm>
        <a:graphic>
          <a:graphicData uri="http://schemas.openxmlformats.org/drawingml/2006/table">
            <a:tbl>
              <a:tblPr/>
              <a:tblGrid>
                <a:gridCol w="2952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095875">
                  <a:extLst>
                    <a:ext uri="{9D8B030D-6E8A-4147-A177-3AD203B41FA5}">
                      <a16:colId xmlns:a16="http://schemas.microsoft.com/office/drawing/2014/main" val="20002"/>
                    </a:ext>
                  </a:extLst>
                </a:gridCol>
              </a:tblGrid>
              <a:tr h="523875">
                <a:tc>
                  <a:txBody>
                    <a:bodyPr/>
                    <a:lstStyle/>
                    <a:p>
                      <a:r>
                        <a:rPr sz="1725" b="1">
                          <a:solidFill>
                            <a:srgbClr val="FFFFFF"/>
                          </a:solidFill>
                          <a:latin typeface="Arial"/>
                          <a:ea typeface="Arial"/>
                          <a:cs typeface="Arial"/>
                        </a:rPr>
                        <a:t>Trường dữ liệu</a:t>
                      </a:r>
                    </a:p>
                  </a:txBody>
                  <a:tcPr>
                    <a:solidFill>
                      <a:srgbClr val="164C47"/>
                    </a:solidFill>
                  </a:tcPr>
                </a:tc>
                <a:tc>
                  <a:txBody>
                    <a:bodyPr/>
                    <a:lstStyle/>
                    <a:p>
                      <a:r>
                        <a:rPr sz="1725" b="1">
                          <a:solidFill>
                            <a:srgbClr val="FFFFFF"/>
                          </a:solidFill>
                          <a:latin typeface="Arial"/>
                          <a:ea typeface="Arial"/>
                          <a:cs typeface="Arial"/>
                        </a:rPr>
                        <a:t>Kiểu / ràng buộc</a:t>
                      </a:r>
                    </a:p>
                  </a:txBody>
                  <a:tcPr>
                    <a:solidFill>
                      <a:srgbClr val="164C47"/>
                    </a:solidFill>
                  </a:tcPr>
                </a:tc>
                <a:tc>
                  <a:txBody>
                    <a:bodyPr/>
                    <a:lstStyle/>
                    <a:p>
                      <a:r>
                        <a:rPr sz="1725" b="1">
                          <a:solidFill>
                            <a:srgbClr val="FFFFFF"/>
                          </a:solidFill>
                          <a:latin typeface="Arial"/>
                          <a:ea typeface="Arial"/>
                          <a:cs typeface="Arial"/>
                        </a:rPr>
                        <a:t>Ý nghĩa</a:t>
                      </a:r>
                    </a:p>
                  </a:txBody>
                  <a:tcPr>
                    <a:solidFill>
                      <a:srgbClr val="164C47"/>
                    </a:solidFill>
                  </a:tcPr>
                </a:tc>
                <a:extLst>
                  <a:ext uri="{0D108BD9-81ED-4DB2-BD59-A6C34878D82A}">
                    <a16:rowId xmlns:a16="http://schemas.microsoft.com/office/drawing/2014/main" val="10000"/>
                  </a:ext>
                </a:extLst>
              </a:tr>
              <a:tr h="523875">
                <a:tc>
                  <a:txBody>
                    <a:bodyPr/>
                    <a:lstStyle/>
                    <a:p>
                      <a:r>
                        <a:rPr sz="1650" b="0">
                          <a:solidFill>
                            <a:srgbClr val="164C47"/>
                          </a:solidFill>
                          <a:latin typeface="Arial"/>
                          <a:ea typeface="Arial"/>
                          <a:cs typeface="Arial"/>
                        </a:rPr>
                        <a:t>id, user_id</a:t>
                      </a:r>
                    </a:p>
                  </a:txBody>
                  <a:tcPr>
                    <a:solidFill>
                      <a:srgbClr val="FFFFFF"/>
                    </a:solidFill>
                  </a:tcPr>
                </a:tc>
                <a:tc>
                  <a:txBody>
                    <a:bodyPr/>
                    <a:lstStyle/>
                    <a:p>
                      <a:r>
                        <a:rPr sz="1650" b="0">
                          <a:solidFill>
                            <a:srgbClr val="164C47"/>
                          </a:solidFill>
                          <a:latin typeface="Arial"/>
                          <a:ea typeface="Arial"/>
                          <a:cs typeface="Arial"/>
                        </a:rPr>
                        <a:t>INTEGER, PK / FK</a:t>
                      </a:r>
                    </a:p>
                  </a:txBody>
                  <a:tcPr>
                    <a:solidFill>
                      <a:srgbClr val="FFFFFF"/>
                    </a:solidFill>
                  </a:tcPr>
                </a:tc>
                <a:tc>
                  <a:txBody>
                    <a:bodyPr/>
                    <a:lstStyle/>
                    <a:p>
                      <a:r>
                        <a:rPr sz="1650" b="0">
                          <a:solidFill>
                            <a:srgbClr val="164C47"/>
                          </a:solidFill>
                          <a:latin typeface="Arial"/>
                          <a:ea typeface="Arial"/>
                          <a:cs typeface="Arial"/>
                        </a:rPr>
                        <a:t>Mã thuốc và tài khoản sở hữu</a:t>
                      </a:r>
                    </a:p>
                  </a:txBody>
                  <a:tcPr>
                    <a:solidFill>
                      <a:srgbClr val="FFFFFF"/>
                    </a:solidFill>
                  </a:tcPr>
                </a:tc>
                <a:extLst>
                  <a:ext uri="{0D108BD9-81ED-4DB2-BD59-A6C34878D82A}">
                    <a16:rowId xmlns:a16="http://schemas.microsoft.com/office/drawing/2014/main" val="10001"/>
                  </a:ext>
                </a:extLst>
              </a:tr>
              <a:tr h="523875">
                <a:tc>
                  <a:txBody>
                    <a:bodyPr/>
                    <a:lstStyle/>
                    <a:p>
                      <a:r>
                        <a:rPr sz="1650" b="0">
                          <a:solidFill>
                            <a:srgbClr val="164C47"/>
                          </a:solidFill>
                          <a:latin typeface="Arial"/>
                          <a:ea typeface="Arial"/>
                          <a:cs typeface="Arial"/>
                        </a:rPr>
                        <a:t>name</a:t>
                      </a:r>
                    </a:p>
                  </a:txBody>
                  <a:tcPr>
                    <a:solidFill>
                      <a:srgbClr val="EAF3EE"/>
                    </a:solidFill>
                  </a:tcPr>
                </a:tc>
                <a:tc>
                  <a:txBody>
                    <a:bodyPr/>
                    <a:lstStyle/>
                    <a:p>
                      <a:r>
                        <a:rPr sz="1650" b="0">
                          <a:solidFill>
                            <a:srgbClr val="164C47"/>
                          </a:solidFill>
                          <a:latin typeface="Arial"/>
                          <a:ea typeface="Arial"/>
                          <a:cs typeface="Arial"/>
                        </a:rPr>
                        <a:t>TEXT, NOT NULL</a:t>
                      </a:r>
                    </a:p>
                  </a:txBody>
                  <a:tcPr>
                    <a:solidFill>
                      <a:srgbClr val="EAF3EE"/>
                    </a:solidFill>
                  </a:tcPr>
                </a:tc>
                <a:tc>
                  <a:txBody>
                    <a:bodyPr/>
                    <a:lstStyle/>
                    <a:p>
                      <a:r>
                        <a:rPr sz="1650" b="0">
                          <a:solidFill>
                            <a:srgbClr val="164C47"/>
                          </a:solidFill>
                          <a:latin typeface="Arial"/>
                          <a:ea typeface="Arial"/>
                          <a:cs typeface="Arial"/>
                        </a:rPr>
                        <a:t>Tên thuốc</a:t>
                      </a:r>
                    </a:p>
                  </a:txBody>
                  <a:tcPr>
                    <a:solidFill>
                      <a:srgbClr val="EAF3EE"/>
                    </a:solidFill>
                  </a:tcPr>
                </a:tc>
                <a:extLst>
                  <a:ext uri="{0D108BD9-81ED-4DB2-BD59-A6C34878D82A}">
                    <a16:rowId xmlns:a16="http://schemas.microsoft.com/office/drawing/2014/main" val="10002"/>
                  </a:ext>
                </a:extLst>
              </a:tr>
              <a:tr h="523875">
                <a:tc>
                  <a:txBody>
                    <a:bodyPr/>
                    <a:lstStyle/>
                    <a:p>
                      <a:r>
                        <a:rPr sz="1650" b="0">
                          <a:solidFill>
                            <a:srgbClr val="164C47"/>
                          </a:solidFill>
                          <a:latin typeface="Arial"/>
                          <a:ea typeface="Arial"/>
                          <a:cs typeface="Arial"/>
                        </a:rPr>
                        <a:t>dosage</a:t>
                      </a:r>
                    </a:p>
                  </a:txBody>
                  <a:tcPr>
                    <a:solidFill>
                      <a:srgbClr val="FFFFFF"/>
                    </a:solidFill>
                  </a:tcPr>
                </a:tc>
                <a:tc>
                  <a:txBody>
                    <a:bodyPr/>
                    <a:lstStyle/>
                    <a:p>
                      <a:r>
                        <a:rPr sz="1650" b="0">
                          <a:solidFill>
                            <a:srgbClr val="164C47"/>
                          </a:solidFill>
                          <a:latin typeface="Arial"/>
                          <a:ea typeface="Arial"/>
                          <a:cs typeface="Arial"/>
                        </a:rPr>
                        <a:t>TEXT</a:t>
                      </a:r>
                    </a:p>
                  </a:txBody>
                  <a:tcPr>
                    <a:solidFill>
                      <a:srgbClr val="FFFFFF"/>
                    </a:solidFill>
                  </a:tcPr>
                </a:tc>
                <a:tc>
                  <a:txBody>
                    <a:bodyPr/>
                    <a:lstStyle/>
                    <a:p>
                      <a:r>
                        <a:rPr sz="1650" b="0">
                          <a:solidFill>
                            <a:srgbClr val="164C47"/>
                          </a:solidFill>
                          <a:latin typeface="Arial"/>
                          <a:ea typeface="Arial"/>
                          <a:cs typeface="Arial"/>
                        </a:rPr>
                        <a:t>Liều lượng hoặc hướng dẫn</a:t>
                      </a:r>
                    </a:p>
                  </a:txBody>
                  <a:tcPr>
                    <a:solidFill>
                      <a:srgbClr val="FFFFFF"/>
                    </a:solidFill>
                  </a:tcPr>
                </a:tc>
                <a:extLst>
                  <a:ext uri="{0D108BD9-81ED-4DB2-BD59-A6C34878D82A}">
                    <a16:rowId xmlns:a16="http://schemas.microsoft.com/office/drawing/2014/main" val="10003"/>
                  </a:ext>
                </a:extLst>
              </a:tr>
              <a:tr h="523875">
                <a:tc>
                  <a:txBody>
                    <a:bodyPr/>
                    <a:lstStyle/>
                    <a:p>
                      <a:r>
                        <a:rPr sz="1650" b="0">
                          <a:solidFill>
                            <a:srgbClr val="164C47"/>
                          </a:solidFill>
                          <a:latin typeface="Arial"/>
                          <a:ea typeface="Arial"/>
                          <a:cs typeface="Arial"/>
                        </a:rPr>
                        <a:t>time</a:t>
                      </a:r>
                    </a:p>
                  </a:txBody>
                  <a:tcPr>
                    <a:solidFill>
                      <a:srgbClr val="EAF3EE"/>
                    </a:solidFill>
                  </a:tcPr>
                </a:tc>
                <a:tc>
                  <a:txBody>
                    <a:bodyPr/>
                    <a:lstStyle/>
                    <a:p>
                      <a:r>
                        <a:rPr sz="1650" b="0">
                          <a:solidFill>
                            <a:srgbClr val="164C47"/>
                          </a:solidFill>
                          <a:latin typeface="Arial"/>
                          <a:ea typeface="Arial"/>
                          <a:cs typeface="Arial"/>
                        </a:rPr>
                        <a:t>TEXT, NOT NULL</a:t>
                      </a:r>
                    </a:p>
                  </a:txBody>
                  <a:tcPr>
                    <a:solidFill>
                      <a:srgbClr val="EAF3EE"/>
                    </a:solidFill>
                  </a:tcPr>
                </a:tc>
                <a:tc>
                  <a:txBody>
                    <a:bodyPr/>
                    <a:lstStyle/>
                    <a:p>
                      <a:r>
                        <a:rPr sz="1650" b="0">
                          <a:solidFill>
                            <a:srgbClr val="164C47"/>
                          </a:solidFill>
                          <a:latin typeface="Arial"/>
                          <a:ea typeface="Arial"/>
                          <a:cs typeface="Arial"/>
                        </a:rPr>
                        <a:t>Một hoặc nhiều giờ HH:mm, cách bằng dấu phẩy</a:t>
                      </a:r>
                    </a:p>
                  </a:txBody>
                  <a:tcPr>
                    <a:solidFill>
                      <a:srgbClr val="EAF3EE"/>
                    </a:solidFill>
                  </a:tcPr>
                </a:tc>
                <a:extLst>
                  <a:ext uri="{0D108BD9-81ED-4DB2-BD59-A6C34878D82A}">
                    <a16:rowId xmlns:a16="http://schemas.microsoft.com/office/drawing/2014/main" val="10004"/>
                  </a:ext>
                </a:extLst>
              </a:tr>
              <a:tr h="523875">
                <a:tc>
                  <a:txBody>
                    <a:bodyPr/>
                    <a:lstStyle/>
                    <a:p>
                      <a:r>
                        <a:rPr sz="1650" b="0">
                          <a:solidFill>
                            <a:srgbClr val="164C47"/>
                          </a:solidFill>
                          <a:latin typeface="Arial"/>
                          <a:ea typeface="Arial"/>
                          <a:cs typeface="Arial"/>
                        </a:rPr>
                        <a:t>days_mask</a:t>
                      </a:r>
                    </a:p>
                  </a:txBody>
                  <a:tcPr>
                    <a:solidFill>
                      <a:srgbClr val="FFFFFF"/>
                    </a:solidFill>
                  </a:tcPr>
                </a:tc>
                <a:tc>
                  <a:txBody>
                    <a:bodyPr/>
                    <a:lstStyle/>
                    <a:p>
                      <a:r>
                        <a:rPr sz="1650" b="0">
                          <a:solidFill>
                            <a:srgbClr val="164C47"/>
                          </a:solidFill>
                          <a:latin typeface="Arial"/>
                          <a:ea typeface="Arial"/>
                          <a:cs typeface="Arial"/>
                        </a:rPr>
                        <a:t>INTEGER, mặc định 127</a:t>
                      </a:r>
                    </a:p>
                  </a:txBody>
                  <a:tcPr>
                    <a:solidFill>
                      <a:srgbClr val="FFFFFF"/>
                    </a:solidFill>
                  </a:tcPr>
                </a:tc>
                <a:tc>
                  <a:txBody>
                    <a:bodyPr/>
                    <a:lstStyle/>
                    <a:p>
                      <a:r>
                        <a:rPr sz="1650" b="0">
                          <a:solidFill>
                            <a:srgbClr val="164C47"/>
                          </a:solidFill>
                          <a:latin typeface="Arial"/>
                          <a:ea typeface="Arial"/>
                          <a:cs typeface="Arial"/>
                        </a:rPr>
                        <a:t>Mặt nạ 7 bit, 127 tương ứng cả tuần</a:t>
                      </a:r>
                    </a:p>
                  </a:txBody>
                  <a:tcPr>
                    <a:solidFill>
                      <a:srgbClr val="FFFFFF"/>
                    </a:solidFill>
                  </a:tcPr>
                </a:tc>
                <a:extLst>
                  <a:ext uri="{0D108BD9-81ED-4DB2-BD59-A6C34878D82A}">
                    <a16:rowId xmlns:a16="http://schemas.microsoft.com/office/drawing/2014/main" val="10005"/>
                  </a:ext>
                </a:extLst>
              </a:tr>
              <a:tr h="523875">
                <a:tc>
                  <a:txBody>
                    <a:bodyPr/>
                    <a:lstStyle/>
                    <a:p>
                      <a:r>
                        <a:rPr sz="1650" b="0">
                          <a:solidFill>
                            <a:srgbClr val="164C47"/>
                          </a:solidFill>
                          <a:latin typeface="Arial"/>
                          <a:ea typeface="Arial"/>
                          <a:cs typeface="Arial"/>
                        </a:rPr>
                        <a:t>is_active</a:t>
                      </a:r>
                    </a:p>
                  </a:txBody>
                  <a:tcPr>
                    <a:solidFill>
                      <a:srgbClr val="EAF3EE"/>
                    </a:solidFill>
                  </a:tcPr>
                </a:tc>
                <a:tc>
                  <a:txBody>
                    <a:bodyPr/>
                    <a:lstStyle/>
                    <a:p>
                      <a:r>
                        <a:rPr sz="1650" b="0">
                          <a:solidFill>
                            <a:srgbClr val="164C47"/>
                          </a:solidFill>
                          <a:latin typeface="Arial"/>
                          <a:ea typeface="Arial"/>
                          <a:cs typeface="Arial"/>
                        </a:rPr>
                        <a:t>INTEGER, mặc định 1</a:t>
                      </a:r>
                    </a:p>
                  </a:txBody>
                  <a:tcPr>
                    <a:solidFill>
                      <a:srgbClr val="EAF3EE"/>
                    </a:solidFill>
                  </a:tcPr>
                </a:tc>
                <a:tc>
                  <a:txBody>
                    <a:bodyPr/>
                    <a:lstStyle/>
                    <a:p>
                      <a:r>
                        <a:rPr sz="1650" b="0">
                          <a:solidFill>
                            <a:srgbClr val="164C47"/>
                          </a:solidFill>
                          <a:latin typeface="Arial"/>
                          <a:ea typeface="Arial"/>
                          <a:cs typeface="Arial"/>
                        </a:rPr>
                        <a:t>1: bật lịch nhắc, 0: tắt lịch nhắc</a:t>
                      </a:r>
                    </a:p>
                  </a:txBody>
                  <a:tcPr>
                    <a:solidFill>
                      <a:srgbClr val="EAF3EE"/>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FBC15A6B-968B-4FDE-9EF0-2F924810BE50}"/>
              </a:ext>
            </a:extLst>
          </p:cNvPr>
          <p:cNvSpPr>
            <a:spLocks noGrp="1"/>
          </p:cNvSpPr>
          <p:nvPr/>
        </p:nvSpPr>
        <p:spPr>
          <a:xfrm>
            <a:off x="514350" y="5810250"/>
            <a:ext cx="11096625" cy="561975"/>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Nhiều giờ uống vẫn thuộc cùng một thuốc. Cữ cụ thể được phân biệt thêm ngày và giờ dự kiến.</a:t>
            </a:r>
          </a:p>
        </p:txBody>
      </p:sp>
    </p:spTree>
    <p:extLst>
      <p:ext uri="{BB962C8B-B14F-4D97-AF65-F5344CB8AC3E}">
        <p14:creationId xmlns:p14="http://schemas.microsoft.com/office/powerpoint/2010/main" val="68109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743D976-FF47-4F6C-87AC-BA4138C7A77E}"/>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MEDICINE_LOGS</a:t>
            </a:r>
          </a:p>
        </p:txBody>
      </p:sp>
      <p:sp>
        <p:nvSpPr>
          <p:cNvPr id="2" name="Rectangle 1">
            <a:extLst>
              <a:ext uri="{FF2B5EF4-FFF2-40B4-BE49-F238E27FC236}">
                <a16:creationId xmlns:a16="http://schemas.microsoft.com/office/drawing/2014/main" id="{E32D400A-7025-4B3B-93BC-72C569907722}"/>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medicine_logs: kết quả xác nhận từng cữ</a:t>
            </a:r>
          </a:p>
        </p:txBody>
      </p:sp>
      <p:sp>
        <p:nvSpPr>
          <p:cNvPr id="3" name="Rectangle 2">
            <a:extLst>
              <a:ext uri="{FF2B5EF4-FFF2-40B4-BE49-F238E27FC236}">
                <a16:creationId xmlns:a16="http://schemas.microsoft.com/office/drawing/2014/main" id="{23B33A0E-2D64-4F40-B907-D588CF998E60}"/>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9417EDA3-31E8-4968-8510-E8C0D165B6C6}"/>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17</a:t>
            </a:r>
          </a:p>
        </p:txBody>
      </p:sp>
      <p:graphicFrame>
        <p:nvGraphicFramePr>
          <p:cNvPr id="5" name="Table 4">
            <a:extLst>
              <a:ext uri="{FF2B5EF4-FFF2-40B4-BE49-F238E27FC236}">
                <a16:creationId xmlns:a16="http://schemas.microsoft.com/office/drawing/2014/main" id="{583434A6-6E3C-4359-834A-FB2A5BA7E396}"/>
              </a:ext>
            </a:extLst>
          </p:cNvPr>
          <p:cNvGraphicFramePr/>
          <p:nvPr/>
        </p:nvGraphicFramePr>
        <p:xfrm>
          <a:off x="514350" y="1457325"/>
          <a:ext cx="11144250" cy="3737610"/>
        </p:xfrm>
        <a:graphic>
          <a:graphicData uri="http://schemas.openxmlformats.org/drawingml/2006/table">
            <a:tbl>
              <a:tblPr/>
              <a:tblGrid>
                <a:gridCol w="2952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095875">
                  <a:extLst>
                    <a:ext uri="{9D8B030D-6E8A-4147-A177-3AD203B41FA5}">
                      <a16:colId xmlns:a16="http://schemas.microsoft.com/office/drawing/2014/main" val="20002"/>
                    </a:ext>
                  </a:extLst>
                </a:gridCol>
              </a:tblGrid>
              <a:tr h="523875">
                <a:tc>
                  <a:txBody>
                    <a:bodyPr/>
                    <a:lstStyle/>
                    <a:p>
                      <a:r>
                        <a:rPr sz="1725" b="1">
                          <a:solidFill>
                            <a:srgbClr val="FFFFFF"/>
                          </a:solidFill>
                          <a:latin typeface="Arial"/>
                          <a:ea typeface="Arial"/>
                          <a:cs typeface="Arial"/>
                        </a:rPr>
                        <a:t>Trường dữ liệu</a:t>
                      </a:r>
                    </a:p>
                  </a:txBody>
                  <a:tcPr>
                    <a:solidFill>
                      <a:srgbClr val="164C47"/>
                    </a:solidFill>
                  </a:tcPr>
                </a:tc>
                <a:tc>
                  <a:txBody>
                    <a:bodyPr/>
                    <a:lstStyle/>
                    <a:p>
                      <a:r>
                        <a:rPr sz="1725" b="1">
                          <a:solidFill>
                            <a:srgbClr val="FFFFFF"/>
                          </a:solidFill>
                          <a:latin typeface="Arial"/>
                          <a:ea typeface="Arial"/>
                          <a:cs typeface="Arial"/>
                        </a:rPr>
                        <a:t>Kiểu / ràng buộc</a:t>
                      </a:r>
                    </a:p>
                  </a:txBody>
                  <a:tcPr>
                    <a:solidFill>
                      <a:srgbClr val="164C47"/>
                    </a:solidFill>
                  </a:tcPr>
                </a:tc>
                <a:tc>
                  <a:txBody>
                    <a:bodyPr/>
                    <a:lstStyle/>
                    <a:p>
                      <a:r>
                        <a:rPr sz="1725" b="1">
                          <a:solidFill>
                            <a:srgbClr val="FFFFFF"/>
                          </a:solidFill>
                          <a:latin typeface="Arial"/>
                          <a:ea typeface="Arial"/>
                          <a:cs typeface="Arial"/>
                        </a:rPr>
                        <a:t>Ý nghĩa</a:t>
                      </a:r>
                    </a:p>
                  </a:txBody>
                  <a:tcPr>
                    <a:solidFill>
                      <a:srgbClr val="164C47"/>
                    </a:solidFill>
                  </a:tcPr>
                </a:tc>
                <a:extLst>
                  <a:ext uri="{0D108BD9-81ED-4DB2-BD59-A6C34878D82A}">
                    <a16:rowId xmlns:a16="http://schemas.microsoft.com/office/drawing/2014/main" val="10000"/>
                  </a:ext>
                </a:extLst>
              </a:tr>
              <a:tr h="523875">
                <a:tc>
                  <a:txBody>
                    <a:bodyPr/>
                    <a:lstStyle/>
                    <a:p>
                      <a:r>
                        <a:rPr sz="1650" b="0">
                          <a:solidFill>
                            <a:srgbClr val="164C47"/>
                          </a:solidFill>
                          <a:latin typeface="Arial"/>
                          <a:ea typeface="Arial"/>
                          <a:cs typeface="Arial"/>
                        </a:rPr>
                        <a:t>id, medicine_id</a:t>
                      </a:r>
                    </a:p>
                  </a:txBody>
                  <a:tcPr>
                    <a:solidFill>
                      <a:srgbClr val="FFFFFF"/>
                    </a:solidFill>
                  </a:tcPr>
                </a:tc>
                <a:tc>
                  <a:txBody>
                    <a:bodyPr/>
                    <a:lstStyle/>
                    <a:p>
                      <a:r>
                        <a:rPr sz="1650" b="0">
                          <a:solidFill>
                            <a:srgbClr val="164C47"/>
                          </a:solidFill>
                          <a:latin typeface="Arial"/>
                          <a:ea typeface="Arial"/>
                          <a:cs typeface="Arial"/>
                        </a:rPr>
                        <a:t>INTEGER, PK / FK</a:t>
                      </a:r>
                    </a:p>
                  </a:txBody>
                  <a:tcPr>
                    <a:solidFill>
                      <a:srgbClr val="FFFFFF"/>
                    </a:solidFill>
                  </a:tcPr>
                </a:tc>
                <a:tc>
                  <a:txBody>
                    <a:bodyPr/>
                    <a:lstStyle/>
                    <a:p>
                      <a:r>
                        <a:rPr sz="1650" b="0">
                          <a:solidFill>
                            <a:srgbClr val="164C47"/>
                          </a:solidFill>
                          <a:latin typeface="Arial"/>
                          <a:ea typeface="Arial"/>
                          <a:cs typeface="Arial"/>
                        </a:rPr>
                        <a:t>Mã nhật ký và thuốc liên quan</a:t>
                      </a:r>
                    </a:p>
                  </a:txBody>
                  <a:tcPr>
                    <a:solidFill>
                      <a:srgbClr val="FFFFFF"/>
                    </a:solidFill>
                  </a:tcPr>
                </a:tc>
                <a:extLst>
                  <a:ext uri="{0D108BD9-81ED-4DB2-BD59-A6C34878D82A}">
                    <a16:rowId xmlns:a16="http://schemas.microsoft.com/office/drawing/2014/main" val="10001"/>
                  </a:ext>
                </a:extLst>
              </a:tr>
              <a:tr h="523875">
                <a:tc>
                  <a:txBody>
                    <a:bodyPr/>
                    <a:lstStyle/>
                    <a:p>
                      <a:r>
                        <a:rPr sz="1650" b="0">
                          <a:solidFill>
                            <a:srgbClr val="164C47"/>
                          </a:solidFill>
                          <a:latin typeface="Arial"/>
                          <a:ea typeface="Arial"/>
                          <a:cs typeface="Arial"/>
                        </a:rPr>
                        <a:t>date, scheduled_time</a:t>
                      </a:r>
                    </a:p>
                  </a:txBody>
                  <a:tcPr>
                    <a:solidFill>
                      <a:srgbClr val="EAF3EE"/>
                    </a:solidFill>
                  </a:tcPr>
                </a:tc>
                <a:tc>
                  <a:txBody>
                    <a:bodyPr/>
                    <a:lstStyle/>
                    <a:p>
                      <a:r>
                        <a:rPr sz="1650" b="0">
                          <a:solidFill>
                            <a:srgbClr val="164C47"/>
                          </a:solidFill>
                          <a:latin typeface="Arial"/>
                          <a:ea typeface="Arial"/>
                          <a:cs typeface="Arial"/>
                        </a:rPr>
                        <a:t>TEXT, NOT NULL</a:t>
                      </a:r>
                    </a:p>
                  </a:txBody>
                  <a:tcPr>
                    <a:solidFill>
                      <a:srgbClr val="EAF3EE"/>
                    </a:solidFill>
                  </a:tcPr>
                </a:tc>
                <a:tc>
                  <a:txBody>
                    <a:bodyPr/>
                    <a:lstStyle/>
                    <a:p>
                      <a:r>
                        <a:rPr sz="1650" b="0">
                          <a:solidFill>
                            <a:srgbClr val="164C47"/>
                          </a:solidFill>
                          <a:latin typeface="Arial"/>
                          <a:ea typeface="Arial"/>
                          <a:cs typeface="Arial"/>
                        </a:rPr>
                        <a:t>Ngày và giờ dự kiến của cữ thuốc</a:t>
                      </a:r>
                    </a:p>
                  </a:txBody>
                  <a:tcPr>
                    <a:solidFill>
                      <a:srgbClr val="EAF3EE"/>
                    </a:solidFill>
                  </a:tcPr>
                </a:tc>
                <a:extLst>
                  <a:ext uri="{0D108BD9-81ED-4DB2-BD59-A6C34878D82A}">
                    <a16:rowId xmlns:a16="http://schemas.microsoft.com/office/drawing/2014/main" val="10002"/>
                  </a:ext>
                </a:extLst>
              </a:tr>
              <a:tr h="523875">
                <a:tc>
                  <a:txBody>
                    <a:bodyPr/>
                    <a:lstStyle/>
                    <a:p>
                      <a:r>
                        <a:rPr sz="1650" b="0">
                          <a:solidFill>
                            <a:srgbClr val="164C47"/>
                          </a:solidFill>
                          <a:latin typeface="Arial"/>
                          <a:ea typeface="Arial"/>
                          <a:cs typeface="Arial"/>
                        </a:rPr>
                        <a:t>status</a:t>
                      </a:r>
                    </a:p>
                  </a:txBody>
                  <a:tcPr>
                    <a:solidFill>
                      <a:srgbClr val="FFFFFF"/>
                    </a:solidFill>
                  </a:tcPr>
                </a:tc>
                <a:tc>
                  <a:txBody>
                    <a:bodyPr/>
                    <a:lstStyle/>
                    <a:p>
                      <a:r>
                        <a:rPr sz="1650" b="0">
                          <a:solidFill>
                            <a:srgbClr val="164C47"/>
                          </a:solidFill>
                          <a:latin typeface="Arial"/>
                          <a:ea typeface="Arial"/>
                          <a:cs typeface="Arial"/>
                        </a:rPr>
                        <a:t>TEXT, NOT NULL</a:t>
                      </a:r>
                    </a:p>
                  </a:txBody>
                  <a:tcPr>
                    <a:solidFill>
                      <a:srgbClr val="FFFFFF"/>
                    </a:solidFill>
                  </a:tcPr>
                </a:tc>
                <a:tc>
                  <a:txBody>
                    <a:bodyPr/>
                    <a:lstStyle/>
                    <a:p>
                      <a:r>
                        <a:rPr sz="1650" b="0">
                          <a:solidFill>
                            <a:srgbClr val="164C47"/>
                          </a:solidFill>
                          <a:latin typeface="Arial"/>
                          <a:ea typeface="Arial"/>
                          <a:cs typeface="Arial"/>
                        </a:rPr>
                        <a:t>TAKEN: Đã uống, SKIPPED: Bỏ qua</a:t>
                      </a:r>
                    </a:p>
                  </a:txBody>
                  <a:tcPr>
                    <a:solidFill>
                      <a:srgbClr val="FFFFFF"/>
                    </a:solidFill>
                  </a:tcPr>
                </a:tc>
                <a:extLst>
                  <a:ext uri="{0D108BD9-81ED-4DB2-BD59-A6C34878D82A}">
                    <a16:rowId xmlns:a16="http://schemas.microsoft.com/office/drawing/2014/main" val="10003"/>
                  </a:ext>
                </a:extLst>
              </a:tr>
              <a:tr h="523875">
                <a:tc>
                  <a:txBody>
                    <a:bodyPr/>
                    <a:lstStyle/>
                    <a:p>
                      <a:r>
                        <a:rPr sz="1650" b="0">
                          <a:solidFill>
                            <a:srgbClr val="164C47"/>
                          </a:solidFill>
                          <a:latin typeface="Arial"/>
                          <a:ea typeface="Arial"/>
                          <a:cs typeface="Arial"/>
                        </a:rPr>
                        <a:t>logged_at</a:t>
                      </a:r>
                    </a:p>
                  </a:txBody>
                  <a:tcPr>
                    <a:solidFill>
                      <a:srgbClr val="EAF3EE"/>
                    </a:solidFill>
                  </a:tcPr>
                </a:tc>
                <a:tc>
                  <a:txBody>
                    <a:bodyPr/>
                    <a:lstStyle/>
                    <a:p>
                      <a:r>
                        <a:rPr sz="1650" b="0">
                          <a:solidFill>
                            <a:srgbClr val="164C47"/>
                          </a:solidFill>
                          <a:latin typeface="Arial"/>
                          <a:ea typeface="Arial"/>
                          <a:cs typeface="Arial"/>
                        </a:rPr>
                        <a:t>TEXT, NOT NULL</a:t>
                      </a:r>
                    </a:p>
                  </a:txBody>
                  <a:tcPr>
                    <a:solidFill>
                      <a:srgbClr val="EAF3EE"/>
                    </a:solidFill>
                  </a:tcPr>
                </a:tc>
                <a:tc>
                  <a:txBody>
                    <a:bodyPr/>
                    <a:lstStyle/>
                    <a:p>
                      <a:r>
                        <a:rPr sz="1650" b="0">
                          <a:solidFill>
                            <a:srgbClr val="164C47"/>
                          </a:solidFill>
                          <a:latin typeface="Arial"/>
                          <a:ea typeface="Arial"/>
                          <a:cs typeface="Arial"/>
                        </a:rPr>
                        <a:t>Thời điểm người dùng xác nhận</a:t>
                      </a:r>
                    </a:p>
                  </a:txBody>
                  <a:tcPr>
                    <a:solidFill>
                      <a:srgbClr val="EAF3EE"/>
                    </a:solidFill>
                  </a:tcPr>
                </a:tc>
                <a:extLst>
                  <a:ext uri="{0D108BD9-81ED-4DB2-BD59-A6C34878D82A}">
                    <a16:rowId xmlns:a16="http://schemas.microsoft.com/office/drawing/2014/main" val="10004"/>
                  </a:ext>
                </a:extLst>
              </a:tr>
              <a:tr h="523875">
                <a:tc>
                  <a:txBody>
                    <a:bodyPr/>
                    <a:lstStyle/>
                    <a:p>
                      <a:r>
                        <a:rPr sz="1650" b="0">
                          <a:solidFill>
                            <a:srgbClr val="164C47"/>
                          </a:solidFill>
                          <a:latin typeface="Arial"/>
                          <a:ea typeface="Arial"/>
                          <a:cs typeface="Arial"/>
                        </a:rPr>
                        <a:t>medicine_name_snapshot,</a:t>
                      </a:r>
                    </a:p>
                    <a:p>
                      <a:r>
                        <a:rPr sz="1650" b="0">
                          <a:solidFill>
                            <a:srgbClr val="164C47"/>
                          </a:solidFill>
                          <a:latin typeface="Arial"/>
                          <a:ea typeface="Arial"/>
                          <a:cs typeface="Arial"/>
                        </a:rPr>
                        <a:t>dosage_snapshot</a:t>
                      </a:r>
                    </a:p>
                  </a:txBody>
                  <a:tcPr>
                    <a:solidFill>
                      <a:srgbClr val="FFFFFF"/>
                    </a:solidFill>
                  </a:tcPr>
                </a:tc>
                <a:tc>
                  <a:txBody>
                    <a:bodyPr/>
                    <a:lstStyle/>
                    <a:p>
                      <a:r>
                        <a:rPr sz="1650" b="0">
                          <a:solidFill>
                            <a:srgbClr val="164C47"/>
                          </a:solidFill>
                          <a:latin typeface="Arial"/>
                          <a:ea typeface="Arial"/>
                          <a:cs typeface="Arial"/>
                        </a:rPr>
                        <a:t>TEXT</a:t>
                      </a:r>
                    </a:p>
                  </a:txBody>
                  <a:tcPr>
                    <a:solidFill>
                      <a:srgbClr val="FFFFFF"/>
                    </a:solidFill>
                  </a:tcPr>
                </a:tc>
                <a:tc>
                  <a:txBody>
                    <a:bodyPr/>
                    <a:lstStyle/>
                    <a:p>
                      <a:r>
                        <a:rPr sz="1650" b="0">
                          <a:solidFill>
                            <a:srgbClr val="164C47"/>
                          </a:solidFill>
                          <a:latin typeface="Arial"/>
                          <a:ea typeface="Arial"/>
                          <a:cs typeface="Arial"/>
                        </a:rPr>
                        <a:t>Tên và liều lượng tại lúc ghi nhận</a:t>
                      </a:r>
                    </a:p>
                  </a:txBody>
                  <a:tcPr>
                    <a:solidFill>
                      <a:srgbClr val="FFFFFF"/>
                    </a:solidFill>
                  </a:tcPr>
                </a:tc>
                <a:extLst>
                  <a:ext uri="{0D108BD9-81ED-4DB2-BD59-A6C34878D82A}">
                    <a16:rowId xmlns:a16="http://schemas.microsoft.com/office/drawing/2014/main" val="10005"/>
                  </a:ext>
                </a:extLst>
              </a:tr>
              <a:tr h="523875">
                <a:tc>
                  <a:txBody>
                    <a:bodyPr/>
                    <a:lstStyle/>
                    <a:p>
                      <a:r>
                        <a:rPr sz="1650" b="0">
                          <a:solidFill>
                            <a:srgbClr val="164C47"/>
                          </a:solidFill>
                          <a:latin typeface="Arial"/>
                          <a:ea typeface="Arial"/>
                          <a:cs typeface="Arial"/>
                        </a:rPr>
                        <a:t>snapshot_inherited</a:t>
                      </a:r>
                    </a:p>
                  </a:txBody>
                  <a:tcPr>
                    <a:solidFill>
                      <a:srgbClr val="EAF3EE"/>
                    </a:solidFill>
                  </a:tcPr>
                </a:tc>
                <a:tc>
                  <a:txBody>
                    <a:bodyPr/>
                    <a:lstStyle/>
                    <a:p>
                      <a:r>
                        <a:rPr sz="1650" b="0">
                          <a:solidFill>
                            <a:srgbClr val="164C47"/>
                          </a:solidFill>
                          <a:latin typeface="Arial"/>
                          <a:ea typeface="Arial"/>
                          <a:cs typeface="Arial"/>
                        </a:rPr>
                        <a:t>INTEGER, mặc định 0</a:t>
                      </a:r>
                    </a:p>
                  </a:txBody>
                  <a:tcPr>
                    <a:solidFill>
                      <a:srgbClr val="EAF3EE"/>
                    </a:solidFill>
                  </a:tcPr>
                </a:tc>
                <a:tc>
                  <a:txBody>
                    <a:bodyPr/>
                    <a:lstStyle/>
                    <a:p>
                      <a:r>
                        <a:rPr sz="1650" b="0">
                          <a:solidFill>
                            <a:srgbClr val="164C47"/>
                          </a:solidFill>
                          <a:latin typeface="Arial"/>
                          <a:ea typeface="Arial"/>
                          <a:cs typeface="Arial"/>
                        </a:rPr>
                        <a:t>Dấu hiệu kế thừa thông tin khi nâng cấp</a:t>
                      </a:r>
                    </a:p>
                  </a:txBody>
                  <a:tcPr>
                    <a:solidFill>
                      <a:srgbClr val="EAF3EE"/>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BD5EBB7C-B994-431D-AC33-C458EB5E61A4}"/>
              </a:ext>
            </a:extLst>
          </p:cNvPr>
          <p:cNvSpPr>
            <a:spLocks noGrp="1"/>
          </p:cNvSpPr>
          <p:nvPr/>
        </p:nvSpPr>
        <p:spPr>
          <a:xfrm>
            <a:off x="514350" y="5810250"/>
            <a:ext cx="11096625" cy="561975"/>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Sắp tới và Chưa xác nhận được tính khi hiển thị, không lưu thành kết quả trong bảng này.</a:t>
            </a:r>
          </a:p>
        </p:txBody>
      </p:sp>
    </p:spTree>
    <p:extLst>
      <p:ext uri="{BB962C8B-B14F-4D97-AF65-F5344CB8AC3E}">
        <p14:creationId xmlns:p14="http://schemas.microsoft.com/office/powerpoint/2010/main" val="956903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2123CE1-3664-45E8-A7AC-182D7B81E220}"/>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CẤU TRÚC BẢNG WATER_LOGS</a:t>
            </a:r>
          </a:p>
        </p:txBody>
      </p:sp>
      <p:sp>
        <p:nvSpPr>
          <p:cNvPr id="2" name="Rectangle 1">
            <a:extLst>
              <a:ext uri="{FF2B5EF4-FFF2-40B4-BE49-F238E27FC236}">
                <a16:creationId xmlns:a16="http://schemas.microsoft.com/office/drawing/2014/main" id="{57602C0D-8D88-4732-8F25-F48936E18E9B}"/>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water_logs: dữ liệu từng lần uống nước</a:t>
            </a:r>
          </a:p>
        </p:txBody>
      </p:sp>
      <p:sp>
        <p:nvSpPr>
          <p:cNvPr id="3" name="Rectangle 2">
            <a:extLst>
              <a:ext uri="{FF2B5EF4-FFF2-40B4-BE49-F238E27FC236}">
                <a16:creationId xmlns:a16="http://schemas.microsoft.com/office/drawing/2014/main" id="{35192A93-C298-4797-84A7-1F2DAFAB542C}"/>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C6460768-E451-4979-8483-09582FF3F70B}"/>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18</a:t>
            </a:r>
          </a:p>
        </p:txBody>
      </p:sp>
      <p:graphicFrame>
        <p:nvGraphicFramePr>
          <p:cNvPr id="5" name="Table 4">
            <a:extLst>
              <a:ext uri="{FF2B5EF4-FFF2-40B4-BE49-F238E27FC236}">
                <a16:creationId xmlns:a16="http://schemas.microsoft.com/office/drawing/2014/main" id="{3854A61B-69CD-4AEC-8E10-CE637FD0504A}"/>
              </a:ext>
            </a:extLst>
          </p:cNvPr>
          <p:cNvGraphicFramePr/>
          <p:nvPr/>
        </p:nvGraphicFramePr>
        <p:xfrm>
          <a:off x="514350" y="1457325"/>
          <a:ext cx="11144250" cy="3143250"/>
        </p:xfrm>
        <a:graphic>
          <a:graphicData uri="http://schemas.openxmlformats.org/drawingml/2006/table">
            <a:tbl>
              <a:tblPr/>
              <a:tblGrid>
                <a:gridCol w="295275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095875">
                  <a:extLst>
                    <a:ext uri="{9D8B030D-6E8A-4147-A177-3AD203B41FA5}">
                      <a16:colId xmlns:a16="http://schemas.microsoft.com/office/drawing/2014/main" val="20002"/>
                    </a:ext>
                  </a:extLst>
                </a:gridCol>
              </a:tblGrid>
              <a:tr h="523875">
                <a:tc>
                  <a:txBody>
                    <a:bodyPr/>
                    <a:lstStyle/>
                    <a:p>
                      <a:r>
                        <a:rPr sz="1725" b="1">
                          <a:solidFill>
                            <a:srgbClr val="FFFFFF"/>
                          </a:solidFill>
                          <a:latin typeface="Arial"/>
                          <a:ea typeface="Arial"/>
                          <a:cs typeface="Arial"/>
                        </a:rPr>
                        <a:t>Trường dữ liệu</a:t>
                      </a:r>
                    </a:p>
                  </a:txBody>
                  <a:tcPr>
                    <a:solidFill>
                      <a:srgbClr val="164C47"/>
                    </a:solidFill>
                  </a:tcPr>
                </a:tc>
                <a:tc>
                  <a:txBody>
                    <a:bodyPr/>
                    <a:lstStyle/>
                    <a:p>
                      <a:r>
                        <a:rPr sz="1725" b="1">
                          <a:solidFill>
                            <a:srgbClr val="FFFFFF"/>
                          </a:solidFill>
                          <a:latin typeface="Arial"/>
                          <a:ea typeface="Arial"/>
                          <a:cs typeface="Arial"/>
                        </a:rPr>
                        <a:t>Kiểu / ràng buộc</a:t>
                      </a:r>
                    </a:p>
                  </a:txBody>
                  <a:tcPr>
                    <a:solidFill>
                      <a:srgbClr val="164C47"/>
                    </a:solidFill>
                  </a:tcPr>
                </a:tc>
                <a:tc>
                  <a:txBody>
                    <a:bodyPr/>
                    <a:lstStyle/>
                    <a:p>
                      <a:r>
                        <a:rPr sz="1725" b="1">
                          <a:solidFill>
                            <a:srgbClr val="FFFFFF"/>
                          </a:solidFill>
                          <a:latin typeface="Arial"/>
                          <a:ea typeface="Arial"/>
                          <a:cs typeface="Arial"/>
                        </a:rPr>
                        <a:t>Ý nghĩa</a:t>
                      </a:r>
                    </a:p>
                  </a:txBody>
                  <a:tcPr>
                    <a:solidFill>
                      <a:srgbClr val="164C47"/>
                    </a:solidFill>
                  </a:tcPr>
                </a:tc>
                <a:extLst>
                  <a:ext uri="{0D108BD9-81ED-4DB2-BD59-A6C34878D82A}">
                    <a16:rowId xmlns:a16="http://schemas.microsoft.com/office/drawing/2014/main" val="10000"/>
                  </a:ext>
                </a:extLst>
              </a:tr>
              <a:tr h="523875">
                <a:tc>
                  <a:txBody>
                    <a:bodyPr/>
                    <a:lstStyle/>
                    <a:p>
                      <a:r>
                        <a:rPr sz="1650" b="0">
                          <a:solidFill>
                            <a:srgbClr val="164C47"/>
                          </a:solidFill>
                          <a:latin typeface="Arial"/>
                          <a:ea typeface="Arial"/>
                          <a:cs typeface="Arial"/>
                        </a:rPr>
                        <a:t>id</a:t>
                      </a:r>
                    </a:p>
                  </a:txBody>
                  <a:tcPr>
                    <a:solidFill>
                      <a:srgbClr val="FFFFFF"/>
                    </a:solidFill>
                  </a:tcPr>
                </a:tc>
                <a:tc>
                  <a:txBody>
                    <a:bodyPr/>
                    <a:lstStyle/>
                    <a:p>
                      <a:r>
                        <a:rPr sz="1650" b="0">
                          <a:solidFill>
                            <a:srgbClr val="164C47"/>
                          </a:solidFill>
                          <a:latin typeface="Arial"/>
                          <a:ea typeface="Arial"/>
                          <a:cs typeface="Arial"/>
                        </a:rPr>
                        <a:t>INTEGER, PK, tự tăng</a:t>
                      </a:r>
                    </a:p>
                  </a:txBody>
                  <a:tcPr>
                    <a:solidFill>
                      <a:srgbClr val="FFFFFF"/>
                    </a:solidFill>
                  </a:tcPr>
                </a:tc>
                <a:tc>
                  <a:txBody>
                    <a:bodyPr/>
                    <a:lstStyle/>
                    <a:p>
                      <a:r>
                        <a:rPr sz="1650" b="0">
                          <a:solidFill>
                            <a:srgbClr val="164C47"/>
                          </a:solidFill>
                          <a:latin typeface="Arial"/>
                          <a:ea typeface="Arial"/>
                          <a:cs typeface="Arial"/>
                        </a:rPr>
                        <a:t>Mã lần ghi nhận</a:t>
                      </a:r>
                    </a:p>
                  </a:txBody>
                  <a:tcPr>
                    <a:solidFill>
                      <a:srgbClr val="FFFFFF"/>
                    </a:solidFill>
                  </a:tcPr>
                </a:tc>
                <a:extLst>
                  <a:ext uri="{0D108BD9-81ED-4DB2-BD59-A6C34878D82A}">
                    <a16:rowId xmlns:a16="http://schemas.microsoft.com/office/drawing/2014/main" val="10001"/>
                  </a:ext>
                </a:extLst>
              </a:tr>
              <a:tr h="523875">
                <a:tc>
                  <a:txBody>
                    <a:bodyPr/>
                    <a:lstStyle/>
                    <a:p>
                      <a:r>
                        <a:rPr sz="1650" b="0">
                          <a:solidFill>
                            <a:srgbClr val="164C47"/>
                          </a:solidFill>
                          <a:latin typeface="Arial"/>
                          <a:ea typeface="Arial"/>
                          <a:cs typeface="Arial"/>
                        </a:rPr>
                        <a:t>user_id</a:t>
                      </a:r>
                    </a:p>
                  </a:txBody>
                  <a:tcPr>
                    <a:solidFill>
                      <a:srgbClr val="EAF3EE"/>
                    </a:solidFill>
                  </a:tcPr>
                </a:tc>
                <a:tc>
                  <a:txBody>
                    <a:bodyPr/>
                    <a:lstStyle/>
                    <a:p>
                      <a:r>
                        <a:rPr sz="1650" b="0">
                          <a:solidFill>
                            <a:srgbClr val="164C47"/>
                          </a:solidFill>
                          <a:latin typeface="Arial"/>
                          <a:ea typeface="Arial"/>
                          <a:cs typeface="Arial"/>
                        </a:rPr>
                        <a:t>INTEGER, FK, NOT NULL</a:t>
                      </a:r>
                    </a:p>
                  </a:txBody>
                  <a:tcPr>
                    <a:solidFill>
                      <a:srgbClr val="EAF3EE"/>
                    </a:solidFill>
                  </a:tcPr>
                </a:tc>
                <a:tc>
                  <a:txBody>
                    <a:bodyPr/>
                    <a:lstStyle/>
                    <a:p>
                      <a:r>
                        <a:rPr sz="1650" b="0">
                          <a:solidFill>
                            <a:srgbClr val="164C47"/>
                          </a:solidFill>
                          <a:latin typeface="Arial"/>
                          <a:ea typeface="Arial"/>
                          <a:cs typeface="Arial"/>
                        </a:rPr>
                        <a:t>Tham chiếu users.id</a:t>
                      </a:r>
                    </a:p>
                  </a:txBody>
                  <a:tcPr>
                    <a:solidFill>
                      <a:srgbClr val="EAF3EE"/>
                    </a:solidFill>
                  </a:tcPr>
                </a:tc>
                <a:extLst>
                  <a:ext uri="{0D108BD9-81ED-4DB2-BD59-A6C34878D82A}">
                    <a16:rowId xmlns:a16="http://schemas.microsoft.com/office/drawing/2014/main" val="10002"/>
                  </a:ext>
                </a:extLst>
              </a:tr>
              <a:tr h="523875">
                <a:tc>
                  <a:txBody>
                    <a:bodyPr/>
                    <a:lstStyle/>
                    <a:p>
                      <a:r>
                        <a:rPr sz="1650" b="0">
                          <a:solidFill>
                            <a:srgbClr val="164C47"/>
                          </a:solidFill>
                          <a:latin typeface="Arial"/>
                          <a:ea typeface="Arial"/>
                          <a:cs typeface="Arial"/>
                        </a:rPr>
                        <a:t>date</a:t>
                      </a:r>
                    </a:p>
                  </a:txBody>
                  <a:tcPr>
                    <a:solidFill>
                      <a:srgbClr val="FFFFFF"/>
                    </a:solidFill>
                  </a:tcPr>
                </a:tc>
                <a:tc>
                  <a:txBody>
                    <a:bodyPr/>
                    <a:lstStyle/>
                    <a:p>
                      <a:r>
                        <a:rPr sz="1650" b="0">
                          <a:solidFill>
                            <a:srgbClr val="164C47"/>
                          </a:solidFill>
                          <a:latin typeface="Arial"/>
                          <a:ea typeface="Arial"/>
                          <a:cs typeface="Arial"/>
                        </a:rPr>
                        <a:t>TEXT, NOT NULL</a:t>
                      </a:r>
                    </a:p>
                  </a:txBody>
                  <a:tcPr>
                    <a:solidFill>
                      <a:srgbClr val="FFFFFF"/>
                    </a:solidFill>
                  </a:tcPr>
                </a:tc>
                <a:tc>
                  <a:txBody>
                    <a:bodyPr/>
                    <a:lstStyle/>
                    <a:p>
                      <a:r>
                        <a:rPr sz="1650" b="0">
                          <a:solidFill>
                            <a:srgbClr val="164C47"/>
                          </a:solidFill>
                          <a:latin typeface="Arial"/>
                          <a:ea typeface="Arial"/>
                          <a:cs typeface="Arial"/>
                        </a:rPr>
                        <a:t>Ngày ghi nhận, yyyy-MM-dd</a:t>
                      </a:r>
                    </a:p>
                  </a:txBody>
                  <a:tcPr>
                    <a:solidFill>
                      <a:srgbClr val="FFFFFF"/>
                    </a:solidFill>
                  </a:tcPr>
                </a:tc>
                <a:extLst>
                  <a:ext uri="{0D108BD9-81ED-4DB2-BD59-A6C34878D82A}">
                    <a16:rowId xmlns:a16="http://schemas.microsoft.com/office/drawing/2014/main" val="10003"/>
                  </a:ext>
                </a:extLst>
              </a:tr>
              <a:tr h="523875">
                <a:tc>
                  <a:txBody>
                    <a:bodyPr/>
                    <a:lstStyle/>
                    <a:p>
                      <a:r>
                        <a:rPr sz="1650" b="0">
                          <a:solidFill>
                            <a:srgbClr val="164C47"/>
                          </a:solidFill>
                          <a:latin typeface="Arial"/>
                          <a:ea typeface="Arial"/>
                          <a:cs typeface="Arial"/>
                        </a:rPr>
                        <a:t>amount_ml</a:t>
                      </a:r>
                    </a:p>
                  </a:txBody>
                  <a:tcPr>
                    <a:solidFill>
                      <a:srgbClr val="EAF3EE"/>
                    </a:solidFill>
                  </a:tcPr>
                </a:tc>
                <a:tc>
                  <a:txBody>
                    <a:bodyPr/>
                    <a:lstStyle/>
                    <a:p>
                      <a:r>
                        <a:rPr sz="1650" b="0">
                          <a:solidFill>
                            <a:srgbClr val="164C47"/>
                          </a:solidFill>
                          <a:latin typeface="Arial"/>
                          <a:ea typeface="Arial"/>
                          <a:cs typeface="Arial"/>
                        </a:rPr>
                        <a:t>INTEGER, NOT NULL</a:t>
                      </a:r>
                    </a:p>
                  </a:txBody>
                  <a:tcPr>
                    <a:solidFill>
                      <a:srgbClr val="EAF3EE"/>
                    </a:solidFill>
                  </a:tcPr>
                </a:tc>
                <a:tc>
                  <a:txBody>
                    <a:bodyPr/>
                    <a:lstStyle/>
                    <a:p>
                      <a:r>
                        <a:rPr sz="1650" b="0">
                          <a:solidFill>
                            <a:srgbClr val="164C47"/>
                          </a:solidFill>
                          <a:latin typeface="Arial"/>
                          <a:ea typeface="Arial"/>
                          <a:cs typeface="Arial"/>
                        </a:rPr>
                        <a:t>Lượng nước của lần uống, đơn vị ml</a:t>
                      </a:r>
                    </a:p>
                  </a:txBody>
                  <a:tcPr>
                    <a:solidFill>
                      <a:srgbClr val="EAF3EE"/>
                    </a:solidFill>
                  </a:tcPr>
                </a:tc>
                <a:extLst>
                  <a:ext uri="{0D108BD9-81ED-4DB2-BD59-A6C34878D82A}">
                    <a16:rowId xmlns:a16="http://schemas.microsoft.com/office/drawing/2014/main" val="10004"/>
                  </a:ext>
                </a:extLst>
              </a:tr>
              <a:tr h="523875">
                <a:tc>
                  <a:txBody>
                    <a:bodyPr/>
                    <a:lstStyle/>
                    <a:p>
                      <a:r>
                        <a:rPr sz="1650" b="0">
                          <a:solidFill>
                            <a:srgbClr val="164C47"/>
                          </a:solidFill>
                          <a:latin typeface="Arial"/>
                          <a:ea typeface="Arial"/>
                          <a:cs typeface="Arial"/>
                        </a:rPr>
                        <a:t>logged_at</a:t>
                      </a:r>
                    </a:p>
                  </a:txBody>
                  <a:tcPr>
                    <a:solidFill>
                      <a:srgbClr val="FFFFFF"/>
                    </a:solidFill>
                  </a:tcPr>
                </a:tc>
                <a:tc>
                  <a:txBody>
                    <a:bodyPr/>
                    <a:lstStyle/>
                    <a:p>
                      <a:r>
                        <a:rPr sz="1650" b="0">
                          <a:solidFill>
                            <a:srgbClr val="164C47"/>
                          </a:solidFill>
                          <a:latin typeface="Arial"/>
                          <a:ea typeface="Arial"/>
                          <a:cs typeface="Arial"/>
                        </a:rPr>
                        <a:t>TEXT, NOT NULL</a:t>
                      </a:r>
                    </a:p>
                  </a:txBody>
                  <a:tcPr>
                    <a:solidFill>
                      <a:srgbClr val="FFFFFF"/>
                    </a:solidFill>
                  </a:tcPr>
                </a:tc>
                <a:tc>
                  <a:txBody>
                    <a:bodyPr/>
                    <a:lstStyle/>
                    <a:p>
                      <a:r>
                        <a:rPr sz="1650" b="0">
                          <a:solidFill>
                            <a:srgbClr val="164C47"/>
                          </a:solidFill>
                          <a:latin typeface="Arial"/>
                          <a:ea typeface="Arial"/>
                          <a:cs typeface="Arial"/>
                        </a:rPr>
                        <a:t>Thời điểm ghi, yyyy-MM-dd HH:mm:ss</a:t>
                      </a:r>
                    </a:p>
                  </a:txBody>
                  <a:tcPr>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17DC9493-6792-48B2-9F8C-F9AAA7F08971}"/>
              </a:ext>
            </a:extLst>
          </p:cNvPr>
          <p:cNvSpPr>
            <a:spLocks noGrp="1"/>
          </p:cNvSpPr>
          <p:nvPr/>
        </p:nvSpPr>
        <p:spPr>
          <a:xfrm>
            <a:off x="514350" y="5810250"/>
            <a:ext cx="11096625" cy="561975"/>
          </a:xfrm>
          <a:prstGeom prst="rect">
            <a:avLst/>
          </a:prstGeom>
          <a:noFill/>
          <a:ln w="0">
            <a:noFill/>
          </a:ln>
        </p:spPr>
        <p:txBody>
          <a:bodyPr/>
          <a:lstStyle>
            <a:defPPr>
              <a:defRPr sz="1650" b="0">
                <a:solidFill>
                  <a:srgbClr val="526B66"/>
                </a:solidFill>
                <a:latin typeface="Arial"/>
                <a:ea typeface="Arial"/>
                <a:cs typeface="Arial"/>
              </a:defRPr>
            </a:defPPr>
            <a:lvl1pPr>
              <a:buNone/>
              <a:defRPr sz="1650" b="0">
                <a:solidFill>
                  <a:srgbClr val="526B66"/>
                </a:solidFill>
                <a:latin typeface="Arial"/>
                <a:ea typeface="Arial"/>
                <a:cs typeface="Arial"/>
              </a:defRPr>
            </a:lvl1pPr>
            <a:lvl2pPr>
              <a:buNone/>
              <a:defRPr sz="1650" b="0">
                <a:solidFill>
                  <a:srgbClr val="526B66"/>
                </a:solidFill>
                <a:latin typeface="Arial"/>
                <a:ea typeface="Arial"/>
                <a:cs typeface="Arial"/>
              </a:defRPr>
            </a:lvl2pPr>
            <a:lvl3pPr>
              <a:buNone/>
              <a:defRPr sz="1650" b="0">
                <a:solidFill>
                  <a:srgbClr val="526B66"/>
                </a:solidFill>
                <a:latin typeface="Arial"/>
                <a:ea typeface="Arial"/>
                <a:cs typeface="Arial"/>
              </a:defRPr>
            </a:lvl3pPr>
            <a:lvl4pPr>
              <a:buNone/>
              <a:defRPr sz="1650" b="0">
                <a:solidFill>
                  <a:srgbClr val="526B66"/>
                </a:solidFill>
                <a:latin typeface="Arial"/>
                <a:ea typeface="Arial"/>
                <a:cs typeface="Arial"/>
              </a:defRPr>
            </a:lvl4pPr>
            <a:lvl5pPr>
              <a:buNone/>
              <a:defRPr sz="1650" b="0">
                <a:solidFill>
                  <a:srgbClr val="526B66"/>
                </a:solidFill>
                <a:latin typeface="Arial"/>
                <a:ea typeface="Arial"/>
                <a:cs typeface="Arial"/>
              </a:defRPr>
            </a:lvl5pPr>
            <a:lvl6pPr>
              <a:buNone/>
              <a:defRPr sz="1650" b="0">
                <a:solidFill>
                  <a:srgbClr val="526B66"/>
                </a:solidFill>
                <a:latin typeface="Arial"/>
                <a:ea typeface="Arial"/>
                <a:cs typeface="Arial"/>
              </a:defRPr>
            </a:lvl6pPr>
            <a:lvl7pPr>
              <a:buNone/>
              <a:defRPr sz="1650" b="0">
                <a:solidFill>
                  <a:srgbClr val="526B66"/>
                </a:solidFill>
                <a:latin typeface="Arial"/>
                <a:ea typeface="Arial"/>
                <a:cs typeface="Arial"/>
              </a:defRPr>
            </a:lvl7pPr>
            <a:lvl8pPr>
              <a:buNone/>
              <a:defRPr sz="1650" b="0">
                <a:solidFill>
                  <a:srgbClr val="526B66"/>
                </a:solidFill>
                <a:latin typeface="Arial"/>
                <a:ea typeface="Arial"/>
                <a:cs typeface="Arial"/>
              </a:defRPr>
            </a:lvl8pPr>
            <a:lvl9pPr>
              <a:buNone/>
              <a:defRPr sz="1650" b="0">
                <a:solidFill>
                  <a:srgbClr val="526B66"/>
                </a:solidFill>
                <a:latin typeface="Arial"/>
                <a:ea typeface="Arial"/>
                <a:cs typeface="Arial"/>
              </a:defRPr>
            </a:lvl9pPr>
          </a:lstStyle>
          <a:p>
            <a:pPr>
              <a:buNone/>
              <a:defRPr sz="1650" b="0">
                <a:solidFill>
                  <a:srgbClr val="526B66"/>
                </a:solidFill>
                <a:latin typeface="Arial"/>
                <a:ea typeface="Arial"/>
                <a:cs typeface="Arial"/>
              </a:defRPr>
            </a:pPr>
            <a:r>
              <a:rPr sz="1650" b="0">
                <a:solidFill>
                  <a:srgbClr val="526B66"/>
                </a:solidFill>
                <a:latin typeface="Arial"/>
                <a:ea typeface="Arial"/>
                <a:cs typeface="Arial"/>
              </a:rPr>
              <a:t>Tổng nước được tính từ nhật ký theo tài khoản và ngày. Sửa hoặc xóa một hàng sẽ cập nhật tiến độ.</a:t>
            </a:r>
          </a:p>
        </p:txBody>
      </p:sp>
    </p:spTree>
    <p:extLst>
      <p:ext uri="{BB962C8B-B14F-4D97-AF65-F5344CB8AC3E}">
        <p14:creationId xmlns:p14="http://schemas.microsoft.com/office/powerpoint/2010/main" val="184280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20FBB17-DCF2-4A5D-B264-4E867DC94679}"/>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1.4  TÍNH NHẤT QUÁN DỮ LIỆU</a:t>
            </a:r>
          </a:p>
        </p:txBody>
      </p:sp>
      <p:sp>
        <p:nvSpPr>
          <p:cNvPr id="2" name="Rectangle 1">
            <a:extLst>
              <a:ext uri="{FF2B5EF4-FFF2-40B4-BE49-F238E27FC236}">
                <a16:creationId xmlns:a16="http://schemas.microsoft.com/office/drawing/2014/main" id="{440D135E-8B0D-48AD-BC63-68E8CB3539ED}"/>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Khóa ngoại, chỉ mục và phạm vi dữ liệu</a:t>
            </a:r>
          </a:p>
        </p:txBody>
      </p:sp>
      <p:sp>
        <p:nvSpPr>
          <p:cNvPr id="3" name="Rectangle 2">
            <a:extLst>
              <a:ext uri="{FF2B5EF4-FFF2-40B4-BE49-F238E27FC236}">
                <a16:creationId xmlns:a16="http://schemas.microsoft.com/office/drawing/2014/main" id="{CD89A9FB-053F-42C5-8ACC-FDABCC2008D4}"/>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831EF0A0-EABF-4D8D-AAA7-15C2FEA70D0C}"/>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19</a:t>
            </a:r>
          </a:p>
        </p:txBody>
      </p:sp>
      <p:sp>
        <p:nvSpPr>
          <p:cNvPr id="5" name="Rectangle 4">
            <a:extLst>
              <a:ext uri="{FF2B5EF4-FFF2-40B4-BE49-F238E27FC236}">
                <a16:creationId xmlns:a16="http://schemas.microsoft.com/office/drawing/2014/main" id="{2BF8D84A-C711-4AB2-AA4F-96CB54C8C309}"/>
              </a:ext>
            </a:extLst>
          </p:cNvPr>
          <p:cNvSpPr>
            <a:spLocks noGrp="1"/>
          </p:cNvSpPr>
          <p:nvPr/>
        </p:nvSpPr>
        <p:spPr>
          <a:xfrm>
            <a:off x="514350" y="1619250"/>
            <a:ext cx="5334000" cy="419100"/>
          </a:xfrm>
          <a:prstGeom prst="rect">
            <a:avLst/>
          </a:prstGeom>
          <a:noFill/>
          <a:ln w="0">
            <a:noFill/>
          </a:ln>
        </p:spPr>
        <p:txBody>
          <a:bodyPr/>
          <a:lstStyle>
            <a:defPPr>
              <a:defRPr sz="2175" b="1">
                <a:solidFill>
                  <a:srgbClr val="164C47"/>
                </a:solidFill>
                <a:latin typeface="Arial"/>
                <a:ea typeface="Arial"/>
                <a:cs typeface="Arial"/>
              </a:defRPr>
            </a:defPPr>
            <a:lvl1pPr>
              <a:buNone/>
              <a:defRPr sz="2175" b="1">
                <a:solidFill>
                  <a:srgbClr val="164C47"/>
                </a:solidFill>
                <a:latin typeface="Arial"/>
                <a:ea typeface="Arial"/>
                <a:cs typeface="Arial"/>
              </a:defRPr>
            </a:lvl1pPr>
            <a:lvl2pPr>
              <a:buNone/>
              <a:defRPr sz="2175" b="1">
                <a:solidFill>
                  <a:srgbClr val="164C47"/>
                </a:solidFill>
                <a:latin typeface="Arial"/>
                <a:ea typeface="Arial"/>
                <a:cs typeface="Arial"/>
              </a:defRPr>
            </a:lvl2pPr>
            <a:lvl3pPr>
              <a:buNone/>
              <a:defRPr sz="2175" b="1">
                <a:solidFill>
                  <a:srgbClr val="164C47"/>
                </a:solidFill>
                <a:latin typeface="Arial"/>
                <a:ea typeface="Arial"/>
                <a:cs typeface="Arial"/>
              </a:defRPr>
            </a:lvl3pPr>
            <a:lvl4pPr>
              <a:buNone/>
              <a:defRPr sz="2175" b="1">
                <a:solidFill>
                  <a:srgbClr val="164C47"/>
                </a:solidFill>
                <a:latin typeface="Arial"/>
                <a:ea typeface="Arial"/>
                <a:cs typeface="Arial"/>
              </a:defRPr>
            </a:lvl4pPr>
            <a:lvl5pPr>
              <a:buNone/>
              <a:defRPr sz="2175" b="1">
                <a:solidFill>
                  <a:srgbClr val="164C47"/>
                </a:solidFill>
                <a:latin typeface="Arial"/>
                <a:ea typeface="Arial"/>
                <a:cs typeface="Arial"/>
              </a:defRPr>
            </a:lvl5pPr>
            <a:lvl6pPr>
              <a:buNone/>
              <a:defRPr sz="2175" b="1">
                <a:solidFill>
                  <a:srgbClr val="164C47"/>
                </a:solidFill>
                <a:latin typeface="Arial"/>
                <a:ea typeface="Arial"/>
                <a:cs typeface="Arial"/>
              </a:defRPr>
            </a:lvl6pPr>
            <a:lvl7pPr>
              <a:buNone/>
              <a:defRPr sz="2175" b="1">
                <a:solidFill>
                  <a:srgbClr val="164C47"/>
                </a:solidFill>
                <a:latin typeface="Arial"/>
                <a:ea typeface="Arial"/>
                <a:cs typeface="Arial"/>
              </a:defRPr>
            </a:lvl7pPr>
            <a:lvl8pPr>
              <a:buNone/>
              <a:defRPr sz="2175" b="1">
                <a:solidFill>
                  <a:srgbClr val="164C47"/>
                </a:solidFill>
                <a:latin typeface="Arial"/>
                <a:ea typeface="Arial"/>
                <a:cs typeface="Arial"/>
              </a:defRPr>
            </a:lvl8pPr>
            <a:lvl9pPr>
              <a:buNone/>
              <a:defRPr sz="2175" b="1">
                <a:solidFill>
                  <a:srgbClr val="164C47"/>
                </a:solidFill>
                <a:latin typeface="Arial"/>
                <a:ea typeface="Arial"/>
                <a:cs typeface="Arial"/>
              </a:defRPr>
            </a:lvl9pPr>
          </a:lstStyle>
          <a:p>
            <a:pPr>
              <a:buNone/>
              <a:defRPr sz="2175" b="1">
                <a:solidFill>
                  <a:srgbClr val="164C47"/>
                </a:solidFill>
                <a:latin typeface="Arial"/>
                <a:ea typeface="Arial"/>
                <a:cs typeface="Arial"/>
              </a:defRPr>
            </a:pPr>
            <a:r>
              <a:rPr sz="2175" b="1">
                <a:solidFill>
                  <a:srgbClr val="164C47"/>
                </a:solidFill>
                <a:latin typeface="Arial"/>
                <a:ea typeface="Arial"/>
                <a:cs typeface="Arial"/>
              </a:rPr>
              <a:t>Quan hệ một nhiều</a:t>
            </a:r>
          </a:p>
        </p:txBody>
      </p:sp>
      <p:sp>
        <p:nvSpPr>
          <p:cNvPr id="6" name="Rectangle 5">
            <a:extLst>
              <a:ext uri="{FF2B5EF4-FFF2-40B4-BE49-F238E27FC236}">
                <a16:creationId xmlns:a16="http://schemas.microsoft.com/office/drawing/2014/main" id="{3AEE0FFE-901C-406D-BB93-40E1E8A8BBA3}"/>
              </a:ext>
            </a:extLst>
          </p:cNvPr>
          <p:cNvSpPr>
            <a:spLocks noGrp="1"/>
          </p:cNvSpPr>
          <p:nvPr/>
        </p:nvSpPr>
        <p:spPr>
          <a:xfrm>
            <a:off x="514350" y="2190750"/>
            <a:ext cx="5238750" cy="1285875"/>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users có nhiều health_records, medicines và water_logs. medicines có nhiều medicine_logs.</a:t>
            </a:r>
          </a:p>
        </p:txBody>
      </p:sp>
      <p:sp>
        <p:nvSpPr>
          <p:cNvPr id="7" name="Rectangle 6">
            <a:extLst>
              <a:ext uri="{FF2B5EF4-FFF2-40B4-BE49-F238E27FC236}">
                <a16:creationId xmlns:a16="http://schemas.microsoft.com/office/drawing/2014/main" id="{ED1FFEC2-084F-4A05-8CE8-D2C73A5E8813}"/>
              </a:ext>
            </a:extLst>
          </p:cNvPr>
          <p:cNvSpPr>
            <a:spLocks noGrp="1"/>
          </p:cNvSpPr>
          <p:nvPr/>
        </p:nvSpPr>
        <p:spPr>
          <a:xfrm>
            <a:off x="6524625" y="1619250"/>
            <a:ext cx="5143500" cy="419100"/>
          </a:xfrm>
          <a:prstGeom prst="rect">
            <a:avLst/>
          </a:prstGeom>
          <a:noFill/>
          <a:ln w="0">
            <a:noFill/>
          </a:ln>
        </p:spPr>
        <p:txBody>
          <a:bodyPr/>
          <a:lstStyle>
            <a:defPPr>
              <a:defRPr sz="2175" b="1">
                <a:solidFill>
                  <a:srgbClr val="164C47"/>
                </a:solidFill>
                <a:latin typeface="Arial"/>
                <a:ea typeface="Arial"/>
                <a:cs typeface="Arial"/>
              </a:defRPr>
            </a:defPPr>
            <a:lvl1pPr>
              <a:buNone/>
              <a:defRPr sz="2175" b="1">
                <a:solidFill>
                  <a:srgbClr val="164C47"/>
                </a:solidFill>
                <a:latin typeface="Arial"/>
                <a:ea typeface="Arial"/>
                <a:cs typeface="Arial"/>
              </a:defRPr>
            </a:lvl1pPr>
            <a:lvl2pPr>
              <a:buNone/>
              <a:defRPr sz="2175" b="1">
                <a:solidFill>
                  <a:srgbClr val="164C47"/>
                </a:solidFill>
                <a:latin typeface="Arial"/>
                <a:ea typeface="Arial"/>
                <a:cs typeface="Arial"/>
              </a:defRPr>
            </a:lvl2pPr>
            <a:lvl3pPr>
              <a:buNone/>
              <a:defRPr sz="2175" b="1">
                <a:solidFill>
                  <a:srgbClr val="164C47"/>
                </a:solidFill>
                <a:latin typeface="Arial"/>
                <a:ea typeface="Arial"/>
                <a:cs typeface="Arial"/>
              </a:defRPr>
            </a:lvl3pPr>
            <a:lvl4pPr>
              <a:buNone/>
              <a:defRPr sz="2175" b="1">
                <a:solidFill>
                  <a:srgbClr val="164C47"/>
                </a:solidFill>
                <a:latin typeface="Arial"/>
                <a:ea typeface="Arial"/>
                <a:cs typeface="Arial"/>
              </a:defRPr>
            </a:lvl4pPr>
            <a:lvl5pPr>
              <a:buNone/>
              <a:defRPr sz="2175" b="1">
                <a:solidFill>
                  <a:srgbClr val="164C47"/>
                </a:solidFill>
                <a:latin typeface="Arial"/>
                <a:ea typeface="Arial"/>
                <a:cs typeface="Arial"/>
              </a:defRPr>
            </a:lvl5pPr>
            <a:lvl6pPr>
              <a:buNone/>
              <a:defRPr sz="2175" b="1">
                <a:solidFill>
                  <a:srgbClr val="164C47"/>
                </a:solidFill>
                <a:latin typeface="Arial"/>
                <a:ea typeface="Arial"/>
                <a:cs typeface="Arial"/>
              </a:defRPr>
            </a:lvl6pPr>
            <a:lvl7pPr>
              <a:buNone/>
              <a:defRPr sz="2175" b="1">
                <a:solidFill>
                  <a:srgbClr val="164C47"/>
                </a:solidFill>
                <a:latin typeface="Arial"/>
                <a:ea typeface="Arial"/>
                <a:cs typeface="Arial"/>
              </a:defRPr>
            </a:lvl7pPr>
            <a:lvl8pPr>
              <a:buNone/>
              <a:defRPr sz="2175" b="1">
                <a:solidFill>
                  <a:srgbClr val="164C47"/>
                </a:solidFill>
                <a:latin typeface="Arial"/>
                <a:ea typeface="Arial"/>
                <a:cs typeface="Arial"/>
              </a:defRPr>
            </a:lvl8pPr>
            <a:lvl9pPr>
              <a:buNone/>
              <a:defRPr sz="2175" b="1">
                <a:solidFill>
                  <a:srgbClr val="164C47"/>
                </a:solidFill>
                <a:latin typeface="Arial"/>
                <a:ea typeface="Arial"/>
                <a:cs typeface="Arial"/>
              </a:defRPr>
            </a:lvl9pPr>
          </a:lstStyle>
          <a:p>
            <a:pPr>
              <a:buNone/>
              <a:defRPr sz="2175" b="1">
                <a:solidFill>
                  <a:srgbClr val="164C47"/>
                </a:solidFill>
                <a:latin typeface="Arial"/>
                <a:ea typeface="Arial"/>
                <a:cs typeface="Arial"/>
              </a:defRPr>
            </a:pPr>
            <a:r>
              <a:rPr sz="2175" b="1">
                <a:solidFill>
                  <a:srgbClr val="164C47"/>
                </a:solidFill>
                <a:latin typeface="Arial"/>
                <a:ea typeface="Arial"/>
                <a:cs typeface="Arial"/>
              </a:rPr>
              <a:t>Truy vấn theo tài khoản</a:t>
            </a:r>
          </a:p>
        </p:txBody>
      </p:sp>
      <p:sp>
        <p:nvSpPr>
          <p:cNvPr id="8" name="Rectangle 7">
            <a:extLst>
              <a:ext uri="{FF2B5EF4-FFF2-40B4-BE49-F238E27FC236}">
                <a16:creationId xmlns:a16="http://schemas.microsoft.com/office/drawing/2014/main" id="{FCCA36B0-2308-42E8-A4E3-A75792B3129E}"/>
              </a:ext>
            </a:extLst>
          </p:cNvPr>
          <p:cNvSpPr>
            <a:spLocks noGrp="1"/>
          </p:cNvSpPr>
          <p:nvPr/>
        </p:nvSpPr>
        <p:spPr>
          <a:xfrm>
            <a:off x="6524625" y="2190750"/>
            <a:ext cx="5095875" cy="1285875"/>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Mỗi thao tác chỉ truy cập dữ liệu của tài khoản hiện tại. Nhật ký thuốc xác định chủ sở hữu qua medicines.</a:t>
            </a:r>
          </a:p>
        </p:txBody>
      </p:sp>
      <p:sp>
        <p:nvSpPr>
          <p:cNvPr id="9" name="Rectangle 8">
            <a:extLst>
              <a:ext uri="{FF2B5EF4-FFF2-40B4-BE49-F238E27FC236}">
                <a16:creationId xmlns:a16="http://schemas.microsoft.com/office/drawing/2014/main" id="{C192F9B6-53BE-4C7A-BF39-C23B1DA951BC}"/>
              </a:ext>
            </a:extLst>
          </p:cNvPr>
          <p:cNvSpPr>
            <a:spLocks noGrp="1"/>
          </p:cNvSpPr>
          <p:nvPr/>
        </p:nvSpPr>
        <p:spPr>
          <a:xfrm>
            <a:off x="514350" y="4048125"/>
            <a:ext cx="5334000" cy="419100"/>
          </a:xfrm>
          <a:prstGeom prst="rect">
            <a:avLst/>
          </a:prstGeom>
          <a:noFill/>
          <a:ln w="0">
            <a:noFill/>
          </a:ln>
        </p:spPr>
        <p:txBody>
          <a:bodyPr/>
          <a:lstStyle>
            <a:defPPr>
              <a:defRPr sz="2175" b="1">
                <a:solidFill>
                  <a:srgbClr val="164C47"/>
                </a:solidFill>
                <a:latin typeface="Arial"/>
                <a:ea typeface="Arial"/>
                <a:cs typeface="Arial"/>
              </a:defRPr>
            </a:defPPr>
            <a:lvl1pPr>
              <a:buNone/>
              <a:defRPr sz="2175" b="1">
                <a:solidFill>
                  <a:srgbClr val="164C47"/>
                </a:solidFill>
                <a:latin typeface="Arial"/>
                <a:ea typeface="Arial"/>
                <a:cs typeface="Arial"/>
              </a:defRPr>
            </a:lvl1pPr>
            <a:lvl2pPr>
              <a:buNone/>
              <a:defRPr sz="2175" b="1">
                <a:solidFill>
                  <a:srgbClr val="164C47"/>
                </a:solidFill>
                <a:latin typeface="Arial"/>
                <a:ea typeface="Arial"/>
                <a:cs typeface="Arial"/>
              </a:defRPr>
            </a:lvl2pPr>
            <a:lvl3pPr>
              <a:buNone/>
              <a:defRPr sz="2175" b="1">
                <a:solidFill>
                  <a:srgbClr val="164C47"/>
                </a:solidFill>
                <a:latin typeface="Arial"/>
                <a:ea typeface="Arial"/>
                <a:cs typeface="Arial"/>
              </a:defRPr>
            </a:lvl3pPr>
            <a:lvl4pPr>
              <a:buNone/>
              <a:defRPr sz="2175" b="1">
                <a:solidFill>
                  <a:srgbClr val="164C47"/>
                </a:solidFill>
                <a:latin typeface="Arial"/>
                <a:ea typeface="Arial"/>
                <a:cs typeface="Arial"/>
              </a:defRPr>
            </a:lvl4pPr>
            <a:lvl5pPr>
              <a:buNone/>
              <a:defRPr sz="2175" b="1">
                <a:solidFill>
                  <a:srgbClr val="164C47"/>
                </a:solidFill>
                <a:latin typeface="Arial"/>
                <a:ea typeface="Arial"/>
                <a:cs typeface="Arial"/>
              </a:defRPr>
            </a:lvl5pPr>
            <a:lvl6pPr>
              <a:buNone/>
              <a:defRPr sz="2175" b="1">
                <a:solidFill>
                  <a:srgbClr val="164C47"/>
                </a:solidFill>
                <a:latin typeface="Arial"/>
                <a:ea typeface="Arial"/>
                <a:cs typeface="Arial"/>
              </a:defRPr>
            </a:lvl6pPr>
            <a:lvl7pPr>
              <a:buNone/>
              <a:defRPr sz="2175" b="1">
                <a:solidFill>
                  <a:srgbClr val="164C47"/>
                </a:solidFill>
                <a:latin typeface="Arial"/>
                <a:ea typeface="Arial"/>
                <a:cs typeface="Arial"/>
              </a:defRPr>
            </a:lvl7pPr>
            <a:lvl8pPr>
              <a:buNone/>
              <a:defRPr sz="2175" b="1">
                <a:solidFill>
                  <a:srgbClr val="164C47"/>
                </a:solidFill>
                <a:latin typeface="Arial"/>
                <a:ea typeface="Arial"/>
                <a:cs typeface="Arial"/>
              </a:defRPr>
            </a:lvl8pPr>
            <a:lvl9pPr>
              <a:buNone/>
              <a:defRPr sz="2175" b="1">
                <a:solidFill>
                  <a:srgbClr val="164C47"/>
                </a:solidFill>
                <a:latin typeface="Arial"/>
                <a:ea typeface="Arial"/>
                <a:cs typeface="Arial"/>
              </a:defRPr>
            </a:lvl9pPr>
          </a:lstStyle>
          <a:p>
            <a:pPr>
              <a:buNone/>
              <a:defRPr sz="2175" b="1">
                <a:solidFill>
                  <a:srgbClr val="164C47"/>
                </a:solidFill>
                <a:latin typeface="Arial"/>
                <a:ea typeface="Arial"/>
                <a:cs typeface="Arial"/>
              </a:defRPr>
            </a:pPr>
            <a:r>
              <a:rPr sz="2175" b="1">
                <a:solidFill>
                  <a:srgbClr val="164C47"/>
                </a:solidFill>
                <a:latin typeface="Arial"/>
                <a:ea typeface="Arial"/>
                <a:cs typeface="Arial"/>
              </a:rPr>
              <a:t>Khóa ngoại và xóa dữ liệu</a:t>
            </a:r>
          </a:p>
        </p:txBody>
      </p:sp>
      <p:sp>
        <p:nvSpPr>
          <p:cNvPr id="10" name="Rectangle 9">
            <a:extLst>
              <a:ext uri="{FF2B5EF4-FFF2-40B4-BE49-F238E27FC236}">
                <a16:creationId xmlns:a16="http://schemas.microsoft.com/office/drawing/2014/main" id="{7DB4A626-7257-4BE0-8C75-13E3D074DDE5}"/>
              </a:ext>
            </a:extLst>
          </p:cNvPr>
          <p:cNvSpPr>
            <a:spLocks noGrp="1"/>
          </p:cNvSpPr>
          <p:nvPr/>
        </p:nvSpPr>
        <p:spPr>
          <a:xfrm>
            <a:off x="514350" y="4610100"/>
            <a:ext cx="5238750" cy="13335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Bật khóa ngoại trong onConfigure. ON DELETE CASCADE xóa các hàng phụ thuộc khi xóa tài khoản hoặc thuốc.</a:t>
            </a:r>
          </a:p>
        </p:txBody>
      </p:sp>
      <p:sp>
        <p:nvSpPr>
          <p:cNvPr id="11" name="Rectangle 10">
            <a:extLst>
              <a:ext uri="{FF2B5EF4-FFF2-40B4-BE49-F238E27FC236}">
                <a16:creationId xmlns:a16="http://schemas.microsoft.com/office/drawing/2014/main" id="{931A2275-4347-4D10-BE0D-EB6D4B6C2EC0}"/>
              </a:ext>
            </a:extLst>
          </p:cNvPr>
          <p:cNvSpPr>
            <a:spLocks noGrp="1"/>
          </p:cNvSpPr>
          <p:nvPr/>
        </p:nvSpPr>
        <p:spPr>
          <a:xfrm>
            <a:off x="6524625" y="4048125"/>
            <a:ext cx="5095875" cy="419100"/>
          </a:xfrm>
          <a:prstGeom prst="rect">
            <a:avLst/>
          </a:prstGeom>
          <a:noFill/>
          <a:ln w="0">
            <a:noFill/>
          </a:ln>
        </p:spPr>
        <p:txBody>
          <a:bodyPr/>
          <a:lstStyle>
            <a:defPPr>
              <a:defRPr sz="2175" b="1">
                <a:solidFill>
                  <a:srgbClr val="164C47"/>
                </a:solidFill>
                <a:latin typeface="Arial"/>
                <a:ea typeface="Arial"/>
                <a:cs typeface="Arial"/>
              </a:defRPr>
            </a:defPPr>
            <a:lvl1pPr>
              <a:buNone/>
              <a:defRPr sz="2175" b="1">
                <a:solidFill>
                  <a:srgbClr val="164C47"/>
                </a:solidFill>
                <a:latin typeface="Arial"/>
                <a:ea typeface="Arial"/>
                <a:cs typeface="Arial"/>
              </a:defRPr>
            </a:lvl1pPr>
            <a:lvl2pPr>
              <a:buNone/>
              <a:defRPr sz="2175" b="1">
                <a:solidFill>
                  <a:srgbClr val="164C47"/>
                </a:solidFill>
                <a:latin typeface="Arial"/>
                <a:ea typeface="Arial"/>
                <a:cs typeface="Arial"/>
              </a:defRPr>
            </a:lvl2pPr>
            <a:lvl3pPr>
              <a:buNone/>
              <a:defRPr sz="2175" b="1">
                <a:solidFill>
                  <a:srgbClr val="164C47"/>
                </a:solidFill>
                <a:latin typeface="Arial"/>
                <a:ea typeface="Arial"/>
                <a:cs typeface="Arial"/>
              </a:defRPr>
            </a:lvl3pPr>
            <a:lvl4pPr>
              <a:buNone/>
              <a:defRPr sz="2175" b="1">
                <a:solidFill>
                  <a:srgbClr val="164C47"/>
                </a:solidFill>
                <a:latin typeface="Arial"/>
                <a:ea typeface="Arial"/>
                <a:cs typeface="Arial"/>
              </a:defRPr>
            </a:lvl4pPr>
            <a:lvl5pPr>
              <a:buNone/>
              <a:defRPr sz="2175" b="1">
                <a:solidFill>
                  <a:srgbClr val="164C47"/>
                </a:solidFill>
                <a:latin typeface="Arial"/>
                <a:ea typeface="Arial"/>
                <a:cs typeface="Arial"/>
              </a:defRPr>
            </a:lvl5pPr>
            <a:lvl6pPr>
              <a:buNone/>
              <a:defRPr sz="2175" b="1">
                <a:solidFill>
                  <a:srgbClr val="164C47"/>
                </a:solidFill>
                <a:latin typeface="Arial"/>
                <a:ea typeface="Arial"/>
                <a:cs typeface="Arial"/>
              </a:defRPr>
            </a:lvl6pPr>
            <a:lvl7pPr>
              <a:buNone/>
              <a:defRPr sz="2175" b="1">
                <a:solidFill>
                  <a:srgbClr val="164C47"/>
                </a:solidFill>
                <a:latin typeface="Arial"/>
                <a:ea typeface="Arial"/>
                <a:cs typeface="Arial"/>
              </a:defRPr>
            </a:lvl7pPr>
            <a:lvl8pPr>
              <a:buNone/>
              <a:defRPr sz="2175" b="1">
                <a:solidFill>
                  <a:srgbClr val="164C47"/>
                </a:solidFill>
                <a:latin typeface="Arial"/>
                <a:ea typeface="Arial"/>
                <a:cs typeface="Arial"/>
              </a:defRPr>
            </a:lvl8pPr>
            <a:lvl9pPr>
              <a:buNone/>
              <a:defRPr sz="2175" b="1">
                <a:solidFill>
                  <a:srgbClr val="164C47"/>
                </a:solidFill>
                <a:latin typeface="Arial"/>
                <a:ea typeface="Arial"/>
                <a:cs typeface="Arial"/>
              </a:defRPr>
            </a:lvl9pPr>
          </a:lstStyle>
          <a:p>
            <a:pPr>
              <a:buNone/>
              <a:defRPr sz="2175" b="1">
                <a:solidFill>
                  <a:srgbClr val="164C47"/>
                </a:solidFill>
                <a:latin typeface="Arial"/>
                <a:ea typeface="Arial"/>
                <a:cs typeface="Arial"/>
              </a:defRPr>
            </a:pPr>
            <a:r>
              <a:rPr sz="2175" b="1">
                <a:solidFill>
                  <a:srgbClr val="164C47"/>
                </a:solidFill>
                <a:latin typeface="Arial"/>
                <a:ea typeface="Arial"/>
                <a:cs typeface="Arial"/>
              </a:rPr>
              <a:t>Chỉ mục tra cứu</a:t>
            </a:r>
          </a:p>
        </p:txBody>
      </p:sp>
      <p:sp>
        <p:nvSpPr>
          <p:cNvPr id="12" name="Rectangle 11">
            <a:extLst>
              <a:ext uri="{FF2B5EF4-FFF2-40B4-BE49-F238E27FC236}">
                <a16:creationId xmlns:a16="http://schemas.microsoft.com/office/drawing/2014/main" id="{C5AC8B38-1173-4B91-B558-8F8548B9CD78}"/>
              </a:ext>
            </a:extLst>
          </p:cNvPr>
          <p:cNvSpPr>
            <a:spLocks noGrp="1"/>
          </p:cNvSpPr>
          <p:nvPr/>
        </p:nvSpPr>
        <p:spPr>
          <a:xfrm>
            <a:off x="6524625" y="4610100"/>
            <a:ext cx="5095875" cy="1333500"/>
          </a:xfrm>
          <a:prstGeom prst="rect">
            <a:avLst/>
          </a:prstGeom>
          <a:noFill/>
          <a:ln w="0">
            <a:noFill/>
          </a:ln>
        </p:spPr>
        <p:txBody>
          <a:bodyPr/>
          <a:lstStyle>
            <a:defPPr>
              <a:defRPr sz="1875" b="0">
                <a:solidFill>
                  <a:srgbClr val="526B66"/>
                </a:solidFill>
                <a:latin typeface="Arial"/>
                <a:ea typeface="Arial"/>
                <a:cs typeface="Arial"/>
              </a:defRPr>
            </a:defPPr>
            <a:lvl1pPr>
              <a:buNone/>
              <a:defRPr sz="1875" b="0">
                <a:solidFill>
                  <a:srgbClr val="526B66"/>
                </a:solidFill>
                <a:latin typeface="Arial"/>
                <a:ea typeface="Arial"/>
                <a:cs typeface="Arial"/>
              </a:defRPr>
            </a:lvl1pPr>
            <a:lvl2pPr>
              <a:buNone/>
              <a:defRPr sz="1875" b="0">
                <a:solidFill>
                  <a:srgbClr val="526B66"/>
                </a:solidFill>
                <a:latin typeface="Arial"/>
                <a:ea typeface="Arial"/>
                <a:cs typeface="Arial"/>
              </a:defRPr>
            </a:lvl2pPr>
            <a:lvl3pPr>
              <a:buNone/>
              <a:defRPr sz="1875" b="0">
                <a:solidFill>
                  <a:srgbClr val="526B66"/>
                </a:solidFill>
                <a:latin typeface="Arial"/>
                <a:ea typeface="Arial"/>
                <a:cs typeface="Arial"/>
              </a:defRPr>
            </a:lvl3pPr>
            <a:lvl4pPr>
              <a:buNone/>
              <a:defRPr sz="1875" b="0">
                <a:solidFill>
                  <a:srgbClr val="526B66"/>
                </a:solidFill>
                <a:latin typeface="Arial"/>
                <a:ea typeface="Arial"/>
                <a:cs typeface="Arial"/>
              </a:defRPr>
            </a:lvl4pPr>
            <a:lvl5pPr>
              <a:buNone/>
              <a:defRPr sz="1875" b="0">
                <a:solidFill>
                  <a:srgbClr val="526B66"/>
                </a:solidFill>
                <a:latin typeface="Arial"/>
                <a:ea typeface="Arial"/>
                <a:cs typeface="Arial"/>
              </a:defRPr>
            </a:lvl5pPr>
            <a:lvl6pPr>
              <a:buNone/>
              <a:defRPr sz="1875" b="0">
                <a:solidFill>
                  <a:srgbClr val="526B66"/>
                </a:solidFill>
                <a:latin typeface="Arial"/>
                <a:ea typeface="Arial"/>
                <a:cs typeface="Arial"/>
              </a:defRPr>
            </a:lvl6pPr>
            <a:lvl7pPr>
              <a:buNone/>
              <a:defRPr sz="1875" b="0">
                <a:solidFill>
                  <a:srgbClr val="526B66"/>
                </a:solidFill>
                <a:latin typeface="Arial"/>
                <a:ea typeface="Arial"/>
                <a:cs typeface="Arial"/>
              </a:defRPr>
            </a:lvl7pPr>
            <a:lvl8pPr>
              <a:buNone/>
              <a:defRPr sz="1875" b="0">
                <a:solidFill>
                  <a:srgbClr val="526B66"/>
                </a:solidFill>
                <a:latin typeface="Arial"/>
                <a:ea typeface="Arial"/>
                <a:cs typeface="Arial"/>
              </a:defRPr>
            </a:lvl8pPr>
            <a:lvl9pPr>
              <a:buNone/>
              <a:defRPr sz="1875" b="0">
                <a:solidFill>
                  <a:srgbClr val="526B66"/>
                </a:solidFill>
                <a:latin typeface="Arial"/>
                <a:ea typeface="Arial"/>
                <a:cs typeface="Arial"/>
              </a:defRPr>
            </a:lvl9pPr>
          </a:lstStyle>
          <a:p>
            <a:pPr>
              <a:buNone/>
              <a:defRPr sz="1875" b="0">
                <a:solidFill>
                  <a:srgbClr val="526B66"/>
                </a:solidFill>
                <a:latin typeface="Arial"/>
                <a:ea typeface="Arial"/>
                <a:cs typeface="Arial"/>
              </a:defRPr>
            </a:pPr>
            <a:r>
              <a:rPr sz="1875" b="0">
                <a:solidFill>
                  <a:srgbClr val="526B66"/>
                </a:solidFill>
                <a:latin typeface="Arial"/>
                <a:ea typeface="Arial"/>
                <a:cs typeface="Arial"/>
              </a:rPr>
              <a:t>Sức khỏe, nước: (user_id, date).</a:t>
            </a:r>
          </a:p>
          <a:p>
            <a:pPr>
              <a:buNone/>
              <a:defRPr sz="1875" b="0">
                <a:solidFill>
                  <a:srgbClr val="526B66"/>
                </a:solidFill>
                <a:latin typeface="Arial"/>
                <a:ea typeface="Arial"/>
                <a:cs typeface="Arial"/>
              </a:defRPr>
            </a:pPr>
            <a:r>
              <a:rPr sz="1875" b="0">
                <a:solidFill>
                  <a:srgbClr val="526B66"/>
                </a:solidFill>
                <a:latin typeface="Arial"/>
                <a:ea typeface="Arial"/>
                <a:cs typeface="Arial"/>
              </a:rPr>
              <a:t>Cữ thuốc: (medicine_id, date, scheduled_time). Chỉ mục cữ thuốc không phải UNIQUE.</a:t>
            </a:r>
          </a:p>
        </p:txBody>
      </p:sp>
    </p:spTree>
    <p:extLst>
      <p:ext uri="{BB962C8B-B14F-4D97-AF65-F5344CB8AC3E}">
        <p14:creationId xmlns:p14="http://schemas.microsoft.com/office/powerpoint/2010/main" val="1094968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AF7"/>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AFA3BA5-0B04-43A2-B27B-DBEBCEAC4450}"/>
              </a:ext>
            </a:extLst>
          </p:cNvPr>
          <p:cNvSpPr>
            <a:spLocks noGrp="1"/>
          </p:cNvSpPr>
          <p:nvPr/>
        </p:nvSpPr>
        <p:spPr>
          <a:xfrm>
            <a:off x="514350" y="238125"/>
            <a:ext cx="10477500" cy="238125"/>
          </a:xfrm>
          <a:prstGeom prst="rect">
            <a:avLst/>
          </a:prstGeom>
          <a:noFill/>
          <a:ln w="0">
            <a:noFill/>
          </a:ln>
        </p:spPr>
        <p:txBody>
          <a:bodyPr/>
          <a:lstStyle>
            <a:defPPr>
              <a:defRPr sz="1200" b="1">
                <a:solidFill>
                  <a:srgbClr val="087F72"/>
                </a:solidFill>
                <a:latin typeface="Arial"/>
                <a:ea typeface="Arial"/>
                <a:cs typeface="Arial"/>
              </a:defRPr>
            </a:defPPr>
            <a:lvl1pPr>
              <a:buNone/>
              <a:defRPr sz="1200" b="1">
                <a:solidFill>
                  <a:srgbClr val="087F72"/>
                </a:solidFill>
                <a:latin typeface="Arial"/>
                <a:ea typeface="Arial"/>
                <a:cs typeface="Arial"/>
              </a:defRPr>
            </a:lvl1pPr>
            <a:lvl2pPr>
              <a:buNone/>
              <a:defRPr sz="1200" b="1">
                <a:solidFill>
                  <a:srgbClr val="087F72"/>
                </a:solidFill>
                <a:latin typeface="Arial"/>
                <a:ea typeface="Arial"/>
                <a:cs typeface="Arial"/>
              </a:defRPr>
            </a:lvl2pPr>
            <a:lvl3pPr>
              <a:buNone/>
              <a:defRPr sz="1200" b="1">
                <a:solidFill>
                  <a:srgbClr val="087F72"/>
                </a:solidFill>
                <a:latin typeface="Arial"/>
                <a:ea typeface="Arial"/>
                <a:cs typeface="Arial"/>
              </a:defRPr>
            </a:lvl3pPr>
            <a:lvl4pPr>
              <a:buNone/>
              <a:defRPr sz="1200" b="1">
                <a:solidFill>
                  <a:srgbClr val="087F72"/>
                </a:solidFill>
                <a:latin typeface="Arial"/>
                <a:ea typeface="Arial"/>
                <a:cs typeface="Arial"/>
              </a:defRPr>
            </a:lvl4pPr>
            <a:lvl5pPr>
              <a:buNone/>
              <a:defRPr sz="1200" b="1">
                <a:solidFill>
                  <a:srgbClr val="087F72"/>
                </a:solidFill>
                <a:latin typeface="Arial"/>
                <a:ea typeface="Arial"/>
                <a:cs typeface="Arial"/>
              </a:defRPr>
            </a:lvl5pPr>
            <a:lvl6pPr>
              <a:buNone/>
              <a:defRPr sz="1200" b="1">
                <a:solidFill>
                  <a:srgbClr val="087F72"/>
                </a:solidFill>
                <a:latin typeface="Arial"/>
                <a:ea typeface="Arial"/>
                <a:cs typeface="Arial"/>
              </a:defRPr>
            </a:lvl6pPr>
            <a:lvl7pPr>
              <a:buNone/>
              <a:defRPr sz="1200" b="1">
                <a:solidFill>
                  <a:srgbClr val="087F72"/>
                </a:solidFill>
                <a:latin typeface="Arial"/>
                <a:ea typeface="Arial"/>
                <a:cs typeface="Arial"/>
              </a:defRPr>
            </a:lvl7pPr>
            <a:lvl8pPr>
              <a:buNone/>
              <a:defRPr sz="1200" b="1">
                <a:solidFill>
                  <a:srgbClr val="087F72"/>
                </a:solidFill>
                <a:latin typeface="Arial"/>
                <a:ea typeface="Arial"/>
                <a:cs typeface="Arial"/>
              </a:defRPr>
            </a:lvl8pPr>
            <a:lvl9pPr>
              <a:buNone/>
              <a:defRPr sz="1200" b="1">
                <a:solidFill>
                  <a:srgbClr val="087F72"/>
                </a:solidFill>
                <a:latin typeface="Arial"/>
                <a:ea typeface="Arial"/>
                <a:cs typeface="Arial"/>
              </a:defRPr>
            </a:lvl9pPr>
          </a:lstStyle>
          <a:p>
            <a:pPr>
              <a:buNone/>
              <a:defRPr sz="1200" b="1">
                <a:solidFill>
                  <a:srgbClr val="087F72"/>
                </a:solidFill>
                <a:latin typeface="Arial"/>
                <a:ea typeface="Arial"/>
                <a:cs typeface="Arial"/>
              </a:defRPr>
            </a:pPr>
            <a:r>
              <a:rPr sz="1200" b="1">
                <a:solidFill>
                  <a:srgbClr val="087F72"/>
                </a:solidFill>
                <a:latin typeface="Arial"/>
                <a:ea typeface="Arial"/>
                <a:cs typeface="Arial"/>
              </a:rPr>
              <a:t>1.5  PHÂN CÔNG THỰC HIỆN</a:t>
            </a:r>
          </a:p>
        </p:txBody>
      </p:sp>
      <p:sp>
        <p:nvSpPr>
          <p:cNvPr id="2" name="Rectangle 1">
            <a:extLst>
              <a:ext uri="{FF2B5EF4-FFF2-40B4-BE49-F238E27FC236}">
                <a16:creationId xmlns:a16="http://schemas.microsoft.com/office/drawing/2014/main" id="{8EEE6651-4D2F-4834-A9C3-4BC805B6F19F}"/>
              </a:ext>
            </a:extLst>
          </p:cNvPr>
          <p:cNvSpPr>
            <a:spLocks noGrp="1"/>
          </p:cNvSpPr>
          <p:nvPr/>
        </p:nvSpPr>
        <p:spPr>
          <a:xfrm>
            <a:off x="514350" y="628650"/>
            <a:ext cx="11144250" cy="600075"/>
          </a:xfrm>
          <a:prstGeom prst="rect">
            <a:avLst/>
          </a:prstGeom>
          <a:noFill/>
          <a:ln w="0">
            <a:noFill/>
          </a:ln>
        </p:spPr>
        <p:txBody>
          <a:bodyPr/>
          <a:lstStyle>
            <a:defPPr>
              <a:defRPr sz="2925" b="1">
                <a:solidFill>
                  <a:srgbClr val="164C47"/>
                </a:solidFill>
                <a:latin typeface="Arial"/>
                <a:ea typeface="Arial"/>
                <a:cs typeface="Arial"/>
              </a:defRPr>
            </a:defPPr>
            <a:lvl1pPr>
              <a:buNone/>
              <a:defRPr sz="2925" b="1">
                <a:solidFill>
                  <a:srgbClr val="164C47"/>
                </a:solidFill>
                <a:latin typeface="Arial"/>
                <a:ea typeface="Arial"/>
                <a:cs typeface="Arial"/>
              </a:defRPr>
            </a:lvl1pPr>
            <a:lvl2pPr>
              <a:buNone/>
              <a:defRPr sz="2925" b="1">
                <a:solidFill>
                  <a:srgbClr val="164C47"/>
                </a:solidFill>
                <a:latin typeface="Arial"/>
                <a:ea typeface="Arial"/>
                <a:cs typeface="Arial"/>
              </a:defRPr>
            </a:lvl2pPr>
            <a:lvl3pPr>
              <a:buNone/>
              <a:defRPr sz="2925" b="1">
                <a:solidFill>
                  <a:srgbClr val="164C47"/>
                </a:solidFill>
                <a:latin typeface="Arial"/>
                <a:ea typeface="Arial"/>
                <a:cs typeface="Arial"/>
              </a:defRPr>
            </a:lvl3pPr>
            <a:lvl4pPr>
              <a:buNone/>
              <a:defRPr sz="2925" b="1">
                <a:solidFill>
                  <a:srgbClr val="164C47"/>
                </a:solidFill>
                <a:latin typeface="Arial"/>
                <a:ea typeface="Arial"/>
                <a:cs typeface="Arial"/>
              </a:defRPr>
            </a:lvl4pPr>
            <a:lvl5pPr>
              <a:buNone/>
              <a:defRPr sz="2925" b="1">
                <a:solidFill>
                  <a:srgbClr val="164C47"/>
                </a:solidFill>
                <a:latin typeface="Arial"/>
                <a:ea typeface="Arial"/>
                <a:cs typeface="Arial"/>
              </a:defRPr>
            </a:lvl5pPr>
            <a:lvl6pPr>
              <a:buNone/>
              <a:defRPr sz="2925" b="1">
                <a:solidFill>
                  <a:srgbClr val="164C47"/>
                </a:solidFill>
                <a:latin typeface="Arial"/>
                <a:ea typeface="Arial"/>
                <a:cs typeface="Arial"/>
              </a:defRPr>
            </a:lvl6pPr>
            <a:lvl7pPr>
              <a:buNone/>
              <a:defRPr sz="2925" b="1">
                <a:solidFill>
                  <a:srgbClr val="164C47"/>
                </a:solidFill>
                <a:latin typeface="Arial"/>
                <a:ea typeface="Arial"/>
                <a:cs typeface="Arial"/>
              </a:defRPr>
            </a:lvl7pPr>
            <a:lvl8pPr>
              <a:buNone/>
              <a:defRPr sz="2925" b="1">
                <a:solidFill>
                  <a:srgbClr val="164C47"/>
                </a:solidFill>
                <a:latin typeface="Arial"/>
                <a:ea typeface="Arial"/>
                <a:cs typeface="Arial"/>
              </a:defRPr>
            </a:lvl8pPr>
            <a:lvl9pPr>
              <a:buNone/>
              <a:defRPr sz="2925" b="1">
                <a:solidFill>
                  <a:srgbClr val="164C47"/>
                </a:solidFill>
                <a:latin typeface="Arial"/>
                <a:ea typeface="Arial"/>
                <a:cs typeface="Arial"/>
              </a:defRPr>
            </a:lvl9pPr>
          </a:lstStyle>
          <a:p>
            <a:pPr>
              <a:buNone/>
              <a:defRPr sz="2925" b="1">
                <a:solidFill>
                  <a:srgbClr val="164C47"/>
                </a:solidFill>
                <a:latin typeface="Arial"/>
                <a:ea typeface="Arial"/>
                <a:cs typeface="Arial"/>
              </a:defRPr>
            </a:pPr>
            <a:r>
              <a:rPr sz="2925" b="1">
                <a:solidFill>
                  <a:srgbClr val="164C47"/>
                </a:solidFill>
                <a:latin typeface="Arial"/>
                <a:ea typeface="Arial"/>
                <a:cs typeface="Arial"/>
              </a:rPr>
              <a:t>Vai trò thành viên và tổng kết</a:t>
            </a:r>
          </a:p>
        </p:txBody>
      </p:sp>
      <p:sp>
        <p:nvSpPr>
          <p:cNvPr id="3" name="Rectangle 2">
            <a:extLst>
              <a:ext uri="{FF2B5EF4-FFF2-40B4-BE49-F238E27FC236}">
                <a16:creationId xmlns:a16="http://schemas.microsoft.com/office/drawing/2014/main" id="{4D32358A-DE0C-4C92-9A31-47D9E47670FB}"/>
              </a:ext>
            </a:extLst>
          </p:cNvPr>
          <p:cNvSpPr>
            <a:spLocks noGrp="1"/>
          </p:cNvSpPr>
          <p:nvPr/>
        </p:nvSpPr>
        <p:spPr>
          <a:xfrm>
            <a:off x="514350" y="6515100"/>
            <a:ext cx="9525000" cy="209550"/>
          </a:xfrm>
          <a:prstGeom prst="rect">
            <a:avLst/>
          </a:prstGeom>
          <a:noFill/>
          <a:ln w="0">
            <a:noFill/>
          </a:ln>
        </p:spPr>
        <p:txBody>
          <a:bodyPr/>
          <a:lstStyle>
            <a:defPPr>
              <a:defRPr sz="975" b="0">
                <a:solidFill>
                  <a:srgbClr val="526B66"/>
                </a:solidFill>
                <a:latin typeface="Arial"/>
                <a:ea typeface="Arial"/>
                <a:cs typeface="Arial"/>
              </a:defRPr>
            </a:defPPr>
            <a:lvl1pPr>
              <a:buNone/>
              <a:defRPr sz="975" b="0">
                <a:solidFill>
                  <a:srgbClr val="526B66"/>
                </a:solidFill>
                <a:latin typeface="Arial"/>
                <a:ea typeface="Arial"/>
                <a:cs typeface="Arial"/>
              </a:defRPr>
            </a:lvl1pPr>
            <a:lvl2pPr>
              <a:buNone/>
              <a:defRPr sz="975" b="0">
                <a:solidFill>
                  <a:srgbClr val="526B66"/>
                </a:solidFill>
                <a:latin typeface="Arial"/>
                <a:ea typeface="Arial"/>
                <a:cs typeface="Arial"/>
              </a:defRPr>
            </a:lvl2pPr>
            <a:lvl3pPr>
              <a:buNone/>
              <a:defRPr sz="975" b="0">
                <a:solidFill>
                  <a:srgbClr val="526B66"/>
                </a:solidFill>
                <a:latin typeface="Arial"/>
                <a:ea typeface="Arial"/>
                <a:cs typeface="Arial"/>
              </a:defRPr>
            </a:lvl3pPr>
            <a:lvl4pPr>
              <a:buNone/>
              <a:defRPr sz="975" b="0">
                <a:solidFill>
                  <a:srgbClr val="526B66"/>
                </a:solidFill>
                <a:latin typeface="Arial"/>
                <a:ea typeface="Arial"/>
                <a:cs typeface="Arial"/>
              </a:defRPr>
            </a:lvl4pPr>
            <a:lvl5pPr>
              <a:buNone/>
              <a:defRPr sz="975" b="0">
                <a:solidFill>
                  <a:srgbClr val="526B66"/>
                </a:solidFill>
                <a:latin typeface="Arial"/>
                <a:ea typeface="Arial"/>
                <a:cs typeface="Arial"/>
              </a:defRPr>
            </a:lvl5pPr>
            <a:lvl6pPr>
              <a:buNone/>
              <a:defRPr sz="975" b="0">
                <a:solidFill>
                  <a:srgbClr val="526B66"/>
                </a:solidFill>
                <a:latin typeface="Arial"/>
                <a:ea typeface="Arial"/>
                <a:cs typeface="Arial"/>
              </a:defRPr>
            </a:lvl6pPr>
            <a:lvl7pPr>
              <a:buNone/>
              <a:defRPr sz="975" b="0">
                <a:solidFill>
                  <a:srgbClr val="526B66"/>
                </a:solidFill>
                <a:latin typeface="Arial"/>
                <a:ea typeface="Arial"/>
                <a:cs typeface="Arial"/>
              </a:defRPr>
            </a:lvl7pPr>
            <a:lvl8pPr>
              <a:buNone/>
              <a:defRPr sz="975" b="0">
                <a:solidFill>
                  <a:srgbClr val="526B66"/>
                </a:solidFill>
                <a:latin typeface="Arial"/>
                <a:ea typeface="Arial"/>
                <a:cs typeface="Arial"/>
              </a:defRPr>
            </a:lvl8pPr>
            <a:lvl9pPr>
              <a:buNone/>
              <a:defRPr sz="975" b="0">
                <a:solidFill>
                  <a:srgbClr val="526B66"/>
                </a:solidFill>
                <a:latin typeface="Arial"/>
                <a:ea typeface="Arial"/>
                <a:cs typeface="Arial"/>
              </a:defRPr>
            </a:lvl9pPr>
          </a:lstStyle>
          <a:p>
            <a:pPr>
              <a:buNone/>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Rectangle 3">
            <a:extLst>
              <a:ext uri="{FF2B5EF4-FFF2-40B4-BE49-F238E27FC236}">
                <a16:creationId xmlns:a16="http://schemas.microsoft.com/office/drawing/2014/main" id="{6AD288F0-2E33-416A-A620-86757B933519}"/>
              </a:ext>
            </a:extLst>
          </p:cNvPr>
          <p:cNvSpPr>
            <a:spLocks noGrp="1"/>
          </p:cNvSpPr>
          <p:nvPr/>
        </p:nvSpPr>
        <p:spPr>
          <a:xfrm>
            <a:off x="11258550" y="6477000"/>
            <a:ext cx="476250" cy="238125"/>
          </a:xfrm>
          <a:prstGeom prst="rect">
            <a:avLst/>
          </a:prstGeom>
          <a:noFill/>
          <a:ln w="0">
            <a:noFill/>
          </a:ln>
        </p:spPr>
        <p:txBody>
          <a:bodyPr/>
          <a:lstStyle>
            <a:defPPr>
              <a:defRPr sz="1200" b="0">
                <a:solidFill>
                  <a:srgbClr val="526B66"/>
                </a:solidFill>
                <a:latin typeface="Arial"/>
                <a:ea typeface="Arial"/>
                <a:cs typeface="Arial"/>
              </a:defRPr>
            </a:defPPr>
            <a:lvl1pPr>
              <a:buNone/>
              <a:defRPr sz="1200" b="0">
                <a:solidFill>
                  <a:srgbClr val="526B66"/>
                </a:solidFill>
                <a:latin typeface="Arial"/>
                <a:ea typeface="Arial"/>
                <a:cs typeface="Arial"/>
              </a:defRPr>
            </a:lvl1pPr>
            <a:lvl2pPr>
              <a:buNone/>
              <a:defRPr sz="1200" b="0">
                <a:solidFill>
                  <a:srgbClr val="526B66"/>
                </a:solidFill>
                <a:latin typeface="Arial"/>
                <a:ea typeface="Arial"/>
                <a:cs typeface="Arial"/>
              </a:defRPr>
            </a:lvl2pPr>
            <a:lvl3pPr>
              <a:buNone/>
              <a:defRPr sz="1200" b="0">
                <a:solidFill>
                  <a:srgbClr val="526B66"/>
                </a:solidFill>
                <a:latin typeface="Arial"/>
                <a:ea typeface="Arial"/>
                <a:cs typeface="Arial"/>
              </a:defRPr>
            </a:lvl3pPr>
            <a:lvl4pPr>
              <a:buNone/>
              <a:defRPr sz="1200" b="0">
                <a:solidFill>
                  <a:srgbClr val="526B66"/>
                </a:solidFill>
                <a:latin typeface="Arial"/>
                <a:ea typeface="Arial"/>
                <a:cs typeface="Arial"/>
              </a:defRPr>
            </a:lvl4pPr>
            <a:lvl5pPr>
              <a:buNone/>
              <a:defRPr sz="1200" b="0">
                <a:solidFill>
                  <a:srgbClr val="526B66"/>
                </a:solidFill>
                <a:latin typeface="Arial"/>
                <a:ea typeface="Arial"/>
                <a:cs typeface="Arial"/>
              </a:defRPr>
            </a:lvl5pPr>
            <a:lvl6pPr>
              <a:buNone/>
              <a:defRPr sz="1200" b="0">
                <a:solidFill>
                  <a:srgbClr val="526B66"/>
                </a:solidFill>
                <a:latin typeface="Arial"/>
                <a:ea typeface="Arial"/>
                <a:cs typeface="Arial"/>
              </a:defRPr>
            </a:lvl6pPr>
            <a:lvl7pPr>
              <a:buNone/>
              <a:defRPr sz="1200" b="0">
                <a:solidFill>
                  <a:srgbClr val="526B66"/>
                </a:solidFill>
                <a:latin typeface="Arial"/>
                <a:ea typeface="Arial"/>
                <a:cs typeface="Arial"/>
              </a:defRPr>
            </a:lvl7pPr>
            <a:lvl8pPr>
              <a:buNone/>
              <a:defRPr sz="1200" b="0">
                <a:solidFill>
                  <a:srgbClr val="526B66"/>
                </a:solidFill>
                <a:latin typeface="Arial"/>
                <a:ea typeface="Arial"/>
                <a:cs typeface="Arial"/>
              </a:defRPr>
            </a:lvl8pPr>
            <a:lvl9pPr>
              <a:buNone/>
              <a:defRPr sz="1200" b="0">
                <a:solidFill>
                  <a:srgbClr val="526B66"/>
                </a:solidFill>
                <a:latin typeface="Arial"/>
                <a:ea typeface="Arial"/>
                <a:cs typeface="Arial"/>
              </a:defRPr>
            </a:lvl9pPr>
          </a:lstStyle>
          <a:p>
            <a:pPr>
              <a:buNone/>
              <a:defRPr sz="1200" b="0">
                <a:solidFill>
                  <a:srgbClr val="526B66"/>
                </a:solidFill>
                <a:latin typeface="Arial"/>
                <a:ea typeface="Arial"/>
                <a:cs typeface="Arial"/>
              </a:defRPr>
            </a:pPr>
            <a:r>
              <a:rPr sz="1200" b="0">
                <a:solidFill>
                  <a:srgbClr val="526B66"/>
                </a:solidFill>
                <a:latin typeface="Arial"/>
                <a:ea typeface="Arial"/>
                <a:cs typeface="Arial"/>
              </a:rPr>
              <a:t>20</a:t>
            </a:r>
          </a:p>
        </p:txBody>
      </p:sp>
      <p:sp>
        <p:nvSpPr>
          <p:cNvPr id="5" name="Rectangle 4">
            <a:extLst>
              <a:ext uri="{FF2B5EF4-FFF2-40B4-BE49-F238E27FC236}">
                <a16:creationId xmlns:a16="http://schemas.microsoft.com/office/drawing/2014/main" id="{C4345700-BD20-48F7-9BBD-78480DC4718B}"/>
              </a:ext>
            </a:extLst>
          </p:cNvPr>
          <p:cNvSpPr>
            <a:spLocks noGrp="1"/>
          </p:cNvSpPr>
          <p:nvPr/>
        </p:nvSpPr>
        <p:spPr>
          <a:xfrm>
            <a:off x="514350" y="1619250"/>
            <a:ext cx="5238750" cy="476250"/>
          </a:xfrm>
          <a:prstGeom prst="rect">
            <a:avLst/>
          </a:prstGeom>
          <a:noFill/>
          <a:ln w="0">
            <a:noFill/>
          </a:ln>
        </p:spPr>
        <p:txBody>
          <a:bodyPr/>
          <a:lstStyle>
            <a:defPPr>
              <a:defRPr sz="2400" b="1">
                <a:solidFill>
                  <a:srgbClr val="164C47"/>
                </a:solidFill>
                <a:latin typeface="Arial"/>
                <a:ea typeface="Arial"/>
                <a:cs typeface="Arial"/>
              </a:defRPr>
            </a:defPPr>
            <a:lvl1pPr>
              <a:buNone/>
              <a:defRPr sz="2400" b="1">
                <a:solidFill>
                  <a:srgbClr val="164C47"/>
                </a:solidFill>
                <a:latin typeface="Arial"/>
                <a:ea typeface="Arial"/>
                <a:cs typeface="Arial"/>
              </a:defRPr>
            </a:lvl1pPr>
            <a:lvl2pPr>
              <a:buNone/>
              <a:defRPr sz="2400" b="1">
                <a:solidFill>
                  <a:srgbClr val="164C47"/>
                </a:solidFill>
                <a:latin typeface="Arial"/>
                <a:ea typeface="Arial"/>
                <a:cs typeface="Arial"/>
              </a:defRPr>
            </a:lvl2pPr>
            <a:lvl3pPr>
              <a:buNone/>
              <a:defRPr sz="2400" b="1">
                <a:solidFill>
                  <a:srgbClr val="164C47"/>
                </a:solidFill>
                <a:latin typeface="Arial"/>
                <a:ea typeface="Arial"/>
                <a:cs typeface="Arial"/>
              </a:defRPr>
            </a:lvl3pPr>
            <a:lvl4pPr>
              <a:buNone/>
              <a:defRPr sz="2400" b="1">
                <a:solidFill>
                  <a:srgbClr val="164C47"/>
                </a:solidFill>
                <a:latin typeface="Arial"/>
                <a:ea typeface="Arial"/>
                <a:cs typeface="Arial"/>
              </a:defRPr>
            </a:lvl4pPr>
            <a:lvl5pPr>
              <a:buNone/>
              <a:defRPr sz="2400" b="1">
                <a:solidFill>
                  <a:srgbClr val="164C47"/>
                </a:solidFill>
                <a:latin typeface="Arial"/>
                <a:ea typeface="Arial"/>
                <a:cs typeface="Arial"/>
              </a:defRPr>
            </a:lvl5pPr>
            <a:lvl6pPr>
              <a:buNone/>
              <a:defRPr sz="2400" b="1">
                <a:solidFill>
                  <a:srgbClr val="164C47"/>
                </a:solidFill>
                <a:latin typeface="Arial"/>
                <a:ea typeface="Arial"/>
                <a:cs typeface="Arial"/>
              </a:defRPr>
            </a:lvl6pPr>
            <a:lvl7pPr>
              <a:buNone/>
              <a:defRPr sz="2400" b="1">
                <a:solidFill>
                  <a:srgbClr val="164C47"/>
                </a:solidFill>
                <a:latin typeface="Arial"/>
                <a:ea typeface="Arial"/>
                <a:cs typeface="Arial"/>
              </a:defRPr>
            </a:lvl7pPr>
            <a:lvl8pPr>
              <a:buNone/>
              <a:defRPr sz="2400" b="1">
                <a:solidFill>
                  <a:srgbClr val="164C47"/>
                </a:solidFill>
                <a:latin typeface="Arial"/>
                <a:ea typeface="Arial"/>
                <a:cs typeface="Arial"/>
              </a:defRPr>
            </a:lvl8pPr>
            <a:lvl9pPr>
              <a:buNone/>
              <a:defRPr sz="2400" b="1">
                <a:solidFill>
                  <a:srgbClr val="164C47"/>
                </a:solidFill>
                <a:latin typeface="Arial"/>
                <a:ea typeface="Arial"/>
                <a:cs typeface="Arial"/>
              </a:defRPr>
            </a:lvl9pPr>
          </a:lstStyle>
          <a:p>
            <a:pPr>
              <a:buNone/>
              <a:defRPr sz="2400" b="1">
                <a:solidFill>
                  <a:srgbClr val="164C47"/>
                </a:solidFill>
                <a:latin typeface="Arial"/>
                <a:ea typeface="Arial"/>
                <a:cs typeface="Arial"/>
              </a:defRPr>
            </a:pPr>
            <a:r>
              <a:rPr sz="2400" b="1">
                <a:solidFill>
                  <a:srgbClr val="164C47"/>
                </a:solidFill>
                <a:latin typeface="Arial"/>
                <a:ea typeface="Arial"/>
                <a:cs typeface="Arial"/>
              </a:rPr>
              <a:t>Huỳnh Trung Tín</a:t>
            </a:r>
          </a:p>
        </p:txBody>
      </p:sp>
      <p:sp>
        <p:nvSpPr>
          <p:cNvPr id="6" name="Rectangle 5">
            <a:extLst>
              <a:ext uri="{FF2B5EF4-FFF2-40B4-BE49-F238E27FC236}">
                <a16:creationId xmlns:a16="http://schemas.microsoft.com/office/drawing/2014/main" id="{698596A8-3843-4629-B2AB-21B92921A61A}"/>
              </a:ext>
            </a:extLst>
          </p:cNvPr>
          <p:cNvSpPr>
            <a:spLocks noGrp="1"/>
          </p:cNvSpPr>
          <p:nvPr/>
        </p:nvSpPr>
        <p:spPr>
          <a:xfrm>
            <a:off x="514350" y="2333625"/>
            <a:ext cx="5238750" cy="2571750"/>
          </a:xfrm>
          <a:prstGeom prst="rect">
            <a:avLst/>
          </a:prstGeom>
          <a:noFill/>
          <a:ln w="0">
            <a:noFill/>
          </a:ln>
        </p:spPr>
        <p:txBody>
          <a:bodyPr/>
          <a:lstStyle>
            <a:defPPr>
              <a:defRPr sz="1950" b="0">
                <a:solidFill>
                  <a:srgbClr val="526B66"/>
                </a:solidFill>
                <a:latin typeface="Arial"/>
                <a:ea typeface="Arial"/>
                <a:cs typeface="Arial"/>
              </a:defRPr>
            </a:defPPr>
            <a:lvl1pPr>
              <a:buNone/>
              <a:defRPr sz="1950" b="0">
                <a:solidFill>
                  <a:srgbClr val="526B66"/>
                </a:solidFill>
                <a:latin typeface="Arial"/>
                <a:ea typeface="Arial"/>
                <a:cs typeface="Arial"/>
              </a:defRPr>
            </a:lvl1pPr>
            <a:lvl2pPr>
              <a:buNone/>
              <a:defRPr sz="1950" b="0">
                <a:solidFill>
                  <a:srgbClr val="526B66"/>
                </a:solidFill>
                <a:latin typeface="Arial"/>
                <a:ea typeface="Arial"/>
                <a:cs typeface="Arial"/>
              </a:defRPr>
            </a:lvl2pPr>
            <a:lvl3pPr>
              <a:buNone/>
              <a:defRPr sz="1950" b="0">
                <a:solidFill>
                  <a:srgbClr val="526B66"/>
                </a:solidFill>
                <a:latin typeface="Arial"/>
                <a:ea typeface="Arial"/>
                <a:cs typeface="Arial"/>
              </a:defRPr>
            </a:lvl3pPr>
            <a:lvl4pPr>
              <a:buNone/>
              <a:defRPr sz="1950" b="0">
                <a:solidFill>
                  <a:srgbClr val="526B66"/>
                </a:solidFill>
                <a:latin typeface="Arial"/>
                <a:ea typeface="Arial"/>
                <a:cs typeface="Arial"/>
              </a:defRPr>
            </a:lvl4pPr>
            <a:lvl5pPr>
              <a:buNone/>
              <a:defRPr sz="1950" b="0">
                <a:solidFill>
                  <a:srgbClr val="526B66"/>
                </a:solidFill>
                <a:latin typeface="Arial"/>
                <a:ea typeface="Arial"/>
                <a:cs typeface="Arial"/>
              </a:defRPr>
            </a:lvl5pPr>
            <a:lvl6pPr>
              <a:buNone/>
              <a:defRPr sz="1950" b="0">
                <a:solidFill>
                  <a:srgbClr val="526B66"/>
                </a:solidFill>
                <a:latin typeface="Arial"/>
                <a:ea typeface="Arial"/>
                <a:cs typeface="Arial"/>
              </a:defRPr>
            </a:lvl6pPr>
            <a:lvl7pPr>
              <a:buNone/>
              <a:defRPr sz="1950" b="0">
                <a:solidFill>
                  <a:srgbClr val="526B66"/>
                </a:solidFill>
                <a:latin typeface="Arial"/>
                <a:ea typeface="Arial"/>
                <a:cs typeface="Arial"/>
              </a:defRPr>
            </a:lvl7pPr>
            <a:lvl8pPr>
              <a:buNone/>
              <a:defRPr sz="1950" b="0">
                <a:solidFill>
                  <a:srgbClr val="526B66"/>
                </a:solidFill>
                <a:latin typeface="Arial"/>
                <a:ea typeface="Arial"/>
                <a:cs typeface="Arial"/>
              </a:defRPr>
            </a:lvl8pPr>
            <a:lvl9pPr>
              <a:buNone/>
              <a:defRPr sz="1950" b="0">
                <a:solidFill>
                  <a:srgbClr val="526B66"/>
                </a:solidFill>
                <a:latin typeface="Arial"/>
                <a:ea typeface="Arial"/>
                <a:cs typeface="Arial"/>
              </a:defRPr>
            </a:lvl9pPr>
          </a:lstStyle>
          <a:p>
            <a:pPr>
              <a:buNone/>
              <a:defRPr sz="1950" b="0">
                <a:solidFill>
                  <a:srgbClr val="526B66"/>
                </a:solidFill>
                <a:latin typeface="Arial"/>
                <a:ea typeface="Arial"/>
                <a:cs typeface="Arial"/>
              </a:defRPr>
            </a:pPr>
            <a:r>
              <a:rPr sz="1950" b="0">
                <a:solidFill>
                  <a:srgbClr val="526B66"/>
                </a:solidFill>
                <a:latin typeface="Arial"/>
                <a:ea typeface="Arial"/>
                <a:cs typeface="Arial"/>
              </a:rPr>
              <a:t>Trưởng nhóm · Đóng góp 50%</a:t>
            </a:r>
          </a:p>
          <a:p>
            <a:endParaRPr sz="1950" b="0">
              <a:solidFill>
                <a:srgbClr val="526B66"/>
              </a:solidFill>
              <a:latin typeface="Arial"/>
              <a:ea typeface="Arial"/>
              <a:cs typeface="Arial"/>
            </a:endParaRPr>
          </a:p>
          <a:p>
            <a:pPr>
              <a:buNone/>
              <a:defRPr sz="1950" b="0">
                <a:solidFill>
                  <a:srgbClr val="526B66"/>
                </a:solidFill>
                <a:latin typeface="Arial"/>
                <a:ea typeface="Arial"/>
                <a:cs typeface="Arial"/>
              </a:defRPr>
            </a:pPr>
            <a:r>
              <a:rPr sz="1950" b="0">
                <a:solidFill>
                  <a:srgbClr val="526B66"/>
                </a:solidFill>
                <a:latin typeface="Arial"/>
                <a:ea typeface="Arial"/>
                <a:cs typeface="Arial"/>
              </a:rPr>
              <a:t>Giao diện và trải nghiệm sử dụng.</a:t>
            </a:r>
          </a:p>
          <a:p>
            <a:pPr>
              <a:buNone/>
              <a:defRPr sz="1950" b="0">
                <a:solidFill>
                  <a:srgbClr val="526B66"/>
                </a:solidFill>
                <a:latin typeface="Arial"/>
                <a:ea typeface="Arial"/>
                <a:cs typeface="Arial"/>
              </a:defRPr>
            </a:pPr>
            <a:r>
              <a:rPr sz="1950" b="0">
                <a:solidFill>
                  <a:srgbClr val="526B66"/>
                </a:solidFill>
                <a:latin typeface="Arial"/>
                <a:ea typeface="Arial"/>
                <a:cs typeface="Arial"/>
              </a:rPr>
              <a:t>Tích hợp danh sách, biểu đồ và BMI.</a:t>
            </a:r>
          </a:p>
          <a:p>
            <a:pPr>
              <a:buNone/>
              <a:defRPr sz="1950" b="0">
                <a:solidFill>
                  <a:srgbClr val="526B66"/>
                </a:solidFill>
                <a:latin typeface="Arial"/>
                <a:ea typeface="Arial"/>
                <a:cs typeface="Arial"/>
              </a:defRPr>
            </a:pPr>
            <a:r>
              <a:rPr sz="1950" b="0">
                <a:solidFill>
                  <a:srgbClr val="526B66"/>
                </a:solidFill>
                <a:latin typeface="Arial"/>
                <a:ea typeface="Arial"/>
                <a:cs typeface="Arial"/>
              </a:rPr>
              <a:t>Tổng hợp, biên soạn báo cáo.</a:t>
            </a:r>
          </a:p>
        </p:txBody>
      </p:sp>
      <p:sp>
        <p:nvSpPr>
          <p:cNvPr id="7" name="Rectangle 6">
            <a:extLst>
              <a:ext uri="{FF2B5EF4-FFF2-40B4-BE49-F238E27FC236}">
                <a16:creationId xmlns:a16="http://schemas.microsoft.com/office/drawing/2014/main" id="{3B19CD27-947C-4054-B58B-59880422F222}"/>
              </a:ext>
            </a:extLst>
          </p:cNvPr>
          <p:cNvSpPr>
            <a:spLocks noGrp="1"/>
          </p:cNvSpPr>
          <p:nvPr/>
        </p:nvSpPr>
        <p:spPr>
          <a:xfrm>
            <a:off x="6477000" y="1619250"/>
            <a:ext cx="5143500" cy="476250"/>
          </a:xfrm>
          <a:prstGeom prst="rect">
            <a:avLst/>
          </a:prstGeom>
          <a:noFill/>
          <a:ln w="0">
            <a:noFill/>
          </a:ln>
        </p:spPr>
        <p:txBody>
          <a:bodyPr/>
          <a:lstStyle>
            <a:defPPr>
              <a:defRPr sz="2400" b="1">
                <a:solidFill>
                  <a:srgbClr val="164C47"/>
                </a:solidFill>
                <a:latin typeface="Arial"/>
                <a:ea typeface="Arial"/>
                <a:cs typeface="Arial"/>
              </a:defRPr>
            </a:defPPr>
            <a:lvl1pPr>
              <a:buNone/>
              <a:defRPr sz="2400" b="1">
                <a:solidFill>
                  <a:srgbClr val="164C47"/>
                </a:solidFill>
                <a:latin typeface="Arial"/>
                <a:ea typeface="Arial"/>
                <a:cs typeface="Arial"/>
              </a:defRPr>
            </a:lvl1pPr>
            <a:lvl2pPr>
              <a:buNone/>
              <a:defRPr sz="2400" b="1">
                <a:solidFill>
                  <a:srgbClr val="164C47"/>
                </a:solidFill>
                <a:latin typeface="Arial"/>
                <a:ea typeface="Arial"/>
                <a:cs typeface="Arial"/>
              </a:defRPr>
            </a:lvl2pPr>
            <a:lvl3pPr>
              <a:buNone/>
              <a:defRPr sz="2400" b="1">
                <a:solidFill>
                  <a:srgbClr val="164C47"/>
                </a:solidFill>
                <a:latin typeface="Arial"/>
                <a:ea typeface="Arial"/>
                <a:cs typeface="Arial"/>
              </a:defRPr>
            </a:lvl3pPr>
            <a:lvl4pPr>
              <a:buNone/>
              <a:defRPr sz="2400" b="1">
                <a:solidFill>
                  <a:srgbClr val="164C47"/>
                </a:solidFill>
                <a:latin typeface="Arial"/>
                <a:ea typeface="Arial"/>
                <a:cs typeface="Arial"/>
              </a:defRPr>
            </a:lvl4pPr>
            <a:lvl5pPr>
              <a:buNone/>
              <a:defRPr sz="2400" b="1">
                <a:solidFill>
                  <a:srgbClr val="164C47"/>
                </a:solidFill>
                <a:latin typeface="Arial"/>
                <a:ea typeface="Arial"/>
                <a:cs typeface="Arial"/>
              </a:defRPr>
            </a:lvl5pPr>
            <a:lvl6pPr>
              <a:buNone/>
              <a:defRPr sz="2400" b="1">
                <a:solidFill>
                  <a:srgbClr val="164C47"/>
                </a:solidFill>
                <a:latin typeface="Arial"/>
                <a:ea typeface="Arial"/>
                <a:cs typeface="Arial"/>
              </a:defRPr>
            </a:lvl6pPr>
            <a:lvl7pPr>
              <a:buNone/>
              <a:defRPr sz="2400" b="1">
                <a:solidFill>
                  <a:srgbClr val="164C47"/>
                </a:solidFill>
                <a:latin typeface="Arial"/>
                <a:ea typeface="Arial"/>
                <a:cs typeface="Arial"/>
              </a:defRPr>
            </a:lvl7pPr>
            <a:lvl8pPr>
              <a:buNone/>
              <a:defRPr sz="2400" b="1">
                <a:solidFill>
                  <a:srgbClr val="164C47"/>
                </a:solidFill>
                <a:latin typeface="Arial"/>
                <a:ea typeface="Arial"/>
                <a:cs typeface="Arial"/>
              </a:defRPr>
            </a:lvl8pPr>
            <a:lvl9pPr>
              <a:buNone/>
              <a:defRPr sz="2400" b="1">
                <a:solidFill>
                  <a:srgbClr val="164C47"/>
                </a:solidFill>
                <a:latin typeface="Arial"/>
                <a:ea typeface="Arial"/>
                <a:cs typeface="Arial"/>
              </a:defRPr>
            </a:lvl9pPr>
          </a:lstStyle>
          <a:p>
            <a:pPr>
              <a:buNone/>
              <a:defRPr sz="2400" b="1">
                <a:solidFill>
                  <a:srgbClr val="164C47"/>
                </a:solidFill>
                <a:latin typeface="Arial"/>
                <a:ea typeface="Arial"/>
                <a:cs typeface="Arial"/>
              </a:defRPr>
            </a:pPr>
            <a:r>
              <a:rPr sz="2400" b="1">
                <a:solidFill>
                  <a:srgbClr val="164C47"/>
                </a:solidFill>
                <a:latin typeface="Arial"/>
                <a:ea typeface="Arial"/>
                <a:cs typeface="Arial"/>
              </a:rPr>
              <a:t>Đinh Tấn Minh</a:t>
            </a:r>
          </a:p>
        </p:txBody>
      </p:sp>
      <p:sp>
        <p:nvSpPr>
          <p:cNvPr id="8" name="Rectangle 7">
            <a:extLst>
              <a:ext uri="{FF2B5EF4-FFF2-40B4-BE49-F238E27FC236}">
                <a16:creationId xmlns:a16="http://schemas.microsoft.com/office/drawing/2014/main" id="{C7FFAA38-1DF9-452B-8806-3D84CA581C21}"/>
              </a:ext>
            </a:extLst>
          </p:cNvPr>
          <p:cNvSpPr>
            <a:spLocks noGrp="1"/>
          </p:cNvSpPr>
          <p:nvPr/>
        </p:nvSpPr>
        <p:spPr>
          <a:xfrm>
            <a:off x="6477000" y="2333625"/>
            <a:ext cx="5095875" cy="2571750"/>
          </a:xfrm>
          <a:prstGeom prst="rect">
            <a:avLst/>
          </a:prstGeom>
          <a:noFill/>
          <a:ln w="0">
            <a:noFill/>
          </a:ln>
        </p:spPr>
        <p:txBody>
          <a:bodyPr/>
          <a:lstStyle>
            <a:defPPr>
              <a:defRPr sz="1950" b="0">
                <a:solidFill>
                  <a:srgbClr val="526B66"/>
                </a:solidFill>
                <a:latin typeface="Arial"/>
                <a:ea typeface="Arial"/>
                <a:cs typeface="Arial"/>
              </a:defRPr>
            </a:defPPr>
            <a:lvl1pPr>
              <a:buNone/>
              <a:defRPr sz="1950" b="0">
                <a:solidFill>
                  <a:srgbClr val="526B66"/>
                </a:solidFill>
                <a:latin typeface="Arial"/>
                <a:ea typeface="Arial"/>
                <a:cs typeface="Arial"/>
              </a:defRPr>
            </a:lvl1pPr>
            <a:lvl2pPr>
              <a:buNone/>
              <a:defRPr sz="1950" b="0">
                <a:solidFill>
                  <a:srgbClr val="526B66"/>
                </a:solidFill>
                <a:latin typeface="Arial"/>
                <a:ea typeface="Arial"/>
                <a:cs typeface="Arial"/>
              </a:defRPr>
            </a:lvl2pPr>
            <a:lvl3pPr>
              <a:buNone/>
              <a:defRPr sz="1950" b="0">
                <a:solidFill>
                  <a:srgbClr val="526B66"/>
                </a:solidFill>
                <a:latin typeface="Arial"/>
                <a:ea typeface="Arial"/>
                <a:cs typeface="Arial"/>
              </a:defRPr>
            </a:lvl3pPr>
            <a:lvl4pPr>
              <a:buNone/>
              <a:defRPr sz="1950" b="0">
                <a:solidFill>
                  <a:srgbClr val="526B66"/>
                </a:solidFill>
                <a:latin typeface="Arial"/>
                <a:ea typeface="Arial"/>
                <a:cs typeface="Arial"/>
              </a:defRPr>
            </a:lvl4pPr>
            <a:lvl5pPr>
              <a:buNone/>
              <a:defRPr sz="1950" b="0">
                <a:solidFill>
                  <a:srgbClr val="526B66"/>
                </a:solidFill>
                <a:latin typeface="Arial"/>
                <a:ea typeface="Arial"/>
                <a:cs typeface="Arial"/>
              </a:defRPr>
            </a:lvl5pPr>
            <a:lvl6pPr>
              <a:buNone/>
              <a:defRPr sz="1950" b="0">
                <a:solidFill>
                  <a:srgbClr val="526B66"/>
                </a:solidFill>
                <a:latin typeface="Arial"/>
                <a:ea typeface="Arial"/>
                <a:cs typeface="Arial"/>
              </a:defRPr>
            </a:lvl6pPr>
            <a:lvl7pPr>
              <a:buNone/>
              <a:defRPr sz="1950" b="0">
                <a:solidFill>
                  <a:srgbClr val="526B66"/>
                </a:solidFill>
                <a:latin typeface="Arial"/>
                <a:ea typeface="Arial"/>
                <a:cs typeface="Arial"/>
              </a:defRPr>
            </a:lvl7pPr>
            <a:lvl8pPr>
              <a:buNone/>
              <a:defRPr sz="1950" b="0">
                <a:solidFill>
                  <a:srgbClr val="526B66"/>
                </a:solidFill>
                <a:latin typeface="Arial"/>
                <a:ea typeface="Arial"/>
                <a:cs typeface="Arial"/>
              </a:defRPr>
            </a:lvl8pPr>
            <a:lvl9pPr>
              <a:buNone/>
              <a:defRPr sz="1950" b="0">
                <a:solidFill>
                  <a:srgbClr val="526B66"/>
                </a:solidFill>
                <a:latin typeface="Arial"/>
                <a:ea typeface="Arial"/>
                <a:cs typeface="Arial"/>
              </a:defRPr>
            </a:lvl9pPr>
          </a:lstStyle>
          <a:p>
            <a:pPr>
              <a:buNone/>
              <a:defRPr sz="1950" b="0">
                <a:solidFill>
                  <a:srgbClr val="526B66"/>
                </a:solidFill>
                <a:latin typeface="Arial"/>
                <a:ea typeface="Arial"/>
                <a:cs typeface="Arial"/>
              </a:defRPr>
            </a:pPr>
            <a:r>
              <a:rPr sz="1950" b="0">
                <a:solidFill>
                  <a:srgbClr val="526B66"/>
                </a:solidFill>
                <a:latin typeface="Arial"/>
                <a:ea typeface="Arial"/>
                <a:cs typeface="Arial"/>
              </a:rPr>
              <a:t>Đóng góp 50%</a:t>
            </a:r>
          </a:p>
          <a:p>
            <a:endParaRPr sz="1950" b="0">
              <a:solidFill>
                <a:srgbClr val="526B66"/>
              </a:solidFill>
              <a:latin typeface="Arial"/>
              <a:ea typeface="Arial"/>
              <a:cs typeface="Arial"/>
            </a:endParaRPr>
          </a:p>
          <a:p>
            <a:pPr>
              <a:buNone/>
              <a:defRPr sz="1950" b="0">
                <a:solidFill>
                  <a:srgbClr val="526B66"/>
                </a:solidFill>
                <a:latin typeface="Arial"/>
                <a:ea typeface="Arial"/>
                <a:cs typeface="Arial"/>
              </a:defRPr>
            </a:pPr>
            <a:r>
              <a:rPr sz="1950" b="0">
                <a:solidFill>
                  <a:srgbClr val="526B66"/>
                </a:solidFill>
                <a:latin typeface="Arial"/>
                <a:ea typeface="Arial"/>
                <a:cs typeface="Arial"/>
              </a:rPr>
              <a:t>Cơ sở dữ liệu, nghiệp vụ và xác thực.</a:t>
            </a:r>
          </a:p>
          <a:p>
            <a:pPr>
              <a:buNone/>
              <a:defRPr sz="1950" b="0">
                <a:solidFill>
                  <a:srgbClr val="526B66"/>
                </a:solidFill>
                <a:latin typeface="Arial"/>
                <a:ea typeface="Arial"/>
                <a:cs typeface="Arial"/>
              </a:defRPr>
            </a:pPr>
            <a:r>
              <a:rPr sz="1950" b="0">
                <a:solidFill>
                  <a:srgbClr val="526B66"/>
                </a:solidFill>
                <a:latin typeface="Arial"/>
                <a:ea typeface="Arial"/>
                <a:cs typeface="Arial"/>
              </a:rPr>
              <a:t>Lập lịch thuốc, nước và thông báo.</a:t>
            </a:r>
          </a:p>
          <a:p>
            <a:pPr>
              <a:buNone/>
              <a:defRPr sz="1950" b="0">
                <a:solidFill>
                  <a:srgbClr val="526B66"/>
                </a:solidFill>
                <a:latin typeface="Arial"/>
                <a:ea typeface="Arial"/>
                <a:cs typeface="Arial"/>
              </a:defRPr>
            </a:pPr>
            <a:r>
              <a:rPr sz="1950" b="0">
                <a:solidFill>
                  <a:srgbClr val="526B66"/>
                </a:solidFill>
                <a:latin typeface="Arial"/>
                <a:ea typeface="Arial"/>
                <a:cs typeface="Arial"/>
              </a:rPr>
              <a:t>Chuẩn bị thuyết trình và demo.</a:t>
            </a:r>
          </a:p>
        </p:txBody>
      </p:sp>
      <p:sp>
        <p:nvSpPr>
          <p:cNvPr id="9" name="Rectangle 8">
            <a:extLst>
              <a:ext uri="{FF2B5EF4-FFF2-40B4-BE49-F238E27FC236}">
                <a16:creationId xmlns:a16="http://schemas.microsoft.com/office/drawing/2014/main" id="{DE5397D9-B69C-4F66-A20B-71B62872BF90}"/>
              </a:ext>
            </a:extLst>
          </p:cNvPr>
          <p:cNvSpPr>
            <a:spLocks noGrp="1"/>
          </p:cNvSpPr>
          <p:nvPr/>
        </p:nvSpPr>
        <p:spPr>
          <a:xfrm>
            <a:off x="514350" y="5429250"/>
            <a:ext cx="10953750" cy="828675"/>
          </a:xfrm>
          <a:prstGeom prst="rect">
            <a:avLst/>
          </a:prstGeom>
          <a:noFill/>
          <a:ln w="0">
            <a:noFill/>
          </a:ln>
        </p:spPr>
        <p:txBody>
          <a:bodyPr/>
          <a:lstStyle>
            <a:defPPr>
              <a:defRPr sz="1950" b="1">
                <a:solidFill>
                  <a:srgbClr val="087F72"/>
                </a:solidFill>
                <a:latin typeface="Arial"/>
                <a:ea typeface="Arial"/>
                <a:cs typeface="Arial"/>
              </a:defRPr>
            </a:defPPr>
            <a:lvl1pPr>
              <a:buNone/>
              <a:defRPr sz="1950" b="1">
                <a:solidFill>
                  <a:srgbClr val="087F72"/>
                </a:solidFill>
                <a:latin typeface="Arial"/>
                <a:ea typeface="Arial"/>
                <a:cs typeface="Arial"/>
              </a:defRPr>
            </a:lvl1pPr>
            <a:lvl2pPr>
              <a:buNone/>
              <a:defRPr sz="1950" b="1">
                <a:solidFill>
                  <a:srgbClr val="087F72"/>
                </a:solidFill>
                <a:latin typeface="Arial"/>
                <a:ea typeface="Arial"/>
                <a:cs typeface="Arial"/>
              </a:defRPr>
            </a:lvl2pPr>
            <a:lvl3pPr>
              <a:buNone/>
              <a:defRPr sz="1950" b="1">
                <a:solidFill>
                  <a:srgbClr val="087F72"/>
                </a:solidFill>
                <a:latin typeface="Arial"/>
                <a:ea typeface="Arial"/>
                <a:cs typeface="Arial"/>
              </a:defRPr>
            </a:lvl3pPr>
            <a:lvl4pPr>
              <a:buNone/>
              <a:defRPr sz="1950" b="1">
                <a:solidFill>
                  <a:srgbClr val="087F72"/>
                </a:solidFill>
                <a:latin typeface="Arial"/>
                <a:ea typeface="Arial"/>
                <a:cs typeface="Arial"/>
              </a:defRPr>
            </a:lvl4pPr>
            <a:lvl5pPr>
              <a:buNone/>
              <a:defRPr sz="1950" b="1">
                <a:solidFill>
                  <a:srgbClr val="087F72"/>
                </a:solidFill>
                <a:latin typeface="Arial"/>
                <a:ea typeface="Arial"/>
                <a:cs typeface="Arial"/>
              </a:defRPr>
            </a:lvl5pPr>
            <a:lvl6pPr>
              <a:buNone/>
              <a:defRPr sz="1950" b="1">
                <a:solidFill>
                  <a:srgbClr val="087F72"/>
                </a:solidFill>
                <a:latin typeface="Arial"/>
                <a:ea typeface="Arial"/>
                <a:cs typeface="Arial"/>
              </a:defRPr>
            </a:lvl6pPr>
            <a:lvl7pPr>
              <a:buNone/>
              <a:defRPr sz="1950" b="1">
                <a:solidFill>
                  <a:srgbClr val="087F72"/>
                </a:solidFill>
                <a:latin typeface="Arial"/>
                <a:ea typeface="Arial"/>
                <a:cs typeface="Arial"/>
              </a:defRPr>
            </a:lvl7pPr>
            <a:lvl8pPr>
              <a:buNone/>
              <a:defRPr sz="1950" b="1">
                <a:solidFill>
                  <a:srgbClr val="087F72"/>
                </a:solidFill>
                <a:latin typeface="Arial"/>
                <a:ea typeface="Arial"/>
                <a:cs typeface="Arial"/>
              </a:defRPr>
            </a:lvl8pPr>
            <a:lvl9pPr>
              <a:buNone/>
              <a:defRPr sz="1950" b="1">
                <a:solidFill>
                  <a:srgbClr val="087F72"/>
                </a:solidFill>
                <a:latin typeface="Arial"/>
                <a:ea typeface="Arial"/>
                <a:cs typeface="Arial"/>
              </a:defRPr>
            </a:lvl9pPr>
          </a:lstStyle>
          <a:p>
            <a:pPr>
              <a:buNone/>
              <a:defRPr sz="1950" b="1">
                <a:solidFill>
                  <a:srgbClr val="087F72"/>
                </a:solidFill>
                <a:latin typeface="Arial"/>
                <a:ea typeface="Arial"/>
                <a:cs typeface="Arial"/>
              </a:defRPr>
            </a:pPr>
            <a:r>
              <a:rPr sz="1950" b="1">
                <a:solidFill>
                  <a:srgbClr val="087F72"/>
                </a:solidFill>
                <a:latin typeface="Arial"/>
                <a:ea typeface="Arial"/>
                <a:cs typeface="Arial"/>
              </a:rPr>
              <a:t>Vita tổ chức việc ghi chép sức khỏe, thuốc và nước trên thiết bị. Dữ liệu cục bộ chưa có đồng bộ hoặc xuất sao lưu.</a:t>
            </a:r>
          </a:p>
        </p:txBody>
      </p:sp>
    </p:spTree>
    <p:extLst>
      <p:ext uri="{BB962C8B-B14F-4D97-AF65-F5344CB8AC3E}">
        <p14:creationId xmlns:p14="http://schemas.microsoft.com/office/powerpoint/2010/main" val="2125282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3647</Words>
  <Application>Microsoft Office PowerPoint</Application>
  <DocSecurity>0</DocSecurity>
  <PresentationFormat>Widescreen</PresentationFormat>
  <Paragraphs>345</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Tín Huỳnh</cp:lastModifiedBy>
  <cp:revision>5</cp:revision>
  <dcterms:created xsi:type="dcterms:W3CDTF">2026-10-26T14:48:29Z</dcterms:created>
  <dcterms:modified xsi:type="dcterms:W3CDTF">2026-10-26T15:10:14Z</dcterms:modified>
</cp:coreProperties>
</file>