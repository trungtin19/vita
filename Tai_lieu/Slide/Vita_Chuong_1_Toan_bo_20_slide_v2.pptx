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0a4f95a269419c" /><Relationship Type="http://schemas.openxmlformats.org/officeDocument/2006/relationships/extended-properties" Target="/docProps/app.xml" Id="R2253f227fa1e4ccb" /><Relationship Type="http://schemas.openxmlformats.org/officeDocument/2006/relationships/officeDocument" Target="/ppt/presentation.xml" Id="Rd27f1009d8234953" /></Relationships>
</file>

<file path=ppt/presentation.xml><?xml version="1.0" encoding="utf-8"?>
<p:presentation xmlns:p="http://schemas.openxmlformats.org/presentationml/2006/main">
  <p:sldMasterIdLst>
    <p:sldMasterId xmlns:r="http://schemas.openxmlformats.org/officeDocument/2006/relationships" id="2147483648" r:id="R1173be50152d4303"/>
  </p:sldMasterIdLst>
  <p:notesMasterIdLst>
    <p:notesMasterId xmlns:r="http://schemas.openxmlformats.org/officeDocument/2006/relationships" r:id="R939e5376c5c54792"/>
  </p:notesMasterIdLst>
  <p:sldIdLst>
    <p:sldId xmlns:r="http://schemas.openxmlformats.org/officeDocument/2006/relationships" id="256" r:id="R8071ae35c1a14fa9"/>
    <p:sldId xmlns:r="http://schemas.openxmlformats.org/officeDocument/2006/relationships" id="257" r:id="R693d89ca18dd42d0"/>
    <p:sldId xmlns:r="http://schemas.openxmlformats.org/officeDocument/2006/relationships" id="258" r:id="R6d56829f785d4673"/>
    <p:sldId xmlns:r="http://schemas.openxmlformats.org/officeDocument/2006/relationships" id="259" r:id="Rb2afdcbfbcea4508"/>
    <p:sldId xmlns:r="http://schemas.openxmlformats.org/officeDocument/2006/relationships" id="260" r:id="R23dab2c3716544d6"/>
    <p:sldId xmlns:r="http://schemas.openxmlformats.org/officeDocument/2006/relationships" id="261" r:id="Rf3b3631c6d2e4fa3"/>
    <p:sldId xmlns:r="http://schemas.openxmlformats.org/officeDocument/2006/relationships" id="262" r:id="R2aafb015689e4a8c"/>
    <p:sldId xmlns:r="http://schemas.openxmlformats.org/officeDocument/2006/relationships" id="263" r:id="Radb4b56f081e426a"/>
    <p:sldId xmlns:r="http://schemas.openxmlformats.org/officeDocument/2006/relationships" id="264" r:id="R4ff1dd42caf843e3"/>
    <p:sldId xmlns:r="http://schemas.openxmlformats.org/officeDocument/2006/relationships" id="265" r:id="R776c6b63352d482a"/>
    <p:sldId xmlns:r="http://schemas.openxmlformats.org/officeDocument/2006/relationships" id="266" r:id="R25f57e938799487b"/>
    <p:sldId xmlns:r="http://schemas.openxmlformats.org/officeDocument/2006/relationships" id="267" r:id="R3d999c8db8ab4e73"/>
    <p:sldId xmlns:r="http://schemas.openxmlformats.org/officeDocument/2006/relationships" id="268" r:id="R858b179304c44ba1"/>
    <p:sldId xmlns:r="http://schemas.openxmlformats.org/officeDocument/2006/relationships" id="269" r:id="R3a69735a34a941f9"/>
    <p:sldId xmlns:r="http://schemas.openxmlformats.org/officeDocument/2006/relationships" id="270" r:id="Rde9fe9081ee64271"/>
    <p:sldId xmlns:r="http://schemas.openxmlformats.org/officeDocument/2006/relationships" id="271" r:id="R3fddec259547423b"/>
    <p:sldId xmlns:r="http://schemas.openxmlformats.org/officeDocument/2006/relationships" id="272" r:id="R0267a3fde3934047"/>
    <p:sldId xmlns:r="http://schemas.openxmlformats.org/officeDocument/2006/relationships" id="273" r:id="Rcb112e24a6e94fe7"/>
    <p:sldId xmlns:r="http://schemas.openxmlformats.org/officeDocument/2006/relationships" id="274" r:id="R8fc531fccc7944e9"/>
    <p:sldId xmlns:r="http://schemas.openxmlformats.org/officeDocument/2006/relationships" id="275" r:id="R18f77817349846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874c5410a94680" /><Relationship Type="http://schemas.openxmlformats.org/officeDocument/2006/relationships/slideMaster" Target="/ppt/slideMasters/slideMaster1.xml" Id="R1173be50152d4303" /><Relationship Type="http://schemas.openxmlformats.org/officeDocument/2006/relationships/notesMaster" Target="/ppt/notesMasters/notesMaster1.xml" Id="R939e5376c5c54792" /><Relationship Type="http://schemas.openxmlformats.org/officeDocument/2006/relationships/presProps" Target="/ppt/presProps.xml" Id="R7d83ba9666b24405" /><Relationship Type="http://schemas.openxmlformats.org/officeDocument/2006/relationships/tableStyles" Target="/ppt/tableStyles.xml" Id="R2b10ea52ae4c4f45" /><Relationship Type="http://schemas.openxmlformats.org/officeDocument/2006/relationships/slide" Target="/ppt/slides/slide1.xml" Id="R8071ae35c1a14fa9" /><Relationship Type="http://schemas.openxmlformats.org/officeDocument/2006/relationships/slide" Target="/ppt/slides/slide2.xml" Id="R693d89ca18dd42d0" /><Relationship Type="http://schemas.openxmlformats.org/officeDocument/2006/relationships/slide" Target="/ppt/slides/slide3.xml" Id="R6d56829f785d4673" /><Relationship Type="http://schemas.openxmlformats.org/officeDocument/2006/relationships/slide" Target="/ppt/slides/slide4.xml" Id="Rb2afdcbfbcea4508" /><Relationship Type="http://schemas.openxmlformats.org/officeDocument/2006/relationships/slide" Target="/ppt/slides/slide5.xml" Id="R23dab2c3716544d6" /><Relationship Type="http://schemas.openxmlformats.org/officeDocument/2006/relationships/slide" Target="/ppt/slides/slide6.xml" Id="Rf3b3631c6d2e4fa3" /><Relationship Type="http://schemas.openxmlformats.org/officeDocument/2006/relationships/slide" Target="/ppt/slides/slide7.xml" Id="R2aafb015689e4a8c" /><Relationship Type="http://schemas.openxmlformats.org/officeDocument/2006/relationships/slide" Target="/ppt/slides/slide8.xml" Id="Radb4b56f081e426a" /><Relationship Type="http://schemas.openxmlformats.org/officeDocument/2006/relationships/slide" Target="/ppt/slides/slide9.xml" Id="R4ff1dd42caf843e3" /><Relationship Type="http://schemas.openxmlformats.org/officeDocument/2006/relationships/slide" Target="/ppt/slides/slide10.xml" Id="R776c6b63352d482a" /><Relationship Type="http://schemas.openxmlformats.org/officeDocument/2006/relationships/slide" Target="/ppt/slides/slide11.xml" Id="R25f57e938799487b" /><Relationship Type="http://schemas.openxmlformats.org/officeDocument/2006/relationships/slide" Target="/ppt/slides/slide12.xml" Id="R3d999c8db8ab4e73" /><Relationship Type="http://schemas.openxmlformats.org/officeDocument/2006/relationships/slide" Target="/ppt/slides/slide13.xml" Id="R858b179304c44ba1" /><Relationship Type="http://schemas.openxmlformats.org/officeDocument/2006/relationships/slide" Target="/ppt/slides/slide14.xml" Id="R3a69735a34a941f9" /><Relationship Type="http://schemas.openxmlformats.org/officeDocument/2006/relationships/slide" Target="/ppt/slides/slide15.xml" Id="Rde9fe9081ee64271" /><Relationship Type="http://schemas.openxmlformats.org/officeDocument/2006/relationships/slide" Target="/ppt/slides/slide16.xml" Id="R3fddec259547423b" /><Relationship Type="http://schemas.openxmlformats.org/officeDocument/2006/relationships/slide" Target="/ppt/slides/slide17.xml" Id="R0267a3fde3934047" /><Relationship Type="http://schemas.openxmlformats.org/officeDocument/2006/relationships/slide" Target="/ppt/slides/slide18.xml" Id="Rcb112e24a6e94fe7" /><Relationship Type="http://schemas.openxmlformats.org/officeDocument/2006/relationships/slide" Target="/ppt/slides/slide19.xml" Id="R8fc531fccc7944e9" /><Relationship Type="http://schemas.openxmlformats.org/officeDocument/2006/relationships/slide" Target="/ppt/slides/slide20.xml" Id="R18f77817349846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96a724b73f45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561ad184d5477b" /><Relationship Type="http://schemas.openxmlformats.org/officeDocument/2006/relationships/notesMaster" Target="/ppt/notesMasters/notesMaster1.xml" Id="R50c4d22e4ef046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6fcc6e6a464574" /><Relationship Type="http://schemas.openxmlformats.org/officeDocument/2006/relationships/notesMaster" Target="/ppt/notesMasters/notesMaster1.xml" Id="Ra1e35787f9b841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84c80ab0e84549" /><Relationship Type="http://schemas.openxmlformats.org/officeDocument/2006/relationships/notesMaster" Target="/ppt/notesMasters/notesMaster1.xml" Id="R31c5134cca1541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5fbc87e4414603" /><Relationship Type="http://schemas.openxmlformats.org/officeDocument/2006/relationships/notesMaster" Target="/ppt/notesMasters/notesMaster1.xml" Id="R4a45bc78239d48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e8713b3b6f469a" /><Relationship Type="http://schemas.openxmlformats.org/officeDocument/2006/relationships/notesMaster" Target="/ppt/notesMasters/notesMaster1.xml" Id="Rdc5eb4899b754a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d9634c30124bc5" /><Relationship Type="http://schemas.openxmlformats.org/officeDocument/2006/relationships/notesMaster" Target="/ppt/notesMasters/notesMaster1.xml" Id="R72af4161fd4b4e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4eee3d772a48df" /><Relationship Type="http://schemas.openxmlformats.org/officeDocument/2006/relationships/notesMaster" Target="/ppt/notesMasters/notesMaster1.xml" Id="R5e78241b430b47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f6e23fbd36452c" /><Relationship Type="http://schemas.openxmlformats.org/officeDocument/2006/relationships/notesMaster" Target="/ppt/notesMasters/notesMaster1.xml" Id="Rde2e7f59b4424d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4d3840ddfb42f0" /><Relationship Type="http://schemas.openxmlformats.org/officeDocument/2006/relationships/notesMaster" Target="/ppt/notesMasters/notesMaster1.xml" Id="R1f85a133062c4d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1f7eeff5e94c4b" /><Relationship Type="http://schemas.openxmlformats.org/officeDocument/2006/relationships/notesMaster" Target="/ppt/notesMasters/notesMaster1.xml" Id="R9468b5173a764c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fa0332122a4bc5" /><Relationship Type="http://schemas.openxmlformats.org/officeDocument/2006/relationships/notesMaster" Target="/ppt/notesMasters/notesMaster1.xml" Id="R3a70be66f7da4f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3c4dc342f64ecc" /><Relationship Type="http://schemas.openxmlformats.org/officeDocument/2006/relationships/notesMaster" Target="/ppt/notesMasters/notesMaster1.xml" Id="Rc3da72a0a8c249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0b659b863a4603" /><Relationship Type="http://schemas.openxmlformats.org/officeDocument/2006/relationships/notesMaster" Target="/ppt/notesMasters/notesMaster1.xml" Id="R542d52e7069d4d0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3a14dce4e24c36" /><Relationship Type="http://schemas.openxmlformats.org/officeDocument/2006/relationships/notesMaster" Target="/ppt/notesMasters/notesMaster1.xml" Id="R431651471e854d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e2a4af819a42fd" /><Relationship Type="http://schemas.openxmlformats.org/officeDocument/2006/relationships/notesMaster" Target="/ppt/notesMasters/notesMaster1.xml" Id="R169859ed05d64e5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1abbdf643a494d" /><Relationship Type="http://schemas.openxmlformats.org/officeDocument/2006/relationships/notesMaster" Target="/ppt/notesMasters/notesMaster1.xml" Id="Rbe915e9e5681461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e1c41f2351740a1" /><Relationship Type="http://schemas.openxmlformats.org/officeDocument/2006/relationships/notesMaster" Target="/ppt/notesMasters/notesMaster1.xml" Id="R60e3af04c71049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50f11999db24e25" /><Relationship Type="http://schemas.openxmlformats.org/officeDocument/2006/relationships/notesMaster" Target="/ppt/notesMasters/notesMaster1.xml" Id="R75040ad59f3446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ae88796bf984930" /><Relationship Type="http://schemas.openxmlformats.org/officeDocument/2006/relationships/notesMaster" Target="/ppt/notesMasters/notesMaster1.xml" Id="Raa37072faab240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c28c1fa7a604e8d" /><Relationship Type="http://schemas.openxmlformats.org/officeDocument/2006/relationships/notesMaster" Target="/ppt/notesMasters/notesMaster1.xml" Id="R01e873cecab542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Sơ đồ cập nhật: docs/assets/Vita_UseCase_13_UC.png, đủ UC01–UC13.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Sơ đồ thay thế theo ảnh người dùng cung cấp. Nét chấm là lối mở hồ sơ, nét liền là hướng điều hướng. Nét uốn ở giao điểm phân biệt hai đường không nối nhau.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Ký hiệu Crow’s Foot: hai vạch biểu thị đúng một, vòng tròn kết hợp chân quạ biểu thị 0 đến nhiều. Khóa ngoại trên hàng con tham chiếu khóa chính của hàng cha.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3ac128d4454e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dd55a91cc345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d10d7acc3648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5751f182c742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79ce30c62d47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15059f4d1a43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AFF0B2-420E-4910-BBB2-48819B4A959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209E83-215E-43D0-BF73-7A6EBF91B8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7BE0424-0E94-4957-B9E6-E4FEFAC5F6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8066D8-FEE7-4952-BCD2-ED5168BEC9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32154F-4FFD-4BC5-BDDD-578BC8708AB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12CBDB-DA6C-4F3E-97A7-C479E30C88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B3A1A5-8CE2-4153-8BE7-4FE2A885D6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9CD3EC-D9DE-46B8-8FAA-8F98467D725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FC1686-3A9B-433D-A801-83E0E70863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0B26B4-4275-4821-99B2-BAAEFFFD06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82d158a1e14076" /><Relationship Type="http://schemas.openxmlformats.org/officeDocument/2006/relationships/slideLayout" Target="/ppt/slideLayouts/slideLayout1.xml" Id="R5442c0f438c74440" /><Relationship Type="http://schemas.openxmlformats.org/officeDocument/2006/relationships/slideLayout" Target="/ppt/slideLayouts/slideLayout2.xml" Id="Rd61a838d580843fd" /><Relationship Type="http://schemas.openxmlformats.org/officeDocument/2006/relationships/slideLayout" Target="/ppt/slideLayouts/slideLayout3.xml" Id="R2de6b29a290444d0" /><Relationship Type="http://schemas.openxmlformats.org/officeDocument/2006/relationships/slideLayout" Target="/ppt/slideLayouts/slideLayout4.xml" Id="Ra08f6cf205a84c4d" /><Relationship Type="http://schemas.openxmlformats.org/officeDocument/2006/relationships/slideLayout" Target="/ppt/slideLayouts/slideLayout5.xml" Id="R52d3b76852d54f8d" /><Relationship Type="http://schemas.openxmlformats.org/officeDocument/2006/relationships/slideLayout" Target="/ppt/slideLayouts/slideLayout6.xml" Id="R4a61a8add4c44d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42c0f438c74440"/>
    <p:sldLayoutId xmlns:r="http://schemas.openxmlformats.org/officeDocument/2006/relationships" id="2147483650" r:id="Rd61a838d580843fd"/>
    <p:sldLayoutId xmlns:r="http://schemas.openxmlformats.org/officeDocument/2006/relationships" id="2147483651" r:id="R2de6b29a290444d0"/>
    <p:sldLayoutId xmlns:r="http://schemas.openxmlformats.org/officeDocument/2006/relationships" id="2147483652" r:id="Ra08f6cf205a84c4d"/>
    <p:sldLayoutId xmlns:r="http://schemas.openxmlformats.org/officeDocument/2006/relationships" id="2147483653" r:id="R52d3b76852d54f8d"/>
    <p:sldLayoutId xmlns:r="http://schemas.openxmlformats.org/officeDocument/2006/relationships" id="2147483654" r:id="R4a61a8add4c44d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7f92de2edec40a4" /><Relationship Type="http://schemas.openxmlformats.org/officeDocument/2006/relationships/image" Target="/ppt/media/image.jpeg" Id="R6740acc9d6694bc3" /><Relationship Type="http://schemas.openxmlformats.org/officeDocument/2006/relationships/notesSlide" Target="/ppt/notesSlides/notesSlide1.xml" Id="R8c5e7a5c2ecc40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2a987321024080" /><Relationship Type="http://schemas.openxmlformats.org/officeDocument/2006/relationships/notesSlide" Target="/ppt/notesSlides/notesSlide2.xml" Id="Rc1cd1695356246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04f42e8ea84a21" /><Relationship Type="http://schemas.openxmlformats.org/officeDocument/2006/relationships/notesSlide" Target="/ppt/notesSlides/notesSlide3.xml" Id="R9cee858293b144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37dea8a9114484" /><Relationship Type="http://schemas.openxmlformats.org/officeDocument/2006/relationships/image" Target="/ppt/media/image.png" Id="Rb89410ce10de4123" /><Relationship Type="http://schemas.openxmlformats.org/officeDocument/2006/relationships/notesSlide" Target="/ppt/notesSlides/notesSlide4.xml" Id="Rd8bbb1c706a847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7551002bd549f2" /><Relationship Type="http://schemas.openxmlformats.org/officeDocument/2006/relationships/image" Target="/ppt/media/image2.png" Id="R835713a674334558" /><Relationship Type="http://schemas.openxmlformats.org/officeDocument/2006/relationships/image" Target="/ppt/media/image3.png" Id="Raacd78ab1d304742" /><Relationship Type="http://schemas.openxmlformats.org/officeDocument/2006/relationships/image" Target="/ppt/media/image4.png" Id="R832a0c9b84674614" /><Relationship Type="http://schemas.openxmlformats.org/officeDocument/2006/relationships/image" Target="/ppt/media/image5.png" Id="R76cd0a3ecf2a44e1" /><Relationship Type="http://schemas.openxmlformats.org/officeDocument/2006/relationships/notesSlide" Target="/ppt/notesSlides/notesSlide5.xml" Id="R09e3f78168c948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73dffcdf794517" /><Relationship Type="http://schemas.openxmlformats.org/officeDocument/2006/relationships/image" Target="/ppt/media/image6.png" Id="R9fc5f7d300694d02" /><Relationship Type="http://schemas.openxmlformats.org/officeDocument/2006/relationships/image" Target="/ppt/media/image7.png" Id="Rcb75c1a1ea9046fc" /><Relationship Type="http://schemas.openxmlformats.org/officeDocument/2006/relationships/image" Target="/ppt/media/image8.png" Id="Rf90e5fcd891a4ac6" /><Relationship Type="http://schemas.openxmlformats.org/officeDocument/2006/relationships/notesSlide" Target="/ppt/notesSlides/notesSlide6.xml" Id="R05abf34f8b124f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50a57e8dfec45bc" /><Relationship Type="http://schemas.openxmlformats.org/officeDocument/2006/relationships/image" Target="/ppt/media/image9.png" Id="Rd38be7b164c1487b" /><Relationship Type="http://schemas.openxmlformats.org/officeDocument/2006/relationships/image" Target="/ppt/media/image10.png" Id="R221acda4df3e42c0" /><Relationship Type="http://schemas.openxmlformats.org/officeDocument/2006/relationships/image" Target="/ppt/media/image11.png" Id="R51981ca4fa874e5b" /><Relationship Type="http://schemas.openxmlformats.org/officeDocument/2006/relationships/notesSlide" Target="/ppt/notesSlides/notesSlide7.xml" Id="R2f7da14267d941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6f92b78662400b" /><Relationship Type="http://schemas.openxmlformats.org/officeDocument/2006/relationships/image" Target="/ppt/media/image12.png" Id="R74241ac7df7e44d0" /><Relationship Type="http://schemas.openxmlformats.org/officeDocument/2006/relationships/image" Target="/ppt/media/image13.png" Id="R07d39d8d7ba54bc9" /><Relationship Type="http://schemas.openxmlformats.org/officeDocument/2006/relationships/image" Target="/ppt/media/image14.png" Id="R1de262feda5f4ac3" /><Relationship Type="http://schemas.openxmlformats.org/officeDocument/2006/relationships/notesSlide" Target="/ppt/notesSlides/notesSlide8.xml" Id="Rdc57e4b9b3504f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11501338c36455e" /><Relationship Type="http://schemas.openxmlformats.org/officeDocument/2006/relationships/image" Target="/ppt/media/image15.png" Id="Ra30f5b81d35b4924" /><Relationship Type="http://schemas.openxmlformats.org/officeDocument/2006/relationships/image" Target="/ppt/media/image16.png" Id="Rd5a2e26ad4054f73" /><Relationship Type="http://schemas.openxmlformats.org/officeDocument/2006/relationships/image" Target="/ppt/media/image17.png" Id="Re3c0269da44a42f4" /><Relationship Type="http://schemas.openxmlformats.org/officeDocument/2006/relationships/notesSlide" Target="/ppt/notesSlides/notesSlide9.xml" Id="R9960dbacdcdc44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075d26aa9134d64" /><Relationship Type="http://schemas.openxmlformats.org/officeDocument/2006/relationships/image" Target="/ppt/media/image18.png" Id="Rd2f33d9f3297434a" /><Relationship Type="http://schemas.openxmlformats.org/officeDocument/2006/relationships/image" Target="/ppt/media/image19.png" Id="Ra44d4db1c7924689" /><Relationship Type="http://schemas.openxmlformats.org/officeDocument/2006/relationships/image" Target="/ppt/media/image20.png" Id="Rf11c6d70dc0f407e" /><Relationship Type="http://schemas.openxmlformats.org/officeDocument/2006/relationships/notesSlide" Target="/ppt/notesSlides/notesSlide10.xml" Id="Rec1113eeb2204a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3562b20ae454bd4" /><Relationship Type="http://schemas.openxmlformats.org/officeDocument/2006/relationships/image" Target="/ppt/media/image21.png" Id="R0aa6bd59713444d1" /><Relationship Type="http://schemas.openxmlformats.org/officeDocument/2006/relationships/image" Target="/ppt/media/image22.png" Id="R74eb60cfb3694700" /><Relationship Type="http://schemas.openxmlformats.org/officeDocument/2006/relationships/image" Target="/ppt/media/image23.png" Id="R3a1db5ccb06843cf" /><Relationship Type="http://schemas.openxmlformats.org/officeDocument/2006/relationships/notesSlide" Target="/ppt/notesSlides/notesSlide11.xml" Id="R6a7bde72394646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c31bca3fad94d9a" /><Relationship Type="http://schemas.openxmlformats.org/officeDocument/2006/relationships/image" Target="/ppt/media/image24.png" Id="R01b30005eade4134" /><Relationship Type="http://schemas.openxmlformats.org/officeDocument/2006/relationships/notesSlide" Target="/ppt/notesSlides/notesSlide12.xml" Id="R0f280265698a49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1778b596e8496a" /><Relationship Type="http://schemas.openxmlformats.org/officeDocument/2006/relationships/image" Target="/ppt/media/image25.png" Id="R2ffb17a09c304a85" /><Relationship Type="http://schemas.openxmlformats.org/officeDocument/2006/relationships/notesSlide" Target="/ppt/notesSlides/notesSlide13.xml" Id="R3b677a355dee4a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c9ee5af5ab04529" /><Relationship Type="http://schemas.openxmlformats.org/officeDocument/2006/relationships/notesSlide" Target="/ppt/notesSlides/notesSlide14.xml" Id="R6fd308674bca459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895601437d24b64" /><Relationship Type="http://schemas.openxmlformats.org/officeDocument/2006/relationships/notesSlide" Target="/ppt/notesSlides/notesSlide15.xml" Id="R7376028a5fb14e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e1c43d4fa014658" /><Relationship Type="http://schemas.openxmlformats.org/officeDocument/2006/relationships/notesSlide" Target="/ppt/notesSlides/notesSlide16.xml" Id="Rcc71fc8c78b44a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b3a8371996f44a5" /><Relationship Type="http://schemas.openxmlformats.org/officeDocument/2006/relationships/notesSlide" Target="/ppt/notesSlides/notesSlide17.xml" Id="Ra31319da85f54f4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44e0448b10d4c62" /><Relationship Type="http://schemas.openxmlformats.org/officeDocument/2006/relationships/notesSlide" Target="/ppt/notesSlides/notesSlide18.xml" Id="Rebf1608671ac48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156991c53924942" /><Relationship Type="http://schemas.openxmlformats.org/officeDocument/2006/relationships/notesSlide" Target="/ppt/notesSlides/notesSlide19.xml" Id="R6bb769dae617441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7875df96c96434f" /><Relationship Type="http://schemas.openxmlformats.org/officeDocument/2006/relationships/notesSlide" Target="/ppt/notesSlides/notesSlide20.xml" Id="R18989abe72694487" /></Relationships>
</file>

<file path=ppt/slides/slide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28A282-1EC6-4A85-B76E-F7E2189FBFE5}"/>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CHƯƠNG 1  /  MÔ TẢ BÀI TOÁN VÀ SƠ ĐỒ CHỨC NĂNG</a:t>
            </a:r>
          </a:p>
        </p:txBody>
      </p:sp>
      <p:sp>
        <p:nvSpPr>
          <p:cNvPr id="2" name="">
            <a:extLst xmlns:a="http://schemas.openxmlformats.org/drawingml/2006/main">
              <a:ext uri="{FF2B5EF4-FFF2-40B4-BE49-F238E27FC236}">
                <a16:creationId xmlns:a16="http://schemas.microsoft.com/office/drawing/2014/main" id="{D5F4AB71-7F6E-4E8C-83FC-64F044518BDF}"/>
              </a:ext>
            </a:extLst>
          </p:cNvPr>
          <p:cNvSpPr>
            <a:spLocks xmlns:a="http://schemas.openxmlformats.org/drawingml/2006/main" noGrp="1"/>
          </p:cNvSpPr>
          <p:nvPr/>
        </p:nvSpPr>
        <p:spPr>
          <a:xfrm xmlns:a="http://schemas.openxmlformats.org/drawingml/2006/main">
            <a:off x="514350" y="1381125"/>
            <a:ext cx="8096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Ứng dụng Android quản lý</a:t>
            </a:r>
          </a:p>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sức khỏe tại nhà Vita</a:t>
            </a:r>
          </a:p>
        </p:txBody>
      </p:sp>
      <p:sp>
        <p:nvSpPr>
          <p:cNvPr id="3" name="">
            <a:extLst xmlns:a="http://schemas.openxmlformats.org/drawingml/2006/main">
              <a:ext uri="{FF2B5EF4-FFF2-40B4-BE49-F238E27FC236}">
                <a16:creationId xmlns:a16="http://schemas.microsoft.com/office/drawing/2014/main" id="{7569C28E-19CF-42CA-8B0E-A721C47EFBCB}"/>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D7744389-133A-4A5A-A91F-A7107089B9EF}"/>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214D52A-177F-4AF8-B1BB-75D1016D5969}"/>
              </a:ext>
            </a:extLst>
          </p:cNvPr>
          <p:cNvSpPr>
            <a:spLocks xmlns:a="http://schemas.openxmlformats.org/drawingml/2006/main" noGrp="1"/>
          </p:cNvSpPr>
          <p:nvPr/>
        </p:nvSpPr>
        <p:spPr>
          <a:xfrm xmlns:a="http://schemas.openxmlformats.org/drawingml/2006/main">
            <a:off x="514350" y="3190875"/>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87F72"/>
                </a:solidFill>
                <a:latin typeface="Arial"/>
                <a:ea typeface="Arial"/>
                <a:cs typeface="Arial"/>
              </a:defRPr>
            </a:defPPr>
            <a:lvl1pPr>
              <a:defRPr sz="2250" b="0">
                <a:solidFill>
                  <a:srgbClr val="087F72"/>
                </a:solidFill>
                <a:latin typeface="Arial"/>
                <a:ea typeface="Arial"/>
                <a:cs typeface="Arial"/>
              </a:defRPr>
            </a:lvl1pPr>
            <a:lvl2pPr>
              <a:defRPr sz="2250" b="0">
                <a:solidFill>
                  <a:srgbClr val="087F72"/>
                </a:solidFill>
                <a:latin typeface="Arial"/>
                <a:ea typeface="Arial"/>
                <a:cs typeface="Arial"/>
              </a:defRPr>
            </a:lvl2pPr>
            <a:lvl3pPr>
              <a:defRPr sz="2250" b="0">
                <a:solidFill>
                  <a:srgbClr val="087F72"/>
                </a:solidFill>
                <a:latin typeface="Arial"/>
                <a:ea typeface="Arial"/>
                <a:cs typeface="Arial"/>
              </a:defRPr>
            </a:lvl3pPr>
            <a:lvl4pPr>
              <a:defRPr sz="2250" b="0">
                <a:solidFill>
                  <a:srgbClr val="087F72"/>
                </a:solidFill>
                <a:latin typeface="Arial"/>
                <a:ea typeface="Arial"/>
                <a:cs typeface="Arial"/>
              </a:defRPr>
            </a:lvl4pPr>
            <a:lvl5pPr>
              <a:defRPr sz="2250" b="0">
                <a:solidFill>
                  <a:srgbClr val="087F72"/>
                </a:solidFill>
                <a:latin typeface="Arial"/>
                <a:ea typeface="Arial"/>
                <a:cs typeface="Arial"/>
              </a:defRPr>
            </a:lvl5pPr>
            <a:lvl6pPr>
              <a:defRPr sz="2250" b="0">
                <a:solidFill>
                  <a:srgbClr val="087F72"/>
                </a:solidFill>
                <a:latin typeface="Arial"/>
                <a:ea typeface="Arial"/>
                <a:cs typeface="Arial"/>
              </a:defRPr>
            </a:lvl6pPr>
            <a:lvl7pPr>
              <a:defRPr sz="2250" b="0">
                <a:solidFill>
                  <a:srgbClr val="087F72"/>
                </a:solidFill>
                <a:latin typeface="Arial"/>
                <a:ea typeface="Arial"/>
                <a:cs typeface="Arial"/>
              </a:defRPr>
            </a:lvl7pPr>
            <a:lvl8pPr>
              <a:defRPr sz="2250" b="0">
                <a:solidFill>
                  <a:srgbClr val="087F72"/>
                </a:solidFill>
                <a:latin typeface="Arial"/>
                <a:ea typeface="Arial"/>
                <a:cs typeface="Arial"/>
              </a:defRPr>
            </a:lvl8pPr>
            <a:lvl9pPr>
              <a:defRPr sz="2250" b="0">
                <a:solidFill>
                  <a:srgbClr val="087F72"/>
                </a:solidFill>
                <a:latin typeface="Arial"/>
                <a:ea typeface="Arial"/>
                <a:cs typeface="Arial"/>
              </a:defRPr>
            </a:lvl9pPr>
          </a:lstStyle>
          <a:p xmlns:a="http://schemas.openxmlformats.org/drawingml/2006/main">
            <a:pPr>
              <a:defRPr sz="2250" b="0">
                <a:solidFill>
                  <a:srgbClr val="087F72"/>
                </a:solidFill>
                <a:latin typeface="Arial"/>
                <a:ea typeface="Arial"/>
                <a:cs typeface="Arial"/>
              </a:defRPr>
            </a:pPr>
            <a:r>
              <a:rPr sz="2250" b="0">
                <a:solidFill>
                  <a:srgbClr val="087F72"/>
                </a:solidFill>
                <a:latin typeface="Arial"/>
                <a:ea typeface="Arial"/>
                <a:cs typeface="Arial"/>
              </a:rPr>
              <a:t>Tổng quan đề tài, chức năng, màn hình và cơ sở dữ liệu</a:t>
            </a:r>
          </a:p>
        </p:txBody>
      </p:sp>
      <p:sp>
        <p:nvSpPr>
          <p:cNvPr id="6" name="">
            <a:extLst xmlns:a="http://schemas.openxmlformats.org/drawingml/2006/main">
              <a:ext uri="{FF2B5EF4-FFF2-40B4-BE49-F238E27FC236}">
                <a16:creationId xmlns:a16="http://schemas.microsoft.com/office/drawing/2014/main" id="{C805D47C-E812-4241-B002-419298F7D647}"/>
              </a:ext>
            </a:extLst>
          </p:cNvPr>
          <p:cNvSpPr>
            <a:spLocks xmlns:a="http://schemas.openxmlformats.org/drawingml/2006/main" noGrp="1"/>
          </p:cNvSpPr>
          <p:nvPr/>
        </p:nvSpPr>
        <p:spPr>
          <a:xfrm xmlns:a="http://schemas.openxmlformats.org/drawingml/2006/main">
            <a:off x="514350" y="5067300"/>
            <a:ext cx="809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Huỳnh Trung Tín · Đinh Tấn Minh</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GVHD: ThS. Nguyễn Kim Duy</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Trường Đại học Thủ Dầu Một · Tháng 10/2026</a:t>
            </a:r>
          </a:p>
        </p:txBody>
      </p:sp>
      <p:pic>
        <p:nvPicPr>
          <p:cNvPr id="7" name="">
            <a:extLst xmlns:a="http://schemas.openxmlformats.org/drawingml/2006/main">
              <a:ext uri="{FF2B5EF4-FFF2-40B4-BE49-F238E27FC236}">
                <a16:creationId xmlns:a16="http://schemas.microsoft.com/office/drawing/2014/main" id="{44774A21-B9DA-4302-A7DB-FD63760779A5}"/>
              </a:ext>
            </a:extLst>
          </p:cNvPr>
          <p:cNvPicPr>
            <a:picLocks xmlns:a="http://schemas.openxmlformats.org/drawingml/2006/main" noChangeAspect="1"/>
          </p:cNvPicPr>
          <p:nvPr/>
        </p:nvPicPr>
        <p:blipFill>
          <a:blip xmlns:r="http://schemas.openxmlformats.org/officeDocument/2006/relationships" xmlns:a="http://schemas.openxmlformats.org/drawingml/2006/main" r:embed="R6740acc9d6694bc3"/>
          <a:stretch xmlns:a="http://schemas.openxmlformats.org/drawingml/2006/main"/>
        </p:blipFill>
        <p:spPr>
          <a:xfrm xmlns:a="http://schemas.openxmlformats.org/drawingml/2006/main">
            <a:off x="9048750" y="2190750"/>
            <a:ext cx="2190750" cy="2190750"/>
          </a:xfrm>
          <a:prstGeom xmlns:a="http://schemas.openxmlformats.org/drawingml/2006/main" prst="rect">
            <a:avLst/>
          </a:prstGeom>
        </p:spPr>
      </p:pic>
    </p:spTree>
    <p:extLst>
      <p:ext uri="{BB962C8B-B14F-4D97-AF65-F5344CB8AC3E}">
        <p14:creationId xmlns:p14="http://schemas.microsoft.com/office/powerpoint/2010/main" val="1317537164"/>
      </p:ext>
    </p:extLst>
  </p:cSld>
</p:sld>
</file>

<file path=ppt/slides/slide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83C14F2-3431-4509-BDBD-70647BF1B3F4}"/>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1.1  MÔ TẢ BÀI TOÁN</a:t>
            </a:r>
          </a:p>
        </p:txBody>
      </p:sp>
      <p:sp>
        <p:nvSpPr>
          <p:cNvPr id="2" name="">
            <a:extLst xmlns:a="http://schemas.openxmlformats.org/drawingml/2006/main">
              <a:ext uri="{FF2B5EF4-FFF2-40B4-BE49-F238E27FC236}">
                <a16:creationId xmlns:a16="http://schemas.microsoft.com/office/drawing/2014/main" id="{9EFE129E-B6BF-424B-98D8-B4B89A83F3A0}"/>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Bài toán, mục tiêu và phạm vi</a:t>
            </a:r>
          </a:p>
        </p:txBody>
      </p:sp>
      <p:sp>
        <p:nvSpPr>
          <p:cNvPr id="3" name="">
            <a:extLst xmlns:a="http://schemas.openxmlformats.org/drawingml/2006/main">
              <a:ext uri="{FF2B5EF4-FFF2-40B4-BE49-F238E27FC236}">
                <a16:creationId xmlns:a16="http://schemas.microsoft.com/office/drawing/2014/main" id="{8C5080F1-38E6-406E-867A-A989A3611542}"/>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512FBA9B-3839-430F-8414-B6C3E2983C42}"/>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FE42975-BCB0-4589-A7AB-14A55BD71E21}"/>
              </a:ext>
            </a:extLst>
          </p:cNvPr>
          <p:cNvSpPr>
            <a:spLocks xmlns:a="http://schemas.openxmlformats.org/drawingml/2006/main" noGrp="1"/>
          </p:cNvSpPr>
          <p:nvPr/>
        </p:nvSpPr>
        <p:spPr>
          <a:xfrm xmlns:a="http://schemas.openxmlformats.org/drawingml/2006/main">
            <a:off x="514350"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Hiện trạng</a:t>
            </a:r>
          </a:p>
        </p:txBody>
      </p:sp>
      <p:sp>
        <p:nvSpPr>
          <p:cNvPr id="6" name="">
            <a:extLst xmlns:a="http://schemas.openxmlformats.org/drawingml/2006/main">
              <a:ext uri="{FF2B5EF4-FFF2-40B4-BE49-F238E27FC236}">
                <a16:creationId xmlns:a16="http://schemas.microsoft.com/office/drawing/2014/main" id="{DF24647D-1AD0-4812-8BC3-33332C4236BA}"/>
              </a:ext>
            </a:extLst>
          </p:cNvPr>
          <p:cNvSpPr>
            <a:spLocks xmlns:a="http://schemas.openxmlformats.org/drawingml/2006/main" noGrp="1"/>
          </p:cNvSpPr>
          <p:nvPr/>
        </p:nvSpPr>
        <p:spPr>
          <a:xfrm xmlns:a="http://schemas.openxmlformats.org/drawingml/2006/main">
            <a:off x="514350" y="200025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Kết quả đo rời rạc, thiếu thời điểm và bối cảnh nên khó theo dõi thay đổi.</a:t>
            </a:r>
          </a:p>
        </p:txBody>
      </p:sp>
      <p:sp>
        <p:nvSpPr>
          <p:cNvPr id="7" name="">
            <a:extLst xmlns:a="http://schemas.openxmlformats.org/drawingml/2006/main">
              <a:ext uri="{FF2B5EF4-FFF2-40B4-BE49-F238E27FC236}">
                <a16:creationId xmlns:a16="http://schemas.microsoft.com/office/drawing/2014/main" id="{BA7F5705-B8A6-487F-94F2-3E627D99A6FE}"/>
              </a:ext>
            </a:extLst>
          </p:cNvPr>
          <p:cNvSpPr>
            <a:spLocks xmlns:a="http://schemas.openxmlformats.org/drawingml/2006/main" noGrp="1"/>
          </p:cNvSpPr>
          <p:nvPr/>
        </p:nvSpPr>
        <p:spPr>
          <a:xfrm xmlns:a="http://schemas.openxmlformats.org/drawingml/2006/main">
            <a:off x="514350" y="30480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Mục tiêu</a:t>
            </a:r>
          </a:p>
        </p:txBody>
      </p:sp>
      <p:sp>
        <p:nvSpPr>
          <p:cNvPr id="8" name="">
            <a:extLst xmlns:a="http://schemas.openxmlformats.org/drawingml/2006/main">
              <a:ext uri="{FF2B5EF4-FFF2-40B4-BE49-F238E27FC236}">
                <a16:creationId xmlns:a16="http://schemas.microsoft.com/office/drawing/2014/main" id="{F4A38EC4-BC97-445D-A23A-440BC96DC667}"/>
              </a:ext>
            </a:extLst>
          </p:cNvPr>
          <p:cNvSpPr>
            <a:spLocks xmlns:a="http://schemas.openxmlformats.org/drawingml/2006/main" noGrp="1"/>
          </p:cNvSpPr>
          <p:nvPr/>
        </p:nvSpPr>
        <p:spPr>
          <a:xfrm xmlns:a="http://schemas.openxmlformats.org/drawingml/2006/main">
            <a:off x="514350" y="3476625"/>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Ghi chỉ số, quản lý thuốc, nước uống và thống kê trong một ứng dụng.</a:t>
            </a:r>
          </a:p>
        </p:txBody>
      </p:sp>
      <p:sp>
        <p:nvSpPr>
          <p:cNvPr id="9" name="">
            <a:extLst xmlns:a="http://schemas.openxmlformats.org/drawingml/2006/main">
              <a:ext uri="{FF2B5EF4-FFF2-40B4-BE49-F238E27FC236}">
                <a16:creationId xmlns:a16="http://schemas.microsoft.com/office/drawing/2014/main" id="{EE2123D8-86CB-4642-BC95-44C2B72F0B67}"/>
              </a:ext>
            </a:extLst>
          </p:cNvPr>
          <p:cNvSpPr>
            <a:spLocks xmlns:a="http://schemas.openxmlformats.org/drawingml/2006/main" noGrp="1"/>
          </p:cNvSpPr>
          <p:nvPr/>
        </p:nvSpPr>
        <p:spPr>
          <a:xfrm xmlns:a="http://schemas.openxmlformats.org/drawingml/2006/main">
            <a:off x="514350" y="45243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Đối tượng</a:t>
            </a:r>
          </a:p>
        </p:txBody>
      </p:sp>
      <p:sp>
        <p:nvSpPr>
          <p:cNvPr id="10" name="">
            <a:extLst xmlns:a="http://schemas.openxmlformats.org/drawingml/2006/main">
              <a:ext uri="{FF2B5EF4-FFF2-40B4-BE49-F238E27FC236}">
                <a16:creationId xmlns:a16="http://schemas.microsoft.com/office/drawing/2014/main" id="{EE1E73BC-B095-4C8E-9235-A6C2A7B31B72}"/>
              </a:ext>
            </a:extLst>
          </p:cNvPr>
          <p:cNvSpPr>
            <a:spLocks xmlns:a="http://schemas.openxmlformats.org/drawingml/2006/main" noGrp="1"/>
          </p:cNvSpPr>
          <p:nvPr/>
        </p:nvSpPr>
        <p:spPr>
          <a:xfrm xmlns:a="http://schemas.openxmlformats.org/drawingml/2006/main">
            <a:off x="514350" y="495300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Cá nhân tự ghi chép và theo dõi sức khỏe tại nhà.</a:t>
            </a:r>
          </a:p>
        </p:txBody>
      </p:sp>
      <p:sp>
        <p:nvSpPr>
          <p:cNvPr id="11" name="">
            <a:extLst xmlns:a="http://schemas.openxmlformats.org/drawingml/2006/main">
              <a:ext uri="{FF2B5EF4-FFF2-40B4-BE49-F238E27FC236}">
                <a16:creationId xmlns:a16="http://schemas.microsoft.com/office/drawing/2014/main" id="{2489E9B3-E41D-484B-99AE-6405F3A70C83}"/>
              </a:ext>
            </a:extLst>
          </p:cNvPr>
          <p:cNvSpPr>
            <a:spLocks xmlns:a="http://schemas.openxmlformats.org/drawingml/2006/main" noGrp="1"/>
          </p:cNvSpPr>
          <p:nvPr/>
        </p:nvSpPr>
        <p:spPr>
          <a:xfrm xmlns:a="http://schemas.openxmlformats.org/drawingml/2006/main">
            <a:off x="6477000" y="15716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Nền tảng</a:t>
            </a:r>
          </a:p>
        </p:txBody>
      </p:sp>
      <p:sp>
        <p:nvSpPr>
          <p:cNvPr id="12" name="">
            <a:extLst xmlns:a="http://schemas.openxmlformats.org/drawingml/2006/main">
              <a:ext uri="{FF2B5EF4-FFF2-40B4-BE49-F238E27FC236}">
                <a16:creationId xmlns:a16="http://schemas.microsoft.com/office/drawing/2014/main" id="{07D6DAC4-82F3-4BED-81F2-56D7069F2549}"/>
              </a:ext>
            </a:extLst>
          </p:cNvPr>
          <p:cNvSpPr>
            <a:spLocks xmlns:a="http://schemas.openxmlformats.org/drawingml/2006/main" noGrp="1"/>
          </p:cNvSpPr>
          <p:nvPr/>
        </p:nvSpPr>
        <p:spPr>
          <a:xfrm xmlns:a="http://schemas.openxmlformats.org/drawingml/2006/main">
            <a:off x="6477000" y="200025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Java, giao diện XML, Android 7.0 trở lên. Dữ liệu cục bộ bằng SQLite.</a:t>
            </a:r>
          </a:p>
        </p:txBody>
      </p:sp>
      <p:sp>
        <p:nvSpPr>
          <p:cNvPr id="13" name="">
            <a:extLst xmlns:a="http://schemas.openxmlformats.org/drawingml/2006/main">
              <a:ext uri="{FF2B5EF4-FFF2-40B4-BE49-F238E27FC236}">
                <a16:creationId xmlns:a16="http://schemas.microsoft.com/office/drawing/2014/main" id="{FF02643B-E4CC-4F89-B99D-AE9ED00D3A82}"/>
              </a:ext>
            </a:extLst>
          </p:cNvPr>
          <p:cNvSpPr>
            <a:spLocks xmlns:a="http://schemas.openxmlformats.org/drawingml/2006/main" noGrp="1"/>
          </p:cNvSpPr>
          <p:nvPr/>
        </p:nvSpPr>
        <p:spPr>
          <a:xfrm xmlns:a="http://schemas.openxmlformats.org/drawingml/2006/main">
            <a:off x="6477000" y="3048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Phạm vi hiện tại</a:t>
            </a:r>
          </a:p>
        </p:txBody>
      </p:sp>
      <p:sp>
        <p:nvSpPr>
          <p:cNvPr id="14" name="">
            <a:extLst xmlns:a="http://schemas.openxmlformats.org/drawingml/2006/main">
              <a:ext uri="{FF2B5EF4-FFF2-40B4-BE49-F238E27FC236}">
                <a16:creationId xmlns:a16="http://schemas.microsoft.com/office/drawing/2014/main" id="{597A2D76-4E1D-49B8-A942-49F087C1ECAF}"/>
              </a:ext>
            </a:extLst>
          </p:cNvPr>
          <p:cNvSpPr>
            <a:spLocks xmlns:a="http://schemas.openxmlformats.org/drawingml/2006/main" noGrp="1"/>
          </p:cNvSpPr>
          <p:nvPr/>
        </p:nvSpPr>
        <p:spPr>
          <a:xfrm xmlns:a="http://schemas.openxmlformats.org/drawingml/2006/main">
            <a:off x="6477000" y="34766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Nhập thủ công. Chưa đồng bộ đám mây, kết nối thiết bị đo hay theo dõi giấc ngủ.</a:t>
            </a:r>
          </a:p>
        </p:txBody>
      </p:sp>
      <p:sp>
        <p:nvSpPr>
          <p:cNvPr id="15" name="">
            <a:extLst xmlns:a="http://schemas.openxmlformats.org/drawingml/2006/main">
              <a:ext uri="{FF2B5EF4-FFF2-40B4-BE49-F238E27FC236}">
                <a16:creationId xmlns:a16="http://schemas.microsoft.com/office/drawing/2014/main" id="{ABED4E6E-7CE2-423F-9874-39E073E0FA80}"/>
              </a:ext>
            </a:extLst>
          </p:cNvPr>
          <p:cNvSpPr>
            <a:spLocks xmlns:a="http://schemas.openxmlformats.org/drawingml/2006/main" noGrp="1"/>
          </p:cNvSpPr>
          <p:nvPr/>
        </p:nvSpPr>
        <p:spPr>
          <a:xfrm xmlns:a="http://schemas.openxmlformats.org/drawingml/2006/main">
            <a:off x="6477000" y="45243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Giới hạn sử dụng</a:t>
            </a:r>
          </a:p>
        </p:txBody>
      </p:sp>
      <p:sp>
        <p:nvSpPr>
          <p:cNvPr id="16" name="">
            <a:extLst xmlns:a="http://schemas.openxmlformats.org/drawingml/2006/main">
              <a:ext uri="{FF2B5EF4-FFF2-40B4-BE49-F238E27FC236}">
                <a16:creationId xmlns:a16="http://schemas.microsoft.com/office/drawing/2014/main" id="{030B0119-44D9-4965-9AD2-0E6E76D47DBA}"/>
              </a:ext>
            </a:extLst>
          </p:cNvPr>
          <p:cNvSpPr>
            <a:spLocks xmlns:a="http://schemas.openxmlformats.org/drawingml/2006/main" noGrp="1"/>
          </p:cNvSpPr>
          <p:nvPr/>
        </p:nvSpPr>
        <p:spPr>
          <a:xfrm xmlns:a="http://schemas.openxmlformats.org/drawingml/2006/main">
            <a:off x="6477000" y="49530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Nhận xét chỉ số và BMI chỉ để tham khảo, không chẩn đoán hoặc chỉ định điều trị.</a:t>
            </a:r>
          </a:p>
        </p:txBody>
      </p:sp>
    </p:spTree>
    <p:extLst>
      <p:ext uri="{BB962C8B-B14F-4D97-AF65-F5344CB8AC3E}">
        <p14:creationId xmlns:p14="http://schemas.microsoft.com/office/powerpoint/2010/main" val="589453181"/>
      </p:ext>
    </p:extLst>
  </p:cSld>
</p:sld>
</file>

<file path=ppt/slides/slide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65AB6C5-B47C-49BF-A010-77BB01385225}"/>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1.1  NHU CẦU VÀ CHỨC NĂNG</a:t>
            </a:r>
          </a:p>
        </p:txBody>
      </p:sp>
      <p:sp>
        <p:nvSpPr>
          <p:cNvPr id="2" name="">
            <a:extLst xmlns:a="http://schemas.openxmlformats.org/drawingml/2006/main">
              <a:ext uri="{FF2B5EF4-FFF2-40B4-BE49-F238E27FC236}">
                <a16:creationId xmlns:a16="http://schemas.microsoft.com/office/drawing/2014/main" id="{D2667067-AF6C-456B-B0F8-E6B2A3AF28D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Các chức năng chính của Vita</a:t>
            </a:r>
          </a:p>
        </p:txBody>
      </p:sp>
      <p:sp>
        <p:nvSpPr>
          <p:cNvPr id="3" name="">
            <a:extLst xmlns:a="http://schemas.openxmlformats.org/drawingml/2006/main">
              <a:ext uri="{FF2B5EF4-FFF2-40B4-BE49-F238E27FC236}">
                <a16:creationId xmlns:a16="http://schemas.microsoft.com/office/drawing/2014/main" id="{7E03C3F3-E872-41D7-8DBA-E6FC2CB30100}"/>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C9B949DE-6847-468D-93E1-7BF163E5E860}"/>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CE920FB-BBDE-4B45-B73E-8ECD1366B7DC}"/>
              </a:ext>
            </a:extLst>
          </p:cNvPr>
          <p:cNvSpPr>
            <a:spLocks xmlns:a="http://schemas.openxmlformats.org/drawingml/2006/main" noGrp="1"/>
          </p:cNvSpPr>
          <p:nvPr/>
        </p:nvSpPr>
        <p:spPr>
          <a:xfrm xmlns:a="http://schemas.openxmlformats.org/drawingml/2006/main">
            <a:off x="514350"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Tài khoản và hồ sơ</a:t>
            </a:r>
          </a:p>
        </p:txBody>
      </p:sp>
      <p:sp>
        <p:nvSpPr>
          <p:cNvPr id="6" name="">
            <a:extLst xmlns:a="http://schemas.openxmlformats.org/drawingml/2006/main">
              <a:ext uri="{FF2B5EF4-FFF2-40B4-BE49-F238E27FC236}">
                <a16:creationId xmlns:a16="http://schemas.microsoft.com/office/drawing/2014/main" id="{B116F55A-1334-42B2-8178-559272E8BC5B}"/>
              </a:ext>
            </a:extLst>
          </p:cNvPr>
          <p:cNvSpPr>
            <a:spLocks xmlns:a="http://schemas.openxmlformats.org/drawingml/2006/main" noGrp="1"/>
          </p:cNvSpPr>
          <p:nvPr/>
        </p:nvSpPr>
        <p:spPr>
          <a:xfrm xmlns:a="http://schemas.openxmlformats.org/drawingml/2006/main">
            <a:off x="514350" y="200025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Đăng ký hai bước, đăng nhập, sửa hồ sơ, đăng xuất và xóa tài khoản.</a:t>
            </a:r>
          </a:p>
        </p:txBody>
      </p:sp>
      <p:sp>
        <p:nvSpPr>
          <p:cNvPr id="7" name="">
            <a:extLst xmlns:a="http://schemas.openxmlformats.org/drawingml/2006/main">
              <a:ext uri="{FF2B5EF4-FFF2-40B4-BE49-F238E27FC236}">
                <a16:creationId xmlns:a16="http://schemas.microsoft.com/office/drawing/2014/main" id="{F59AC2EC-1B55-4B35-98AA-ACA36D5B0E65}"/>
              </a:ext>
            </a:extLst>
          </p:cNvPr>
          <p:cNvSpPr>
            <a:spLocks xmlns:a="http://schemas.openxmlformats.org/drawingml/2006/main" noGrp="1"/>
          </p:cNvSpPr>
          <p:nvPr/>
        </p:nvSpPr>
        <p:spPr>
          <a:xfrm xmlns:a="http://schemas.openxmlformats.org/drawingml/2006/main">
            <a:off x="514350" y="30480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Chỉ số và BMI</a:t>
            </a:r>
          </a:p>
        </p:txBody>
      </p:sp>
      <p:sp>
        <p:nvSpPr>
          <p:cNvPr id="8" name="">
            <a:extLst xmlns:a="http://schemas.openxmlformats.org/drawingml/2006/main">
              <a:ext uri="{FF2B5EF4-FFF2-40B4-BE49-F238E27FC236}">
                <a16:creationId xmlns:a16="http://schemas.microsoft.com/office/drawing/2014/main" id="{BA61F5BD-7BBD-4ECC-B54E-7106BBE93D31}"/>
              </a:ext>
            </a:extLst>
          </p:cNvPr>
          <p:cNvSpPr>
            <a:spLocks xmlns:a="http://schemas.openxmlformats.org/drawingml/2006/main" noGrp="1"/>
          </p:cNvSpPr>
          <p:nvPr/>
        </p:nvSpPr>
        <p:spPr>
          <a:xfrm xmlns:a="http://schemas.openxmlformats.org/drawingml/2006/main">
            <a:off x="514350" y="3476625"/>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Thêm, sửa, tra cứu lần đo. Tính BMI và phân loại khi đủ điều kiện tuổi.</a:t>
            </a:r>
          </a:p>
        </p:txBody>
      </p:sp>
      <p:sp>
        <p:nvSpPr>
          <p:cNvPr id="9" name="">
            <a:extLst xmlns:a="http://schemas.openxmlformats.org/drawingml/2006/main">
              <a:ext uri="{FF2B5EF4-FFF2-40B4-BE49-F238E27FC236}">
                <a16:creationId xmlns:a16="http://schemas.microsoft.com/office/drawing/2014/main" id="{8689AB2F-A4DA-43B9-A46D-9A5D7E2E1CC6}"/>
              </a:ext>
            </a:extLst>
          </p:cNvPr>
          <p:cNvSpPr>
            <a:spLocks xmlns:a="http://schemas.openxmlformats.org/drawingml/2006/main" noGrp="1"/>
          </p:cNvSpPr>
          <p:nvPr/>
        </p:nvSpPr>
        <p:spPr>
          <a:xfrm xmlns:a="http://schemas.openxmlformats.org/drawingml/2006/main">
            <a:off x="514350" y="45243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Thuốc và cữ uống</a:t>
            </a:r>
          </a:p>
        </p:txBody>
      </p:sp>
      <p:sp>
        <p:nvSpPr>
          <p:cNvPr id="10" name="">
            <a:extLst xmlns:a="http://schemas.openxmlformats.org/drawingml/2006/main">
              <a:ext uri="{FF2B5EF4-FFF2-40B4-BE49-F238E27FC236}">
                <a16:creationId xmlns:a16="http://schemas.microsoft.com/office/drawing/2014/main" id="{658A92AA-2A72-4846-95EF-89110CFA0BBB}"/>
              </a:ext>
            </a:extLst>
          </p:cNvPr>
          <p:cNvSpPr>
            <a:spLocks xmlns:a="http://schemas.openxmlformats.org/drawingml/2006/main" noGrp="1"/>
          </p:cNvSpPr>
          <p:nvPr/>
        </p:nvSpPr>
        <p:spPr>
          <a:xfrm xmlns:a="http://schemas.openxmlformats.org/drawingml/2006/main">
            <a:off x="514350" y="495300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Nhiều giờ, ngày lặp. Người dùng xác nhận Đã uống hoặc Bỏ qua.</a:t>
            </a:r>
          </a:p>
        </p:txBody>
      </p:sp>
      <p:sp>
        <p:nvSpPr>
          <p:cNvPr id="11" name="">
            <a:extLst xmlns:a="http://schemas.openxmlformats.org/drawingml/2006/main">
              <a:ext uri="{FF2B5EF4-FFF2-40B4-BE49-F238E27FC236}">
                <a16:creationId xmlns:a16="http://schemas.microsoft.com/office/drawing/2014/main" id="{F9893546-7B41-40AB-B138-A11C0EAD168B}"/>
              </a:ext>
            </a:extLst>
          </p:cNvPr>
          <p:cNvSpPr>
            <a:spLocks xmlns:a="http://schemas.openxmlformats.org/drawingml/2006/main" noGrp="1"/>
          </p:cNvSpPr>
          <p:nvPr/>
        </p:nvSpPr>
        <p:spPr>
          <a:xfrm xmlns:a="http://schemas.openxmlformats.org/drawingml/2006/main">
            <a:off x="6477000" y="15716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Nước uống</a:t>
            </a:r>
          </a:p>
        </p:txBody>
      </p:sp>
      <p:sp>
        <p:nvSpPr>
          <p:cNvPr id="12" name="">
            <a:extLst xmlns:a="http://schemas.openxmlformats.org/drawingml/2006/main">
              <a:ext uri="{FF2B5EF4-FFF2-40B4-BE49-F238E27FC236}">
                <a16:creationId xmlns:a16="http://schemas.microsoft.com/office/drawing/2014/main" id="{1E146200-D1A1-4AE5-80CE-50F890E3231E}"/>
              </a:ext>
            </a:extLst>
          </p:cNvPr>
          <p:cNvSpPr>
            <a:spLocks xmlns:a="http://schemas.openxmlformats.org/drawingml/2006/main" noGrp="1"/>
          </p:cNvSpPr>
          <p:nvPr/>
        </p:nvSpPr>
        <p:spPr>
          <a:xfrm xmlns:a="http://schemas.openxmlformats.org/drawingml/2006/main">
            <a:off x="6477000" y="200025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Ghi từng lần uống, sửa nhật ký và theo dõi mục tiêu trong ngày.</a:t>
            </a:r>
          </a:p>
        </p:txBody>
      </p:sp>
      <p:sp>
        <p:nvSpPr>
          <p:cNvPr id="13" name="">
            <a:extLst xmlns:a="http://schemas.openxmlformats.org/drawingml/2006/main">
              <a:ext uri="{FF2B5EF4-FFF2-40B4-BE49-F238E27FC236}">
                <a16:creationId xmlns:a16="http://schemas.microsoft.com/office/drawing/2014/main" id="{6BF1F1FE-B2B5-4337-923C-C58770AB1CD0}"/>
              </a:ext>
            </a:extLst>
          </p:cNvPr>
          <p:cNvSpPr>
            <a:spLocks xmlns:a="http://schemas.openxmlformats.org/drawingml/2006/main" noGrp="1"/>
          </p:cNvSpPr>
          <p:nvPr/>
        </p:nvSpPr>
        <p:spPr>
          <a:xfrm xmlns:a="http://schemas.openxmlformats.org/drawingml/2006/main">
            <a:off x="6477000" y="3048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Tổng quan và thống kê</a:t>
            </a:r>
          </a:p>
        </p:txBody>
      </p:sp>
      <p:sp>
        <p:nvSpPr>
          <p:cNvPr id="14" name="">
            <a:extLst xmlns:a="http://schemas.openxmlformats.org/drawingml/2006/main">
              <a:ext uri="{FF2B5EF4-FFF2-40B4-BE49-F238E27FC236}">
                <a16:creationId xmlns:a16="http://schemas.microsoft.com/office/drawing/2014/main" id="{EE1044BA-D36E-4AC3-BEAC-10957374A36C}"/>
              </a:ext>
            </a:extLst>
          </p:cNvPr>
          <p:cNvSpPr>
            <a:spLocks xmlns:a="http://schemas.openxmlformats.org/drawingml/2006/main" noGrp="1"/>
          </p:cNvSpPr>
          <p:nvPr/>
        </p:nvSpPr>
        <p:spPr>
          <a:xfrm xmlns:a="http://schemas.openxmlformats.org/drawingml/2006/main">
            <a:off x="6477000" y="34766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Dữ liệu mới nhất, cữ kế tiếp, biểu đồ 7 hoặc 30 ngày.</a:t>
            </a:r>
          </a:p>
        </p:txBody>
      </p:sp>
      <p:sp>
        <p:nvSpPr>
          <p:cNvPr id="15" name="">
            <a:extLst xmlns:a="http://schemas.openxmlformats.org/drawingml/2006/main">
              <a:ext uri="{FF2B5EF4-FFF2-40B4-BE49-F238E27FC236}">
                <a16:creationId xmlns:a16="http://schemas.microsoft.com/office/drawing/2014/main" id="{14B599EA-393C-4BE6-852B-B9A54F2B34E8}"/>
              </a:ext>
            </a:extLst>
          </p:cNvPr>
          <p:cNvSpPr>
            <a:spLocks xmlns:a="http://schemas.openxmlformats.org/drawingml/2006/main" noGrp="1"/>
          </p:cNvSpPr>
          <p:nvPr/>
        </p:nvSpPr>
        <p:spPr>
          <a:xfrm xmlns:a="http://schemas.openxmlformats.org/drawingml/2006/main">
            <a:off x="6477000" y="45243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Điều kiện nhắc nhở</a:t>
            </a:r>
          </a:p>
        </p:txBody>
      </p:sp>
      <p:sp>
        <p:nvSpPr>
          <p:cNvPr id="16" name="">
            <a:extLst xmlns:a="http://schemas.openxmlformats.org/drawingml/2006/main">
              <a:ext uri="{FF2B5EF4-FFF2-40B4-BE49-F238E27FC236}">
                <a16:creationId xmlns:a16="http://schemas.microsoft.com/office/drawing/2014/main" id="{7C3CA9D4-3844-4607-9F69-797873DB1397}"/>
              </a:ext>
            </a:extLst>
          </p:cNvPr>
          <p:cNvSpPr>
            <a:spLocks xmlns:a="http://schemas.openxmlformats.org/drawingml/2006/main" noGrp="1"/>
          </p:cNvSpPr>
          <p:nvPr/>
        </p:nvSpPr>
        <p:spPr>
          <a:xfrm xmlns:a="http://schemas.openxmlformats.org/drawingml/2006/main">
            <a:off x="6477000" y="49530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Phụ thuộc quyền thông báo và báo thức Android. Ghi nhận dữ liệu vẫn hoạt động khi tắt thông báo.</a:t>
            </a:r>
          </a:p>
        </p:txBody>
      </p:sp>
    </p:spTree>
    <p:extLst>
      <p:ext uri="{BB962C8B-B14F-4D97-AF65-F5344CB8AC3E}">
        <p14:creationId xmlns:p14="http://schemas.microsoft.com/office/powerpoint/2010/main" val="1223528009"/>
      </p:ext>
    </p:extLst>
  </p:cSld>
</p:sld>
</file>

<file path=ppt/slides/slide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84242F-DB5C-403C-B5BF-8E95CCBDF3B9}"/>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1.2  SƠ ĐỒ CHỨC NĂNG</a:t>
            </a:r>
          </a:p>
        </p:txBody>
      </p:sp>
      <p:sp>
        <p:nvSpPr>
          <p:cNvPr id="2" name="">
            <a:extLst xmlns:a="http://schemas.openxmlformats.org/drawingml/2006/main">
              <a:ext uri="{FF2B5EF4-FFF2-40B4-BE49-F238E27FC236}">
                <a16:creationId xmlns:a16="http://schemas.microsoft.com/office/drawing/2014/main" id="{1AF842B6-0E81-47C4-96F9-1341AB23B1D9}"/>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Sơ đồ ca sử dụng tổng quát</a:t>
            </a:r>
          </a:p>
        </p:txBody>
      </p:sp>
      <p:sp>
        <p:nvSpPr>
          <p:cNvPr id="3" name="">
            <a:extLst xmlns:a="http://schemas.openxmlformats.org/drawingml/2006/main">
              <a:ext uri="{FF2B5EF4-FFF2-40B4-BE49-F238E27FC236}">
                <a16:creationId xmlns:a16="http://schemas.microsoft.com/office/drawing/2014/main" id="{1898265C-032F-4E11-B951-60B822E1E528}"/>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210E495A-9034-4388-813F-EA20C54A7B6E}"/>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42FD4A8D-87B5-47C3-A3F8-A0C8BE425F0D}"/>
              </a:ext>
            </a:extLst>
          </p:cNvPr>
          <p:cNvPicPr>
            <a:picLocks xmlns:a="http://schemas.openxmlformats.org/drawingml/2006/main" noChangeAspect="1"/>
          </p:cNvPicPr>
          <p:nvPr/>
        </p:nvPicPr>
        <p:blipFill>
          <a:blip xmlns:r="http://schemas.openxmlformats.org/officeDocument/2006/relationships" xmlns:a="http://schemas.openxmlformats.org/drawingml/2006/main" r:embed="Rb89410ce10de4123"/>
          <a:stretch xmlns:a="http://schemas.openxmlformats.org/drawingml/2006/main"/>
        </p:blipFill>
        <p:spPr>
          <a:xfrm xmlns:a="http://schemas.openxmlformats.org/drawingml/2006/main">
            <a:off x="1423988" y="1381125"/>
            <a:ext cx="4371975"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4624E64-EB62-443C-AA15-F4F1563B1EA1}"/>
              </a:ext>
            </a:extLst>
          </p:cNvPr>
          <p:cNvSpPr>
            <a:spLocks xmlns:a="http://schemas.openxmlformats.org/drawingml/2006/main" noGrp="1"/>
          </p:cNvSpPr>
          <p:nvPr/>
        </p:nvSpPr>
        <p:spPr>
          <a:xfrm xmlns:a="http://schemas.openxmlformats.org/drawingml/2006/main">
            <a:off x="7191375" y="16668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13 ca sử dụng</a:t>
            </a:r>
          </a:p>
        </p:txBody>
      </p:sp>
      <p:sp>
        <p:nvSpPr>
          <p:cNvPr id="7" name="">
            <a:extLst xmlns:a="http://schemas.openxmlformats.org/drawingml/2006/main">
              <a:ext uri="{FF2B5EF4-FFF2-40B4-BE49-F238E27FC236}">
                <a16:creationId xmlns:a16="http://schemas.microsoft.com/office/drawing/2014/main" id="{2939D6FE-F0F0-4F6B-A57D-AE21509A997E}"/>
              </a:ext>
            </a:extLst>
          </p:cNvPr>
          <p:cNvSpPr>
            <a:spLocks xmlns:a="http://schemas.openxmlformats.org/drawingml/2006/main" noGrp="1"/>
          </p:cNvSpPr>
          <p:nvPr/>
        </p:nvSpPr>
        <p:spPr>
          <a:xfrm xmlns:a="http://schemas.openxmlformats.org/drawingml/2006/main">
            <a:off x="7191375" y="2381250"/>
            <a:ext cx="4286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B66"/>
                </a:solidFill>
                <a:latin typeface="Arial"/>
                <a:ea typeface="Arial"/>
                <a:cs typeface="Arial"/>
              </a:defRPr>
            </a:defPPr>
            <a:lvl1pPr>
              <a:defRPr sz="2025" b="0">
                <a:solidFill>
                  <a:srgbClr val="526B66"/>
                </a:solidFill>
                <a:latin typeface="Arial"/>
                <a:ea typeface="Arial"/>
                <a:cs typeface="Arial"/>
              </a:defRPr>
            </a:lvl1pPr>
            <a:lvl2pPr>
              <a:defRPr sz="2025" b="0">
                <a:solidFill>
                  <a:srgbClr val="526B66"/>
                </a:solidFill>
                <a:latin typeface="Arial"/>
                <a:ea typeface="Arial"/>
                <a:cs typeface="Arial"/>
              </a:defRPr>
            </a:lvl2pPr>
            <a:lvl3pPr>
              <a:defRPr sz="2025" b="0">
                <a:solidFill>
                  <a:srgbClr val="526B66"/>
                </a:solidFill>
                <a:latin typeface="Arial"/>
                <a:ea typeface="Arial"/>
                <a:cs typeface="Arial"/>
              </a:defRPr>
            </a:lvl3pPr>
            <a:lvl4pPr>
              <a:defRPr sz="2025" b="0">
                <a:solidFill>
                  <a:srgbClr val="526B66"/>
                </a:solidFill>
                <a:latin typeface="Arial"/>
                <a:ea typeface="Arial"/>
                <a:cs typeface="Arial"/>
              </a:defRPr>
            </a:lvl4pPr>
            <a:lvl5pPr>
              <a:defRPr sz="2025" b="0">
                <a:solidFill>
                  <a:srgbClr val="526B66"/>
                </a:solidFill>
                <a:latin typeface="Arial"/>
                <a:ea typeface="Arial"/>
                <a:cs typeface="Arial"/>
              </a:defRPr>
            </a:lvl5pPr>
            <a:lvl6pPr>
              <a:defRPr sz="2025" b="0">
                <a:solidFill>
                  <a:srgbClr val="526B66"/>
                </a:solidFill>
                <a:latin typeface="Arial"/>
                <a:ea typeface="Arial"/>
                <a:cs typeface="Arial"/>
              </a:defRPr>
            </a:lvl6pPr>
            <a:lvl7pPr>
              <a:defRPr sz="2025" b="0">
                <a:solidFill>
                  <a:srgbClr val="526B66"/>
                </a:solidFill>
                <a:latin typeface="Arial"/>
                <a:ea typeface="Arial"/>
                <a:cs typeface="Arial"/>
              </a:defRPr>
            </a:lvl7pPr>
            <a:lvl8pPr>
              <a:defRPr sz="2025" b="0">
                <a:solidFill>
                  <a:srgbClr val="526B66"/>
                </a:solidFill>
                <a:latin typeface="Arial"/>
                <a:ea typeface="Arial"/>
                <a:cs typeface="Arial"/>
              </a:defRPr>
            </a:lvl8pPr>
            <a:lvl9pPr>
              <a:defRPr sz="2025" b="0">
                <a:solidFill>
                  <a:srgbClr val="526B66"/>
                </a:solidFill>
                <a:latin typeface="Arial"/>
                <a:ea typeface="Arial"/>
                <a:cs typeface="Arial"/>
              </a:defRPr>
            </a:lvl9pPr>
          </a:lstStyle>
          <a:p xmlns:a="http://schemas.openxmlformats.org/drawingml/2006/main">
            <a:pPr>
              <a:defRPr sz="2025" b="0">
                <a:solidFill>
                  <a:srgbClr val="526B66"/>
                </a:solidFill>
                <a:latin typeface="Arial"/>
                <a:ea typeface="Arial"/>
                <a:cs typeface="Arial"/>
              </a:defRPr>
            </a:pPr>
            <a:r>
              <a:rPr sz="2025" b="0">
                <a:solidFill>
                  <a:srgbClr val="526B66"/>
                </a:solidFill>
                <a:latin typeface="Arial"/>
                <a:ea typeface="Arial"/>
                <a:cs typeface="Arial"/>
              </a:rPr>
              <a:t>Người dùng là tác nhân nghiệp vụ chính. Android hỗ trợ báo thức và thông báo.</a:t>
            </a:r>
          </a:p>
        </p:txBody>
      </p:sp>
      <p:sp>
        <p:nvSpPr>
          <p:cNvPr id="8" name="">
            <a:extLst xmlns:a="http://schemas.openxmlformats.org/drawingml/2006/main">
              <a:ext uri="{FF2B5EF4-FFF2-40B4-BE49-F238E27FC236}">
                <a16:creationId xmlns:a16="http://schemas.microsoft.com/office/drawing/2014/main" id="{077D0F3B-EC55-4763-B650-DBF79780236E}"/>
              </a:ext>
            </a:extLst>
          </p:cNvPr>
          <p:cNvSpPr>
            <a:spLocks xmlns:a="http://schemas.openxmlformats.org/drawingml/2006/main" noGrp="1"/>
          </p:cNvSpPr>
          <p:nvPr/>
        </p:nvSpPr>
        <p:spPr>
          <a:xfrm xmlns:a="http://schemas.openxmlformats.org/drawingml/2006/main">
            <a:off x="7191375" y="4000500"/>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B66"/>
                </a:solidFill>
                <a:latin typeface="Arial"/>
                <a:ea typeface="Arial"/>
                <a:cs typeface="Arial"/>
              </a:defRPr>
            </a:defPPr>
            <a:lvl1pPr>
              <a:defRPr sz="2025" b="0">
                <a:solidFill>
                  <a:srgbClr val="526B66"/>
                </a:solidFill>
                <a:latin typeface="Arial"/>
                <a:ea typeface="Arial"/>
                <a:cs typeface="Arial"/>
              </a:defRPr>
            </a:lvl1pPr>
            <a:lvl2pPr>
              <a:defRPr sz="2025" b="0">
                <a:solidFill>
                  <a:srgbClr val="526B66"/>
                </a:solidFill>
                <a:latin typeface="Arial"/>
                <a:ea typeface="Arial"/>
                <a:cs typeface="Arial"/>
              </a:defRPr>
            </a:lvl2pPr>
            <a:lvl3pPr>
              <a:defRPr sz="2025" b="0">
                <a:solidFill>
                  <a:srgbClr val="526B66"/>
                </a:solidFill>
                <a:latin typeface="Arial"/>
                <a:ea typeface="Arial"/>
                <a:cs typeface="Arial"/>
              </a:defRPr>
            </a:lvl3pPr>
            <a:lvl4pPr>
              <a:defRPr sz="2025" b="0">
                <a:solidFill>
                  <a:srgbClr val="526B66"/>
                </a:solidFill>
                <a:latin typeface="Arial"/>
                <a:ea typeface="Arial"/>
                <a:cs typeface="Arial"/>
              </a:defRPr>
            </a:lvl4pPr>
            <a:lvl5pPr>
              <a:defRPr sz="2025" b="0">
                <a:solidFill>
                  <a:srgbClr val="526B66"/>
                </a:solidFill>
                <a:latin typeface="Arial"/>
                <a:ea typeface="Arial"/>
                <a:cs typeface="Arial"/>
              </a:defRPr>
            </a:lvl5pPr>
            <a:lvl6pPr>
              <a:defRPr sz="2025" b="0">
                <a:solidFill>
                  <a:srgbClr val="526B66"/>
                </a:solidFill>
                <a:latin typeface="Arial"/>
                <a:ea typeface="Arial"/>
                <a:cs typeface="Arial"/>
              </a:defRPr>
            </a:lvl6pPr>
            <a:lvl7pPr>
              <a:defRPr sz="2025" b="0">
                <a:solidFill>
                  <a:srgbClr val="526B66"/>
                </a:solidFill>
                <a:latin typeface="Arial"/>
                <a:ea typeface="Arial"/>
                <a:cs typeface="Arial"/>
              </a:defRPr>
            </a:lvl7pPr>
            <a:lvl8pPr>
              <a:defRPr sz="2025" b="0">
                <a:solidFill>
                  <a:srgbClr val="526B66"/>
                </a:solidFill>
                <a:latin typeface="Arial"/>
                <a:ea typeface="Arial"/>
                <a:cs typeface="Arial"/>
              </a:defRPr>
            </a:lvl8pPr>
            <a:lvl9pPr>
              <a:defRPr sz="2025" b="0">
                <a:solidFill>
                  <a:srgbClr val="526B66"/>
                </a:solidFill>
                <a:latin typeface="Arial"/>
                <a:ea typeface="Arial"/>
                <a:cs typeface="Arial"/>
              </a:defRPr>
            </a:lvl9pPr>
          </a:lstStyle>
          <a:p xmlns:a="http://schemas.openxmlformats.org/drawingml/2006/main">
            <a:pPr>
              <a:defRPr sz="2025" b="0">
                <a:solidFill>
                  <a:srgbClr val="526B66"/>
                </a:solidFill>
                <a:latin typeface="Arial"/>
                <a:ea typeface="Arial"/>
                <a:cs typeface="Arial"/>
              </a:defRPr>
            </a:pPr>
            <a:r>
              <a:rPr sz="2025" b="0">
                <a:solidFill>
                  <a:srgbClr val="526B66"/>
                </a:solidFill>
                <a:latin typeface="Arial"/>
                <a:ea typeface="Arial"/>
                <a:cs typeface="Arial"/>
              </a:rPr>
              <a:t>Các nghiệp vụ yêu cầu phiên đăng nhập hợp lệ, trừ đăng ký và đăng nhập.</a:t>
            </a:r>
          </a:p>
        </p:txBody>
      </p:sp>
      <p:sp>
        <p:nvSpPr>
          <p:cNvPr id="9" name="">
            <a:extLst xmlns:a="http://schemas.openxmlformats.org/drawingml/2006/main">
              <a:ext uri="{FF2B5EF4-FFF2-40B4-BE49-F238E27FC236}">
                <a16:creationId xmlns:a16="http://schemas.microsoft.com/office/drawing/2014/main" id="{10240A8E-E1C4-4962-B220-671884FA4784}"/>
              </a:ext>
            </a:extLst>
          </p:cNvPr>
          <p:cNvSpPr>
            <a:spLocks xmlns:a="http://schemas.openxmlformats.org/drawingml/2006/main" noGrp="1"/>
          </p:cNvSpPr>
          <p:nvPr/>
        </p:nvSpPr>
        <p:spPr>
          <a:xfrm xmlns:a="http://schemas.openxmlformats.org/drawingml/2006/main">
            <a:off x="7191375" y="5334000"/>
            <a:ext cx="428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Sơ đồ thể hiện riêng 13 ca sử dụng, tương ứng UC01–UC13 trong Bảng 1.1 của báo cáo.</a:t>
            </a:r>
          </a:p>
        </p:txBody>
      </p:sp>
    </p:spTree>
    <p:extLst>
      <p:ext uri="{BB962C8B-B14F-4D97-AF65-F5344CB8AC3E}">
        <p14:creationId xmlns:p14="http://schemas.microsoft.com/office/powerpoint/2010/main" val="951873702"/>
      </p:ext>
    </p:extLst>
  </p:cSld>
</p:sld>
</file>

<file path=ppt/slides/slide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A756300-B477-4EB5-AE55-D66503680E50}"/>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TỔNG QUAN MÀN HÌNH</a:t>
            </a:r>
          </a:p>
        </p:txBody>
      </p:sp>
      <p:sp>
        <p:nvSpPr>
          <p:cNvPr id="2" name="">
            <a:extLst xmlns:a="http://schemas.openxmlformats.org/drawingml/2006/main">
              <a:ext uri="{FF2B5EF4-FFF2-40B4-BE49-F238E27FC236}">
                <a16:creationId xmlns:a16="http://schemas.microsoft.com/office/drawing/2014/main" id="{41EEB61B-E714-437D-9F9B-EAC58D285EF1}"/>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Tổ chức giao diện ứng dụng</a:t>
            </a:r>
          </a:p>
        </p:txBody>
      </p:sp>
      <p:sp>
        <p:nvSpPr>
          <p:cNvPr id="3" name="">
            <a:extLst xmlns:a="http://schemas.openxmlformats.org/drawingml/2006/main">
              <a:ext uri="{FF2B5EF4-FFF2-40B4-BE49-F238E27FC236}">
                <a16:creationId xmlns:a16="http://schemas.microsoft.com/office/drawing/2014/main" id="{F8D6C1C2-6365-4DE9-8304-FBBBA231F103}"/>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F60929F9-C357-4E83-BF13-913F91BF483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9285846-B04A-4AAE-BDA9-DFF38C633CE6}"/>
              </a:ext>
            </a:extLst>
          </p:cNvPr>
          <p:cNvSpPr>
            <a:spLocks xmlns:a="http://schemas.openxmlformats.org/drawingml/2006/main" noGrp="1"/>
          </p:cNvSpPr>
          <p:nvPr/>
        </p:nvSpPr>
        <p:spPr>
          <a:xfrm xmlns:a="http://schemas.openxmlformats.org/drawingml/2006/main">
            <a:off x="514350" y="120015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10 Activity và 4 Fragment chính. MainActivity giữ các tab bằng cơ chế ẩn và hiện.</a:t>
            </a:r>
          </a:p>
        </p:txBody>
      </p:sp>
      <p:pic>
        <p:nvPicPr>
          <p:cNvPr id="6" name="">
            <a:extLst xmlns:a="http://schemas.openxmlformats.org/drawingml/2006/main">
              <a:ext uri="{FF2B5EF4-FFF2-40B4-BE49-F238E27FC236}">
                <a16:creationId xmlns:a16="http://schemas.microsoft.com/office/drawing/2014/main" id="{5F45E56C-3049-4BCC-AB5D-1C72A9B5C03F}"/>
              </a:ext>
            </a:extLst>
          </p:cNvPr>
          <p:cNvPicPr>
            <a:picLocks xmlns:a="http://schemas.openxmlformats.org/drawingml/2006/main" noChangeAspect="1"/>
          </p:cNvPicPr>
          <p:nvPr/>
        </p:nvPicPr>
        <p:blipFill>
          <a:blip xmlns:r="http://schemas.openxmlformats.org/officeDocument/2006/relationships" xmlns:a="http://schemas.openxmlformats.org/drawingml/2006/main" r:embed="R835713a674334558"/>
          <a:stretch xmlns:a="http://schemas.openxmlformats.org/drawingml/2006/main"/>
        </p:blipFill>
        <p:spPr>
          <a:xfrm xmlns:a="http://schemas.openxmlformats.org/drawingml/2006/main">
            <a:off x="963216" y="1762125"/>
            <a:ext cx="1907381"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37D28F0-E648-4BBB-8EE4-2C983547BDD1}"/>
              </a:ext>
            </a:extLst>
          </p:cNvPr>
          <p:cNvSpPr>
            <a:spLocks xmlns:a="http://schemas.openxmlformats.org/drawingml/2006/main" noGrp="1"/>
          </p:cNvSpPr>
          <p:nvPr/>
        </p:nvSpPr>
        <p:spPr>
          <a:xfrm xmlns:a="http://schemas.openxmlformats.org/drawingml/2006/main">
            <a:off x="533400"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8" name="">
            <a:extLst xmlns:a="http://schemas.openxmlformats.org/drawingml/2006/main">
              <a:ext uri="{FF2B5EF4-FFF2-40B4-BE49-F238E27FC236}">
                <a16:creationId xmlns:a16="http://schemas.microsoft.com/office/drawing/2014/main" id="{7E4E4DD6-1871-4E20-B3E8-7C791119989B}"/>
              </a:ext>
            </a:extLst>
          </p:cNvPr>
          <p:cNvPicPr>
            <a:picLocks xmlns:a="http://schemas.openxmlformats.org/drawingml/2006/main" noChangeAspect="1"/>
          </p:cNvPicPr>
          <p:nvPr/>
        </p:nvPicPr>
        <p:blipFill>
          <a:blip xmlns:r="http://schemas.openxmlformats.org/officeDocument/2006/relationships" xmlns:a="http://schemas.openxmlformats.org/drawingml/2006/main" r:embed="Raacd78ab1d304742"/>
          <a:stretch xmlns:a="http://schemas.openxmlformats.org/drawingml/2006/main"/>
        </p:blipFill>
        <p:spPr>
          <a:xfrm xmlns:a="http://schemas.openxmlformats.org/drawingml/2006/main">
            <a:off x="3749278" y="1762125"/>
            <a:ext cx="1907381" cy="4238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B0E5999-EFB1-476A-A473-25A4139A2190}"/>
              </a:ext>
            </a:extLst>
          </p:cNvPr>
          <p:cNvSpPr>
            <a:spLocks xmlns:a="http://schemas.openxmlformats.org/drawingml/2006/main" noGrp="1"/>
          </p:cNvSpPr>
          <p:nvPr/>
        </p:nvSpPr>
        <p:spPr>
          <a:xfrm xmlns:a="http://schemas.openxmlformats.org/drawingml/2006/main">
            <a:off x="3319463"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Sức khỏe</a:t>
            </a:r>
          </a:p>
        </p:txBody>
      </p:sp>
      <p:pic>
        <p:nvPicPr>
          <p:cNvPr id="10" name="">
            <a:extLst xmlns:a="http://schemas.openxmlformats.org/drawingml/2006/main">
              <a:ext uri="{FF2B5EF4-FFF2-40B4-BE49-F238E27FC236}">
                <a16:creationId xmlns:a16="http://schemas.microsoft.com/office/drawing/2014/main" id="{8647D1AA-C1D8-4418-9AC8-5291B2AC6402}"/>
              </a:ext>
            </a:extLst>
          </p:cNvPr>
          <p:cNvPicPr>
            <a:picLocks xmlns:a="http://schemas.openxmlformats.org/drawingml/2006/main" noChangeAspect="1"/>
          </p:cNvPicPr>
          <p:nvPr/>
        </p:nvPicPr>
        <p:blipFill>
          <a:blip xmlns:r="http://schemas.openxmlformats.org/officeDocument/2006/relationships" xmlns:a="http://schemas.openxmlformats.org/drawingml/2006/main" r:embed="R832a0c9b84674614"/>
          <a:stretch xmlns:a="http://schemas.openxmlformats.org/drawingml/2006/main"/>
        </p:blipFill>
        <p:spPr>
          <a:xfrm xmlns:a="http://schemas.openxmlformats.org/drawingml/2006/main">
            <a:off x="6535341" y="1762125"/>
            <a:ext cx="1907381" cy="4238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2D8B628-72BD-4EA4-B9AE-C192650B8338}"/>
              </a:ext>
            </a:extLst>
          </p:cNvPr>
          <p:cNvSpPr>
            <a:spLocks xmlns:a="http://schemas.openxmlformats.org/drawingml/2006/main" noGrp="1"/>
          </p:cNvSpPr>
          <p:nvPr/>
        </p:nvSpPr>
        <p:spPr>
          <a:xfrm xmlns:a="http://schemas.openxmlformats.org/drawingml/2006/main">
            <a:off x="6105525"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Nhắc nhở</a:t>
            </a:r>
          </a:p>
        </p:txBody>
      </p:sp>
      <p:pic>
        <p:nvPicPr>
          <p:cNvPr id="12" name="">
            <a:extLst xmlns:a="http://schemas.openxmlformats.org/drawingml/2006/main">
              <a:ext uri="{FF2B5EF4-FFF2-40B4-BE49-F238E27FC236}">
                <a16:creationId xmlns:a16="http://schemas.microsoft.com/office/drawing/2014/main" id="{33EBB1E4-9769-4F23-837D-11E0F3139456}"/>
              </a:ext>
            </a:extLst>
          </p:cNvPr>
          <p:cNvPicPr>
            <a:picLocks xmlns:a="http://schemas.openxmlformats.org/drawingml/2006/main" noChangeAspect="1"/>
          </p:cNvPicPr>
          <p:nvPr/>
        </p:nvPicPr>
        <p:blipFill>
          <a:blip xmlns:r="http://schemas.openxmlformats.org/officeDocument/2006/relationships" xmlns:a="http://schemas.openxmlformats.org/drawingml/2006/main" r:embed="R76cd0a3ecf2a44e1"/>
          <a:stretch xmlns:a="http://schemas.openxmlformats.org/drawingml/2006/main"/>
        </p:blipFill>
        <p:spPr>
          <a:xfrm xmlns:a="http://schemas.openxmlformats.org/drawingml/2006/main">
            <a:off x="9321403" y="1762125"/>
            <a:ext cx="1907381" cy="42386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8E12261-11DE-4622-93CE-2DA98FE1F8F6}"/>
              </a:ext>
            </a:extLst>
          </p:cNvPr>
          <p:cNvSpPr>
            <a:spLocks xmlns:a="http://schemas.openxmlformats.org/drawingml/2006/main" noGrp="1"/>
          </p:cNvSpPr>
          <p:nvPr/>
        </p:nvSpPr>
        <p:spPr>
          <a:xfrm xmlns:a="http://schemas.openxmlformats.org/drawingml/2006/main">
            <a:off x="8891588"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Thống kê</a:t>
            </a:r>
          </a:p>
        </p:txBody>
      </p:sp>
    </p:spTree>
    <p:extLst>
      <p:ext uri="{BB962C8B-B14F-4D97-AF65-F5344CB8AC3E}">
        <p14:creationId xmlns:p14="http://schemas.microsoft.com/office/powerpoint/2010/main" val="1245400180"/>
      </p:ext>
    </p:extLst>
  </p:cSld>
</p:sld>
</file>

<file path=ppt/slides/slide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4BC4EF4-3A2C-4BF7-8312-7AA0AC10EE49}"/>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ĐĂNG NHẬP VÀ ĐĂNG KÝ</a:t>
            </a:r>
          </a:p>
        </p:txBody>
      </p:sp>
      <p:sp>
        <p:nvSpPr>
          <p:cNvPr id="2" name="">
            <a:extLst xmlns:a="http://schemas.openxmlformats.org/drawingml/2006/main">
              <a:ext uri="{FF2B5EF4-FFF2-40B4-BE49-F238E27FC236}">
                <a16:creationId xmlns:a16="http://schemas.microsoft.com/office/drawing/2014/main" id="{C2F6AECE-57E1-4459-960F-595F08206289}"/>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Khởi động và xác thực tài khoản</a:t>
            </a:r>
          </a:p>
        </p:txBody>
      </p:sp>
      <p:sp>
        <p:nvSpPr>
          <p:cNvPr id="3" name="">
            <a:extLst xmlns:a="http://schemas.openxmlformats.org/drawingml/2006/main">
              <a:ext uri="{FF2B5EF4-FFF2-40B4-BE49-F238E27FC236}">
                <a16:creationId xmlns:a16="http://schemas.microsoft.com/office/drawing/2014/main" id="{C858D5FD-02A4-4620-AEB7-1E1C024281A9}"/>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84D3B13C-B255-49BF-9570-46CFAD15B319}"/>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4DDF708-AC9D-4A25-AE9A-D9FE92283891}"/>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SplashActivity</a:t>
            </a:r>
          </a:p>
        </p:txBody>
      </p:sp>
      <p:sp>
        <p:nvSpPr>
          <p:cNvPr id="6" name="">
            <a:extLst xmlns:a="http://schemas.openxmlformats.org/drawingml/2006/main">
              <a:ext uri="{FF2B5EF4-FFF2-40B4-BE49-F238E27FC236}">
                <a16:creationId xmlns:a16="http://schemas.microsoft.com/office/drawing/2014/main" id="{D202B446-7956-42A4-B1CA-0C7A361C3421}"/>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Kiểm tra phiên để mở LoginActivity hoặc MainActivity.</a:t>
            </a:r>
          </a:p>
        </p:txBody>
      </p:sp>
      <p:sp>
        <p:nvSpPr>
          <p:cNvPr id="7" name="">
            <a:extLst xmlns:a="http://schemas.openxmlformats.org/drawingml/2006/main">
              <a:ext uri="{FF2B5EF4-FFF2-40B4-BE49-F238E27FC236}">
                <a16:creationId xmlns:a16="http://schemas.microsoft.com/office/drawing/2014/main" id="{4579E657-4AF3-4107-89D6-58F20051C397}"/>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LoginActivity</a:t>
            </a:r>
          </a:p>
        </p:txBody>
      </p:sp>
      <p:sp>
        <p:nvSpPr>
          <p:cNvPr id="8" name="">
            <a:extLst xmlns:a="http://schemas.openxmlformats.org/drawingml/2006/main">
              <a:ext uri="{FF2B5EF4-FFF2-40B4-BE49-F238E27FC236}">
                <a16:creationId xmlns:a16="http://schemas.microsoft.com/office/drawing/2014/main" id="{B3D3D2FA-7280-4917-91E2-238C09675F62}"/>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Đăng nhập thành công dẫn đến màn hình chính. Có lối mở đăng ký.</a:t>
            </a:r>
          </a:p>
        </p:txBody>
      </p:sp>
      <p:sp>
        <p:nvSpPr>
          <p:cNvPr id="9" name="">
            <a:extLst xmlns:a="http://schemas.openxmlformats.org/drawingml/2006/main">
              <a:ext uri="{FF2B5EF4-FFF2-40B4-BE49-F238E27FC236}">
                <a16:creationId xmlns:a16="http://schemas.microsoft.com/office/drawing/2014/main" id="{5BC5F772-BC12-4CCB-A07E-143AED60AEFA}"/>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RegisterActivity</a:t>
            </a:r>
          </a:p>
        </p:txBody>
      </p:sp>
      <p:sp>
        <p:nvSpPr>
          <p:cNvPr id="10" name="">
            <a:extLst xmlns:a="http://schemas.openxmlformats.org/drawingml/2006/main">
              <a:ext uri="{FF2B5EF4-FFF2-40B4-BE49-F238E27FC236}">
                <a16:creationId xmlns:a16="http://schemas.microsoft.com/office/drawing/2014/main" id="{A44D19C3-5069-41BD-8F1C-658B0D36AFF8}"/>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Hai bước trong cùng một Activity: tài khoản và hồ sơ ban đầu.</a:t>
            </a:r>
          </a:p>
        </p:txBody>
      </p:sp>
      <p:pic>
        <p:nvPicPr>
          <p:cNvPr id="11" name="">
            <a:extLst xmlns:a="http://schemas.openxmlformats.org/drawingml/2006/main">
              <a:ext uri="{FF2B5EF4-FFF2-40B4-BE49-F238E27FC236}">
                <a16:creationId xmlns:a16="http://schemas.microsoft.com/office/drawing/2014/main" id="{42BF1744-5280-46A2-ABF4-CC613BAB994D}"/>
              </a:ext>
            </a:extLst>
          </p:cNvPr>
          <p:cNvPicPr>
            <a:picLocks xmlns:a="http://schemas.openxmlformats.org/drawingml/2006/main" noChangeAspect="1"/>
          </p:cNvPicPr>
          <p:nvPr/>
        </p:nvPicPr>
        <p:blipFill>
          <a:blip xmlns:r="http://schemas.openxmlformats.org/officeDocument/2006/relationships" xmlns:a="http://schemas.openxmlformats.org/drawingml/2006/main" r:embed="R9fc5f7d300694d02"/>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FF22A40-F865-44CA-980C-CE5B2995E11F}"/>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nhập</a:t>
            </a:r>
          </a:p>
        </p:txBody>
      </p:sp>
      <p:pic>
        <p:nvPicPr>
          <p:cNvPr id="13" name="">
            <a:extLst xmlns:a="http://schemas.openxmlformats.org/drawingml/2006/main">
              <a:ext uri="{FF2B5EF4-FFF2-40B4-BE49-F238E27FC236}">
                <a16:creationId xmlns:a16="http://schemas.microsoft.com/office/drawing/2014/main" id="{61A03DE2-FCDD-4CD1-9977-4ED7863F1F58}"/>
              </a:ext>
            </a:extLst>
          </p:cNvPr>
          <p:cNvPicPr>
            <a:picLocks xmlns:a="http://schemas.openxmlformats.org/drawingml/2006/main" noChangeAspect="1"/>
          </p:cNvPicPr>
          <p:nvPr/>
        </p:nvPicPr>
        <p:blipFill>
          <a:blip xmlns:r="http://schemas.openxmlformats.org/officeDocument/2006/relationships" xmlns:a="http://schemas.openxmlformats.org/drawingml/2006/main" r:embed="Rcb75c1a1ea9046fc"/>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F96579E-9E83-4092-A675-1C09D64AF644}"/>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ký: tài khoản</a:t>
            </a:r>
          </a:p>
        </p:txBody>
      </p:sp>
      <p:pic>
        <p:nvPicPr>
          <p:cNvPr id="15" name="">
            <a:extLst xmlns:a="http://schemas.openxmlformats.org/drawingml/2006/main">
              <a:ext uri="{FF2B5EF4-FFF2-40B4-BE49-F238E27FC236}">
                <a16:creationId xmlns:a16="http://schemas.microsoft.com/office/drawing/2014/main" id="{78BC5486-665C-46D2-B249-68A86973A91C}"/>
              </a:ext>
            </a:extLst>
          </p:cNvPr>
          <p:cNvPicPr>
            <a:picLocks xmlns:a="http://schemas.openxmlformats.org/drawingml/2006/main" noChangeAspect="1"/>
          </p:cNvPicPr>
          <p:nvPr/>
        </p:nvPicPr>
        <p:blipFill>
          <a:blip xmlns:r="http://schemas.openxmlformats.org/officeDocument/2006/relationships" xmlns:a="http://schemas.openxmlformats.org/drawingml/2006/main" r:embed="Rf90e5fcd891a4ac6"/>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00FF8A5-1563-4916-A721-7A6689556C10}"/>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ký: hồ sơ</a:t>
            </a:r>
          </a:p>
        </p:txBody>
      </p:sp>
    </p:spTree>
    <p:extLst>
      <p:ext uri="{BB962C8B-B14F-4D97-AF65-F5344CB8AC3E}">
        <p14:creationId xmlns:p14="http://schemas.microsoft.com/office/powerpoint/2010/main" val="2126494231"/>
      </p:ext>
    </p:extLst>
  </p:cSld>
</p:sld>
</file>

<file path=ppt/slides/slide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EB1E542-AC69-4D0B-8825-9C4055A0ACCD}"/>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CÁC ĐIỂM TRUY CẬP NHANH</a:t>
            </a:r>
          </a:p>
        </p:txBody>
      </p:sp>
      <p:sp>
        <p:nvSpPr>
          <p:cNvPr id="2" name="">
            <a:extLst xmlns:a="http://schemas.openxmlformats.org/drawingml/2006/main">
              <a:ext uri="{FF2B5EF4-FFF2-40B4-BE49-F238E27FC236}">
                <a16:creationId xmlns:a16="http://schemas.microsoft.com/office/drawing/2014/main" id="{D303B3FE-D617-42FC-97D9-3EB9FB3E982D}"/>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Trang chủ và quản lý hồ sơ</a:t>
            </a:r>
          </a:p>
        </p:txBody>
      </p:sp>
      <p:sp>
        <p:nvSpPr>
          <p:cNvPr id="3" name="">
            <a:extLst xmlns:a="http://schemas.openxmlformats.org/drawingml/2006/main">
              <a:ext uri="{FF2B5EF4-FFF2-40B4-BE49-F238E27FC236}">
                <a16:creationId xmlns:a16="http://schemas.microsoft.com/office/drawing/2014/main" id="{63F74681-F664-4F34-85B4-EA3313075109}"/>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C2043E86-A605-46D8-8D8F-7C3F551E9611}"/>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947ADCA3-910F-478B-838D-5083007C060D}"/>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HomeFragment</a:t>
            </a:r>
          </a:p>
        </p:txBody>
      </p:sp>
      <p:sp>
        <p:nvSpPr>
          <p:cNvPr id="6" name="">
            <a:extLst xmlns:a="http://schemas.openxmlformats.org/drawingml/2006/main">
              <a:ext uri="{FF2B5EF4-FFF2-40B4-BE49-F238E27FC236}">
                <a16:creationId xmlns:a16="http://schemas.microsoft.com/office/drawing/2014/main" id="{B2923734-0F3D-4720-A313-3998AEC357A9}"/>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Tổng hợp chỉ số gần nhất, cữ thuốc kế tiếp và tiến độ nước.</a:t>
            </a:r>
          </a:p>
        </p:txBody>
      </p:sp>
      <p:sp>
        <p:nvSpPr>
          <p:cNvPr id="7" name="">
            <a:extLst xmlns:a="http://schemas.openxmlformats.org/drawingml/2006/main">
              <a:ext uri="{FF2B5EF4-FFF2-40B4-BE49-F238E27FC236}">
                <a16:creationId xmlns:a16="http://schemas.microsoft.com/office/drawing/2014/main" id="{24500740-DAD2-419C-9E5A-14ABCE4A8CBF}"/>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ProfileActivity</a:t>
            </a:r>
          </a:p>
        </p:txBody>
      </p:sp>
      <p:sp>
        <p:nvSpPr>
          <p:cNvPr id="8" name="">
            <a:extLst xmlns:a="http://schemas.openxmlformats.org/drawingml/2006/main">
              <a:ext uri="{FF2B5EF4-FFF2-40B4-BE49-F238E27FC236}">
                <a16:creationId xmlns:a16="http://schemas.microsoft.com/office/drawing/2014/main" id="{55E4672B-16D7-4635-BD3F-34E3109D1634}"/>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Xem thông tin cá nhân, mở BMI và thiết lập nước.</a:t>
            </a:r>
          </a:p>
        </p:txBody>
      </p:sp>
      <p:sp>
        <p:nvSpPr>
          <p:cNvPr id="9" name="">
            <a:extLst xmlns:a="http://schemas.openxmlformats.org/drawingml/2006/main">
              <a:ext uri="{FF2B5EF4-FFF2-40B4-BE49-F238E27FC236}">
                <a16:creationId xmlns:a16="http://schemas.microsoft.com/office/drawing/2014/main" id="{4668B667-4CDA-443E-8DF7-B2CD059157C7}"/>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EditProfileActivity</a:t>
            </a:r>
          </a:p>
        </p:txBody>
      </p:sp>
      <p:sp>
        <p:nvSpPr>
          <p:cNvPr id="10" name="">
            <a:extLst xmlns:a="http://schemas.openxmlformats.org/drawingml/2006/main">
              <a:ext uri="{FF2B5EF4-FFF2-40B4-BE49-F238E27FC236}">
                <a16:creationId xmlns:a16="http://schemas.microsoft.com/office/drawing/2014/main" id="{B83098AD-42CC-468A-A2D6-2A7C45BA902A}"/>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Cập nhật hồ sơ. Các biểu mẫu cảnh báo khi rời đi mà chưa lưu.</a:t>
            </a:r>
          </a:p>
        </p:txBody>
      </p:sp>
      <p:pic>
        <p:nvPicPr>
          <p:cNvPr id="11" name="">
            <a:extLst xmlns:a="http://schemas.openxmlformats.org/drawingml/2006/main">
              <a:ext uri="{FF2B5EF4-FFF2-40B4-BE49-F238E27FC236}">
                <a16:creationId xmlns:a16="http://schemas.microsoft.com/office/drawing/2014/main" id="{40DEBD64-638C-4345-A924-AF13474E0FE9}"/>
              </a:ext>
            </a:extLst>
          </p:cNvPr>
          <p:cNvPicPr>
            <a:picLocks xmlns:a="http://schemas.openxmlformats.org/drawingml/2006/main" noChangeAspect="1"/>
          </p:cNvPicPr>
          <p:nvPr/>
        </p:nvPicPr>
        <p:blipFill>
          <a:blip xmlns:r="http://schemas.openxmlformats.org/officeDocument/2006/relationships" xmlns:a="http://schemas.openxmlformats.org/drawingml/2006/main" r:embed="Rd38be7b164c1487b"/>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9A2EE95-ED73-4A58-8F7C-7F922E392691}"/>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13" name="">
            <a:extLst xmlns:a="http://schemas.openxmlformats.org/drawingml/2006/main">
              <a:ext uri="{FF2B5EF4-FFF2-40B4-BE49-F238E27FC236}">
                <a16:creationId xmlns:a16="http://schemas.microsoft.com/office/drawing/2014/main" id="{A12FBD66-D8B5-4537-8A78-613462768EA9}"/>
              </a:ext>
            </a:extLst>
          </p:cNvPr>
          <p:cNvPicPr>
            <a:picLocks xmlns:a="http://schemas.openxmlformats.org/drawingml/2006/main" noChangeAspect="1"/>
          </p:cNvPicPr>
          <p:nvPr/>
        </p:nvPicPr>
        <p:blipFill>
          <a:blip xmlns:r="http://schemas.openxmlformats.org/officeDocument/2006/relationships" xmlns:a="http://schemas.openxmlformats.org/drawingml/2006/main" r:embed="R221acda4df3e42c0"/>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88C4FAE-125D-40CE-84AE-11F9CE51FFC2}"/>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Hồ sơ</a:t>
            </a:r>
          </a:p>
        </p:txBody>
      </p:sp>
      <p:pic>
        <p:nvPicPr>
          <p:cNvPr id="15" name="">
            <a:extLst xmlns:a="http://schemas.openxmlformats.org/drawingml/2006/main">
              <a:ext uri="{FF2B5EF4-FFF2-40B4-BE49-F238E27FC236}">
                <a16:creationId xmlns:a16="http://schemas.microsoft.com/office/drawing/2014/main" id="{B917DBAE-9D1B-41FB-9629-204C04523E73}"/>
              </a:ext>
            </a:extLst>
          </p:cNvPr>
          <p:cNvPicPr>
            <a:picLocks xmlns:a="http://schemas.openxmlformats.org/drawingml/2006/main" noChangeAspect="1"/>
          </p:cNvPicPr>
          <p:nvPr/>
        </p:nvPicPr>
        <p:blipFill>
          <a:blip xmlns:r="http://schemas.openxmlformats.org/officeDocument/2006/relationships" xmlns:a="http://schemas.openxmlformats.org/drawingml/2006/main" r:embed="R51981ca4fa874e5b"/>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A9644DA-ABAF-4228-84B4-F5CDF37848DE}"/>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Chỉnh sửa hồ sơ</a:t>
            </a:r>
          </a:p>
        </p:txBody>
      </p:sp>
    </p:spTree>
    <p:extLst>
      <p:ext uri="{BB962C8B-B14F-4D97-AF65-F5344CB8AC3E}">
        <p14:creationId xmlns:p14="http://schemas.microsoft.com/office/powerpoint/2010/main" val="814858759"/>
      </p:ext>
    </p:extLst>
  </p:cSld>
</p:sld>
</file>

<file path=ppt/slides/slide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6D09C68-C672-4C69-AD70-916A19457091}"/>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MÀN HÌNH SỨC KHỎE</a:t>
            </a:r>
          </a:p>
        </p:txBody>
      </p:sp>
      <p:sp>
        <p:nvSpPr>
          <p:cNvPr id="2" name="">
            <a:extLst xmlns:a="http://schemas.openxmlformats.org/drawingml/2006/main">
              <a:ext uri="{FF2B5EF4-FFF2-40B4-BE49-F238E27FC236}">
                <a16:creationId xmlns:a16="http://schemas.microsoft.com/office/drawing/2014/main" id="{2C175107-3C30-4FB9-8BA7-9C183A29B61A}"/>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Danh sách, nhập liệu và chi tiết lần đo</a:t>
            </a:r>
          </a:p>
        </p:txBody>
      </p:sp>
      <p:sp>
        <p:nvSpPr>
          <p:cNvPr id="3" name="">
            <a:extLst xmlns:a="http://schemas.openxmlformats.org/drawingml/2006/main">
              <a:ext uri="{FF2B5EF4-FFF2-40B4-BE49-F238E27FC236}">
                <a16:creationId xmlns:a16="http://schemas.microsoft.com/office/drawing/2014/main" id="{B61FFF08-7726-430F-915C-0CC9A91416FC}"/>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5BF5089A-7782-404B-9FAB-78889105475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EE581C36-C165-4E86-932A-E85BDB83AF86}"/>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HealthFragment</a:t>
            </a:r>
          </a:p>
        </p:txBody>
      </p:sp>
      <p:sp>
        <p:nvSpPr>
          <p:cNvPr id="6" name="">
            <a:extLst xmlns:a="http://schemas.openxmlformats.org/drawingml/2006/main">
              <a:ext uri="{FF2B5EF4-FFF2-40B4-BE49-F238E27FC236}">
                <a16:creationId xmlns:a16="http://schemas.microsoft.com/office/drawing/2014/main" id="{E4B71AFF-5C2C-4447-8865-C4075FC64132}"/>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Lọc lần đo theo khoảng ngày, chọn bản ghi để xem chi tiết.</a:t>
            </a:r>
          </a:p>
        </p:txBody>
      </p:sp>
      <p:sp>
        <p:nvSpPr>
          <p:cNvPr id="7" name="">
            <a:extLst xmlns:a="http://schemas.openxmlformats.org/drawingml/2006/main">
              <a:ext uri="{FF2B5EF4-FFF2-40B4-BE49-F238E27FC236}">
                <a16:creationId xmlns:a16="http://schemas.microsoft.com/office/drawing/2014/main" id="{4EFBEB67-B696-4003-BF5C-D741F5BD4BCA}"/>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AddHealthActivity</a:t>
            </a:r>
          </a:p>
        </p:txBody>
      </p:sp>
      <p:sp>
        <p:nvSpPr>
          <p:cNvPr id="8" name="">
            <a:extLst xmlns:a="http://schemas.openxmlformats.org/drawingml/2006/main">
              <a:ext uri="{FF2B5EF4-FFF2-40B4-BE49-F238E27FC236}">
                <a16:creationId xmlns:a16="http://schemas.microsoft.com/office/drawing/2014/main" id="{E60F5714-4AED-43E4-85BF-99113309992B}"/>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Dùng chung cho thêm mới và chỉnh sửa bản ghi sức khỏe.</a:t>
            </a:r>
          </a:p>
        </p:txBody>
      </p:sp>
      <p:sp>
        <p:nvSpPr>
          <p:cNvPr id="9" name="">
            <a:extLst xmlns:a="http://schemas.openxmlformats.org/drawingml/2006/main">
              <a:ext uri="{FF2B5EF4-FFF2-40B4-BE49-F238E27FC236}">
                <a16:creationId xmlns:a16="http://schemas.microsoft.com/office/drawing/2014/main" id="{69EB8D28-EABD-4498-887C-E9B3D2EF9CCC}"/>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DetailHealthActivity</a:t>
            </a:r>
          </a:p>
        </p:txBody>
      </p:sp>
      <p:sp>
        <p:nvSpPr>
          <p:cNvPr id="10" name="">
            <a:extLst xmlns:a="http://schemas.openxmlformats.org/drawingml/2006/main">
              <a:ext uri="{FF2B5EF4-FFF2-40B4-BE49-F238E27FC236}">
                <a16:creationId xmlns:a16="http://schemas.microsoft.com/office/drawing/2014/main" id="{8EAA8F54-2FA0-4194-AE5D-88B4B1AE1AA2}"/>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Xem ngày giờ, giá trị, đơn vị và đối chiếu với lần đo trước phù hợp.</a:t>
            </a:r>
          </a:p>
        </p:txBody>
      </p:sp>
      <p:pic>
        <p:nvPicPr>
          <p:cNvPr id="11" name="">
            <a:extLst xmlns:a="http://schemas.openxmlformats.org/drawingml/2006/main">
              <a:ext uri="{FF2B5EF4-FFF2-40B4-BE49-F238E27FC236}">
                <a16:creationId xmlns:a16="http://schemas.microsoft.com/office/drawing/2014/main" id="{EB554B9C-AE43-442F-92C4-AA8BB3B7F5C2}"/>
              </a:ext>
            </a:extLst>
          </p:cNvPr>
          <p:cNvPicPr>
            <a:picLocks xmlns:a="http://schemas.openxmlformats.org/drawingml/2006/main" noChangeAspect="1"/>
          </p:cNvPicPr>
          <p:nvPr/>
        </p:nvPicPr>
        <p:blipFill>
          <a:blip xmlns:r="http://schemas.openxmlformats.org/officeDocument/2006/relationships" xmlns:a="http://schemas.openxmlformats.org/drawingml/2006/main" r:embed="R74241ac7df7e44d0"/>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283A71A-1FB6-454B-9A76-8E6527010AA4}"/>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Danh sách lần đo</a:t>
            </a:r>
          </a:p>
        </p:txBody>
      </p:sp>
      <p:pic>
        <p:nvPicPr>
          <p:cNvPr id="13" name="">
            <a:extLst xmlns:a="http://schemas.openxmlformats.org/drawingml/2006/main">
              <a:ext uri="{FF2B5EF4-FFF2-40B4-BE49-F238E27FC236}">
                <a16:creationId xmlns:a16="http://schemas.microsoft.com/office/drawing/2014/main" id="{EC42438C-0E0B-42BB-8BB3-18C172A8463B}"/>
              </a:ext>
            </a:extLst>
          </p:cNvPr>
          <p:cNvPicPr>
            <a:picLocks xmlns:a="http://schemas.openxmlformats.org/drawingml/2006/main" noChangeAspect="1"/>
          </p:cNvPicPr>
          <p:nvPr/>
        </p:nvPicPr>
        <p:blipFill>
          <a:blip xmlns:r="http://schemas.openxmlformats.org/officeDocument/2006/relationships" xmlns:a="http://schemas.openxmlformats.org/drawingml/2006/main" r:embed="R07d39d8d7ba54bc9"/>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076FC728-6074-4CC9-AB36-35C864117A57}"/>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Ghi chỉ số</a:t>
            </a:r>
          </a:p>
        </p:txBody>
      </p:sp>
      <p:pic>
        <p:nvPicPr>
          <p:cNvPr id="15" name="">
            <a:extLst xmlns:a="http://schemas.openxmlformats.org/drawingml/2006/main">
              <a:ext uri="{FF2B5EF4-FFF2-40B4-BE49-F238E27FC236}">
                <a16:creationId xmlns:a16="http://schemas.microsoft.com/office/drawing/2014/main" id="{051E8C6E-EA3E-4B07-B284-472923539632}"/>
              </a:ext>
            </a:extLst>
          </p:cNvPr>
          <p:cNvPicPr>
            <a:picLocks xmlns:a="http://schemas.openxmlformats.org/drawingml/2006/main" noChangeAspect="1"/>
          </p:cNvPicPr>
          <p:nvPr/>
        </p:nvPicPr>
        <p:blipFill>
          <a:blip xmlns:r="http://schemas.openxmlformats.org/officeDocument/2006/relationships" xmlns:a="http://schemas.openxmlformats.org/drawingml/2006/main" r:embed="R1de262feda5f4ac3"/>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9393D13-7D39-4AE2-8EF5-66234710FE51}"/>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Chi tiết lần đo</a:t>
            </a:r>
          </a:p>
        </p:txBody>
      </p:sp>
    </p:spTree>
    <p:extLst>
      <p:ext uri="{BB962C8B-B14F-4D97-AF65-F5344CB8AC3E}">
        <p14:creationId xmlns:p14="http://schemas.microsoft.com/office/powerpoint/2010/main" val="1343362107"/>
      </p:ext>
    </p:extLst>
  </p:cSld>
</p:sld>
</file>

<file path=ppt/slides/slide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1061493-0991-46E7-9A11-26CA37F9DCC0}"/>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NHẮC NHỞ VÀ THUỐC</a:t>
            </a:r>
          </a:p>
        </p:txBody>
      </p:sp>
      <p:sp>
        <p:nvSpPr>
          <p:cNvPr id="2" name="">
            <a:extLst xmlns:a="http://schemas.openxmlformats.org/drawingml/2006/main">
              <a:ext uri="{FF2B5EF4-FFF2-40B4-BE49-F238E27FC236}">
                <a16:creationId xmlns:a16="http://schemas.microsoft.com/office/drawing/2014/main" id="{00058818-4A70-453C-A8A7-534674DD44F0}"/>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Các màn hình quản lý lịch thuốc</a:t>
            </a:r>
          </a:p>
        </p:txBody>
      </p:sp>
      <p:sp>
        <p:nvSpPr>
          <p:cNvPr id="3" name="">
            <a:extLst xmlns:a="http://schemas.openxmlformats.org/drawingml/2006/main">
              <a:ext uri="{FF2B5EF4-FFF2-40B4-BE49-F238E27FC236}">
                <a16:creationId xmlns:a16="http://schemas.microsoft.com/office/drawing/2014/main" id="{658C10AD-7247-41ED-82F4-436633D1475E}"/>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8DB3E477-997C-4577-BF84-A011DDABEF74}"/>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1AEFFB73-7585-4AA2-BD63-85ED762BDA05}"/>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ReminderFragment</a:t>
            </a:r>
          </a:p>
        </p:txBody>
      </p:sp>
      <p:sp>
        <p:nvSpPr>
          <p:cNvPr id="6" name="">
            <a:extLst xmlns:a="http://schemas.openxmlformats.org/drawingml/2006/main">
              <a:ext uri="{FF2B5EF4-FFF2-40B4-BE49-F238E27FC236}">
                <a16:creationId xmlns:a16="http://schemas.microsoft.com/office/drawing/2014/main" id="{674318EC-0EBB-4B60-BFEF-EF5B6302E9D8}"/>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Chuyển giữa cữ hôm nay và danh sách thuốc.</a:t>
            </a:r>
          </a:p>
        </p:txBody>
      </p:sp>
      <p:sp>
        <p:nvSpPr>
          <p:cNvPr id="7" name="">
            <a:extLst xmlns:a="http://schemas.openxmlformats.org/drawingml/2006/main">
              <a:ext uri="{FF2B5EF4-FFF2-40B4-BE49-F238E27FC236}">
                <a16:creationId xmlns:a16="http://schemas.microsoft.com/office/drawing/2014/main" id="{4B3CA9F2-7AF0-4B1D-92B5-08BEFBBE6B32}"/>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AddMedicineActivity</a:t>
            </a:r>
          </a:p>
        </p:txBody>
      </p:sp>
      <p:sp>
        <p:nvSpPr>
          <p:cNvPr id="8" name="">
            <a:extLst xmlns:a="http://schemas.openxmlformats.org/drawingml/2006/main">
              <a:ext uri="{FF2B5EF4-FFF2-40B4-BE49-F238E27FC236}">
                <a16:creationId xmlns:a16="http://schemas.microsoft.com/office/drawing/2014/main" id="{0AEFE49D-F615-429B-B96A-68621B37BE7F}"/>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Thêm hoặc sửa thuốc, giờ uống và ngày lặp trong tuần.</a:t>
            </a:r>
          </a:p>
        </p:txBody>
      </p:sp>
      <p:sp>
        <p:nvSpPr>
          <p:cNvPr id="9" name="">
            <a:extLst xmlns:a="http://schemas.openxmlformats.org/drawingml/2006/main">
              <a:ext uri="{FF2B5EF4-FFF2-40B4-BE49-F238E27FC236}">
                <a16:creationId xmlns:a16="http://schemas.microsoft.com/office/drawing/2014/main" id="{1BFE0BC9-FCC0-4B91-89D3-C828F4618AB5}"/>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MedicineDoseDialogs</a:t>
            </a:r>
          </a:p>
        </p:txBody>
      </p:sp>
      <p:sp>
        <p:nvSpPr>
          <p:cNvPr id="10" name="">
            <a:extLst xmlns:a="http://schemas.openxmlformats.org/drawingml/2006/main">
              <a:ext uri="{FF2B5EF4-FFF2-40B4-BE49-F238E27FC236}">
                <a16:creationId xmlns:a16="http://schemas.microsoft.com/office/drawing/2014/main" id="{D959AA77-C7DF-450B-8283-04C9D95E4939}"/>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xác nhận cữ, điều chỉnh kết quả, lịch sử và xác nhận xóa thuốc.</a:t>
            </a:r>
          </a:p>
        </p:txBody>
      </p:sp>
      <p:pic>
        <p:nvPicPr>
          <p:cNvPr id="11" name="">
            <a:extLst xmlns:a="http://schemas.openxmlformats.org/drawingml/2006/main">
              <a:ext uri="{FF2B5EF4-FFF2-40B4-BE49-F238E27FC236}">
                <a16:creationId xmlns:a16="http://schemas.microsoft.com/office/drawing/2014/main" id="{3BC4A016-480C-4781-ABDB-3AC6F8A91C2D}"/>
              </a:ext>
            </a:extLst>
          </p:cNvPr>
          <p:cNvPicPr>
            <a:picLocks xmlns:a="http://schemas.openxmlformats.org/drawingml/2006/main" noChangeAspect="1"/>
          </p:cNvPicPr>
          <p:nvPr/>
        </p:nvPicPr>
        <p:blipFill>
          <a:blip xmlns:r="http://schemas.openxmlformats.org/officeDocument/2006/relationships" xmlns:a="http://schemas.openxmlformats.org/drawingml/2006/main" r:embed="Ra30f5b81d35b4924"/>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29AE8D3-EAEF-4934-847B-88C6A557322B}"/>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Danh sách thuốc</a:t>
            </a:r>
          </a:p>
        </p:txBody>
      </p:sp>
      <p:pic>
        <p:nvPicPr>
          <p:cNvPr id="13" name="">
            <a:extLst xmlns:a="http://schemas.openxmlformats.org/drawingml/2006/main">
              <a:ext uri="{FF2B5EF4-FFF2-40B4-BE49-F238E27FC236}">
                <a16:creationId xmlns:a16="http://schemas.microsoft.com/office/drawing/2014/main" id="{B385004A-9B0E-4004-A725-E33EFA75AE5E}"/>
              </a:ext>
            </a:extLst>
          </p:cNvPr>
          <p:cNvPicPr>
            <a:picLocks xmlns:a="http://schemas.openxmlformats.org/drawingml/2006/main" noChangeAspect="1"/>
          </p:cNvPicPr>
          <p:nvPr/>
        </p:nvPicPr>
        <p:blipFill>
          <a:blip xmlns:r="http://schemas.openxmlformats.org/officeDocument/2006/relationships" xmlns:a="http://schemas.openxmlformats.org/drawingml/2006/main" r:embed="Rd5a2e26ad4054f73"/>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6210AA48-FF57-4287-B414-F8A115F2915D}"/>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Thiết lập lịch</a:t>
            </a:r>
          </a:p>
        </p:txBody>
      </p:sp>
      <p:pic>
        <p:nvPicPr>
          <p:cNvPr id="15" name="">
            <a:extLst xmlns:a="http://schemas.openxmlformats.org/drawingml/2006/main">
              <a:ext uri="{FF2B5EF4-FFF2-40B4-BE49-F238E27FC236}">
                <a16:creationId xmlns:a16="http://schemas.microsoft.com/office/drawing/2014/main" id="{1B2B4AFD-9A01-4DE5-B0A1-DD2D4E9953B5}"/>
              </a:ext>
            </a:extLst>
          </p:cNvPr>
          <p:cNvPicPr>
            <a:picLocks xmlns:a="http://schemas.openxmlformats.org/drawingml/2006/main" noChangeAspect="1"/>
          </p:cNvPicPr>
          <p:nvPr/>
        </p:nvPicPr>
        <p:blipFill>
          <a:blip xmlns:r="http://schemas.openxmlformats.org/officeDocument/2006/relationships" xmlns:a="http://schemas.openxmlformats.org/drawingml/2006/main" r:embed="Re3c0269da44a42f4"/>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A620D6B2-D162-4078-AB0A-C4C7744B5D79}"/>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Xác nhận cữ thuốc</a:t>
            </a:r>
          </a:p>
        </p:txBody>
      </p:sp>
    </p:spTree>
    <p:extLst>
      <p:ext uri="{BB962C8B-B14F-4D97-AF65-F5344CB8AC3E}">
        <p14:creationId xmlns:p14="http://schemas.microsoft.com/office/powerpoint/2010/main" val="537328000"/>
      </p:ext>
    </p:extLst>
  </p:cSld>
</p:sld>
</file>

<file path=ppt/slides/slide1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7D6F20F-8CF6-4671-9159-CB7616956A8C}"/>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GIAO DIỆN THEO DÕI NƯỚC</a:t>
            </a:r>
          </a:p>
        </p:txBody>
      </p:sp>
      <p:sp>
        <p:nvSpPr>
          <p:cNvPr id="2" name="">
            <a:extLst xmlns:a="http://schemas.openxmlformats.org/drawingml/2006/main">
              <a:ext uri="{FF2B5EF4-FFF2-40B4-BE49-F238E27FC236}">
                <a16:creationId xmlns:a16="http://schemas.microsoft.com/office/drawing/2014/main" id="{8C2291D2-A02B-4A7D-9236-D1421F0342D8}"/>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Nhật ký nước và các biểu mẫu bổ trợ</a:t>
            </a:r>
          </a:p>
        </p:txBody>
      </p:sp>
      <p:sp>
        <p:nvSpPr>
          <p:cNvPr id="3" name="">
            <a:extLst xmlns:a="http://schemas.openxmlformats.org/drawingml/2006/main">
              <a:ext uri="{FF2B5EF4-FFF2-40B4-BE49-F238E27FC236}">
                <a16:creationId xmlns:a16="http://schemas.microsoft.com/office/drawing/2014/main" id="{7E02CDAF-BC5E-454C-B313-1B7E077D970D}"/>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A83F395-6288-4331-85FD-4BAD1361B9E7}"/>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2AC9F75B-46EC-40BF-A9C6-86B2BC7AA199}"/>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Nhật ký từng lần uống</a:t>
            </a:r>
          </a:p>
        </p:txBody>
      </p:sp>
      <p:sp>
        <p:nvSpPr>
          <p:cNvPr id="6" name="">
            <a:extLst xmlns:a="http://schemas.openxmlformats.org/drawingml/2006/main">
              <a:ext uri="{FF2B5EF4-FFF2-40B4-BE49-F238E27FC236}">
                <a16:creationId xmlns:a16="http://schemas.microsoft.com/office/drawing/2014/main" id="{AF8BDCC2-D9D4-4315-9DC3-F4D58C9108F2}"/>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WaterJournalDialog là DialogFragment, không phải Activity riêng.</a:t>
            </a:r>
          </a:p>
        </p:txBody>
      </p:sp>
      <p:sp>
        <p:nvSpPr>
          <p:cNvPr id="7" name="">
            <a:extLst xmlns:a="http://schemas.openxmlformats.org/drawingml/2006/main">
              <a:ext uri="{FF2B5EF4-FFF2-40B4-BE49-F238E27FC236}">
                <a16:creationId xmlns:a16="http://schemas.microsoft.com/office/drawing/2014/main" id="{7333B1EC-3BD0-4BD7-8194-2A5F6DB71650}"/>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Các điểm truy cập</a:t>
            </a:r>
          </a:p>
        </p:txBody>
      </p:sp>
      <p:sp>
        <p:nvSpPr>
          <p:cNvPr id="8" name="">
            <a:extLst xmlns:a="http://schemas.openxmlformats.org/drawingml/2006/main">
              <a:ext uri="{FF2B5EF4-FFF2-40B4-BE49-F238E27FC236}">
                <a16:creationId xmlns:a16="http://schemas.microsoft.com/office/drawing/2014/main" id="{669C1627-1E28-4497-9D44-878300380745}"/>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từ Trang chủ, Nhắc nhở hoặc dữ liệu thống kê nước.</a:t>
            </a:r>
          </a:p>
        </p:txBody>
      </p:sp>
      <p:sp>
        <p:nvSpPr>
          <p:cNvPr id="9" name="">
            <a:extLst xmlns:a="http://schemas.openxmlformats.org/drawingml/2006/main">
              <a:ext uri="{FF2B5EF4-FFF2-40B4-BE49-F238E27FC236}">
                <a16:creationId xmlns:a16="http://schemas.microsoft.com/office/drawing/2014/main" id="{16234607-4FB0-456E-A0E6-2F6E97E3E786}"/>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Các thao tác</a:t>
            </a:r>
          </a:p>
        </p:txBody>
      </p:sp>
      <p:sp>
        <p:nvSpPr>
          <p:cNvPr id="10" name="">
            <a:extLst xmlns:a="http://schemas.openxmlformats.org/drawingml/2006/main">
              <a:ext uri="{FF2B5EF4-FFF2-40B4-BE49-F238E27FC236}">
                <a16:creationId xmlns:a16="http://schemas.microsoft.com/office/drawing/2014/main" id="{7EDA1548-9871-4326-8284-B20C68CA68FD}"/>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Thêm lượng nước, chỉnh sửa lần ghi nhận và thiết lập lịch nhắc trong hồ sơ.</a:t>
            </a:r>
          </a:p>
        </p:txBody>
      </p:sp>
      <p:pic>
        <p:nvPicPr>
          <p:cNvPr id="11" name="">
            <a:extLst xmlns:a="http://schemas.openxmlformats.org/drawingml/2006/main">
              <a:ext uri="{FF2B5EF4-FFF2-40B4-BE49-F238E27FC236}">
                <a16:creationId xmlns:a16="http://schemas.microsoft.com/office/drawing/2014/main" id="{942CFA4E-A016-4E2D-ACA5-28DB2914BD3A}"/>
              </a:ext>
            </a:extLst>
          </p:cNvPr>
          <p:cNvPicPr>
            <a:picLocks xmlns:a="http://schemas.openxmlformats.org/drawingml/2006/main" noChangeAspect="1"/>
          </p:cNvPicPr>
          <p:nvPr/>
        </p:nvPicPr>
        <p:blipFill>
          <a:blip xmlns:r="http://schemas.openxmlformats.org/officeDocument/2006/relationships" xmlns:a="http://schemas.openxmlformats.org/drawingml/2006/main" r:embed="Rd2f33d9f3297434a"/>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4E24947-4120-4243-89E6-28BC2BFB8FAC}"/>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Nhật ký nước</a:t>
            </a:r>
          </a:p>
        </p:txBody>
      </p:sp>
      <p:pic>
        <p:nvPicPr>
          <p:cNvPr id="13" name="">
            <a:extLst xmlns:a="http://schemas.openxmlformats.org/drawingml/2006/main">
              <a:ext uri="{FF2B5EF4-FFF2-40B4-BE49-F238E27FC236}">
                <a16:creationId xmlns:a16="http://schemas.microsoft.com/office/drawing/2014/main" id="{9C010417-96B7-4403-AC59-501C56D5B110}"/>
              </a:ext>
            </a:extLst>
          </p:cNvPr>
          <p:cNvPicPr>
            <a:picLocks xmlns:a="http://schemas.openxmlformats.org/drawingml/2006/main" noChangeAspect="1"/>
          </p:cNvPicPr>
          <p:nvPr/>
        </p:nvPicPr>
        <p:blipFill>
          <a:blip xmlns:r="http://schemas.openxmlformats.org/officeDocument/2006/relationships" xmlns:a="http://schemas.openxmlformats.org/drawingml/2006/main" r:embed="Ra44d4db1c7924689"/>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B871657-BA99-41E9-952F-9453830E7E93}"/>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Sửa lần uống</a:t>
            </a:r>
          </a:p>
        </p:txBody>
      </p:sp>
      <p:pic>
        <p:nvPicPr>
          <p:cNvPr id="15" name="">
            <a:extLst xmlns:a="http://schemas.openxmlformats.org/drawingml/2006/main">
              <a:ext uri="{FF2B5EF4-FFF2-40B4-BE49-F238E27FC236}">
                <a16:creationId xmlns:a16="http://schemas.microsoft.com/office/drawing/2014/main" id="{9F488C71-E33B-4BC7-AFAD-6C9AD2978553}"/>
              </a:ext>
            </a:extLst>
          </p:cNvPr>
          <p:cNvPicPr>
            <a:picLocks xmlns:a="http://schemas.openxmlformats.org/drawingml/2006/main" noChangeAspect="1"/>
          </p:cNvPicPr>
          <p:nvPr/>
        </p:nvPicPr>
        <p:blipFill>
          <a:blip xmlns:r="http://schemas.openxmlformats.org/officeDocument/2006/relationships" xmlns:a="http://schemas.openxmlformats.org/drawingml/2006/main" r:embed="Rf11c6d70dc0f407e"/>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4F0B5B8-4A55-40D8-951C-712E0A64626F}"/>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Cài đặt nước</a:t>
            </a:r>
          </a:p>
        </p:txBody>
      </p:sp>
    </p:spTree>
    <p:extLst>
      <p:ext uri="{BB962C8B-B14F-4D97-AF65-F5344CB8AC3E}">
        <p14:creationId xmlns:p14="http://schemas.microsoft.com/office/powerpoint/2010/main" val="1064440222"/>
      </p:ext>
    </p:extLst>
  </p:cSld>
</p:sld>
</file>

<file path=ppt/slides/slide1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85F4A35-1F04-4556-8F9B-E7042BB3D45D}"/>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STATSFRAGMENT</a:t>
            </a:r>
          </a:p>
        </p:txBody>
      </p:sp>
      <p:sp>
        <p:nvSpPr>
          <p:cNvPr id="2" name="">
            <a:extLst xmlns:a="http://schemas.openxmlformats.org/drawingml/2006/main">
              <a:ext uri="{FF2B5EF4-FFF2-40B4-BE49-F238E27FC236}">
                <a16:creationId xmlns:a16="http://schemas.microsoft.com/office/drawing/2014/main" id="{CE84CD95-894A-4D81-8F18-9D667905E2F0}"/>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Màn hình thống kê và trạng thái dữ liệu</a:t>
            </a:r>
          </a:p>
        </p:txBody>
      </p:sp>
      <p:sp>
        <p:nvSpPr>
          <p:cNvPr id="3" name="">
            <a:extLst xmlns:a="http://schemas.openxmlformats.org/drawingml/2006/main">
              <a:ext uri="{FF2B5EF4-FFF2-40B4-BE49-F238E27FC236}">
                <a16:creationId xmlns:a16="http://schemas.microsoft.com/office/drawing/2014/main" id="{5C093902-66FF-4465-B9AF-BB57845EDED6}"/>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3549BCB8-5B80-4CDD-AAE8-9D8946133BE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295C4269-B013-4416-BBD2-72A3F75E70B7}"/>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Chọn khoảng thời gian</a:t>
            </a:r>
          </a:p>
        </p:txBody>
      </p:sp>
      <p:sp>
        <p:nvSpPr>
          <p:cNvPr id="6" name="">
            <a:extLst xmlns:a="http://schemas.openxmlformats.org/drawingml/2006/main">
              <a:ext uri="{FF2B5EF4-FFF2-40B4-BE49-F238E27FC236}">
                <a16:creationId xmlns:a16="http://schemas.microsoft.com/office/drawing/2014/main" id="{228BBBAA-187D-43A2-96AE-F8F2A507773A}"/>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Theo dõi 7 hoặc 30 ngày, chọn chỉ số cần xem.</a:t>
            </a:r>
          </a:p>
        </p:txBody>
      </p:sp>
      <p:sp>
        <p:nvSpPr>
          <p:cNvPr id="7" name="">
            <a:extLst xmlns:a="http://schemas.openxmlformats.org/drawingml/2006/main">
              <a:ext uri="{FF2B5EF4-FFF2-40B4-BE49-F238E27FC236}">
                <a16:creationId xmlns:a16="http://schemas.microsoft.com/office/drawing/2014/main" id="{17AAABAB-2CE6-4AE4-A2F7-D46624AD7B75}"/>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Biểu đồ theo dữ liệu</a:t>
            </a:r>
          </a:p>
        </p:txBody>
      </p:sp>
      <p:sp>
        <p:nvSpPr>
          <p:cNvPr id="8" name="">
            <a:extLst xmlns:a="http://schemas.openxmlformats.org/drawingml/2006/main">
              <a:ext uri="{FF2B5EF4-FFF2-40B4-BE49-F238E27FC236}">
                <a16:creationId xmlns:a16="http://schemas.microsoft.com/office/drawing/2014/main" id="{B638CD92-67A6-4E81-8FDF-6F947172D532}"/>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Chỉ số đo dùng biểu đồ đường. Nước uống dùng biểu đồ cột theo ngày.</a:t>
            </a:r>
          </a:p>
        </p:txBody>
      </p:sp>
      <p:sp>
        <p:nvSpPr>
          <p:cNvPr id="9" name="">
            <a:extLst xmlns:a="http://schemas.openxmlformats.org/drawingml/2006/main">
              <a:ext uri="{FF2B5EF4-FFF2-40B4-BE49-F238E27FC236}">
                <a16:creationId xmlns:a16="http://schemas.microsoft.com/office/drawing/2014/main" id="{4809950E-9465-4CA4-A443-C35C279E4524}"/>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Bối cảnh và dữ liệu trống</a:t>
            </a:r>
          </a:p>
        </p:txBody>
      </p:sp>
      <p:sp>
        <p:nvSpPr>
          <p:cNvPr id="10" name="">
            <a:extLst xmlns:a="http://schemas.openxmlformats.org/drawingml/2006/main">
              <a:ext uri="{FF2B5EF4-FFF2-40B4-BE49-F238E27FC236}">
                <a16:creationId xmlns:a16="http://schemas.microsoft.com/office/drawing/2014/main" id="{8D9BCA73-3FCA-4C76-B200-80A2E2CE1C44}"/>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Đường huyết lọc theo bữa ăn. Khi chưa có dữ liệu, hiển thị trạng thái trống.</a:t>
            </a:r>
          </a:p>
        </p:txBody>
      </p:sp>
      <p:pic>
        <p:nvPicPr>
          <p:cNvPr id="11" name="">
            <a:extLst xmlns:a="http://schemas.openxmlformats.org/drawingml/2006/main">
              <a:ext uri="{FF2B5EF4-FFF2-40B4-BE49-F238E27FC236}">
                <a16:creationId xmlns:a16="http://schemas.microsoft.com/office/drawing/2014/main" id="{D1CA4828-7948-4510-8BF2-5D0F83540AE2}"/>
              </a:ext>
            </a:extLst>
          </p:cNvPr>
          <p:cNvPicPr>
            <a:picLocks xmlns:a="http://schemas.openxmlformats.org/drawingml/2006/main" noChangeAspect="1"/>
          </p:cNvPicPr>
          <p:nvPr/>
        </p:nvPicPr>
        <p:blipFill>
          <a:blip xmlns:r="http://schemas.openxmlformats.org/officeDocument/2006/relationships" xmlns:a="http://schemas.openxmlformats.org/drawingml/2006/main" r:embed="R0aa6bd59713444d1"/>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2FE8706-74EE-4DEF-BA26-65461D972980}"/>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Đường huyết</a:t>
            </a:r>
          </a:p>
        </p:txBody>
      </p:sp>
      <p:pic>
        <p:nvPicPr>
          <p:cNvPr id="13" name="">
            <a:extLst xmlns:a="http://schemas.openxmlformats.org/drawingml/2006/main">
              <a:ext uri="{FF2B5EF4-FFF2-40B4-BE49-F238E27FC236}">
                <a16:creationId xmlns:a16="http://schemas.microsoft.com/office/drawing/2014/main" id="{D23F1519-52F9-4F4A-95F2-2F090AC917A6}"/>
              </a:ext>
            </a:extLst>
          </p:cNvPr>
          <p:cNvPicPr>
            <a:picLocks xmlns:a="http://schemas.openxmlformats.org/drawingml/2006/main" noChangeAspect="1"/>
          </p:cNvPicPr>
          <p:nvPr/>
        </p:nvPicPr>
        <p:blipFill>
          <a:blip xmlns:r="http://schemas.openxmlformats.org/officeDocument/2006/relationships" xmlns:a="http://schemas.openxmlformats.org/drawingml/2006/main" r:embed="R74eb60cfb3694700"/>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7A1C2B1-21DE-4B6A-9690-028014A828AC}"/>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Nước uống</a:t>
            </a:r>
          </a:p>
        </p:txBody>
      </p:sp>
      <p:pic>
        <p:nvPicPr>
          <p:cNvPr id="15" name="">
            <a:extLst xmlns:a="http://schemas.openxmlformats.org/drawingml/2006/main">
              <a:ext uri="{FF2B5EF4-FFF2-40B4-BE49-F238E27FC236}">
                <a16:creationId xmlns:a16="http://schemas.microsoft.com/office/drawing/2014/main" id="{92B60BEA-320A-4A68-BCD3-D47F9DFB89F1}"/>
              </a:ext>
            </a:extLst>
          </p:cNvPr>
          <p:cNvPicPr>
            <a:picLocks xmlns:a="http://schemas.openxmlformats.org/drawingml/2006/main" noChangeAspect="1"/>
          </p:cNvPicPr>
          <p:nvPr/>
        </p:nvPicPr>
        <p:blipFill>
          <a:blip xmlns:r="http://schemas.openxmlformats.org/officeDocument/2006/relationships" xmlns:a="http://schemas.openxmlformats.org/drawingml/2006/main" r:embed="R3a1db5ccb06843cf"/>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A120435-0AB5-48B3-B924-1071799DE0D4}"/>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Chưa có dữ liệu</a:t>
            </a:r>
          </a:p>
        </p:txBody>
      </p:sp>
    </p:spTree>
    <p:extLst>
      <p:ext uri="{BB962C8B-B14F-4D97-AF65-F5344CB8AC3E}">
        <p14:creationId xmlns:p14="http://schemas.microsoft.com/office/powerpoint/2010/main" val="2114786497"/>
      </p:ext>
    </p:extLst>
  </p:cSld>
</p:sld>
</file>

<file path=ppt/slides/slide1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1A3B01-51BF-4A48-A902-2FE3A2BA4B5C}"/>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ĐIỀU HƯỚNG VÀ CHÚ GIẢI</a:t>
            </a:r>
          </a:p>
        </p:txBody>
      </p:sp>
      <p:sp>
        <p:nvSpPr>
          <p:cNvPr id="2" name="">
            <a:extLst xmlns:a="http://schemas.openxmlformats.org/drawingml/2006/main">
              <a:ext uri="{FF2B5EF4-FFF2-40B4-BE49-F238E27FC236}">
                <a16:creationId xmlns:a16="http://schemas.microsoft.com/office/drawing/2014/main" id="{08B3E63A-06C3-4A18-AC64-7DC60E095FF1}"/>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Sơ đồ liên kết các màn hình chính</a:t>
            </a:r>
          </a:p>
        </p:txBody>
      </p:sp>
      <p:sp>
        <p:nvSpPr>
          <p:cNvPr id="3" name="">
            <a:extLst xmlns:a="http://schemas.openxmlformats.org/drawingml/2006/main">
              <a:ext uri="{FF2B5EF4-FFF2-40B4-BE49-F238E27FC236}">
                <a16:creationId xmlns:a16="http://schemas.microsoft.com/office/drawing/2014/main" id="{D9D77B42-8FFB-4A87-A5B6-FFF5CB02E418}"/>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C4BFB555-B04B-4E14-8BDD-36F31C399AE3}"/>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12</a:t>
            </a:r>
          </a:p>
        </p:txBody>
      </p:sp>
      <p:pic>
        <p:nvPicPr>
          <p:cNvPr id="5" name="">
            <a:extLst xmlns:a="http://schemas.openxmlformats.org/drawingml/2006/main">
              <a:ext uri="{FF2B5EF4-FFF2-40B4-BE49-F238E27FC236}">
                <a16:creationId xmlns:a16="http://schemas.microsoft.com/office/drawing/2014/main" id="{8DE5394F-2EB0-4A3A-9175-62DCEDDBDF14}"/>
              </a:ext>
            </a:extLst>
          </p:cNvPr>
          <p:cNvPicPr>
            <a:picLocks xmlns:a="http://schemas.openxmlformats.org/drawingml/2006/main" noChangeAspect="1"/>
          </p:cNvPicPr>
          <p:nvPr/>
        </p:nvPicPr>
        <p:blipFill>
          <a:blip xmlns:r="http://schemas.openxmlformats.org/officeDocument/2006/relationships" xmlns:a="http://schemas.openxmlformats.org/drawingml/2006/main" r:embed="R01b30005eade4134"/>
          <a:stretch xmlns:a="http://schemas.openxmlformats.org/drawingml/2006/main"/>
        </p:blipFill>
        <p:spPr>
          <a:xfrm xmlns:a="http://schemas.openxmlformats.org/drawingml/2006/main">
            <a:off x="1382135" y="1333500"/>
            <a:ext cx="5265305" cy="5000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C5518AB-02A3-42C7-9D40-C9B845D0DBFB}"/>
              </a:ext>
            </a:extLst>
          </p:cNvPr>
          <p:cNvSpPr>
            <a:spLocks xmlns:a="http://schemas.openxmlformats.org/drawingml/2006/main" noGrp="1"/>
          </p:cNvSpPr>
          <p:nvPr/>
        </p:nvSpPr>
        <p:spPr>
          <a:xfrm xmlns:a="http://schemas.openxmlformats.org/drawingml/2006/main">
            <a:off x="7858125" y="142875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Cách đọc các nét</a:t>
            </a:r>
          </a:p>
        </p:txBody>
      </p:sp>
      <p:sp>
        <p:nvSpPr>
          <p:cNvPr id="7" name="">
            <a:extLst xmlns:a="http://schemas.openxmlformats.org/drawingml/2006/main">
              <a:ext uri="{FF2B5EF4-FFF2-40B4-BE49-F238E27FC236}">
                <a16:creationId xmlns:a16="http://schemas.microsoft.com/office/drawing/2014/main" id="{BA7E6D2F-3508-4AC2-9008-D6301F1BC6E4}"/>
              </a:ext>
            </a:extLst>
          </p:cNvPr>
          <p:cNvSpPr>
            <a:spLocks xmlns:a="http://schemas.openxmlformats.org/drawingml/2006/main" noGrp="1"/>
          </p:cNvSpPr>
          <p:nvPr/>
        </p:nvSpPr>
        <p:spPr>
          <a:xfrm xmlns:a="http://schemas.openxmlformats.org/drawingml/2006/main">
            <a:off x="7858125" y="20002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Nét liền, đầu mũi tên</a:t>
            </a:r>
          </a:p>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Chỉ hướng chuyển màn hình hoặc mở giao diện. Nhãn trên nét nêu thao tác hay điều kiện.</a:t>
            </a:r>
          </a:p>
        </p:txBody>
      </p:sp>
      <p:sp>
        <p:nvSpPr>
          <p:cNvPr id="8" name="">
            <a:extLst xmlns:a="http://schemas.openxmlformats.org/drawingml/2006/main">
              <a:ext uri="{FF2B5EF4-FFF2-40B4-BE49-F238E27FC236}">
                <a16:creationId xmlns:a16="http://schemas.microsoft.com/office/drawing/2014/main" id="{AE81CD99-8853-4D7A-B869-E742081C7E29}"/>
              </a:ext>
            </a:extLst>
          </p:cNvPr>
          <p:cNvSpPr>
            <a:spLocks xmlns:a="http://schemas.openxmlformats.org/drawingml/2006/main" noGrp="1"/>
          </p:cNvSpPr>
          <p:nvPr/>
        </p:nvSpPr>
        <p:spPr>
          <a:xfrm xmlns:a="http://schemas.openxmlformats.org/drawingml/2006/main">
            <a:off x="7858125" y="3381375"/>
            <a:ext cx="3810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Nét chấm</a:t>
            </a:r>
          </a:p>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Các lối mở ProfileActivity từ nút hồ sơ trên bốn tab.</a:t>
            </a:r>
          </a:p>
        </p:txBody>
      </p:sp>
      <p:sp>
        <p:nvSpPr>
          <p:cNvPr id="9" name="">
            <a:extLst xmlns:a="http://schemas.openxmlformats.org/drawingml/2006/main">
              <a:ext uri="{FF2B5EF4-FFF2-40B4-BE49-F238E27FC236}">
                <a16:creationId xmlns:a16="http://schemas.microsoft.com/office/drawing/2014/main" id="{29AD4FF6-2123-4453-BDB0-3A2816D86FF9}"/>
              </a:ext>
            </a:extLst>
          </p:cNvPr>
          <p:cNvSpPr>
            <a:spLocks xmlns:a="http://schemas.openxmlformats.org/drawingml/2006/main" noGrp="1"/>
          </p:cNvSpPr>
          <p:nvPr/>
        </p:nvSpPr>
        <p:spPr>
          <a:xfrm xmlns:a="http://schemas.openxmlformats.org/drawingml/2006/main">
            <a:off x="7858125" y="444817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Nét uốn vượt giao điểm</a:t>
            </a:r>
          </a:p>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Hai đường đi cắt nhau, không nối luồng tại điểm giao.</a:t>
            </a:r>
          </a:p>
        </p:txBody>
      </p:sp>
      <p:sp>
        <p:nvSpPr>
          <p:cNvPr id="10" name="">
            <a:extLst xmlns:a="http://schemas.openxmlformats.org/drawingml/2006/main">
              <a:ext uri="{FF2B5EF4-FFF2-40B4-BE49-F238E27FC236}">
                <a16:creationId xmlns:a16="http://schemas.microsoft.com/office/drawing/2014/main" id="{65BADB74-9430-4F79-B848-D1686362F82B}"/>
              </a:ext>
            </a:extLst>
          </p:cNvPr>
          <p:cNvSpPr>
            <a:spLocks xmlns:a="http://schemas.openxmlformats.org/drawingml/2006/main" noGrp="1"/>
          </p:cNvSpPr>
          <p:nvPr/>
        </p:nvSpPr>
        <p:spPr>
          <a:xfrm xmlns:a="http://schemas.openxmlformats.org/drawingml/2006/main">
            <a:off x="7858125" y="5619750"/>
            <a:ext cx="3810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87F72"/>
                </a:solidFill>
                <a:latin typeface="Arial"/>
                <a:ea typeface="Arial"/>
                <a:cs typeface="Arial"/>
              </a:defRPr>
            </a:defPPr>
            <a:lvl1pPr>
              <a:defRPr sz="1725" b="1">
                <a:solidFill>
                  <a:srgbClr val="087F72"/>
                </a:solidFill>
                <a:latin typeface="Arial"/>
                <a:ea typeface="Arial"/>
                <a:cs typeface="Arial"/>
              </a:defRPr>
            </a:lvl1pPr>
            <a:lvl2pPr>
              <a:defRPr sz="1725" b="1">
                <a:solidFill>
                  <a:srgbClr val="087F72"/>
                </a:solidFill>
                <a:latin typeface="Arial"/>
                <a:ea typeface="Arial"/>
                <a:cs typeface="Arial"/>
              </a:defRPr>
            </a:lvl2pPr>
            <a:lvl3pPr>
              <a:defRPr sz="1725" b="1">
                <a:solidFill>
                  <a:srgbClr val="087F72"/>
                </a:solidFill>
                <a:latin typeface="Arial"/>
                <a:ea typeface="Arial"/>
                <a:cs typeface="Arial"/>
              </a:defRPr>
            </a:lvl3pPr>
            <a:lvl4pPr>
              <a:defRPr sz="1725" b="1">
                <a:solidFill>
                  <a:srgbClr val="087F72"/>
                </a:solidFill>
                <a:latin typeface="Arial"/>
                <a:ea typeface="Arial"/>
                <a:cs typeface="Arial"/>
              </a:defRPr>
            </a:lvl4pPr>
            <a:lvl5pPr>
              <a:defRPr sz="1725" b="1">
                <a:solidFill>
                  <a:srgbClr val="087F72"/>
                </a:solidFill>
                <a:latin typeface="Arial"/>
                <a:ea typeface="Arial"/>
                <a:cs typeface="Arial"/>
              </a:defRPr>
            </a:lvl5pPr>
            <a:lvl6pPr>
              <a:defRPr sz="1725" b="1">
                <a:solidFill>
                  <a:srgbClr val="087F72"/>
                </a:solidFill>
                <a:latin typeface="Arial"/>
                <a:ea typeface="Arial"/>
                <a:cs typeface="Arial"/>
              </a:defRPr>
            </a:lvl6pPr>
            <a:lvl7pPr>
              <a:defRPr sz="1725" b="1">
                <a:solidFill>
                  <a:srgbClr val="087F72"/>
                </a:solidFill>
                <a:latin typeface="Arial"/>
                <a:ea typeface="Arial"/>
                <a:cs typeface="Arial"/>
              </a:defRPr>
            </a:lvl7pPr>
            <a:lvl8pPr>
              <a:defRPr sz="1725" b="1">
                <a:solidFill>
                  <a:srgbClr val="087F72"/>
                </a:solidFill>
                <a:latin typeface="Arial"/>
                <a:ea typeface="Arial"/>
                <a:cs typeface="Arial"/>
              </a:defRPr>
            </a:lvl8pPr>
            <a:lvl9pPr>
              <a:defRPr sz="1725" b="1">
                <a:solidFill>
                  <a:srgbClr val="087F72"/>
                </a:solidFill>
                <a:latin typeface="Arial"/>
                <a:ea typeface="Arial"/>
                <a:cs typeface="Arial"/>
              </a:defRPr>
            </a:lvl9pPr>
          </a:lstStyle>
          <a:p xmlns:a="http://schemas.openxmlformats.org/drawingml/2006/main">
            <a:pPr>
              <a:defRPr sz="1725" b="1">
                <a:solidFill>
                  <a:srgbClr val="087F72"/>
                </a:solidFill>
                <a:latin typeface="Arial"/>
                <a:ea typeface="Arial"/>
                <a:cs typeface="Arial"/>
              </a:defRPr>
            </a:pPr>
            <a:r>
              <a:rPr sz="1725" b="1">
                <a:solidFill>
                  <a:srgbClr val="087F72"/>
                </a:solidFill>
                <a:latin typeface="Arial"/>
                <a:ea typeface="Arial"/>
                <a:cs typeface="Arial"/>
              </a:rPr>
              <a:t>Bốn ô màu là bốn Fragment do MainActivity chứa và điều hướng.</a:t>
            </a:r>
          </a:p>
        </p:txBody>
      </p:sp>
    </p:spTree>
    <p:extLst>
      <p:ext uri="{BB962C8B-B14F-4D97-AF65-F5344CB8AC3E}">
        <p14:creationId xmlns:p14="http://schemas.microsoft.com/office/powerpoint/2010/main" val="1377496870"/>
      </p:ext>
    </p:extLst>
  </p:cSld>
</p:sld>
</file>

<file path=ppt/slides/slide1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27E922-0AA8-4EC0-A767-7EC1FB9CD6E9}"/>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SƠ ĐỒ QUAN HỆ VÀ CÁCH ĐỌC</a:t>
            </a:r>
          </a:p>
        </p:txBody>
      </p:sp>
      <p:sp>
        <p:nvSpPr>
          <p:cNvPr id="2" name="">
            <a:extLst xmlns:a="http://schemas.openxmlformats.org/drawingml/2006/main">
              <a:ext uri="{FF2B5EF4-FFF2-40B4-BE49-F238E27FC236}">
                <a16:creationId xmlns:a16="http://schemas.microsoft.com/office/drawing/2014/main" id="{D3A6CC97-22E0-45A2-8AF4-4F6DF94EB607}"/>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Quan hệ giữa năm bảng SQLite</a:t>
            </a:r>
          </a:p>
        </p:txBody>
      </p:sp>
      <p:sp>
        <p:nvSpPr>
          <p:cNvPr id="3" name="">
            <a:extLst xmlns:a="http://schemas.openxmlformats.org/drawingml/2006/main">
              <a:ext uri="{FF2B5EF4-FFF2-40B4-BE49-F238E27FC236}">
                <a16:creationId xmlns:a16="http://schemas.microsoft.com/office/drawing/2014/main" id="{BFAC6E0D-D524-4247-8F89-0625ACA6A288}"/>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E4488F30-DDA6-475B-9DD6-D83F83589BC9}"/>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13</a:t>
            </a:r>
          </a:p>
        </p:txBody>
      </p:sp>
      <p:pic>
        <p:nvPicPr>
          <p:cNvPr id="5" name="">
            <a:extLst xmlns:a="http://schemas.openxmlformats.org/drawingml/2006/main">
              <a:ext uri="{FF2B5EF4-FFF2-40B4-BE49-F238E27FC236}">
                <a16:creationId xmlns:a16="http://schemas.microsoft.com/office/drawing/2014/main" id="{A9E4B5F5-E62B-4451-A5CB-E0AE7D75BAC9}"/>
              </a:ext>
            </a:extLst>
          </p:cNvPr>
          <p:cNvPicPr>
            <a:picLocks xmlns:a="http://schemas.openxmlformats.org/drawingml/2006/main" noChangeAspect="1"/>
          </p:cNvPicPr>
          <p:nvPr/>
        </p:nvPicPr>
        <p:blipFill>
          <a:blip xmlns:r="http://schemas.openxmlformats.org/officeDocument/2006/relationships" xmlns:a="http://schemas.openxmlformats.org/drawingml/2006/main" r:embed="R2ffb17a09c304a85"/>
          <a:stretch xmlns:a="http://schemas.openxmlformats.org/drawingml/2006/main"/>
        </p:blipFill>
        <p:spPr>
          <a:xfrm xmlns:a="http://schemas.openxmlformats.org/drawingml/2006/main">
            <a:off x="1636112" y="1333500"/>
            <a:ext cx="4757351" cy="5000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18ACFC5-9849-49E8-B13F-A848A037B95B}"/>
              </a:ext>
            </a:extLst>
          </p:cNvPr>
          <p:cNvSpPr>
            <a:spLocks xmlns:a="http://schemas.openxmlformats.org/drawingml/2006/main" noGrp="1"/>
          </p:cNvSpPr>
          <p:nvPr/>
        </p:nvSpPr>
        <p:spPr>
          <a:xfrm xmlns:a="http://schemas.openxmlformats.org/drawingml/2006/main">
            <a:off x="7858125" y="14287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Ký hiệu quan hệ</a:t>
            </a:r>
          </a:p>
        </p:txBody>
      </p:sp>
      <p:sp>
        <p:nvSpPr>
          <p:cNvPr id="7" name="">
            <a:extLst xmlns:a="http://schemas.openxmlformats.org/drawingml/2006/main">
              <a:ext uri="{FF2B5EF4-FFF2-40B4-BE49-F238E27FC236}">
                <a16:creationId xmlns:a16="http://schemas.microsoft.com/office/drawing/2014/main" id="{0220469B-F8BF-4B28-A0E6-560EEA217D33}"/>
              </a:ext>
            </a:extLst>
          </p:cNvPr>
          <p:cNvSpPr>
            <a:spLocks xmlns:a="http://schemas.openxmlformats.org/drawingml/2006/main" noGrp="1"/>
          </p:cNvSpPr>
          <p:nvPr/>
        </p:nvSpPr>
        <p:spPr>
          <a:xfrm xmlns:a="http://schemas.openxmlformats.org/drawingml/2006/main">
            <a:off x="7858125" y="1952625"/>
            <a:ext cx="3810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Hai vạch: đúng một.</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Vòng tròn: có thể không có.</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Chân quạ: nhiều bản ghi.</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Kết hợp vòng tròn và chân quạ: từ 0 đến nhiều.</a:t>
            </a:r>
          </a:p>
        </p:txBody>
      </p:sp>
      <p:sp>
        <p:nvSpPr>
          <p:cNvPr id="8" name="">
            <a:extLst xmlns:a="http://schemas.openxmlformats.org/drawingml/2006/main">
              <a:ext uri="{FF2B5EF4-FFF2-40B4-BE49-F238E27FC236}">
                <a16:creationId xmlns:a16="http://schemas.microsoft.com/office/drawing/2014/main" id="{F65D72F0-EE9B-4671-9E39-C639112C833E}"/>
              </a:ext>
            </a:extLst>
          </p:cNvPr>
          <p:cNvSpPr>
            <a:spLocks xmlns:a="http://schemas.openxmlformats.org/drawingml/2006/main" noGrp="1"/>
          </p:cNvSpPr>
          <p:nvPr/>
        </p:nvSpPr>
        <p:spPr>
          <a:xfrm xmlns:a="http://schemas.openxmlformats.org/drawingml/2006/main">
            <a:off x="7858125" y="34766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Các quan hệ 1–n</a:t>
            </a:r>
          </a:p>
        </p:txBody>
      </p:sp>
      <p:sp>
        <p:nvSpPr>
          <p:cNvPr id="9" name="">
            <a:extLst xmlns:a="http://schemas.openxmlformats.org/drawingml/2006/main">
              <a:ext uri="{FF2B5EF4-FFF2-40B4-BE49-F238E27FC236}">
                <a16:creationId xmlns:a16="http://schemas.microsoft.com/office/drawing/2014/main" id="{6F32C19D-5FAA-475D-B3CC-A043BE93ED65}"/>
              </a:ext>
            </a:extLst>
          </p:cNvPr>
          <p:cNvSpPr>
            <a:spLocks xmlns:a="http://schemas.openxmlformats.org/drawingml/2006/main" noGrp="1"/>
          </p:cNvSpPr>
          <p:nvPr/>
        </p:nvSpPr>
        <p:spPr>
          <a:xfrm xmlns:a="http://schemas.openxmlformats.org/drawingml/2006/main">
            <a:off x="7858125" y="3943350"/>
            <a:ext cx="3810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Một users có 0..n health_records, medicines và water_logs.</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Một medicines có 0..n medicine_logs. Mỗi hàng con thuộc đúng một hàng cha.</a:t>
            </a:r>
          </a:p>
        </p:txBody>
      </p:sp>
      <p:sp>
        <p:nvSpPr>
          <p:cNvPr id="10" name="">
            <a:extLst xmlns:a="http://schemas.openxmlformats.org/drawingml/2006/main">
              <a:ext uri="{FF2B5EF4-FFF2-40B4-BE49-F238E27FC236}">
                <a16:creationId xmlns:a16="http://schemas.microsoft.com/office/drawing/2014/main" id="{4EF14EBD-2D63-4E06-9B15-C3F662C91366}"/>
              </a:ext>
            </a:extLst>
          </p:cNvPr>
          <p:cNvSpPr>
            <a:spLocks xmlns:a="http://schemas.openxmlformats.org/drawingml/2006/main" noGrp="1"/>
          </p:cNvSpPr>
          <p:nvPr/>
        </p:nvSpPr>
        <p:spPr>
          <a:xfrm xmlns:a="http://schemas.openxmlformats.org/drawingml/2006/main">
            <a:off x="7858125" y="5476875"/>
            <a:ext cx="3810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087F72"/>
                </a:solidFill>
                <a:latin typeface="Arial"/>
                <a:ea typeface="Arial"/>
                <a:cs typeface="Arial"/>
              </a:defRPr>
            </a:defPPr>
            <a:lvl1pPr>
              <a:defRPr sz="1650" b="0">
                <a:solidFill>
                  <a:srgbClr val="087F72"/>
                </a:solidFill>
                <a:latin typeface="Arial"/>
                <a:ea typeface="Arial"/>
                <a:cs typeface="Arial"/>
              </a:defRPr>
            </a:lvl1pPr>
            <a:lvl2pPr>
              <a:defRPr sz="1650" b="0">
                <a:solidFill>
                  <a:srgbClr val="087F72"/>
                </a:solidFill>
                <a:latin typeface="Arial"/>
                <a:ea typeface="Arial"/>
                <a:cs typeface="Arial"/>
              </a:defRPr>
            </a:lvl2pPr>
            <a:lvl3pPr>
              <a:defRPr sz="1650" b="0">
                <a:solidFill>
                  <a:srgbClr val="087F72"/>
                </a:solidFill>
                <a:latin typeface="Arial"/>
                <a:ea typeface="Arial"/>
                <a:cs typeface="Arial"/>
              </a:defRPr>
            </a:lvl3pPr>
            <a:lvl4pPr>
              <a:defRPr sz="1650" b="0">
                <a:solidFill>
                  <a:srgbClr val="087F72"/>
                </a:solidFill>
                <a:latin typeface="Arial"/>
                <a:ea typeface="Arial"/>
                <a:cs typeface="Arial"/>
              </a:defRPr>
            </a:lvl4pPr>
            <a:lvl5pPr>
              <a:defRPr sz="1650" b="0">
                <a:solidFill>
                  <a:srgbClr val="087F72"/>
                </a:solidFill>
                <a:latin typeface="Arial"/>
                <a:ea typeface="Arial"/>
                <a:cs typeface="Arial"/>
              </a:defRPr>
            </a:lvl5pPr>
            <a:lvl6pPr>
              <a:defRPr sz="1650" b="0">
                <a:solidFill>
                  <a:srgbClr val="087F72"/>
                </a:solidFill>
                <a:latin typeface="Arial"/>
                <a:ea typeface="Arial"/>
                <a:cs typeface="Arial"/>
              </a:defRPr>
            </a:lvl6pPr>
            <a:lvl7pPr>
              <a:defRPr sz="1650" b="0">
                <a:solidFill>
                  <a:srgbClr val="087F72"/>
                </a:solidFill>
                <a:latin typeface="Arial"/>
                <a:ea typeface="Arial"/>
                <a:cs typeface="Arial"/>
              </a:defRPr>
            </a:lvl7pPr>
            <a:lvl8pPr>
              <a:defRPr sz="1650" b="0">
                <a:solidFill>
                  <a:srgbClr val="087F72"/>
                </a:solidFill>
                <a:latin typeface="Arial"/>
                <a:ea typeface="Arial"/>
                <a:cs typeface="Arial"/>
              </a:defRPr>
            </a:lvl8pPr>
            <a:lvl9pPr>
              <a:defRPr sz="1650" b="0">
                <a:solidFill>
                  <a:srgbClr val="087F72"/>
                </a:solidFill>
                <a:latin typeface="Arial"/>
                <a:ea typeface="Arial"/>
                <a:cs typeface="Arial"/>
              </a:defRPr>
            </a:lvl9pPr>
          </a:lstStyle>
          <a:p xmlns:a="http://schemas.openxmlformats.org/drawingml/2006/main">
            <a:pPr>
              <a:defRPr sz="1650" b="0">
                <a:solidFill>
                  <a:srgbClr val="087F72"/>
                </a:solidFill>
                <a:latin typeface="Arial"/>
                <a:ea typeface="Arial"/>
                <a:cs typeface="Arial"/>
              </a:defRPr>
            </a:pPr>
            <a:r>
              <a:rPr sz="1650" b="0">
                <a:solidFill>
                  <a:srgbClr val="087F72"/>
                </a:solidFill>
                <a:latin typeface="Arial"/>
                <a:ea typeface="Arial"/>
                <a:cs typeface="Arial"/>
              </a:rPr>
              <a:t>PK: khóa chính. FK: khóa ngoại. UK: duy nhất. user_id và medicine_id liên kết các bảng với chủ sở hữu.</a:t>
            </a:r>
          </a:p>
        </p:txBody>
      </p:sp>
    </p:spTree>
    <p:extLst>
      <p:ext uri="{BB962C8B-B14F-4D97-AF65-F5344CB8AC3E}">
        <p14:creationId xmlns:p14="http://schemas.microsoft.com/office/powerpoint/2010/main" val="333862783"/>
      </p:ext>
    </p:extLst>
  </p:cSld>
</p:sld>
</file>

<file path=ppt/slides/slide1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71B64A-469E-4B36-A864-A136939C5675}"/>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BẢNG NGƯỜI DÙNG</a:t>
            </a:r>
          </a:p>
        </p:txBody>
      </p:sp>
      <p:sp>
        <p:nvSpPr>
          <p:cNvPr id="2" name="">
            <a:extLst xmlns:a="http://schemas.openxmlformats.org/drawingml/2006/main">
              <a:ext uri="{FF2B5EF4-FFF2-40B4-BE49-F238E27FC236}">
                <a16:creationId xmlns:a16="http://schemas.microsoft.com/office/drawing/2014/main" id="{602C7765-612F-4885-B9F7-91364930D5D5}"/>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users: tài khoản, hồ sơ và thiết lập</a:t>
            </a:r>
          </a:p>
        </p:txBody>
      </p:sp>
      <p:sp>
        <p:nvSpPr>
          <p:cNvPr id="3" name="">
            <a:extLst xmlns:a="http://schemas.openxmlformats.org/drawingml/2006/main">
              <a:ext uri="{FF2B5EF4-FFF2-40B4-BE49-F238E27FC236}">
                <a16:creationId xmlns:a16="http://schemas.microsoft.com/office/drawing/2014/main" id="{7F194BD8-201D-48AD-9654-2D5AC83CFB89}"/>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E9472D46-07BB-4290-9FC7-FD24B1EF1949}"/>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2B9718EF-51BC-4080-9773-02D66AEAE76E}"/>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username</a:t>
                      </a:r>
                    </a:p>
                  </a:txBody>
                  <a:tcPr marL="91440" marR="91440" marT="45720" marB="45720">
                    <a:solidFill>
                      <a:srgbClr val="FFFFFF"/>
                    </a:solidFill>
                  </a:tcPr>
                </a:tc>
                <a:tc>
                  <a:txBody>
                    <a:bodyPr/>
                    <a:lstStyle/>
                    <a:p>
                      <a:r>
                        <a:rPr sz="1650" b="0">
                          <a:solidFill>
                            <a:srgbClr val="164C47"/>
                          </a:solidFill>
                          <a:latin typeface="Arial"/>
                          <a:ea typeface="Arial"/>
                          <a:cs typeface="Arial"/>
                        </a:rPr>
                        <a:t>PK / UNIQUE, NOT NULL</a:t>
                      </a:r>
                    </a:p>
                  </a:txBody>
                  <a:tcPr marL="91440" marR="91440" marT="45720" marB="45720">
                    <a:solidFill>
                      <a:srgbClr val="FFFFFF"/>
                    </a:solidFill>
                  </a:tcPr>
                </a:tc>
                <a:tc>
                  <a:txBody>
                    <a:bodyPr/>
                    <a:lstStyle/>
                    <a:p>
                      <a:r>
                        <a:rPr sz="1650" b="0">
                          <a:solidFill>
                            <a:srgbClr val="164C47"/>
                          </a:solidFill>
                          <a:latin typeface="Arial"/>
                          <a:ea typeface="Arial"/>
                          <a:cs typeface="Arial"/>
                        </a:rPr>
                        <a:t>Mã tài khoản, tên đăng nhập duy nhất</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password_hash, salt</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Mật khẩu dẫn xuất PBKDF2 và salt</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fullname, birth_year, gender</a:t>
                      </a:r>
                    </a:p>
                  </a:txBody>
                  <a:tcPr marL="91440" marR="91440" marT="45720" marB="45720">
                    <a:solidFill>
                      <a:srgbClr val="FFFFFF"/>
                    </a:solidFill>
                  </a:tcPr>
                </a:tc>
                <a:tc>
                  <a:txBody>
                    <a:bodyPr/>
                    <a:lstStyle/>
                    <a:p>
                      <a:r>
                        <a:rPr sz="1650" b="0">
                          <a:solidFill>
                            <a:srgbClr val="164C47"/>
                          </a:solidFill>
                          <a:latin typeface="Arial"/>
                          <a:ea typeface="Arial"/>
                          <a:cs typeface="Arial"/>
                        </a:rPr>
                        <a:t>TEXT / INTEGER / TEXT</a:t>
                      </a:r>
                    </a:p>
                  </a:txBody>
                  <a:tcPr marL="91440" marR="91440" marT="45720" marB="45720">
                    <a:solidFill>
                      <a:srgbClr val="FFFFFF"/>
                    </a:solidFill>
                  </a:tcPr>
                </a:tc>
                <a:tc>
                  <a:txBody>
                    <a:bodyPr/>
                    <a:lstStyle/>
                    <a:p>
                      <a:r>
                        <a:rPr sz="1650" b="0">
                          <a:solidFill>
                            <a:srgbClr val="164C47"/>
                          </a:solidFill>
                          <a:latin typeface="Arial"/>
                          <a:ea typeface="Arial"/>
                          <a:cs typeface="Arial"/>
                        </a:rPr>
                        <a:t>Họ tên, năm sinh, giới tính</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height_cm, base_weight_kg</a:t>
                      </a:r>
                    </a:p>
                  </a:txBody>
                  <a:tcPr marL="91440" marR="91440" marT="45720" marB="45720">
                    <a:solidFill>
                      <a:srgbClr val="EAF3EE"/>
                    </a:solidFill>
                  </a:tcPr>
                </a:tc>
                <a:tc>
                  <a:txBody>
                    <a:bodyPr/>
                    <a:lstStyle/>
                    <a:p>
                      <a:r>
                        <a:rPr sz="1650" b="0">
                          <a:solidFill>
                            <a:srgbClr val="164C47"/>
                          </a:solidFill>
                          <a:latin typeface="Arial"/>
                          <a:ea typeface="Arial"/>
                          <a:cs typeface="Arial"/>
                        </a:rPr>
                        <a:t>REAL</a:t>
                      </a:r>
                    </a:p>
                  </a:txBody>
                  <a:tcPr marL="91440" marR="91440" marT="45720" marB="45720">
                    <a:solidFill>
                      <a:srgbClr val="EAF3EE"/>
                    </a:solidFill>
                  </a:tcPr>
                </a:tc>
                <a:tc>
                  <a:txBody>
                    <a:bodyPr/>
                    <a:lstStyle/>
                    <a:p>
                      <a:r>
                        <a:rPr sz="1650" b="0">
                          <a:solidFill>
                            <a:srgbClr val="164C47"/>
                          </a:solidFill>
                          <a:latin typeface="Arial"/>
                          <a:ea typeface="Arial"/>
                          <a:cs typeface="Arial"/>
                        </a:rPr>
                        <a:t>Chiều cao (cm), cân nặng cơ sở (kg)</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bmi_standard, water_goal_ml</a:t>
                      </a:r>
                    </a:p>
                  </a:txBody>
                  <a:tcPr marL="91440" marR="91440" marT="45720" marB="45720">
                    <a:solidFill>
                      <a:srgbClr val="FFFFFF"/>
                    </a:solidFill>
                  </a:tcPr>
                </a:tc>
                <a:tc>
                  <a:txBody>
                    <a:bodyPr/>
                    <a:lstStyle/>
                    <a:p>
                      <a:r>
                        <a:rPr sz="1650" b="0">
                          <a:solidFill>
                            <a:srgbClr val="164C47"/>
                          </a:solidFill>
                          <a:latin typeface="Arial"/>
                          <a:ea typeface="Arial"/>
                          <a:cs typeface="Arial"/>
                        </a:rPr>
                        <a:t>TEXT / INTEGER</a:t>
                      </a:r>
                    </a:p>
                  </a:txBody>
                  <a:tcPr marL="91440" marR="91440" marT="45720" marB="45720">
                    <a:solidFill>
                      <a:srgbClr val="FFFFFF"/>
                    </a:solidFill>
                  </a:tcPr>
                </a:tc>
                <a:tc>
                  <a:txBody>
                    <a:bodyPr/>
                    <a:lstStyle/>
                    <a:p>
                      <a:r>
                        <a:rPr sz="1650" b="0">
                          <a:solidFill>
                            <a:srgbClr val="164C47"/>
                          </a:solidFill>
                          <a:latin typeface="Arial"/>
                          <a:ea typeface="Arial"/>
                          <a:cs typeface="Arial"/>
                        </a:rPr>
                        <a:t>Bộ ngưỡng BMI, mục tiêu nước (ml)</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water_start, water_end,</a:t>
                      </a:r>
                    </a:p>
                    <a:p>
                      <a:r>
                        <a:rPr sz="1650" b="0">
                          <a:solidFill>
                            <a:srgbClr val="164C47"/>
                          </a:solidFill>
                          <a:latin typeface="Arial"/>
                          <a:ea typeface="Arial"/>
                          <a:cs typeface="Arial"/>
                        </a:rPr>
                        <a:t>water_amount, water_times</a:t>
                      </a:r>
                    </a:p>
                  </a:txBody>
                  <a:tcPr marL="91440" marR="91440" marT="45720" marB="45720">
                    <a:solidFill>
                      <a:srgbClr val="EAF3EE"/>
                    </a:solidFill>
                  </a:tcPr>
                </a:tc>
                <a:tc>
                  <a:txBody>
                    <a:bodyPr/>
                    <a:lstStyle/>
                    <a:p>
                      <a:r>
                        <a:rPr sz="1650" b="0">
                          <a:solidFill>
                            <a:srgbClr val="164C47"/>
                          </a:solidFill>
                          <a:latin typeface="Arial"/>
                          <a:ea typeface="Arial"/>
                          <a:cs typeface="Arial"/>
                        </a:rPr>
                        <a:t>TEXT / INTEGER</a:t>
                      </a:r>
                    </a:p>
                  </a:txBody>
                  <a:tcPr marL="91440" marR="91440" marT="45720" marB="45720">
                    <a:solidFill>
                      <a:srgbClr val="EAF3EE"/>
                    </a:solidFill>
                  </a:tcPr>
                </a:tc>
                <a:tc>
                  <a:txBody>
                    <a:bodyPr/>
                    <a:lstStyle/>
                    <a:p>
                      <a:r>
                        <a:rPr sz="1650" b="0">
                          <a:solidFill>
                            <a:srgbClr val="164C47"/>
                          </a:solidFill>
                          <a:latin typeface="Arial"/>
                          <a:ea typeface="Arial"/>
                          <a:cs typeface="Arial"/>
                        </a:rPr>
                        <a:t>Khung giờ, lượng thêm nhanh và giờ nhắc</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C5FD8142-9A7E-4C69-BF27-875A4CB958D2}"/>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Phiên lưu riêng trong SharedPreferences. PBKDF2 không mã hóa toàn bộ tệp SQLite.</a:t>
            </a:r>
          </a:p>
        </p:txBody>
      </p:sp>
    </p:spTree>
    <p:extLst>
      <p:ext uri="{BB962C8B-B14F-4D97-AF65-F5344CB8AC3E}">
        <p14:creationId xmlns:p14="http://schemas.microsoft.com/office/powerpoint/2010/main" val="995044084"/>
      </p:ext>
    </p:extLst>
  </p:cSld>
</p:sld>
</file>

<file path=ppt/slides/slide1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07F6D1-29EE-4827-BC6A-4133EB816AFA}"/>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BẢNG SỨC KHỎE</a:t>
            </a:r>
          </a:p>
        </p:txBody>
      </p:sp>
      <p:sp>
        <p:nvSpPr>
          <p:cNvPr id="2" name="">
            <a:extLst xmlns:a="http://schemas.openxmlformats.org/drawingml/2006/main">
              <a:ext uri="{FF2B5EF4-FFF2-40B4-BE49-F238E27FC236}">
                <a16:creationId xmlns:a16="http://schemas.microsoft.com/office/drawing/2014/main" id="{18B1913C-0D1C-48ED-BA7E-33DAAF591DF6}"/>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health_records: dữ liệu mỗi lần đo</a:t>
            </a:r>
          </a:p>
        </p:txBody>
      </p:sp>
      <p:sp>
        <p:nvSpPr>
          <p:cNvPr id="3" name="">
            <a:extLst xmlns:a="http://schemas.openxmlformats.org/drawingml/2006/main">
              <a:ext uri="{FF2B5EF4-FFF2-40B4-BE49-F238E27FC236}">
                <a16:creationId xmlns:a16="http://schemas.microsoft.com/office/drawing/2014/main" id="{D3E734F9-7EFE-4B56-87B8-D2B03E9BD81C}"/>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92712B3-29E7-490F-A206-7BFA3229234A}"/>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169BDBE6-C0C1-4967-9934-F993CD9C1973}"/>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user_id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Bản ghi và chủ sở hữu</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date, measured_time</a:t>
                      </a:r>
                    </a:p>
                  </a:txBody>
                  <a:tcPr marL="91440" marR="91440" marT="45720" marB="45720">
                    <a:solidFill>
                      <a:srgbClr val="EAF3EE"/>
                    </a:solidFill>
                  </a:tcPr>
                </a:tc>
                <a:tc>
                  <a:txBody>
                    <a:bodyPr/>
                    <a:lstStyle/>
                    <a:p>
                      <a:r>
                        <a:rPr sz="1650" b="0">
                          <a:solidFill>
                            <a:srgbClr val="164C47"/>
                          </a:solidFill>
                          <a:latin typeface="Arial"/>
                          <a:ea typeface="Arial"/>
                          <a:cs typeface="Arial"/>
                        </a:rPr>
                        <a:t>TEXT</a:t>
                      </a:r>
                    </a:p>
                  </a:txBody>
                  <a:tcPr marL="91440" marR="91440" marT="45720" marB="45720">
                    <a:solidFill>
                      <a:srgbClr val="EAF3EE"/>
                    </a:solidFill>
                  </a:tcPr>
                </a:tc>
                <a:tc>
                  <a:txBody>
                    <a:bodyPr/>
                    <a:lstStyle/>
                    <a:p>
                      <a:r>
                        <a:rPr sz="1650" b="0">
                          <a:solidFill>
                            <a:srgbClr val="164C47"/>
                          </a:solidFill>
                          <a:latin typeface="Arial"/>
                          <a:ea typeface="Arial"/>
                          <a:cs typeface="Arial"/>
                        </a:rPr>
                        <a:t>Ngày yyyy-MM-dd, giờ HH:mm</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meal_context, note</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Bối cảnh đường huyết và ghi chú</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weight_kg, blood_sugar</a:t>
                      </a:r>
                    </a:p>
                  </a:txBody>
                  <a:tcPr marL="91440" marR="91440" marT="45720" marB="45720">
                    <a:solidFill>
                      <a:srgbClr val="EAF3EE"/>
                    </a:solidFill>
                  </a:tcPr>
                </a:tc>
                <a:tc>
                  <a:txBody>
                    <a:bodyPr/>
                    <a:lstStyle/>
                    <a:p>
                      <a:r>
                        <a:rPr sz="1650" b="0">
                          <a:solidFill>
                            <a:srgbClr val="164C47"/>
                          </a:solidFill>
                          <a:latin typeface="Arial"/>
                          <a:ea typeface="Arial"/>
                          <a:cs typeface="Arial"/>
                        </a:rPr>
                        <a:t>REAL, cho phép NULL</a:t>
                      </a:r>
                    </a:p>
                  </a:txBody>
                  <a:tcPr marL="91440" marR="91440" marT="45720" marB="45720">
                    <a:solidFill>
                      <a:srgbClr val="EAF3EE"/>
                    </a:solidFill>
                  </a:tcPr>
                </a:tc>
                <a:tc>
                  <a:txBody>
                    <a:bodyPr/>
                    <a:lstStyle/>
                    <a:p>
                      <a:r>
                        <a:rPr sz="1650" b="0">
                          <a:solidFill>
                            <a:srgbClr val="164C47"/>
                          </a:solidFill>
                          <a:latin typeface="Arial"/>
                          <a:ea typeface="Arial"/>
                          <a:cs typeface="Arial"/>
                        </a:rPr>
                        <a:t>Cân nặng (kg), đường huyết (mg/dL)</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systolic, diastolic</a:t>
                      </a:r>
                    </a:p>
                  </a:txBody>
                  <a:tcPr marL="91440" marR="91440" marT="45720" marB="45720">
                    <a:solidFill>
                      <a:srgbClr val="FFFFFF"/>
                    </a:solidFill>
                  </a:tcPr>
                </a:tc>
                <a:tc>
                  <a:txBody>
                    <a:bodyPr/>
                    <a:lstStyle/>
                    <a:p>
                      <a:r>
                        <a:rPr sz="1650" b="0">
                          <a:solidFill>
                            <a:srgbClr val="164C47"/>
                          </a:solidFill>
                          <a:latin typeface="Arial"/>
                          <a:ea typeface="Arial"/>
                          <a:cs typeface="Arial"/>
                        </a:rPr>
                        <a:t>INTEGER, cho phép NULL</a:t>
                      </a:r>
                    </a:p>
                  </a:txBody>
                  <a:tcPr marL="91440" marR="91440" marT="45720" marB="45720">
                    <a:solidFill>
                      <a:srgbClr val="FFFFFF"/>
                    </a:solidFill>
                  </a:tcPr>
                </a:tc>
                <a:tc>
                  <a:txBody>
                    <a:bodyPr/>
                    <a:lstStyle/>
                    <a:p>
                      <a:r>
                        <a:rPr sz="1650" b="0">
                          <a:solidFill>
                            <a:srgbClr val="164C47"/>
                          </a:solidFill>
                          <a:latin typeface="Arial"/>
                          <a:ea typeface="Arial"/>
                          <a:cs typeface="Arial"/>
                        </a:rPr>
                        <a:t>Huyết áp tâm thu / tâm trương (mmHg)</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heart_rate</a:t>
                      </a:r>
                    </a:p>
                  </a:txBody>
                  <a:tcPr marL="91440" marR="91440" marT="45720" marB="45720">
                    <a:solidFill>
                      <a:srgbClr val="EAF3EE"/>
                    </a:solidFill>
                  </a:tcPr>
                </a:tc>
                <a:tc>
                  <a:txBody>
                    <a:bodyPr/>
                    <a:lstStyle/>
                    <a:p>
                      <a:r>
                        <a:rPr sz="1650" b="0">
                          <a:solidFill>
                            <a:srgbClr val="164C47"/>
                          </a:solidFill>
                          <a:latin typeface="Arial"/>
                          <a:ea typeface="Arial"/>
                          <a:cs typeface="Arial"/>
                        </a:rPr>
                        <a:t>INTEGER, cho phép NULL</a:t>
                      </a:r>
                    </a:p>
                  </a:txBody>
                  <a:tcPr marL="91440" marR="91440" marT="45720" marB="45720">
                    <a:solidFill>
                      <a:srgbClr val="EAF3EE"/>
                    </a:solidFill>
                  </a:tcPr>
                </a:tc>
                <a:tc>
                  <a:txBody>
                    <a:bodyPr/>
                    <a:lstStyle/>
                    <a:p>
                      <a:r>
                        <a:rPr sz="1650" b="0">
                          <a:solidFill>
                            <a:srgbClr val="164C47"/>
                          </a:solidFill>
                          <a:latin typeface="Arial"/>
                          <a:ea typeface="Arial"/>
                          <a:cs typeface="Arial"/>
                        </a:rPr>
                        <a:t>Nhịp tim (nhịp/phút)</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AF14C731-2EB3-4058-B62D-E9FF3FBA4F99}"/>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Một ngày có nhiều lần đo. Chỉ số chưa nhập dùng NULL. Biểu mẫu yêu cầu huyết áp đủ cặp.</a:t>
            </a:r>
          </a:p>
        </p:txBody>
      </p:sp>
    </p:spTree>
    <p:extLst>
      <p:ext uri="{BB962C8B-B14F-4D97-AF65-F5344CB8AC3E}">
        <p14:creationId xmlns:p14="http://schemas.microsoft.com/office/powerpoint/2010/main" val="448819300"/>
      </p:ext>
    </p:extLst>
  </p:cSld>
</p:sld>
</file>

<file path=ppt/slides/slide1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053D18-2815-4F8A-BB84-4F60E341F11E}"/>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MEDICINES</a:t>
            </a:r>
          </a:p>
        </p:txBody>
      </p:sp>
      <p:sp>
        <p:nvSpPr>
          <p:cNvPr id="2" name="">
            <a:extLst xmlns:a="http://schemas.openxmlformats.org/drawingml/2006/main">
              <a:ext uri="{FF2B5EF4-FFF2-40B4-BE49-F238E27FC236}">
                <a16:creationId xmlns:a16="http://schemas.microsoft.com/office/drawing/2014/main" id="{D2B25ADA-3526-49DB-A5F3-0772FA5863F1}"/>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medicines: thông tin thuốc và lịch uống</a:t>
            </a:r>
          </a:p>
        </p:txBody>
      </p:sp>
      <p:sp>
        <p:nvSpPr>
          <p:cNvPr id="3" name="">
            <a:extLst xmlns:a="http://schemas.openxmlformats.org/drawingml/2006/main">
              <a:ext uri="{FF2B5EF4-FFF2-40B4-BE49-F238E27FC236}">
                <a16:creationId xmlns:a16="http://schemas.microsoft.com/office/drawing/2014/main" id="{406F20E8-81B5-45E5-933E-E37207AE424E}"/>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3DC79948-3477-479E-8C5D-3C960860EB0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76F4F80F-73EE-46D5-B380-E320DE8086A7}"/>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user_id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Mã thuốc và tài khoản sở hữu</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name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Tên thuốc</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dosage</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Liều lượng hoặc hướng dẫn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time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Một hoặc nhiều giờ HH:mm, cách bằng dấu phẩy</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days_mask</a:t>
                      </a:r>
                    </a:p>
                  </a:txBody>
                  <a:tcPr marL="91440" marR="91440" marT="45720" marB="45720">
                    <a:solidFill>
                      <a:srgbClr val="FFFFFF"/>
                    </a:solidFill>
                  </a:tcPr>
                </a:tc>
                <a:tc>
                  <a:txBody>
                    <a:bodyPr/>
                    <a:lstStyle/>
                    <a:p>
                      <a:r>
                        <a:rPr sz="1650" b="0">
                          <a:solidFill>
                            <a:srgbClr val="164C47"/>
                          </a:solidFill>
                          <a:latin typeface="Arial"/>
                          <a:ea typeface="Arial"/>
                          <a:cs typeface="Arial"/>
                        </a:rPr>
                        <a:t>INTEGER, mặc định 127</a:t>
                      </a:r>
                    </a:p>
                  </a:txBody>
                  <a:tcPr marL="91440" marR="91440" marT="45720" marB="45720">
                    <a:solidFill>
                      <a:srgbClr val="FFFFFF"/>
                    </a:solidFill>
                  </a:tcPr>
                </a:tc>
                <a:tc>
                  <a:txBody>
                    <a:bodyPr/>
                    <a:lstStyle/>
                    <a:p>
                      <a:r>
                        <a:rPr sz="1650" b="0">
                          <a:solidFill>
                            <a:srgbClr val="164C47"/>
                          </a:solidFill>
                          <a:latin typeface="Arial"/>
                          <a:ea typeface="Arial"/>
                          <a:cs typeface="Arial"/>
                        </a:rPr>
                        <a:t>Mặt nạ 7 bit, 127 tương ứng cả tuần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is_active</a:t>
                      </a:r>
                    </a:p>
                  </a:txBody>
                  <a:tcPr marL="91440" marR="91440" marT="45720" marB="45720">
                    <a:solidFill>
                      <a:srgbClr val="EAF3EE"/>
                    </a:solidFill>
                  </a:tcPr>
                </a:tc>
                <a:tc>
                  <a:txBody>
                    <a:bodyPr/>
                    <a:lstStyle/>
                    <a:p>
                      <a:r>
                        <a:rPr sz="1650" b="0">
                          <a:solidFill>
                            <a:srgbClr val="164C47"/>
                          </a:solidFill>
                          <a:latin typeface="Arial"/>
                          <a:ea typeface="Arial"/>
                          <a:cs typeface="Arial"/>
                        </a:rPr>
                        <a:t>INTEGER, mặc định 1</a:t>
                      </a:r>
                    </a:p>
                  </a:txBody>
                  <a:tcPr marL="91440" marR="91440" marT="45720" marB="45720">
                    <a:solidFill>
                      <a:srgbClr val="EAF3EE"/>
                    </a:solidFill>
                  </a:tcPr>
                </a:tc>
                <a:tc>
                  <a:txBody>
                    <a:bodyPr/>
                    <a:lstStyle/>
                    <a:p>
                      <a:r>
                        <a:rPr sz="1650" b="0">
                          <a:solidFill>
                            <a:srgbClr val="164C47"/>
                          </a:solidFill>
                          <a:latin typeface="Arial"/>
                          <a:ea typeface="Arial"/>
                          <a:cs typeface="Arial"/>
                        </a:rPr>
                        <a:t>1: bật lịch nhắc, 0: tắt lịch nhắc</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29CF4E2E-E905-4CA9-9228-C762506A6D14}"/>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Nhiều giờ uống vẫn thuộc cùng một thuốc. Cữ cụ thể được phân biệt thêm ngày và giờ dự kiến.</a:t>
            </a:r>
          </a:p>
        </p:txBody>
      </p:sp>
    </p:spTree>
    <p:extLst>
      <p:ext uri="{BB962C8B-B14F-4D97-AF65-F5344CB8AC3E}">
        <p14:creationId xmlns:p14="http://schemas.microsoft.com/office/powerpoint/2010/main" val="1794874262"/>
      </p:ext>
    </p:extLst>
  </p:cSld>
</p:sld>
</file>

<file path=ppt/slides/slide1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8EAFA1-F723-45FE-B572-8F2948023CEF}"/>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MEDICINE_LOGS</a:t>
            </a:r>
          </a:p>
        </p:txBody>
      </p:sp>
      <p:sp>
        <p:nvSpPr>
          <p:cNvPr id="2" name="">
            <a:extLst xmlns:a="http://schemas.openxmlformats.org/drawingml/2006/main">
              <a:ext uri="{FF2B5EF4-FFF2-40B4-BE49-F238E27FC236}">
                <a16:creationId xmlns:a16="http://schemas.microsoft.com/office/drawing/2014/main" id="{2E3B0D13-3DF4-448F-B53B-E8BF2FF4FE26}"/>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medicine_logs: kết quả xác nhận từng cữ</a:t>
            </a:r>
          </a:p>
        </p:txBody>
      </p:sp>
      <p:sp>
        <p:nvSpPr>
          <p:cNvPr id="3" name="">
            <a:extLst xmlns:a="http://schemas.openxmlformats.org/drawingml/2006/main">
              <a:ext uri="{FF2B5EF4-FFF2-40B4-BE49-F238E27FC236}">
                <a16:creationId xmlns:a16="http://schemas.microsoft.com/office/drawing/2014/main" id="{EACC2AC9-4B08-4CED-A3B4-32E8E25F7528}"/>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A3A13D76-0DA6-4AB0-ACDE-4C9AEDCDF70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17</a:t>
            </a:r>
          </a:p>
        </p:txBody>
      </p:sp>
      <p:graphicFrame>
        <p:nvGraphicFramePr>
          <p:cNvPr id="5" name="">
            <a:extLst xmlns:a="http://schemas.openxmlformats.org/drawingml/2006/main">
              <a:ext uri="{FF2B5EF4-FFF2-40B4-BE49-F238E27FC236}">
                <a16:creationId xmlns:a16="http://schemas.microsoft.com/office/drawing/2014/main" id="{A6678D68-4377-41F2-A638-1FB28564C3FA}"/>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medicine_id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Mã nhật ký và thuốc liên quan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date, scheduled_time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Ngày và giờ dự kiến của cữ thuốc</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status</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TAKEN: Đã uống, SKIPPED: Bỏ qua</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logged_at</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Thời điểm người dùng xác nhận</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medicine_name_snapshot,</a:t>
                      </a:r>
                    </a:p>
                    <a:p>
                      <a:r>
                        <a:rPr sz="1650" b="0">
                          <a:solidFill>
                            <a:srgbClr val="164C47"/>
                          </a:solidFill>
                          <a:latin typeface="Arial"/>
                          <a:ea typeface="Arial"/>
                          <a:cs typeface="Arial"/>
                        </a:rPr>
                        <a:t>dosage_snapshot</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Tên và liều lượng tại lúc ghi nhận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snapshot_inherited</a:t>
                      </a:r>
                    </a:p>
                  </a:txBody>
                  <a:tcPr marL="91440" marR="91440" marT="45720" marB="45720">
                    <a:solidFill>
                      <a:srgbClr val="EAF3EE"/>
                    </a:solidFill>
                  </a:tcPr>
                </a:tc>
                <a:tc>
                  <a:txBody>
                    <a:bodyPr/>
                    <a:lstStyle/>
                    <a:p>
                      <a:r>
                        <a:rPr sz="1650" b="0">
                          <a:solidFill>
                            <a:srgbClr val="164C47"/>
                          </a:solidFill>
                          <a:latin typeface="Arial"/>
                          <a:ea typeface="Arial"/>
                          <a:cs typeface="Arial"/>
                        </a:rPr>
                        <a:t>INTEGER, mặc định 0</a:t>
                      </a:r>
                    </a:p>
                  </a:txBody>
                  <a:tcPr marL="91440" marR="91440" marT="45720" marB="45720">
                    <a:solidFill>
                      <a:srgbClr val="EAF3EE"/>
                    </a:solidFill>
                  </a:tcPr>
                </a:tc>
                <a:tc>
                  <a:txBody>
                    <a:bodyPr/>
                    <a:lstStyle/>
                    <a:p>
                      <a:r>
                        <a:rPr sz="1650" b="0">
                          <a:solidFill>
                            <a:srgbClr val="164C47"/>
                          </a:solidFill>
                          <a:latin typeface="Arial"/>
                          <a:ea typeface="Arial"/>
                          <a:cs typeface="Arial"/>
                        </a:rPr>
                        <a:t>Dấu hiệu kế thừa thông tin khi nâng cấp</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C604DAB5-230A-476A-A9B6-93D9436A76C2}"/>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Sắp tới và Chưa xác nhận được tính khi hiển thị, không lưu thành kết quả trong bảng này.</a:t>
            </a:r>
          </a:p>
        </p:txBody>
      </p:sp>
    </p:spTree>
    <p:extLst>
      <p:ext uri="{BB962C8B-B14F-4D97-AF65-F5344CB8AC3E}">
        <p14:creationId xmlns:p14="http://schemas.microsoft.com/office/powerpoint/2010/main" val="659486126"/>
      </p:ext>
    </p:extLst>
  </p:cSld>
</p:sld>
</file>

<file path=ppt/slides/slide1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2E455B-8C39-44CE-9350-265FFA6B6D3E}"/>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WATER_LOGS</a:t>
            </a:r>
          </a:p>
        </p:txBody>
      </p:sp>
      <p:sp>
        <p:nvSpPr>
          <p:cNvPr id="2" name="">
            <a:extLst xmlns:a="http://schemas.openxmlformats.org/drawingml/2006/main">
              <a:ext uri="{FF2B5EF4-FFF2-40B4-BE49-F238E27FC236}">
                <a16:creationId xmlns:a16="http://schemas.microsoft.com/office/drawing/2014/main" id="{9F3FB9AA-EED1-4578-9B4E-376421CB1FF2}"/>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water_logs: dữ liệu từng lần uống nước</a:t>
            </a:r>
          </a:p>
        </p:txBody>
      </p:sp>
      <p:sp>
        <p:nvSpPr>
          <p:cNvPr id="3" name="">
            <a:extLst xmlns:a="http://schemas.openxmlformats.org/drawingml/2006/main">
              <a:ext uri="{FF2B5EF4-FFF2-40B4-BE49-F238E27FC236}">
                <a16:creationId xmlns:a16="http://schemas.microsoft.com/office/drawing/2014/main" id="{59601658-6AEF-4A43-855E-97BE3A44C759}"/>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9DD20FFB-A92B-4F01-A6C2-9D988DFF4B6D}"/>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BEC294A7-5A26-48B0-BACD-5D1408BEE814}"/>
              </a:ext>
            </a:extLst>
          </p:cNvPr>
          <p:cNvGraphicFramePr/>
          <p:nvPr/>
        </p:nvGraphicFramePr>
        <p:xfrm>
          <a:off xmlns:a="http://schemas.openxmlformats.org/drawingml/2006/main" x="514350" y="1457325"/>
          <a:ext xmlns:a="http://schemas.openxmlformats.org/drawingml/2006/main" cx="11144250" cy="3143250"/>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tự tăng</a:t>
                      </a:r>
                    </a:p>
                  </a:txBody>
                  <a:tcPr marL="91440" marR="91440" marT="45720" marB="45720">
                    <a:solidFill>
                      <a:srgbClr val="FFFFFF"/>
                    </a:solidFill>
                  </a:tcPr>
                </a:tc>
                <a:tc>
                  <a:txBody>
                    <a:bodyPr/>
                    <a:lstStyle/>
                    <a:p>
                      <a:r>
                        <a:rPr sz="1650" b="0">
                          <a:solidFill>
                            <a:srgbClr val="164C47"/>
                          </a:solidFill>
                          <a:latin typeface="Arial"/>
                          <a:ea typeface="Arial"/>
                          <a:cs typeface="Arial"/>
                        </a:rPr>
                        <a:t>Mã lần ghi nhận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user_id</a:t>
                      </a:r>
                    </a:p>
                  </a:txBody>
                  <a:tcPr marL="91440" marR="91440" marT="45720" marB="45720">
                    <a:solidFill>
                      <a:srgbClr val="EAF3EE"/>
                    </a:solidFill>
                  </a:tcPr>
                </a:tc>
                <a:tc>
                  <a:txBody>
                    <a:bodyPr/>
                    <a:lstStyle/>
                    <a:p>
                      <a:r>
                        <a:rPr sz="1650" b="0">
                          <a:solidFill>
                            <a:srgbClr val="164C47"/>
                          </a:solidFill>
                          <a:latin typeface="Arial"/>
                          <a:ea typeface="Arial"/>
                          <a:cs typeface="Arial"/>
                        </a:rPr>
                        <a:t>INTEGER, FK,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Tham chiếu users.id</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date</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Ngày ghi nhận, yyyy-MM-dd</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amount_ml</a:t>
                      </a:r>
                    </a:p>
                  </a:txBody>
                  <a:tcPr marL="91440" marR="91440" marT="45720" marB="45720">
                    <a:solidFill>
                      <a:srgbClr val="EAF3EE"/>
                    </a:solidFill>
                  </a:tcPr>
                </a:tc>
                <a:tc>
                  <a:txBody>
                    <a:bodyPr/>
                    <a:lstStyle/>
                    <a:p>
                      <a:r>
                        <a:rPr sz="1650" b="0">
                          <a:solidFill>
                            <a:srgbClr val="164C47"/>
                          </a:solidFill>
                          <a:latin typeface="Arial"/>
                          <a:ea typeface="Arial"/>
                          <a:cs typeface="Arial"/>
                        </a:rPr>
                        <a:t>INTEGER, NOT NULL</a:t>
                      </a:r>
                    </a:p>
                  </a:txBody>
                  <a:tcPr marL="91440" marR="91440" marT="45720" marB="45720">
                    <a:solidFill>
                      <a:srgbClr val="EAF3EE"/>
                    </a:solidFill>
                  </a:tcPr>
                </a:tc>
                <a:tc>
                  <a:txBody>
                    <a:bodyPr/>
                    <a:lstStyle/>
                    <a:p>
                      <a:r>
                        <a:rPr sz="1650" b="0">
                          <a:solidFill>
                            <a:srgbClr val="164C47"/>
                          </a:solidFill>
                          <a:latin typeface="Arial"/>
                          <a:ea typeface="Arial"/>
                          <a:cs typeface="Arial"/>
                        </a:rPr>
                        <a:t>Lượng nước của lần uống, đơn vị ml</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logged_at</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Thời điểm ghi, yyyy-MM-dd HH:mm:ss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D07EBBC-0689-401C-8CD2-AC267D371AFC}"/>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Tổng nước được tính từ nhật ký theo tài khoản và ngày. Sửa hoặc xóa một hàng sẽ cập nhật tiến độ.</a:t>
            </a:r>
          </a:p>
        </p:txBody>
      </p:sp>
    </p:spTree>
    <p:extLst>
      <p:ext uri="{BB962C8B-B14F-4D97-AF65-F5344CB8AC3E}">
        <p14:creationId xmlns:p14="http://schemas.microsoft.com/office/powerpoint/2010/main" val="1115855645"/>
      </p:ext>
    </p:extLst>
  </p:cSld>
</p:sld>
</file>

<file path=ppt/slides/slide1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11AB08-E9D6-4609-BCC2-4F4E9D60F832}"/>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TÍNH NHẤT QUÁN DỮ LIỆU</a:t>
            </a:r>
          </a:p>
        </p:txBody>
      </p:sp>
      <p:sp>
        <p:nvSpPr>
          <p:cNvPr id="2" name="">
            <a:extLst xmlns:a="http://schemas.openxmlformats.org/drawingml/2006/main">
              <a:ext uri="{FF2B5EF4-FFF2-40B4-BE49-F238E27FC236}">
                <a16:creationId xmlns:a16="http://schemas.microsoft.com/office/drawing/2014/main" id="{8A1C439F-5079-4A63-94B9-FA9BD2FE760B}"/>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Khóa ngoại, chỉ mục và phạm vi dữ liệu</a:t>
            </a:r>
          </a:p>
        </p:txBody>
      </p:sp>
      <p:sp>
        <p:nvSpPr>
          <p:cNvPr id="3" name="">
            <a:extLst xmlns:a="http://schemas.openxmlformats.org/drawingml/2006/main">
              <a:ext uri="{FF2B5EF4-FFF2-40B4-BE49-F238E27FC236}">
                <a16:creationId xmlns:a16="http://schemas.microsoft.com/office/drawing/2014/main" id="{22838F9B-CEF5-4B19-A713-60BF378B35F7}"/>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B3F2D822-63EF-4EE9-8253-85FAAD5940B3}"/>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9C386B7D-0B89-4AB1-969D-D0FD5A553715}"/>
              </a:ext>
            </a:extLst>
          </p:cNvPr>
          <p:cNvSpPr>
            <a:spLocks xmlns:a="http://schemas.openxmlformats.org/drawingml/2006/main" noGrp="1"/>
          </p:cNvSpPr>
          <p:nvPr/>
        </p:nvSpPr>
        <p:spPr>
          <a:xfrm xmlns:a="http://schemas.openxmlformats.org/drawingml/2006/main">
            <a:off x="514350" y="161925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Quan hệ một nhiều</a:t>
            </a:r>
          </a:p>
        </p:txBody>
      </p:sp>
      <p:sp>
        <p:nvSpPr>
          <p:cNvPr id="6" name="">
            <a:extLst xmlns:a="http://schemas.openxmlformats.org/drawingml/2006/main">
              <a:ext uri="{FF2B5EF4-FFF2-40B4-BE49-F238E27FC236}">
                <a16:creationId xmlns:a16="http://schemas.microsoft.com/office/drawing/2014/main" id="{43427C00-9BAD-4006-BBDA-96F05B6C97A9}"/>
              </a:ext>
            </a:extLst>
          </p:cNvPr>
          <p:cNvSpPr>
            <a:spLocks xmlns:a="http://schemas.openxmlformats.org/drawingml/2006/main" noGrp="1"/>
          </p:cNvSpPr>
          <p:nvPr/>
        </p:nvSpPr>
        <p:spPr>
          <a:xfrm xmlns:a="http://schemas.openxmlformats.org/drawingml/2006/main">
            <a:off x="514350" y="2190750"/>
            <a:ext cx="5238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users có nhiều health_records, medicines và water_logs. medicines có nhiều medicine_logs.</a:t>
            </a:r>
          </a:p>
        </p:txBody>
      </p:sp>
      <p:sp>
        <p:nvSpPr>
          <p:cNvPr id="7" name="">
            <a:extLst xmlns:a="http://schemas.openxmlformats.org/drawingml/2006/main">
              <a:ext uri="{FF2B5EF4-FFF2-40B4-BE49-F238E27FC236}">
                <a16:creationId xmlns:a16="http://schemas.microsoft.com/office/drawing/2014/main" id="{1CE3DFA7-6B0C-4CD7-AE98-57CE050A3D17}"/>
              </a:ext>
            </a:extLst>
          </p:cNvPr>
          <p:cNvSpPr>
            <a:spLocks xmlns:a="http://schemas.openxmlformats.org/drawingml/2006/main" noGrp="1"/>
          </p:cNvSpPr>
          <p:nvPr/>
        </p:nvSpPr>
        <p:spPr>
          <a:xfrm xmlns:a="http://schemas.openxmlformats.org/drawingml/2006/main">
            <a:off x="6524625" y="16192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Truy vấn theo tài khoản</a:t>
            </a:r>
          </a:p>
        </p:txBody>
      </p:sp>
      <p:sp>
        <p:nvSpPr>
          <p:cNvPr id="8" name="">
            <a:extLst xmlns:a="http://schemas.openxmlformats.org/drawingml/2006/main">
              <a:ext uri="{FF2B5EF4-FFF2-40B4-BE49-F238E27FC236}">
                <a16:creationId xmlns:a16="http://schemas.microsoft.com/office/drawing/2014/main" id="{98BDE184-A586-4D8E-8050-4349DE288091}"/>
              </a:ext>
            </a:extLst>
          </p:cNvPr>
          <p:cNvSpPr>
            <a:spLocks xmlns:a="http://schemas.openxmlformats.org/drawingml/2006/main" noGrp="1"/>
          </p:cNvSpPr>
          <p:nvPr/>
        </p:nvSpPr>
        <p:spPr>
          <a:xfrm xmlns:a="http://schemas.openxmlformats.org/drawingml/2006/main">
            <a:off x="6524625" y="2190750"/>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Mỗi thao tác chỉ truy cập dữ liệu của tài khoản hiện tại. Nhật ký thuốc xác định chủ sở hữu qua medicines.</a:t>
            </a:r>
          </a:p>
        </p:txBody>
      </p:sp>
      <p:sp>
        <p:nvSpPr>
          <p:cNvPr id="9" name="">
            <a:extLst xmlns:a="http://schemas.openxmlformats.org/drawingml/2006/main">
              <a:ext uri="{FF2B5EF4-FFF2-40B4-BE49-F238E27FC236}">
                <a16:creationId xmlns:a16="http://schemas.microsoft.com/office/drawing/2014/main" id="{691AC01C-8F02-4E20-B867-6887EDF85AA7}"/>
              </a:ext>
            </a:extLst>
          </p:cNvPr>
          <p:cNvSpPr>
            <a:spLocks xmlns:a="http://schemas.openxmlformats.org/drawingml/2006/main" noGrp="1"/>
          </p:cNvSpPr>
          <p:nvPr/>
        </p:nvSpPr>
        <p:spPr>
          <a:xfrm xmlns:a="http://schemas.openxmlformats.org/drawingml/2006/main">
            <a:off x="514350" y="404812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Khóa ngoại và xóa dữ liệu</a:t>
            </a:r>
          </a:p>
        </p:txBody>
      </p:sp>
      <p:sp>
        <p:nvSpPr>
          <p:cNvPr id="10" name="">
            <a:extLst xmlns:a="http://schemas.openxmlformats.org/drawingml/2006/main">
              <a:ext uri="{FF2B5EF4-FFF2-40B4-BE49-F238E27FC236}">
                <a16:creationId xmlns:a16="http://schemas.microsoft.com/office/drawing/2014/main" id="{3D66255E-1BFE-48DA-9D51-0984525D4BE4}"/>
              </a:ext>
            </a:extLst>
          </p:cNvPr>
          <p:cNvSpPr>
            <a:spLocks xmlns:a="http://schemas.openxmlformats.org/drawingml/2006/main" noGrp="1"/>
          </p:cNvSpPr>
          <p:nvPr/>
        </p:nvSpPr>
        <p:spPr>
          <a:xfrm xmlns:a="http://schemas.openxmlformats.org/drawingml/2006/main">
            <a:off x="514350" y="46101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Bật khóa ngoại trong onConfigure. ON DELETE CASCADE xóa các hàng phụ thuộc khi xóa tài khoản hoặc thuốc.</a:t>
            </a:r>
          </a:p>
        </p:txBody>
      </p:sp>
      <p:sp>
        <p:nvSpPr>
          <p:cNvPr id="11" name="">
            <a:extLst xmlns:a="http://schemas.openxmlformats.org/drawingml/2006/main">
              <a:ext uri="{FF2B5EF4-FFF2-40B4-BE49-F238E27FC236}">
                <a16:creationId xmlns:a16="http://schemas.microsoft.com/office/drawing/2014/main" id="{D4A6440F-805A-4119-A074-9C8B9B9D9E55}"/>
              </a:ext>
            </a:extLst>
          </p:cNvPr>
          <p:cNvSpPr>
            <a:spLocks xmlns:a="http://schemas.openxmlformats.org/drawingml/2006/main" noGrp="1"/>
          </p:cNvSpPr>
          <p:nvPr/>
        </p:nvSpPr>
        <p:spPr>
          <a:xfrm xmlns:a="http://schemas.openxmlformats.org/drawingml/2006/main">
            <a:off x="6524625" y="404812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Chỉ mục tra cứu</a:t>
            </a:r>
          </a:p>
        </p:txBody>
      </p:sp>
      <p:sp>
        <p:nvSpPr>
          <p:cNvPr id="12" name="">
            <a:extLst xmlns:a="http://schemas.openxmlformats.org/drawingml/2006/main">
              <a:ext uri="{FF2B5EF4-FFF2-40B4-BE49-F238E27FC236}">
                <a16:creationId xmlns:a16="http://schemas.microsoft.com/office/drawing/2014/main" id="{25A85186-3283-4E77-9106-856F51880FE1}"/>
              </a:ext>
            </a:extLst>
          </p:cNvPr>
          <p:cNvSpPr>
            <a:spLocks xmlns:a="http://schemas.openxmlformats.org/drawingml/2006/main" noGrp="1"/>
          </p:cNvSpPr>
          <p:nvPr/>
        </p:nvSpPr>
        <p:spPr>
          <a:xfrm xmlns:a="http://schemas.openxmlformats.org/drawingml/2006/main">
            <a:off x="6524625" y="4610100"/>
            <a:ext cx="5095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Sức khỏe, nước: (user_id, date).</a:t>
            </a:r>
          </a:p>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Cữ thuốc: (medicine_id, date, scheduled_time). Chỉ mục cữ thuốc không phải UNIQUE.</a:t>
            </a:r>
          </a:p>
        </p:txBody>
      </p:sp>
    </p:spTree>
    <p:extLst>
      <p:ext uri="{BB962C8B-B14F-4D97-AF65-F5344CB8AC3E}">
        <p14:creationId xmlns:p14="http://schemas.microsoft.com/office/powerpoint/2010/main" val="1628203784"/>
      </p:ext>
    </p:extLst>
  </p:cSld>
</p:sld>
</file>

<file path=ppt/slides/slide2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0B163E-C6F4-48F5-84C9-09C25B6A7C0C}"/>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1.5  PHÂN CÔNG THỰC HIỆN</a:t>
            </a:r>
          </a:p>
        </p:txBody>
      </p:sp>
      <p:sp>
        <p:nvSpPr>
          <p:cNvPr id="2" name="">
            <a:extLst xmlns:a="http://schemas.openxmlformats.org/drawingml/2006/main">
              <a:ext uri="{FF2B5EF4-FFF2-40B4-BE49-F238E27FC236}">
                <a16:creationId xmlns:a16="http://schemas.microsoft.com/office/drawing/2014/main" id="{789E391E-23B1-4142-8729-C8E4F5A3622F}"/>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Vai trò thành viên và tổng kết</a:t>
            </a:r>
          </a:p>
        </p:txBody>
      </p:sp>
      <p:sp>
        <p:nvSpPr>
          <p:cNvPr id="3" name="">
            <a:extLst xmlns:a="http://schemas.openxmlformats.org/drawingml/2006/main">
              <a:ext uri="{FF2B5EF4-FFF2-40B4-BE49-F238E27FC236}">
                <a16:creationId xmlns:a16="http://schemas.microsoft.com/office/drawing/2014/main" id="{0B66E825-5116-4484-A9C5-CB3F2C1DBA3A}"/>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145F8B8C-36A5-46D9-A171-9DF8290A497C}"/>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65048F23-FF15-4FB1-9B21-95ABFDB69AD5}"/>
              </a:ext>
            </a:extLst>
          </p:cNvPr>
          <p:cNvSpPr>
            <a:spLocks xmlns:a="http://schemas.openxmlformats.org/drawingml/2006/main" noGrp="1"/>
          </p:cNvSpPr>
          <p:nvPr/>
        </p:nvSpPr>
        <p:spPr>
          <a:xfrm xmlns:a="http://schemas.openxmlformats.org/drawingml/2006/main">
            <a:off x="514350" y="16192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Huỳnh Trung Tín</a:t>
            </a:r>
          </a:p>
        </p:txBody>
      </p:sp>
      <p:sp>
        <p:nvSpPr>
          <p:cNvPr id="6" name="">
            <a:extLst xmlns:a="http://schemas.openxmlformats.org/drawingml/2006/main">
              <a:ext uri="{FF2B5EF4-FFF2-40B4-BE49-F238E27FC236}">
                <a16:creationId xmlns:a16="http://schemas.microsoft.com/office/drawing/2014/main" id="{A8617050-224D-4732-8786-0B0C935687E6}"/>
              </a:ext>
            </a:extLst>
          </p:cNvPr>
          <p:cNvSpPr>
            <a:spLocks xmlns:a="http://schemas.openxmlformats.org/drawingml/2006/main" noGrp="1"/>
          </p:cNvSpPr>
          <p:nvPr/>
        </p:nvSpPr>
        <p:spPr>
          <a:xfrm xmlns:a="http://schemas.openxmlformats.org/drawingml/2006/main">
            <a:off x="514350" y="2333625"/>
            <a:ext cx="5238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B66"/>
                </a:solidFill>
                <a:latin typeface="Arial"/>
                <a:ea typeface="Arial"/>
                <a:cs typeface="Arial"/>
              </a:defRPr>
            </a:defPPr>
            <a:lvl1pPr>
              <a:defRPr sz="1950" b="0">
                <a:solidFill>
                  <a:srgbClr val="526B66"/>
                </a:solidFill>
                <a:latin typeface="Arial"/>
                <a:ea typeface="Arial"/>
                <a:cs typeface="Arial"/>
              </a:defRPr>
            </a:lvl1pPr>
            <a:lvl2pPr>
              <a:defRPr sz="1950" b="0">
                <a:solidFill>
                  <a:srgbClr val="526B66"/>
                </a:solidFill>
                <a:latin typeface="Arial"/>
                <a:ea typeface="Arial"/>
                <a:cs typeface="Arial"/>
              </a:defRPr>
            </a:lvl2pPr>
            <a:lvl3pPr>
              <a:defRPr sz="1950" b="0">
                <a:solidFill>
                  <a:srgbClr val="526B66"/>
                </a:solidFill>
                <a:latin typeface="Arial"/>
                <a:ea typeface="Arial"/>
                <a:cs typeface="Arial"/>
              </a:defRPr>
            </a:lvl3pPr>
            <a:lvl4pPr>
              <a:defRPr sz="1950" b="0">
                <a:solidFill>
                  <a:srgbClr val="526B66"/>
                </a:solidFill>
                <a:latin typeface="Arial"/>
                <a:ea typeface="Arial"/>
                <a:cs typeface="Arial"/>
              </a:defRPr>
            </a:lvl4pPr>
            <a:lvl5pPr>
              <a:defRPr sz="1950" b="0">
                <a:solidFill>
                  <a:srgbClr val="526B66"/>
                </a:solidFill>
                <a:latin typeface="Arial"/>
                <a:ea typeface="Arial"/>
                <a:cs typeface="Arial"/>
              </a:defRPr>
            </a:lvl5pPr>
            <a:lvl6pPr>
              <a:defRPr sz="1950" b="0">
                <a:solidFill>
                  <a:srgbClr val="526B66"/>
                </a:solidFill>
                <a:latin typeface="Arial"/>
                <a:ea typeface="Arial"/>
                <a:cs typeface="Arial"/>
              </a:defRPr>
            </a:lvl6pPr>
            <a:lvl7pPr>
              <a:defRPr sz="1950" b="0">
                <a:solidFill>
                  <a:srgbClr val="526B66"/>
                </a:solidFill>
                <a:latin typeface="Arial"/>
                <a:ea typeface="Arial"/>
                <a:cs typeface="Arial"/>
              </a:defRPr>
            </a:lvl7pPr>
            <a:lvl8pPr>
              <a:defRPr sz="1950" b="0">
                <a:solidFill>
                  <a:srgbClr val="526B66"/>
                </a:solidFill>
                <a:latin typeface="Arial"/>
                <a:ea typeface="Arial"/>
                <a:cs typeface="Arial"/>
              </a:defRPr>
            </a:lvl8pPr>
            <a:lvl9pPr>
              <a:defRPr sz="1950" b="0">
                <a:solidFill>
                  <a:srgbClr val="526B66"/>
                </a:solidFill>
                <a:latin typeface="Arial"/>
                <a:ea typeface="Arial"/>
                <a:cs typeface="Arial"/>
              </a:defRPr>
            </a:lvl9pPr>
          </a:lstStyle>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Trưởng nhóm · Đóng góp 50%</a:t>
            </a:r>
          </a:p>
          <a:p xmlns:a="http://schemas.openxmlformats.org/drawingml/2006/main">
            <a:r>
              <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Giao diện và trải nghiệm sử dụng.</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Tích hợp danh sách, biểu đồ và BMI.</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Tổng hợp, biên soạn báo cáo.</a:t>
            </a:r>
          </a:p>
        </p:txBody>
      </p:sp>
      <p:sp>
        <p:nvSpPr>
          <p:cNvPr id="7" name="">
            <a:extLst xmlns:a="http://schemas.openxmlformats.org/drawingml/2006/main">
              <a:ext uri="{FF2B5EF4-FFF2-40B4-BE49-F238E27FC236}">
                <a16:creationId xmlns:a16="http://schemas.microsoft.com/office/drawing/2014/main" id="{CCC5E007-90CA-4BCB-BCAB-D7D62E5E4504}"/>
              </a:ext>
            </a:extLst>
          </p:cNvPr>
          <p:cNvSpPr>
            <a:spLocks xmlns:a="http://schemas.openxmlformats.org/drawingml/2006/main" noGrp="1"/>
          </p:cNvSpPr>
          <p:nvPr/>
        </p:nvSpPr>
        <p:spPr>
          <a:xfrm xmlns:a="http://schemas.openxmlformats.org/drawingml/2006/main">
            <a:off x="6477000" y="161925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Đinh Tấn Minh</a:t>
            </a:r>
          </a:p>
        </p:txBody>
      </p:sp>
      <p:sp>
        <p:nvSpPr>
          <p:cNvPr id="8" name="">
            <a:extLst xmlns:a="http://schemas.openxmlformats.org/drawingml/2006/main">
              <a:ext uri="{FF2B5EF4-FFF2-40B4-BE49-F238E27FC236}">
                <a16:creationId xmlns:a16="http://schemas.microsoft.com/office/drawing/2014/main" id="{0C813758-427F-40C1-93CE-7F6D54A66E50}"/>
              </a:ext>
            </a:extLst>
          </p:cNvPr>
          <p:cNvSpPr>
            <a:spLocks xmlns:a="http://schemas.openxmlformats.org/drawingml/2006/main" noGrp="1"/>
          </p:cNvSpPr>
          <p:nvPr/>
        </p:nvSpPr>
        <p:spPr>
          <a:xfrm xmlns:a="http://schemas.openxmlformats.org/drawingml/2006/main">
            <a:off x="6477000" y="2333625"/>
            <a:ext cx="50958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B66"/>
                </a:solidFill>
                <a:latin typeface="Arial"/>
                <a:ea typeface="Arial"/>
                <a:cs typeface="Arial"/>
              </a:defRPr>
            </a:defPPr>
            <a:lvl1pPr>
              <a:defRPr sz="1950" b="0">
                <a:solidFill>
                  <a:srgbClr val="526B66"/>
                </a:solidFill>
                <a:latin typeface="Arial"/>
                <a:ea typeface="Arial"/>
                <a:cs typeface="Arial"/>
              </a:defRPr>
            </a:lvl1pPr>
            <a:lvl2pPr>
              <a:defRPr sz="1950" b="0">
                <a:solidFill>
                  <a:srgbClr val="526B66"/>
                </a:solidFill>
                <a:latin typeface="Arial"/>
                <a:ea typeface="Arial"/>
                <a:cs typeface="Arial"/>
              </a:defRPr>
            </a:lvl2pPr>
            <a:lvl3pPr>
              <a:defRPr sz="1950" b="0">
                <a:solidFill>
                  <a:srgbClr val="526B66"/>
                </a:solidFill>
                <a:latin typeface="Arial"/>
                <a:ea typeface="Arial"/>
                <a:cs typeface="Arial"/>
              </a:defRPr>
            </a:lvl3pPr>
            <a:lvl4pPr>
              <a:defRPr sz="1950" b="0">
                <a:solidFill>
                  <a:srgbClr val="526B66"/>
                </a:solidFill>
                <a:latin typeface="Arial"/>
                <a:ea typeface="Arial"/>
                <a:cs typeface="Arial"/>
              </a:defRPr>
            </a:lvl4pPr>
            <a:lvl5pPr>
              <a:defRPr sz="1950" b="0">
                <a:solidFill>
                  <a:srgbClr val="526B66"/>
                </a:solidFill>
                <a:latin typeface="Arial"/>
                <a:ea typeface="Arial"/>
                <a:cs typeface="Arial"/>
              </a:defRPr>
            </a:lvl5pPr>
            <a:lvl6pPr>
              <a:defRPr sz="1950" b="0">
                <a:solidFill>
                  <a:srgbClr val="526B66"/>
                </a:solidFill>
                <a:latin typeface="Arial"/>
                <a:ea typeface="Arial"/>
                <a:cs typeface="Arial"/>
              </a:defRPr>
            </a:lvl6pPr>
            <a:lvl7pPr>
              <a:defRPr sz="1950" b="0">
                <a:solidFill>
                  <a:srgbClr val="526B66"/>
                </a:solidFill>
                <a:latin typeface="Arial"/>
                <a:ea typeface="Arial"/>
                <a:cs typeface="Arial"/>
              </a:defRPr>
            </a:lvl7pPr>
            <a:lvl8pPr>
              <a:defRPr sz="1950" b="0">
                <a:solidFill>
                  <a:srgbClr val="526B66"/>
                </a:solidFill>
                <a:latin typeface="Arial"/>
                <a:ea typeface="Arial"/>
                <a:cs typeface="Arial"/>
              </a:defRPr>
            </a:lvl8pPr>
            <a:lvl9pPr>
              <a:defRPr sz="1950" b="0">
                <a:solidFill>
                  <a:srgbClr val="526B66"/>
                </a:solidFill>
                <a:latin typeface="Arial"/>
                <a:ea typeface="Arial"/>
                <a:cs typeface="Arial"/>
              </a:defRPr>
            </a:lvl9pPr>
          </a:lstStyle>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Đóng góp 50%</a:t>
            </a:r>
          </a:p>
          <a:p xmlns:a="http://schemas.openxmlformats.org/drawingml/2006/main">
            <a:r>
              <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Cơ sở dữ liệu, nghiệp vụ và xác thực.</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Lập lịch thuốc, nước và thông báo.</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Chuẩn bị thuyết trình và demo.</a:t>
            </a:r>
          </a:p>
        </p:txBody>
      </p:sp>
      <p:sp>
        <p:nvSpPr>
          <p:cNvPr id="9" name="">
            <a:extLst xmlns:a="http://schemas.openxmlformats.org/drawingml/2006/main">
              <a:ext uri="{FF2B5EF4-FFF2-40B4-BE49-F238E27FC236}">
                <a16:creationId xmlns:a16="http://schemas.microsoft.com/office/drawing/2014/main" id="{5419D9BC-540D-4C1B-AB08-D70ACEB592DF}"/>
              </a:ext>
            </a:extLst>
          </p:cNvPr>
          <p:cNvSpPr>
            <a:spLocks xmlns:a="http://schemas.openxmlformats.org/drawingml/2006/main" noGrp="1"/>
          </p:cNvSpPr>
          <p:nvPr/>
        </p:nvSpPr>
        <p:spPr>
          <a:xfrm xmlns:a="http://schemas.openxmlformats.org/drawingml/2006/main">
            <a:off x="514350" y="5429250"/>
            <a:ext cx="1095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87F72"/>
                </a:solidFill>
                <a:latin typeface="Arial"/>
                <a:ea typeface="Arial"/>
                <a:cs typeface="Arial"/>
              </a:defRPr>
            </a:defPPr>
            <a:lvl1pPr>
              <a:defRPr sz="1950" b="1">
                <a:solidFill>
                  <a:srgbClr val="087F72"/>
                </a:solidFill>
                <a:latin typeface="Arial"/>
                <a:ea typeface="Arial"/>
                <a:cs typeface="Arial"/>
              </a:defRPr>
            </a:lvl1pPr>
            <a:lvl2pPr>
              <a:defRPr sz="1950" b="1">
                <a:solidFill>
                  <a:srgbClr val="087F72"/>
                </a:solidFill>
                <a:latin typeface="Arial"/>
                <a:ea typeface="Arial"/>
                <a:cs typeface="Arial"/>
              </a:defRPr>
            </a:lvl2pPr>
            <a:lvl3pPr>
              <a:defRPr sz="1950" b="1">
                <a:solidFill>
                  <a:srgbClr val="087F72"/>
                </a:solidFill>
                <a:latin typeface="Arial"/>
                <a:ea typeface="Arial"/>
                <a:cs typeface="Arial"/>
              </a:defRPr>
            </a:lvl3pPr>
            <a:lvl4pPr>
              <a:defRPr sz="1950" b="1">
                <a:solidFill>
                  <a:srgbClr val="087F72"/>
                </a:solidFill>
                <a:latin typeface="Arial"/>
                <a:ea typeface="Arial"/>
                <a:cs typeface="Arial"/>
              </a:defRPr>
            </a:lvl4pPr>
            <a:lvl5pPr>
              <a:defRPr sz="1950" b="1">
                <a:solidFill>
                  <a:srgbClr val="087F72"/>
                </a:solidFill>
                <a:latin typeface="Arial"/>
                <a:ea typeface="Arial"/>
                <a:cs typeface="Arial"/>
              </a:defRPr>
            </a:lvl5pPr>
            <a:lvl6pPr>
              <a:defRPr sz="1950" b="1">
                <a:solidFill>
                  <a:srgbClr val="087F72"/>
                </a:solidFill>
                <a:latin typeface="Arial"/>
                <a:ea typeface="Arial"/>
                <a:cs typeface="Arial"/>
              </a:defRPr>
            </a:lvl6pPr>
            <a:lvl7pPr>
              <a:defRPr sz="1950" b="1">
                <a:solidFill>
                  <a:srgbClr val="087F72"/>
                </a:solidFill>
                <a:latin typeface="Arial"/>
                <a:ea typeface="Arial"/>
                <a:cs typeface="Arial"/>
              </a:defRPr>
            </a:lvl7pPr>
            <a:lvl8pPr>
              <a:defRPr sz="1950" b="1">
                <a:solidFill>
                  <a:srgbClr val="087F72"/>
                </a:solidFill>
                <a:latin typeface="Arial"/>
                <a:ea typeface="Arial"/>
                <a:cs typeface="Arial"/>
              </a:defRPr>
            </a:lvl8pPr>
            <a:lvl9pPr>
              <a:defRPr sz="1950" b="1">
                <a:solidFill>
                  <a:srgbClr val="087F72"/>
                </a:solidFill>
                <a:latin typeface="Arial"/>
                <a:ea typeface="Arial"/>
                <a:cs typeface="Arial"/>
              </a:defRPr>
            </a:lvl9pPr>
          </a:lstStyle>
          <a:p xmlns:a="http://schemas.openxmlformats.org/drawingml/2006/main">
            <a:pPr>
              <a:defRPr sz="1950" b="1">
                <a:solidFill>
                  <a:srgbClr val="087F72"/>
                </a:solidFill>
                <a:latin typeface="Arial"/>
                <a:ea typeface="Arial"/>
                <a:cs typeface="Arial"/>
              </a:defRPr>
            </a:pPr>
            <a:r>
              <a:rPr sz="1950" b="1">
                <a:solidFill>
                  <a:srgbClr val="087F72"/>
                </a:solidFill>
                <a:latin typeface="Arial"/>
                <a:ea typeface="Arial"/>
                <a:cs typeface="Arial"/>
              </a:rPr>
              <a:t>Vita tổ chức việc ghi chép sức khỏe, thuốc và nước trên thiết bị. Dữ liệu cục bộ chưa có đồng bộ hoặc xuất sao lưu.</a:t>
            </a:r>
          </a:p>
        </p:txBody>
      </p:sp>
    </p:spTree>
    <p:extLst>
      <p:ext uri="{BB962C8B-B14F-4D97-AF65-F5344CB8AC3E}">
        <p14:creationId xmlns:p14="http://schemas.microsoft.com/office/powerpoint/2010/main" val="8340342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2026-10-26T14:27:07.7620000Z</dcterms:created>
  <dcterms:modified xsi:type="dcterms:W3CDTF">2026-10-26T14:27:07.7620000Z</dcterms:modified>
</coreProperties>
</file>