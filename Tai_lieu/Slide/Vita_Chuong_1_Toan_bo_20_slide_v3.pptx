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e4d4a5949e4e58" /><Relationship Type="http://schemas.openxmlformats.org/officeDocument/2006/relationships/extended-properties" Target="/docProps/app.xml" Id="R851b27135eed4cc2" /><Relationship Type="http://schemas.openxmlformats.org/officeDocument/2006/relationships/officeDocument" Target="/ppt/presentation.xml" Id="R6e561b48114b47b2" /></Relationships>
</file>

<file path=ppt/presentation.xml><?xml version="1.0" encoding="utf-8"?>
<p:presentation xmlns:p="http://schemas.openxmlformats.org/presentationml/2006/main">
  <p:sldMasterIdLst>
    <p:sldMasterId xmlns:r="http://schemas.openxmlformats.org/officeDocument/2006/relationships" id="2147483648" r:id="R78e286784dd44cfa"/>
  </p:sldMasterIdLst>
  <p:notesMasterIdLst>
    <p:notesMasterId xmlns:r="http://schemas.openxmlformats.org/officeDocument/2006/relationships" r:id="Rd445c186e5c94dcd"/>
  </p:notesMasterIdLst>
  <p:sldIdLst>
    <p:sldId xmlns:r="http://schemas.openxmlformats.org/officeDocument/2006/relationships" id="256" r:id="R7a15c2b1822a4516"/>
    <p:sldId xmlns:r="http://schemas.openxmlformats.org/officeDocument/2006/relationships" id="257" r:id="Rf865804a923943f2"/>
    <p:sldId xmlns:r="http://schemas.openxmlformats.org/officeDocument/2006/relationships" id="258" r:id="R4ea9701a49e44c15"/>
    <p:sldId xmlns:r="http://schemas.openxmlformats.org/officeDocument/2006/relationships" id="259" r:id="Rc0e1fddef9ec4bf3"/>
    <p:sldId xmlns:r="http://schemas.openxmlformats.org/officeDocument/2006/relationships" id="260" r:id="Rfcf0a17cb9874501"/>
    <p:sldId xmlns:r="http://schemas.openxmlformats.org/officeDocument/2006/relationships" id="261" r:id="Rc259670bedb74fd8"/>
    <p:sldId xmlns:r="http://schemas.openxmlformats.org/officeDocument/2006/relationships" id="262" r:id="R1b9c2cc6e7574aef"/>
    <p:sldId xmlns:r="http://schemas.openxmlformats.org/officeDocument/2006/relationships" id="263" r:id="Rb569025e431e49fe"/>
    <p:sldId xmlns:r="http://schemas.openxmlformats.org/officeDocument/2006/relationships" id="264" r:id="Rf44e36f16fd34cc5"/>
    <p:sldId xmlns:r="http://schemas.openxmlformats.org/officeDocument/2006/relationships" id="265" r:id="R720069f778a04e52"/>
    <p:sldId xmlns:r="http://schemas.openxmlformats.org/officeDocument/2006/relationships" id="266" r:id="Re0ec7be468144587"/>
    <p:sldId xmlns:r="http://schemas.openxmlformats.org/officeDocument/2006/relationships" id="267" r:id="R2b048452cb734a4c"/>
    <p:sldId xmlns:r="http://schemas.openxmlformats.org/officeDocument/2006/relationships" id="268" r:id="Rbf7b255e2834488d"/>
    <p:sldId xmlns:r="http://schemas.openxmlformats.org/officeDocument/2006/relationships" id="269" r:id="R3c024dcd72f546ac"/>
    <p:sldId xmlns:r="http://schemas.openxmlformats.org/officeDocument/2006/relationships" id="270" r:id="Rc980c912207642b9"/>
    <p:sldId xmlns:r="http://schemas.openxmlformats.org/officeDocument/2006/relationships" id="271" r:id="R7fe5db68261944a4"/>
    <p:sldId xmlns:r="http://schemas.openxmlformats.org/officeDocument/2006/relationships" id="272" r:id="Rce8b12f0228044bf"/>
    <p:sldId xmlns:r="http://schemas.openxmlformats.org/officeDocument/2006/relationships" id="273" r:id="R7f154d12c15847f6"/>
    <p:sldId xmlns:r="http://schemas.openxmlformats.org/officeDocument/2006/relationships" id="274" r:id="Rca8b6c00788c4334"/>
    <p:sldId xmlns:r="http://schemas.openxmlformats.org/officeDocument/2006/relationships" id="275" r:id="Rd9613b4a110a44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80ba89d339433a" /><Relationship Type="http://schemas.openxmlformats.org/officeDocument/2006/relationships/slideMaster" Target="/ppt/slideMasters/slideMaster1.xml" Id="R78e286784dd44cfa" /><Relationship Type="http://schemas.openxmlformats.org/officeDocument/2006/relationships/notesMaster" Target="/ppt/notesMasters/notesMaster1.xml" Id="Rd445c186e5c94dcd" /><Relationship Type="http://schemas.openxmlformats.org/officeDocument/2006/relationships/presProps" Target="/ppt/presProps.xml" Id="R736d823698b24d24" /><Relationship Type="http://schemas.openxmlformats.org/officeDocument/2006/relationships/tableStyles" Target="/ppt/tableStyles.xml" Id="Re57607d16ecb43d6" /><Relationship Type="http://schemas.openxmlformats.org/officeDocument/2006/relationships/slide" Target="/ppt/slides/slide1.xml" Id="R7a15c2b1822a4516" /><Relationship Type="http://schemas.openxmlformats.org/officeDocument/2006/relationships/slide" Target="/ppt/slides/slide2.xml" Id="Rf865804a923943f2" /><Relationship Type="http://schemas.openxmlformats.org/officeDocument/2006/relationships/slide" Target="/ppt/slides/slide3.xml" Id="R4ea9701a49e44c15" /><Relationship Type="http://schemas.openxmlformats.org/officeDocument/2006/relationships/slide" Target="/ppt/slides/slide4.xml" Id="Rc0e1fddef9ec4bf3" /><Relationship Type="http://schemas.openxmlformats.org/officeDocument/2006/relationships/slide" Target="/ppt/slides/slide5.xml" Id="Rfcf0a17cb9874501" /><Relationship Type="http://schemas.openxmlformats.org/officeDocument/2006/relationships/slide" Target="/ppt/slides/slide6.xml" Id="Rc259670bedb74fd8" /><Relationship Type="http://schemas.openxmlformats.org/officeDocument/2006/relationships/slide" Target="/ppt/slides/slide7.xml" Id="R1b9c2cc6e7574aef" /><Relationship Type="http://schemas.openxmlformats.org/officeDocument/2006/relationships/slide" Target="/ppt/slides/slide8.xml" Id="Rb569025e431e49fe" /><Relationship Type="http://schemas.openxmlformats.org/officeDocument/2006/relationships/slide" Target="/ppt/slides/slide9.xml" Id="Rf44e36f16fd34cc5" /><Relationship Type="http://schemas.openxmlformats.org/officeDocument/2006/relationships/slide" Target="/ppt/slides/slide10.xml" Id="R720069f778a04e52" /><Relationship Type="http://schemas.openxmlformats.org/officeDocument/2006/relationships/slide" Target="/ppt/slides/slide11.xml" Id="Re0ec7be468144587" /><Relationship Type="http://schemas.openxmlformats.org/officeDocument/2006/relationships/slide" Target="/ppt/slides/slide12.xml" Id="R2b048452cb734a4c" /><Relationship Type="http://schemas.openxmlformats.org/officeDocument/2006/relationships/slide" Target="/ppt/slides/slide13.xml" Id="Rbf7b255e2834488d" /><Relationship Type="http://schemas.openxmlformats.org/officeDocument/2006/relationships/slide" Target="/ppt/slides/slide14.xml" Id="R3c024dcd72f546ac" /><Relationship Type="http://schemas.openxmlformats.org/officeDocument/2006/relationships/slide" Target="/ppt/slides/slide15.xml" Id="Rc980c912207642b9" /><Relationship Type="http://schemas.openxmlformats.org/officeDocument/2006/relationships/slide" Target="/ppt/slides/slide16.xml" Id="R7fe5db68261944a4" /><Relationship Type="http://schemas.openxmlformats.org/officeDocument/2006/relationships/slide" Target="/ppt/slides/slide17.xml" Id="Rce8b12f0228044bf" /><Relationship Type="http://schemas.openxmlformats.org/officeDocument/2006/relationships/slide" Target="/ppt/slides/slide18.xml" Id="R7f154d12c15847f6" /><Relationship Type="http://schemas.openxmlformats.org/officeDocument/2006/relationships/slide" Target="/ppt/slides/slide19.xml" Id="Rca8b6c00788c4334" /><Relationship Type="http://schemas.openxmlformats.org/officeDocument/2006/relationships/slide" Target="/ppt/slides/slide20.xml" Id="Rd9613b4a110a44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0655ded92743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cd60cf920b42be" /><Relationship Type="http://schemas.openxmlformats.org/officeDocument/2006/relationships/notesMaster" Target="/ppt/notesMasters/notesMaster1.xml" Id="R8d3e9c088b134d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380d48f38a42b7" /><Relationship Type="http://schemas.openxmlformats.org/officeDocument/2006/relationships/notesMaster" Target="/ppt/notesMasters/notesMaster1.xml" Id="R98e1d2405dc745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7dc3db4c544feb" /><Relationship Type="http://schemas.openxmlformats.org/officeDocument/2006/relationships/notesMaster" Target="/ppt/notesMasters/notesMaster1.xml" Id="R8d4a33e7a52144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ce502220bb4d75" /><Relationship Type="http://schemas.openxmlformats.org/officeDocument/2006/relationships/notesMaster" Target="/ppt/notesMasters/notesMaster1.xml" Id="R62c4a33d19ec43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88c9b44f0d426a" /><Relationship Type="http://schemas.openxmlformats.org/officeDocument/2006/relationships/notesMaster" Target="/ppt/notesMasters/notesMaster1.xml" Id="R71d4eac45d9a4d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17ab2b62f34e12" /><Relationship Type="http://schemas.openxmlformats.org/officeDocument/2006/relationships/notesMaster" Target="/ppt/notesMasters/notesMaster1.xml" Id="R2e4ef9ff32ff4b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6dc908fe9c454e" /><Relationship Type="http://schemas.openxmlformats.org/officeDocument/2006/relationships/notesMaster" Target="/ppt/notesMasters/notesMaster1.xml" Id="R2fae994d59c640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124791b08a41ce" /><Relationship Type="http://schemas.openxmlformats.org/officeDocument/2006/relationships/notesMaster" Target="/ppt/notesMasters/notesMaster1.xml" Id="Rcee8150cfdc346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80e591e06e4b59" /><Relationship Type="http://schemas.openxmlformats.org/officeDocument/2006/relationships/notesMaster" Target="/ppt/notesMasters/notesMaster1.xml" Id="R22365bc5aad646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17e6317a5a4a9a" /><Relationship Type="http://schemas.openxmlformats.org/officeDocument/2006/relationships/notesMaster" Target="/ppt/notesMasters/notesMaster1.xml" Id="R663e2933003b46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d1b685417e14a69" /><Relationship Type="http://schemas.openxmlformats.org/officeDocument/2006/relationships/notesMaster" Target="/ppt/notesMasters/notesMaster1.xml" Id="R812ad5ddf9644b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2ad349876f4aba" /><Relationship Type="http://schemas.openxmlformats.org/officeDocument/2006/relationships/notesMaster" Target="/ppt/notesMasters/notesMaster1.xml" Id="Ra070c7a313914e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2fd77d6894240f3" /><Relationship Type="http://schemas.openxmlformats.org/officeDocument/2006/relationships/notesMaster" Target="/ppt/notesMasters/notesMaster1.xml" Id="Rd53572d8aed5429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a39a49b86634f8c" /><Relationship Type="http://schemas.openxmlformats.org/officeDocument/2006/relationships/notesMaster" Target="/ppt/notesMasters/notesMaster1.xml" Id="R062be5f35d0e4aa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8c92e15a83b401f" /><Relationship Type="http://schemas.openxmlformats.org/officeDocument/2006/relationships/notesMaster" Target="/ppt/notesMasters/notesMaster1.xml" Id="R0ff15e4076c94f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57a86b0acbc4b1f" /><Relationship Type="http://schemas.openxmlformats.org/officeDocument/2006/relationships/notesMaster" Target="/ppt/notesMasters/notesMaster1.xml" Id="R4762b4ad2ca543c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bfa402396dc4dcb" /><Relationship Type="http://schemas.openxmlformats.org/officeDocument/2006/relationships/notesMaster" Target="/ppt/notesMasters/notesMaster1.xml" Id="R572e2bccf3ca414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0714868ea7a4f6b" /><Relationship Type="http://schemas.openxmlformats.org/officeDocument/2006/relationships/notesMaster" Target="/ppt/notesMasters/notesMaster1.xml" Id="R4de709fb7af24bf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467abb0ecc64148" /><Relationship Type="http://schemas.openxmlformats.org/officeDocument/2006/relationships/notesMaster" Target="/ppt/notesMasters/notesMaster1.xml" Id="Re04b57c986c4458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ac1114d89ed4a1c" /><Relationship Type="http://schemas.openxmlformats.org/officeDocument/2006/relationships/notesMaster" Target="/ppt/notesMasters/notesMaster1.xml" Id="Rc0b5efba87b64b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 Sơ đồ cập nhật: docs/assets/Vita_UseCase_13_UC.png, đủ UC01–UC13. Khi trình bày, tập trung các nhóm chức năng và đường liên kết chính. Không yêu cầu người nghe đọc từng nhãn nhỏ trong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 Sơ đồ thay thế theo ảnh người dùng cung cấp. Nét chấm là lối mở hồ sơ, nét liền là hướng điều hướng. Nét uốn ở giao điểm phân biệt hai đường không nối nhau. Khi trình bày, tập trung các nhóm chức năng và đường liên kết chính. Không yêu cầu người nghe đọc từng nhãn nhỏ trong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 Ký hiệu Crow’s Foot: hai vạch biểu thị đúng một, vòng tròn kết hợp chân quạ biểu thị 0 đến nhiều. Khóa ngoại trên hàng con tham chiếu khóa chính của hàng cha. Khi trình bày, tập trung các nhóm chức năng và đường liên kết chính. Không yêu cầu người nghe đọc từng nhãn nhỏ trong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toàn bộ Chương 1, bảng 1.1–1.9.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3acb3a014b4e9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ffbc03ef2649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8980a92fe443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e2f5ac7a55d48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00e88d5470490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e3820018ac848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DE8351-90BD-44E0-9094-A67A2DAA94E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9F09D8A-A2D3-4AD0-8082-85381D156F2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64C3B55-49CC-4D61-A7B8-87095E6FB4E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1E7CD6-EDBF-413A-B1BC-A3B2B19B71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B76364-B23F-41A8-8285-A6AF497FB65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84AD8F-2CD9-4E02-8733-B1C3DD9C32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D7E82E-84D2-41E0-AB17-3AF77D7E73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B3A1472-CBF4-499F-A53F-2EE56C178C4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DDE3BA-98D8-4A2C-BF1E-198D545BDE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F1D9D5-5F9E-47C2-A85D-85E7FD74C1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3577d3d97b4d01" /><Relationship Type="http://schemas.openxmlformats.org/officeDocument/2006/relationships/slideLayout" Target="/ppt/slideLayouts/slideLayout1.xml" Id="Rc0e9da8851b2485d" /><Relationship Type="http://schemas.openxmlformats.org/officeDocument/2006/relationships/slideLayout" Target="/ppt/slideLayouts/slideLayout2.xml" Id="R246cc010ff0d4fc9" /><Relationship Type="http://schemas.openxmlformats.org/officeDocument/2006/relationships/slideLayout" Target="/ppt/slideLayouts/slideLayout3.xml" Id="R5bb2442be1eb4578" /><Relationship Type="http://schemas.openxmlformats.org/officeDocument/2006/relationships/slideLayout" Target="/ppt/slideLayouts/slideLayout4.xml" Id="Rd57bb94bbdfe40b6" /><Relationship Type="http://schemas.openxmlformats.org/officeDocument/2006/relationships/slideLayout" Target="/ppt/slideLayouts/slideLayout5.xml" Id="Rc2b5e3aabf1d441c" /><Relationship Type="http://schemas.openxmlformats.org/officeDocument/2006/relationships/slideLayout" Target="/ppt/slideLayouts/slideLayout6.xml" Id="R52a93b17e36a47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e9da8851b2485d"/>
    <p:sldLayoutId xmlns:r="http://schemas.openxmlformats.org/officeDocument/2006/relationships" id="2147483650" r:id="R246cc010ff0d4fc9"/>
    <p:sldLayoutId xmlns:r="http://schemas.openxmlformats.org/officeDocument/2006/relationships" id="2147483651" r:id="R5bb2442be1eb4578"/>
    <p:sldLayoutId xmlns:r="http://schemas.openxmlformats.org/officeDocument/2006/relationships" id="2147483652" r:id="Rd57bb94bbdfe40b6"/>
    <p:sldLayoutId xmlns:r="http://schemas.openxmlformats.org/officeDocument/2006/relationships" id="2147483653" r:id="Rc2b5e3aabf1d441c"/>
    <p:sldLayoutId xmlns:r="http://schemas.openxmlformats.org/officeDocument/2006/relationships" id="2147483654" r:id="R52a93b17e36a47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c60739da0e947df" /><Relationship Type="http://schemas.openxmlformats.org/officeDocument/2006/relationships/image" Target="/ppt/media/image.jpeg" Id="R128ab69e78b44f09" /><Relationship Type="http://schemas.openxmlformats.org/officeDocument/2006/relationships/notesSlide" Target="/ppt/notesSlides/notesSlide1.xml" Id="Rfc0fecf364f84f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fb9ccd4c60e44ec" /><Relationship Type="http://schemas.openxmlformats.org/officeDocument/2006/relationships/notesSlide" Target="/ppt/notesSlides/notesSlide2.xml" Id="R9e4bc649ce1b4e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81eb2c3584d462b" /><Relationship Type="http://schemas.openxmlformats.org/officeDocument/2006/relationships/notesSlide" Target="/ppt/notesSlides/notesSlide3.xml" Id="Rcedaa39718454c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243e9dcada24e77" /><Relationship Type="http://schemas.openxmlformats.org/officeDocument/2006/relationships/image" Target="/ppt/media/image.png" Id="Rf9a3f17f046c4214" /><Relationship Type="http://schemas.openxmlformats.org/officeDocument/2006/relationships/notesSlide" Target="/ppt/notesSlides/notesSlide4.xml" Id="R356fdb377c0e4c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18f1eebf737478c" /><Relationship Type="http://schemas.openxmlformats.org/officeDocument/2006/relationships/image" Target="/ppt/media/image2.png" Id="Rbfb9dc15069147d0" /><Relationship Type="http://schemas.openxmlformats.org/officeDocument/2006/relationships/image" Target="/ppt/media/image3.png" Id="Rd1b065014d1b4512" /><Relationship Type="http://schemas.openxmlformats.org/officeDocument/2006/relationships/image" Target="/ppt/media/image4.png" Id="R63dacf59c3a94fae" /><Relationship Type="http://schemas.openxmlformats.org/officeDocument/2006/relationships/image" Target="/ppt/media/image5.png" Id="R71896d2984f14714" /><Relationship Type="http://schemas.openxmlformats.org/officeDocument/2006/relationships/notesSlide" Target="/ppt/notesSlides/notesSlide5.xml" Id="Rbd5826c9e0e249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4151ff290174426" /><Relationship Type="http://schemas.openxmlformats.org/officeDocument/2006/relationships/image" Target="/ppt/media/image6.png" Id="R9559955686f64434" /><Relationship Type="http://schemas.openxmlformats.org/officeDocument/2006/relationships/image" Target="/ppt/media/image7.png" Id="Rc638b0f5c5964023" /><Relationship Type="http://schemas.openxmlformats.org/officeDocument/2006/relationships/image" Target="/ppt/media/image8.png" Id="R443eb4573dd248fb" /><Relationship Type="http://schemas.openxmlformats.org/officeDocument/2006/relationships/notesSlide" Target="/ppt/notesSlides/notesSlide6.xml" Id="R8eaa2ebd43f641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e260f673aa34b66" /><Relationship Type="http://schemas.openxmlformats.org/officeDocument/2006/relationships/image" Target="/ppt/media/image9.png" Id="R420cc34f5a894ea9" /><Relationship Type="http://schemas.openxmlformats.org/officeDocument/2006/relationships/image" Target="/ppt/media/image10.png" Id="R9e8631cf819345bb" /><Relationship Type="http://schemas.openxmlformats.org/officeDocument/2006/relationships/image" Target="/ppt/media/image11.png" Id="R040f1f07e53b4019" /><Relationship Type="http://schemas.openxmlformats.org/officeDocument/2006/relationships/notesSlide" Target="/ppt/notesSlides/notesSlide7.xml" Id="R8b7be0c36d0d44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bec61373ffe441c" /><Relationship Type="http://schemas.openxmlformats.org/officeDocument/2006/relationships/image" Target="/ppt/media/image12.png" Id="Reb1e1c90ba954356" /><Relationship Type="http://schemas.openxmlformats.org/officeDocument/2006/relationships/image" Target="/ppt/media/image13.png" Id="Rbe3f7ef5a6224f18" /><Relationship Type="http://schemas.openxmlformats.org/officeDocument/2006/relationships/image" Target="/ppt/media/image14.png" Id="Rd3676133b9c34abd" /><Relationship Type="http://schemas.openxmlformats.org/officeDocument/2006/relationships/notesSlide" Target="/ppt/notesSlides/notesSlide8.xml" Id="R601a36435a4a47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e11ad16b3704d86" /><Relationship Type="http://schemas.openxmlformats.org/officeDocument/2006/relationships/image" Target="/ppt/media/image15.png" Id="R9aab05455a044ecd" /><Relationship Type="http://schemas.openxmlformats.org/officeDocument/2006/relationships/image" Target="/ppt/media/image16.png" Id="Ra9b25a85392c44f4" /><Relationship Type="http://schemas.openxmlformats.org/officeDocument/2006/relationships/image" Target="/ppt/media/image17.png" Id="R376dd6f1d53f4590" /><Relationship Type="http://schemas.openxmlformats.org/officeDocument/2006/relationships/notesSlide" Target="/ppt/notesSlides/notesSlide9.xml" Id="Rff549ddeeeda42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327a7ed1b7d4b5c" /><Relationship Type="http://schemas.openxmlformats.org/officeDocument/2006/relationships/image" Target="/ppt/media/image18.png" Id="R473b7c39ed274455" /><Relationship Type="http://schemas.openxmlformats.org/officeDocument/2006/relationships/image" Target="/ppt/media/image19.png" Id="R4ac785a31d8c4e3f" /><Relationship Type="http://schemas.openxmlformats.org/officeDocument/2006/relationships/image" Target="/ppt/media/image20.png" Id="R6d34267166a04f2f" /><Relationship Type="http://schemas.openxmlformats.org/officeDocument/2006/relationships/notesSlide" Target="/ppt/notesSlides/notesSlide10.xml" Id="Rfb7a570feafb413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95a164ce3f04220" /><Relationship Type="http://schemas.openxmlformats.org/officeDocument/2006/relationships/image" Target="/ppt/media/image21.png" Id="Rabfa042929f940f2" /><Relationship Type="http://schemas.openxmlformats.org/officeDocument/2006/relationships/image" Target="/ppt/media/image22.png" Id="R5fe4da9fabc449e7" /><Relationship Type="http://schemas.openxmlformats.org/officeDocument/2006/relationships/image" Target="/ppt/media/image23.png" Id="R96ef2b9d0ec64680" /><Relationship Type="http://schemas.openxmlformats.org/officeDocument/2006/relationships/notesSlide" Target="/ppt/notesSlides/notesSlide11.xml" Id="R8793706ede234d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afa02d206154243" /><Relationship Type="http://schemas.openxmlformats.org/officeDocument/2006/relationships/image" Target="/ppt/media/image24.png" Id="R0abfac55753342ba" /><Relationship Type="http://schemas.openxmlformats.org/officeDocument/2006/relationships/notesSlide" Target="/ppt/notesSlides/notesSlide12.xml" Id="Rc804c6cd019d4c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927b642f7994d80" /><Relationship Type="http://schemas.openxmlformats.org/officeDocument/2006/relationships/image" Target="/ppt/media/image25.png" Id="R4d82336835bd4ef1" /><Relationship Type="http://schemas.openxmlformats.org/officeDocument/2006/relationships/notesSlide" Target="/ppt/notesSlides/notesSlide13.xml" Id="Rdf763d95c85b40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c51930355314b7a" /><Relationship Type="http://schemas.openxmlformats.org/officeDocument/2006/relationships/notesSlide" Target="/ppt/notesSlides/notesSlide14.xml" Id="R474b86749661409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fd68057d7674dfb" /><Relationship Type="http://schemas.openxmlformats.org/officeDocument/2006/relationships/notesSlide" Target="/ppt/notesSlides/notesSlide15.xml" Id="R243e00218bab492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580b830cf2144c1" /><Relationship Type="http://schemas.openxmlformats.org/officeDocument/2006/relationships/notesSlide" Target="/ppt/notesSlides/notesSlide16.xml" Id="R8393eac594e4420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e91c357e3a84134" /><Relationship Type="http://schemas.openxmlformats.org/officeDocument/2006/relationships/notesSlide" Target="/ppt/notesSlides/notesSlide17.xml" Id="Rd6e3dd6ec24f4f4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9483a3fe5494113" /><Relationship Type="http://schemas.openxmlformats.org/officeDocument/2006/relationships/notesSlide" Target="/ppt/notesSlides/notesSlide18.xml" Id="R91ffb31c63af4ff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f8bb90dc90f470c" /><Relationship Type="http://schemas.openxmlformats.org/officeDocument/2006/relationships/notesSlide" Target="/ppt/notesSlides/notesSlide19.xml" Id="Rad91765026a244d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64f451444d64891" /><Relationship Type="http://schemas.openxmlformats.org/officeDocument/2006/relationships/notesSlide" Target="/ppt/notesSlides/notesSlide20.xml" Id="R6144aef8a6f54e0f" /></Relationships>
</file>

<file path=ppt/slides/slide1.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02B5E9-9A6F-495C-865C-79F4C7F712BF}"/>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CHƯƠNG 1  /  MÔ TẢ BÀI TOÁN VÀ SƠ ĐỒ CHỨC NĂNG</a:t>
            </a:r>
          </a:p>
        </p:txBody>
      </p:sp>
      <p:sp>
        <p:nvSpPr>
          <p:cNvPr id="2" name="">
            <a:extLst xmlns:a="http://schemas.openxmlformats.org/drawingml/2006/main">
              <a:ext uri="{FF2B5EF4-FFF2-40B4-BE49-F238E27FC236}">
                <a16:creationId xmlns:a16="http://schemas.microsoft.com/office/drawing/2014/main" id="{2DF18E73-FED1-4D55-8AAE-3F1DA65F8DD0}"/>
              </a:ext>
            </a:extLst>
          </p:cNvPr>
          <p:cNvSpPr>
            <a:spLocks xmlns:a="http://schemas.openxmlformats.org/drawingml/2006/main" noGrp="1"/>
          </p:cNvSpPr>
          <p:nvPr/>
        </p:nvSpPr>
        <p:spPr>
          <a:xfrm xmlns:a="http://schemas.openxmlformats.org/drawingml/2006/main">
            <a:off x="514350" y="1381125"/>
            <a:ext cx="8096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Ứng dụng Android quản lý</a:t>
            </a:r>
          </a:p>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sức khỏe tại nhà Vita</a:t>
            </a:r>
          </a:p>
        </p:txBody>
      </p:sp>
      <p:sp>
        <p:nvSpPr>
          <p:cNvPr id="3" name="">
            <a:extLst xmlns:a="http://schemas.openxmlformats.org/drawingml/2006/main">
              <a:ext uri="{FF2B5EF4-FFF2-40B4-BE49-F238E27FC236}">
                <a16:creationId xmlns:a16="http://schemas.microsoft.com/office/drawing/2014/main" id="{B01381E8-EC2A-4290-A587-86181D22C2DD}"/>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298BDBE3-341D-4AB8-8F05-2181507D3D7A}"/>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1D2C0DA-780D-46BA-8628-FD2DF8C84506}"/>
              </a:ext>
            </a:extLst>
          </p:cNvPr>
          <p:cNvSpPr>
            <a:spLocks xmlns:a="http://schemas.openxmlformats.org/drawingml/2006/main" noGrp="1"/>
          </p:cNvSpPr>
          <p:nvPr/>
        </p:nvSpPr>
        <p:spPr>
          <a:xfrm xmlns:a="http://schemas.openxmlformats.org/drawingml/2006/main">
            <a:off x="514350" y="3190875"/>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87F72"/>
                </a:solidFill>
                <a:latin typeface="Arial"/>
                <a:ea typeface="Arial"/>
                <a:cs typeface="Arial"/>
              </a:defRPr>
            </a:defPPr>
            <a:lvl1pPr>
              <a:defRPr sz="2250" b="0">
                <a:solidFill>
                  <a:srgbClr val="087F72"/>
                </a:solidFill>
                <a:latin typeface="Arial"/>
                <a:ea typeface="Arial"/>
                <a:cs typeface="Arial"/>
              </a:defRPr>
            </a:lvl1pPr>
            <a:lvl2pPr>
              <a:defRPr sz="2250" b="0">
                <a:solidFill>
                  <a:srgbClr val="087F72"/>
                </a:solidFill>
                <a:latin typeface="Arial"/>
                <a:ea typeface="Arial"/>
                <a:cs typeface="Arial"/>
              </a:defRPr>
            </a:lvl2pPr>
            <a:lvl3pPr>
              <a:defRPr sz="2250" b="0">
                <a:solidFill>
                  <a:srgbClr val="087F72"/>
                </a:solidFill>
                <a:latin typeface="Arial"/>
                <a:ea typeface="Arial"/>
                <a:cs typeface="Arial"/>
              </a:defRPr>
            </a:lvl3pPr>
            <a:lvl4pPr>
              <a:defRPr sz="2250" b="0">
                <a:solidFill>
                  <a:srgbClr val="087F72"/>
                </a:solidFill>
                <a:latin typeface="Arial"/>
                <a:ea typeface="Arial"/>
                <a:cs typeface="Arial"/>
              </a:defRPr>
            </a:lvl4pPr>
            <a:lvl5pPr>
              <a:defRPr sz="2250" b="0">
                <a:solidFill>
                  <a:srgbClr val="087F72"/>
                </a:solidFill>
                <a:latin typeface="Arial"/>
                <a:ea typeface="Arial"/>
                <a:cs typeface="Arial"/>
              </a:defRPr>
            </a:lvl5pPr>
            <a:lvl6pPr>
              <a:defRPr sz="2250" b="0">
                <a:solidFill>
                  <a:srgbClr val="087F72"/>
                </a:solidFill>
                <a:latin typeface="Arial"/>
                <a:ea typeface="Arial"/>
                <a:cs typeface="Arial"/>
              </a:defRPr>
            </a:lvl6pPr>
            <a:lvl7pPr>
              <a:defRPr sz="2250" b="0">
                <a:solidFill>
                  <a:srgbClr val="087F72"/>
                </a:solidFill>
                <a:latin typeface="Arial"/>
                <a:ea typeface="Arial"/>
                <a:cs typeface="Arial"/>
              </a:defRPr>
            </a:lvl7pPr>
            <a:lvl8pPr>
              <a:defRPr sz="2250" b="0">
                <a:solidFill>
                  <a:srgbClr val="087F72"/>
                </a:solidFill>
                <a:latin typeface="Arial"/>
                <a:ea typeface="Arial"/>
                <a:cs typeface="Arial"/>
              </a:defRPr>
            </a:lvl8pPr>
            <a:lvl9pPr>
              <a:defRPr sz="2250" b="0">
                <a:solidFill>
                  <a:srgbClr val="087F72"/>
                </a:solidFill>
                <a:latin typeface="Arial"/>
                <a:ea typeface="Arial"/>
                <a:cs typeface="Arial"/>
              </a:defRPr>
            </a:lvl9pPr>
          </a:lstStyle>
          <a:p xmlns:a="http://schemas.openxmlformats.org/drawingml/2006/main">
            <a:pPr>
              <a:defRPr sz="2250" b="0">
                <a:solidFill>
                  <a:srgbClr val="087F72"/>
                </a:solidFill>
                <a:latin typeface="Arial"/>
                <a:ea typeface="Arial"/>
                <a:cs typeface="Arial"/>
              </a:defRPr>
            </a:pPr>
            <a:r>
              <a:rPr sz="2250" b="0">
                <a:solidFill>
                  <a:srgbClr val="087F72"/>
                </a:solidFill>
                <a:latin typeface="Arial"/>
                <a:ea typeface="Arial"/>
                <a:cs typeface="Arial"/>
              </a:rPr>
              <a:t>Tổng quan đề tài, chức năng, màn hình và cơ sở dữ liệu</a:t>
            </a:r>
          </a:p>
        </p:txBody>
      </p:sp>
      <p:sp>
        <p:nvSpPr>
          <p:cNvPr id="6" name="">
            <a:extLst xmlns:a="http://schemas.openxmlformats.org/drawingml/2006/main">
              <a:ext uri="{FF2B5EF4-FFF2-40B4-BE49-F238E27FC236}">
                <a16:creationId xmlns:a16="http://schemas.microsoft.com/office/drawing/2014/main" id="{48D411D3-B77A-4CD6-A964-76887AFA7310}"/>
              </a:ext>
            </a:extLst>
          </p:cNvPr>
          <p:cNvSpPr>
            <a:spLocks xmlns:a="http://schemas.openxmlformats.org/drawingml/2006/main" noGrp="1"/>
          </p:cNvSpPr>
          <p:nvPr/>
        </p:nvSpPr>
        <p:spPr>
          <a:xfrm xmlns:a="http://schemas.openxmlformats.org/drawingml/2006/main">
            <a:off x="514350" y="5067300"/>
            <a:ext cx="809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Huỳnh Trung Tín · Đinh Tấn Minh</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GVHD: ThS. Nguyễn Kim Duy</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Trường Đại học Thủ Dầu Một · Tháng 10/2026</a:t>
            </a:r>
          </a:p>
        </p:txBody>
      </p:sp>
      <p:pic>
        <p:nvPicPr>
          <p:cNvPr id="7" name="">
            <a:extLst xmlns:a="http://schemas.openxmlformats.org/drawingml/2006/main">
              <a:ext uri="{FF2B5EF4-FFF2-40B4-BE49-F238E27FC236}">
                <a16:creationId xmlns:a16="http://schemas.microsoft.com/office/drawing/2014/main" id="{7F420BDA-C342-4D58-90CD-B37D73E29146}"/>
              </a:ext>
            </a:extLst>
          </p:cNvPr>
          <p:cNvPicPr>
            <a:picLocks xmlns:a="http://schemas.openxmlformats.org/drawingml/2006/main" noChangeAspect="1"/>
          </p:cNvPicPr>
          <p:nvPr/>
        </p:nvPicPr>
        <p:blipFill>
          <a:blip xmlns:r="http://schemas.openxmlformats.org/officeDocument/2006/relationships" xmlns:a="http://schemas.openxmlformats.org/drawingml/2006/main" r:embed="R128ab69e78b44f09"/>
          <a:stretch xmlns:a="http://schemas.openxmlformats.org/drawingml/2006/main"/>
        </p:blipFill>
        <p:spPr>
          <a:xfrm xmlns:a="http://schemas.openxmlformats.org/drawingml/2006/main">
            <a:off x="9048750" y="2190750"/>
            <a:ext cx="2190750" cy="2190750"/>
          </a:xfrm>
          <a:prstGeom xmlns:a="http://schemas.openxmlformats.org/drawingml/2006/main" prst="rect">
            <a:avLst/>
          </a:prstGeom>
        </p:spPr>
      </p:pic>
    </p:spTree>
    <p:extLst>
      <p:ext uri="{BB962C8B-B14F-4D97-AF65-F5344CB8AC3E}">
        <p14:creationId xmlns:p14="http://schemas.microsoft.com/office/powerpoint/2010/main" val="643980907"/>
      </p:ext>
    </p:extLst>
  </p:cSld>
</p:sld>
</file>

<file path=ppt/slides/slide2.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94DA73B-03D9-4E27-B6F2-1492F311887B}"/>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1.1  MÔ TẢ BÀI TOÁN</a:t>
            </a:r>
          </a:p>
        </p:txBody>
      </p:sp>
      <p:sp>
        <p:nvSpPr>
          <p:cNvPr id="2" name="">
            <a:extLst xmlns:a="http://schemas.openxmlformats.org/drawingml/2006/main">
              <a:ext uri="{FF2B5EF4-FFF2-40B4-BE49-F238E27FC236}">
                <a16:creationId xmlns:a16="http://schemas.microsoft.com/office/drawing/2014/main" id="{C812FBA3-0FD6-4BDF-A81E-B36D77B7B7B9}"/>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Bài toán, mục tiêu và phạm vi</a:t>
            </a:r>
          </a:p>
        </p:txBody>
      </p:sp>
      <p:sp>
        <p:nvSpPr>
          <p:cNvPr id="3" name="">
            <a:extLst xmlns:a="http://schemas.openxmlformats.org/drawingml/2006/main">
              <a:ext uri="{FF2B5EF4-FFF2-40B4-BE49-F238E27FC236}">
                <a16:creationId xmlns:a16="http://schemas.microsoft.com/office/drawing/2014/main" id="{A588B4C3-A009-4A4A-A03D-C7A06EB45161}"/>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8DCAC181-949A-4E36-8DBD-7E0235232DC3}"/>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F40A4CB-688F-434B-A891-3A9278384403}"/>
              </a:ext>
            </a:extLst>
          </p:cNvPr>
          <p:cNvSpPr>
            <a:spLocks xmlns:a="http://schemas.openxmlformats.org/drawingml/2006/main" noGrp="1"/>
          </p:cNvSpPr>
          <p:nvPr/>
        </p:nvSpPr>
        <p:spPr>
          <a:xfrm xmlns:a="http://schemas.openxmlformats.org/drawingml/2006/main">
            <a:off x="514350" y="15716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Hiện trạng</a:t>
            </a:r>
          </a:p>
        </p:txBody>
      </p:sp>
      <p:sp>
        <p:nvSpPr>
          <p:cNvPr id="6" name="">
            <a:extLst xmlns:a="http://schemas.openxmlformats.org/drawingml/2006/main">
              <a:ext uri="{FF2B5EF4-FFF2-40B4-BE49-F238E27FC236}">
                <a16:creationId xmlns:a16="http://schemas.microsoft.com/office/drawing/2014/main" id="{20FE10DF-61DB-482A-8EB9-FE8DC9914B01}"/>
              </a:ext>
            </a:extLst>
          </p:cNvPr>
          <p:cNvSpPr>
            <a:spLocks xmlns:a="http://schemas.openxmlformats.org/drawingml/2006/main" noGrp="1"/>
          </p:cNvSpPr>
          <p:nvPr/>
        </p:nvSpPr>
        <p:spPr>
          <a:xfrm xmlns:a="http://schemas.openxmlformats.org/drawingml/2006/main">
            <a:off x="514350" y="200025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Kết quả đo rời rạc, thiếu thời điểm và bối cảnh nên khó theo dõi thay đổi.</a:t>
            </a:r>
          </a:p>
        </p:txBody>
      </p:sp>
      <p:sp>
        <p:nvSpPr>
          <p:cNvPr id="7" name="">
            <a:extLst xmlns:a="http://schemas.openxmlformats.org/drawingml/2006/main">
              <a:ext uri="{FF2B5EF4-FFF2-40B4-BE49-F238E27FC236}">
                <a16:creationId xmlns:a16="http://schemas.microsoft.com/office/drawing/2014/main" id="{C2BC8659-56C8-4B81-9408-F579656F3338}"/>
              </a:ext>
            </a:extLst>
          </p:cNvPr>
          <p:cNvSpPr>
            <a:spLocks xmlns:a="http://schemas.openxmlformats.org/drawingml/2006/main" noGrp="1"/>
          </p:cNvSpPr>
          <p:nvPr/>
        </p:nvSpPr>
        <p:spPr>
          <a:xfrm xmlns:a="http://schemas.openxmlformats.org/drawingml/2006/main">
            <a:off x="514350" y="304800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Mục tiêu</a:t>
            </a:r>
          </a:p>
        </p:txBody>
      </p:sp>
      <p:sp>
        <p:nvSpPr>
          <p:cNvPr id="8" name="">
            <a:extLst xmlns:a="http://schemas.openxmlformats.org/drawingml/2006/main">
              <a:ext uri="{FF2B5EF4-FFF2-40B4-BE49-F238E27FC236}">
                <a16:creationId xmlns:a16="http://schemas.microsoft.com/office/drawing/2014/main" id="{EB7E4E6B-8F65-4D5F-B11A-325ADE73449C}"/>
              </a:ext>
            </a:extLst>
          </p:cNvPr>
          <p:cNvSpPr>
            <a:spLocks xmlns:a="http://schemas.openxmlformats.org/drawingml/2006/main" noGrp="1"/>
          </p:cNvSpPr>
          <p:nvPr/>
        </p:nvSpPr>
        <p:spPr>
          <a:xfrm xmlns:a="http://schemas.openxmlformats.org/drawingml/2006/main">
            <a:off x="514350" y="3476625"/>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Ghi chỉ số, quản lý thuốc, nước uống và thống kê trong một ứng dụng.</a:t>
            </a:r>
          </a:p>
        </p:txBody>
      </p:sp>
      <p:sp>
        <p:nvSpPr>
          <p:cNvPr id="9" name="">
            <a:extLst xmlns:a="http://schemas.openxmlformats.org/drawingml/2006/main">
              <a:ext uri="{FF2B5EF4-FFF2-40B4-BE49-F238E27FC236}">
                <a16:creationId xmlns:a16="http://schemas.microsoft.com/office/drawing/2014/main" id="{FD9D9568-91BD-4AC5-8D90-44C6B742D5CD}"/>
              </a:ext>
            </a:extLst>
          </p:cNvPr>
          <p:cNvSpPr>
            <a:spLocks xmlns:a="http://schemas.openxmlformats.org/drawingml/2006/main" noGrp="1"/>
          </p:cNvSpPr>
          <p:nvPr/>
        </p:nvSpPr>
        <p:spPr>
          <a:xfrm xmlns:a="http://schemas.openxmlformats.org/drawingml/2006/main">
            <a:off x="514350" y="452437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Đối tượng</a:t>
            </a:r>
          </a:p>
        </p:txBody>
      </p:sp>
      <p:sp>
        <p:nvSpPr>
          <p:cNvPr id="10" name="">
            <a:extLst xmlns:a="http://schemas.openxmlformats.org/drawingml/2006/main">
              <a:ext uri="{FF2B5EF4-FFF2-40B4-BE49-F238E27FC236}">
                <a16:creationId xmlns:a16="http://schemas.microsoft.com/office/drawing/2014/main" id="{1A114AF6-9385-453A-BD8C-533DB0C20BD6}"/>
              </a:ext>
            </a:extLst>
          </p:cNvPr>
          <p:cNvSpPr>
            <a:spLocks xmlns:a="http://schemas.openxmlformats.org/drawingml/2006/main" noGrp="1"/>
          </p:cNvSpPr>
          <p:nvPr/>
        </p:nvSpPr>
        <p:spPr>
          <a:xfrm xmlns:a="http://schemas.openxmlformats.org/drawingml/2006/main">
            <a:off x="514350" y="495300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Cá nhân tự ghi chép và theo dõi sức khỏe tại nhà.</a:t>
            </a:r>
          </a:p>
        </p:txBody>
      </p:sp>
      <p:sp>
        <p:nvSpPr>
          <p:cNvPr id="11" name="">
            <a:extLst xmlns:a="http://schemas.openxmlformats.org/drawingml/2006/main">
              <a:ext uri="{FF2B5EF4-FFF2-40B4-BE49-F238E27FC236}">
                <a16:creationId xmlns:a16="http://schemas.microsoft.com/office/drawing/2014/main" id="{9F511F7E-6A48-4665-BB09-AA18F74EB2F3}"/>
              </a:ext>
            </a:extLst>
          </p:cNvPr>
          <p:cNvSpPr>
            <a:spLocks xmlns:a="http://schemas.openxmlformats.org/drawingml/2006/main" noGrp="1"/>
          </p:cNvSpPr>
          <p:nvPr/>
        </p:nvSpPr>
        <p:spPr>
          <a:xfrm xmlns:a="http://schemas.openxmlformats.org/drawingml/2006/main">
            <a:off x="6477000" y="15716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Nền tảng</a:t>
            </a:r>
          </a:p>
        </p:txBody>
      </p:sp>
      <p:sp>
        <p:nvSpPr>
          <p:cNvPr id="12" name="">
            <a:extLst xmlns:a="http://schemas.openxmlformats.org/drawingml/2006/main">
              <a:ext uri="{FF2B5EF4-FFF2-40B4-BE49-F238E27FC236}">
                <a16:creationId xmlns:a16="http://schemas.microsoft.com/office/drawing/2014/main" id="{FE230A02-F759-4D12-B318-BA5D3CC5AC87}"/>
              </a:ext>
            </a:extLst>
          </p:cNvPr>
          <p:cNvSpPr>
            <a:spLocks xmlns:a="http://schemas.openxmlformats.org/drawingml/2006/main" noGrp="1"/>
          </p:cNvSpPr>
          <p:nvPr/>
        </p:nvSpPr>
        <p:spPr>
          <a:xfrm xmlns:a="http://schemas.openxmlformats.org/drawingml/2006/main">
            <a:off x="6477000" y="200025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Java, giao diện XML, Android 7.0 trở lên. Dữ liệu cục bộ bằng SQLite.</a:t>
            </a:r>
          </a:p>
        </p:txBody>
      </p:sp>
      <p:sp>
        <p:nvSpPr>
          <p:cNvPr id="13" name="">
            <a:extLst xmlns:a="http://schemas.openxmlformats.org/drawingml/2006/main">
              <a:ext uri="{FF2B5EF4-FFF2-40B4-BE49-F238E27FC236}">
                <a16:creationId xmlns:a16="http://schemas.microsoft.com/office/drawing/2014/main" id="{8956B5DC-7EB1-4C01-BFA1-0C5822831A2A}"/>
              </a:ext>
            </a:extLst>
          </p:cNvPr>
          <p:cNvSpPr>
            <a:spLocks xmlns:a="http://schemas.openxmlformats.org/drawingml/2006/main" noGrp="1"/>
          </p:cNvSpPr>
          <p:nvPr/>
        </p:nvSpPr>
        <p:spPr>
          <a:xfrm xmlns:a="http://schemas.openxmlformats.org/drawingml/2006/main">
            <a:off x="6477000" y="3048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Phạm vi hiện tại</a:t>
            </a:r>
          </a:p>
        </p:txBody>
      </p:sp>
      <p:sp>
        <p:nvSpPr>
          <p:cNvPr id="14" name="">
            <a:extLst xmlns:a="http://schemas.openxmlformats.org/drawingml/2006/main">
              <a:ext uri="{FF2B5EF4-FFF2-40B4-BE49-F238E27FC236}">
                <a16:creationId xmlns:a16="http://schemas.microsoft.com/office/drawing/2014/main" id="{FAAA8C8D-49CF-44BC-A87C-11DF1E254758}"/>
              </a:ext>
            </a:extLst>
          </p:cNvPr>
          <p:cNvSpPr>
            <a:spLocks xmlns:a="http://schemas.openxmlformats.org/drawingml/2006/main" noGrp="1"/>
          </p:cNvSpPr>
          <p:nvPr/>
        </p:nvSpPr>
        <p:spPr>
          <a:xfrm xmlns:a="http://schemas.openxmlformats.org/drawingml/2006/main">
            <a:off x="6477000" y="3476625"/>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Nhập thủ công. Chưa đồng bộ đám mây, kết nối thiết bị đo hay theo dõi giấc ngủ.</a:t>
            </a:r>
          </a:p>
        </p:txBody>
      </p:sp>
      <p:sp>
        <p:nvSpPr>
          <p:cNvPr id="15" name="">
            <a:extLst xmlns:a="http://schemas.openxmlformats.org/drawingml/2006/main">
              <a:ext uri="{FF2B5EF4-FFF2-40B4-BE49-F238E27FC236}">
                <a16:creationId xmlns:a16="http://schemas.microsoft.com/office/drawing/2014/main" id="{26022E11-81C6-4BE6-8741-31F8429C1FDB}"/>
              </a:ext>
            </a:extLst>
          </p:cNvPr>
          <p:cNvSpPr>
            <a:spLocks xmlns:a="http://schemas.openxmlformats.org/drawingml/2006/main" noGrp="1"/>
          </p:cNvSpPr>
          <p:nvPr/>
        </p:nvSpPr>
        <p:spPr>
          <a:xfrm xmlns:a="http://schemas.openxmlformats.org/drawingml/2006/main">
            <a:off x="6477000" y="45243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Giới hạn sử dụng</a:t>
            </a:r>
          </a:p>
        </p:txBody>
      </p:sp>
      <p:sp>
        <p:nvSpPr>
          <p:cNvPr id="16" name="">
            <a:extLst xmlns:a="http://schemas.openxmlformats.org/drawingml/2006/main">
              <a:ext uri="{FF2B5EF4-FFF2-40B4-BE49-F238E27FC236}">
                <a16:creationId xmlns:a16="http://schemas.microsoft.com/office/drawing/2014/main" id="{4319740E-59D7-4232-AF88-FE7EEFFF560B}"/>
              </a:ext>
            </a:extLst>
          </p:cNvPr>
          <p:cNvSpPr>
            <a:spLocks xmlns:a="http://schemas.openxmlformats.org/drawingml/2006/main" noGrp="1"/>
          </p:cNvSpPr>
          <p:nvPr/>
        </p:nvSpPr>
        <p:spPr>
          <a:xfrm xmlns:a="http://schemas.openxmlformats.org/drawingml/2006/main">
            <a:off x="6477000" y="49530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Nhận xét chỉ số và BMI chỉ để tham khảo, không chẩn đoán hoặc chỉ định điều trị.</a:t>
            </a:r>
          </a:p>
        </p:txBody>
      </p:sp>
    </p:spTree>
    <p:extLst>
      <p:ext uri="{BB962C8B-B14F-4D97-AF65-F5344CB8AC3E}">
        <p14:creationId xmlns:p14="http://schemas.microsoft.com/office/powerpoint/2010/main" val="1755753699"/>
      </p:ext>
    </p:extLst>
  </p:cSld>
</p:sld>
</file>

<file path=ppt/slides/slide3.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39277D2-7AE6-4F4A-A8C6-C67FCDA6CE80}"/>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1.1  NHU CẦU VÀ CHỨC NĂNG</a:t>
            </a:r>
          </a:p>
        </p:txBody>
      </p:sp>
      <p:sp>
        <p:nvSpPr>
          <p:cNvPr id="2" name="">
            <a:extLst xmlns:a="http://schemas.openxmlformats.org/drawingml/2006/main">
              <a:ext uri="{FF2B5EF4-FFF2-40B4-BE49-F238E27FC236}">
                <a16:creationId xmlns:a16="http://schemas.microsoft.com/office/drawing/2014/main" id="{7E965742-0E19-4D07-BC8F-D11D7ED3E6AB}"/>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Các chức năng chính của Vita</a:t>
            </a:r>
          </a:p>
        </p:txBody>
      </p:sp>
      <p:sp>
        <p:nvSpPr>
          <p:cNvPr id="3" name="">
            <a:extLst xmlns:a="http://schemas.openxmlformats.org/drawingml/2006/main">
              <a:ext uri="{FF2B5EF4-FFF2-40B4-BE49-F238E27FC236}">
                <a16:creationId xmlns:a16="http://schemas.microsoft.com/office/drawing/2014/main" id="{8C19BBC4-75B5-485C-B737-ABC3A0FD343A}"/>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BBB7B697-6124-4C84-A301-D93B35880FC1}"/>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BAE24611-26B4-4F24-AFDF-F6A9D8EB028D}"/>
              </a:ext>
            </a:extLst>
          </p:cNvPr>
          <p:cNvSpPr>
            <a:spLocks xmlns:a="http://schemas.openxmlformats.org/drawingml/2006/main" noGrp="1"/>
          </p:cNvSpPr>
          <p:nvPr/>
        </p:nvSpPr>
        <p:spPr>
          <a:xfrm xmlns:a="http://schemas.openxmlformats.org/drawingml/2006/main">
            <a:off x="514350" y="15716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Tài khoản và hồ sơ</a:t>
            </a:r>
          </a:p>
        </p:txBody>
      </p:sp>
      <p:sp>
        <p:nvSpPr>
          <p:cNvPr id="6" name="">
            <a:extLst xmlns:a="http://schemas.openxmlformats.org/drawingml/2006/main">
              <a:ext uri="{FF2B5EF4-FFF2-40B4-BE49-F238E27FC236}">
                <a16:creationId xmlns:a16="http://schemas.microsoft.com/office/drawing/2014/main" id="{4350043D-1991-4FE2-B8BF-598031905C5A}"/>
              </a:ext>
            </a:extLst>
          </p:cNvPr>
          <p:cNvSpPr>
            <a:spLocks xmlns:a="http://schemas.openxmlformats.org/drawingml/2006/main" noGrp="1"/>
          </p:cNvSpPr>
          <p:nvPr/>
        </p:nvSpPr>
        <p:spPr>
          <a:xfrm xmlns:a="http://schemas.openxmlformats.org/drawingml/2006/main">
            <a:off x="514350" y="200025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Đăng ký hai bước, đăng nhập, sửa hồ sơ, đăng xuất và xóa tài khoản.</a:t>
            </a:r>
          </a:p>
        </p:txBody>
      </p:sp>
      <p:sp>
        <p:nvSpPr>
          <p:cNvPr id="7" name="">
            <a:extLst xmlns:a="http://schemas.openxmlformats.org/drawingml/2006/main">
              <a:ext uri="{FF2B5EF4-FFF2-40B4-BE49-F238E27FC236}">
                <a16:creationId xmlns:a16="http://schemas.microsoft.com/office/drawing/2014/main" id="{4C0D5502-8A90-46FD-B734-5F23739571EF}"/>
              </a:ext>
            </a:extLst>
          </p:cNvPr>
          <p:cNvSpPr>
            <a:spLocks xmlns:a="http://schemas.openxmlformats.org/drawingml/2006/main" noGrp="1"/>
          </p:cNvSpPr>
          <p:nvPr/>
        </p:nvSpPr>
        <p:spPr>
          <a:xfrm xmlns:a="http://schemas.openxmlformats.org/drawingml/2006/main">
            <a:off x="514350" y="304800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Chỉ số và BMI</a:t>
            </a:r>
          </a:p>
        </p:txBody>
      </p:sp>
      <p:sp>
        <p:nvSpPr>
          <p:cNvPr id="8" name="">
            <a:extLst xmlns:a="http://schemas.openxmlformats.org/drawingml/2006/main">
              <a:ext uri="{FF2B5EF4-FFF2-40B4-BE49-F238E27FC236}">
                <a16:creationId xmlns:a16="http://schemas.microsoft.com/office/drawing/2014/main" id="{023625B3-EB6A-491D-B85E-9D236FB38404}"/>
              </a:ext>
            </a:extLst>
          </p:cNvPr>
          <p:cNvSpPr>
            <a:spLocks xmlns:a="http://schemas.openxmlformats.org/drawingml/2006/main" noGrp="1"/>
          </p:cNvSpPr>
          <p:nvPr/>
        </p:nvSpPr>
        <p:spPr>
          <a:xfrm xmlns:a="http://schemas.openxmlformats.org/drawingml/2006/main">
            <a:off x="514350" y="3476625"/>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Thêm, sửa, tra cứu lần đo. Tính BMI và phân loại khi đủ điều kiện tuổi.</a:t>
            </a:r>
          </a:p>
        </p:txBody>
      </p:sp>
      <p:sp>
        <p:nvSpPr>
          <p:cNvPr id="9" name="">
            <a:extLst xmlns:a="http://schemas.openxmlformats.org/drawingml/2006/main">
              <a:ext uri="{FF2B5EF4-FFF2-40B4-BE49-F238E27FC236}">
                <a16:creationId xmlns:a16="http://schemas.microsoft.com/office/drawing/2014/main" id="{B386274E-7748-4B74-96E8-E8CAE38638D4}"/>
              </a:ext>
            </a:extLst>
          </p:cNvPr>
          <p:cNvSpPr>
            <a:spLocks xmlns:a="http://schemas.openxmlformats.org/drawingml/2006/main" noGrp="1"/>
          </p:cNvSpPr>
          <p:nvPr/>
        </p:nvSpPr>
        <p:spPr>
          <a:xfrm xmlns:a="http://schemas.openxmlformats.org/drawingml/2006/main">
            <a:off x="514350" y="452437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Thuốc và cữ uống</a:t>
            </a:r>
          </a:p>
        </p:txBody>
      </p:sp>
      <p:sp>
        <p:nvSpPr>
          <p:cNvPr id="10" name="">
            <a:extLst xmlns:a="http://schemas.openxmlformats.org/drawingml/2006/main">
              <a:ext uri="{FF2B5EF4-FFF2-40B4-BE49-F238E27FC236}">
                <a16:creationId xmlns:a16="http://schemas.microsoft.com/office/drawing/2014/main" id="{5687FCB8-30CF-40E7-9216-AE8B13CC6B25}"/>
              </a:ext>
            </a:extLst>
          </p:cNvPr>
          <p:cNvSpPr>
            <a:spLocks xmlns:a="http://schemas.openxmlformats.org/drawingml/2006/main" noGrp="1"/>
          </p:cNvSpPr>
          <p:nvPr/>
        </p:nvSpPr>
        <p:spPr>
          <a:xfrm xmlns:a="http://schemas.openxmlformats.org/drawingml/2006/main">
            <a:off x="514350" y="4953000"/>
            <a:ext cx="5000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Nhiều giờ, ngày lặp. Người dùng xác nhận Đã uống hoặc Bỏ qua.</a:t>
            </a:r>
          </a:p>
        </p:txBody>
      </p:sp>
      <p:sp>
        <p:nvSpPr>
          <p:cNvPr id="11" name="">
            <a:extLst xmlns:a="http://schemas.openxmlformats.org/drawingml/2006/main">
              <a:ext uri="{FF2B5EF4-FFF2-40B4-BE49-F238E27FC236}">
                <a16:creationId xmlns:a16="http://schemas.microsoft.com/office/drawing/2014/main" id="{CFF46D0E-C6F8-48DA-A09C-B07EF7BEE1DC}"/>
              </a:ext>
            </a:extLst>
          </p:cNvPr>
          <p:cNvSpPr>
            <a:spLocks xmlns:a="http://schemas.openxmlformats.org/drawingml/2006/main" noGrp="1"/>
          </p:cNvSpPr>
          <p:nvPr/>
        </p:nvSpPr>
        <p:spPr>
          <a:xfrm xmlns:a="http://schemas.openxmlformats.org/drawingml/2006/main">
            <a:off x="6477000" y="15716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Nước uống</a:t>
            </a:r>
          </a:p>
        </p:txBody>
      </p:sp>
      <p:sp>
        <p:nvSpPr>
          <p:cNvPr id="12" name="">
            <a:extLst xmlns:a="http://schemas.openxmlformats.org/drawingml/2006/main">
              <a:ext uri="{FF2B5EF4-FFF2-40B4-BE49-F238E27FC236}">
                <a16:creationId xmlns:a16="http://schemas.microsoft.com/office/drawing/2014/main" id="{73644C1E-5DFD-41F6-8232-8F7C93EAF2CC}"/>
              </a:ext>
            </a:extLst>
          </p:cNvPr>
          <p:cNvSpPr>
            <a:spLocks xmlns:a="http://schemas.openxmlformats.org/drawingml/2006/main" noGrp="1"/>
          </p:cNvSpPr>
          <p:nvPr/>
        </p:nvSpPr>
        <p:spPr>
          <a:xfrm xmlns:a="http://schemas.openxmlformats.org/drawingml/2006/main">
            <a:off x="6477000" y="200025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Ghi từng lần uống, sửa nhật ký và theo dõi mục tiêu trong ngày.</a:t>
            </a:r>
          </a:p>
        </p:txBody>
      </p:sp>
      <p:sp>
        <p:nvSpPr>
          <p:cNvPr id="13" name="">
            <a:extLst xmlns:a="http://schemas.openxmlformats.org/drawingml/2006/main">
              <a:ext uri="{FF2B5EF4-FFF2-40B4-BE49-F238E27FC236}">
                <a16:creationId xmlns:a16="http://schemas.microsoft.com/office/drawing/2014/main" id="{D3A96F0B-92F4-4768-935B-28E85B870B24}"/>
              </a:ext>
            </a:extLst>
          </p:cNvPr>
          <p:cNvSpPr>
            <a:spLocks xmlns:a="http://schemas.openxmlformats.org/drawingml/2006/main" noGrp="1"/>
          </p:cNvSpPr>
          <p:nvPr/>
        </p:nvSpPr>
        <p:spPr>
          <a:xfrm xmlns:a="http://schemas.openxmlformats.org/drawingml/2006/main">
            <a:off x="6477000" y="30480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Tổng quan và thống kê</a:t>
            </a:r>
          </a:p>
        </p:txBody>
      </p:sp>
      <p:sp>
        <p:nvSpPr>
          <p:cNvPr id="14" name="">
            <a:extLst xmlns:a="http://schemas.openxmlformats.org/drawingml/2006/main">
              <a:ext uri="{FF2B5EF4-FFF2-40B4-BE49-F238E27FC236}">
                <a16:creationId xmlns:a16="http://schemas.microsoft.com/office/drawing/2014/main" id="{94098E39-904A-4612-B3FB-4562EF90D9CF}"/>
              </a:ext>
            </a:extLst>
          </p:cNvPr>
          <p:cNvSpPr>
            <a:spLocks xmlns:a="http://schemas.openxmlformats.org/drawingml/2006/main" noGrp="1"/>
          </p:cNvSpPr>
          <p:nvPr/>
        </p:nvSpPr>
        <p:spPr>
          <a:xfrm xmlns:a="http://schemas.openxmlformats.org/drawingml/2006/main">
            <a:off x="6477000" y="3476625"/>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Dữ liệu mới nhất, cữ kế tiếp, biểu đồ 7 hoặc 30 ngày.</a:t>
            </a:r>
          </a:p>
        </p:txBody>
      </p:sp>
      <p:sp>
        <p:nvSpPr>
          <p:cNvPr id="15" name="">
            <a:extLst xmlns:a="http://schemas.openxmlformats.org/drawingml/2006/main">
              <a:ext uri="{FF2B5EF4-FFF2-40B4-BE49-F238E27FC236}">
                <a16:creationId xmlns:a16="http://schemas.microsoft.com/office/drawing/2014/main" id="{67B69363-A84B-481A-AB2F-EBC72A43A92D}"/>
              </a:ext>
            </a:extLst>
          </p:cNvPr>
          <p:cNvSpPr>
            <a:spLocks xmlns:a="http://schemas.openxmlformats.org/drawingml/2006/main" noGrp="1"/>
          </p:cNvSpPr>
          <p:nvPr/>
        </p:nvSpPr>
        <p:spPr>
          <a:xfrm xmlns:a="http://schemas.openxmlformats.org/drawingml/2006/main">
            <a:off x="6477000" y="45243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64C47"/>
                </a:solidFill>
                <a:latin typeface="Arial"/>
                <a:ea typeface="Arial"/>
                <a:cs typeface="Arial"/>
              </a:defRPr>
            </a:defPPr>
            <a:lvl1pPr>
              <a:defRPr sz="2025" b="1">
                <a:solidFill>
                  <a:srgbClr val="164C47"/>
                </a:solidFill>
                <a:latin typeface="Arial"/>
                <a:ea typeface="Arial"/>
                <a:cs typeface="Arial"/>
              </a:defRPr>
            </a:lvl1pPr>
            <a:lvl2pPr>
              <a:defRPr sz="2025" b="1">
                <a:solidFill>
                  <a:srgbClr val="164C47"/>
                </a:solidFill>
                <a:latin typeface="Arial"/>
                <a:ea typeface="Arial"/>
                <a:cs typeface="Arial"/>
              </a:defRPr>
            </a:lvl2pPr>
            <a:lvl3pPr>
              <a:defRPr sz="2025" b="1">
                <a:solidFill>
                  <a:srgbClr val="164C47"/>
                </a:solidFill>
                <a:latin typeface="Arial"/>
                <a:ea typeface="Arial"/>
                <a:cs typeface="Arial"/>
              </a:defRPr>
            </a:lvl3pPr>
            <a:lvl4pPr>
              <a:defRPr sz="2025" b="1">
                <a:solidFill>
                  <a:srgbClr val="164C47"/>
                </a:solidFill>
                <a:latin typeface="Arial"/>
                <a:ea typeface="Arial"/>
                <a:cs typeface="Arial"/>
              </a:defRPr>
            </a:lvl4pPr>
            <a:lvl5pPr>
              <a:defRPr sz="2025" b="1">
                <a:solidFill>
                  <a:srgbClr val="164C47"/>
                </a:solidFill>
                <a:latin typeface="Arial"/>
                <a:ea typeface="Arial"/>
                <a:cs typeface="Arial"/>
              </a:defRPr>
            </a:lvl5pPr>
            <a:lvl6pPr>
              <a:defRPr sz="2025" b="1">
                <a:solidFill>
                  <a:srgbClr val="164C47"/>
                </a:solidFill>
                <a:latin typeface="Arial"/>
                <a:ea typeface="Arial"/>
                <a:cs typeface="Arial"/>
              </a:defRPr>
            </a:lvl6pPr>
            <a:lvl7pPr>
              <a:defRPr sz="2025" b="1">
                <a:solidFill>
                  <a:srgbClr val="164C47"/>
                </a:solidFill>
                <a:latin typeface="Arial"/>
                <a:ea typeface="Arial"/>
                <a:cs typeface="Arial"/>
              </a:defRPr>
            </a:lvl7pPr>
            <a:lvl8pPr>
              <a:defRPr sz="2025" b="1">
                <a:solidFill>
                  <a:srgbClr val="164C47"/>
                </a:solidFill>
                <a:latin typeface="Arial"/>
                <a:ea typeface="Arial"/>
                <a:cs typeface="Arial"/>
              </a:defRPr>
            </a:lvl8pPr>
            <a:lvl9pPr>
              <a:defRPr sz="2025" b="1">
                <a:solidFill>
                  <a:srgbClr val="164C47"/>
                </a:solidFill>
                <a:latin typeface="Arial"/>
                <a:ea typeface="Arial"/>
                <a:cs typeface="Arial"/>
              </a:defRPr>
            </a:lvl9pPr>
          </a:lstStyle>
          <a:p xmlns:a="http://schemas.openxmlformats.org/drawingml/2006/main">
            <a:pPr>
              <a:defRPr sz="2025" b="1">
                <a:solidFill>
                  <a:srgbClr val="164C47"/>
                </a:solidFill>
                <a:latin typeface="Arial"/>
                <a:ea typeface="Arial"/>
                <a:cs typeface="Arial"/>
              </a:defRPr>
            </a:pPr>
            <a:r>
              <a:rPr sz="2025" b="1">
                <a:solidFill>
                  <a:srgbClr val="164C47"/>
                </a:solidFill>
                <a:latin typeface="Arial"/>
                <a:ea typeface="Arial"/>
                <a:cs typeface="Arial"/>
              </a:rPr>
              <a:t>Điều kiện nhắc nhở</a:t>
            </a:r>
          </a:p>
        </p:txBody>
      </p:sp>
      <p:sp>
        <p:nvSpPr>
          <p:cNvPr id="16" name="">
            <a:extLst xmlns:a="http://schemas.openxmlformats.org/drawingml/2006/main">
              <a:ext uri="{FF2B5EF4-FFF2-40B4-BE49-F238E27FC236}">
                <a16:creationId xmlns:a16="http://schemas.microsoft.com/office/drawing/2014/main" id="{E7A8AE3B-8DC3-452D-B2DE-02A15AAB584B}"/>
              </a:ext>
            </a:extLst>
          </p:cNvPr>
          <p:cNvSpPr>
            <a:spLocks xmlns:a="http://schemas.openxmlformats.org/drawingml/2006/main" noGrp="1"/>
          </p:cNvSpPr>
          <p:nvPr/>
        </p:nvSpPr>
        <p:spPr>
          <a:xfrm xmlns:a="http://schemas.openxmlformats.org/drawingml/2006/main">
            <a:off x="6477000" y="49530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B66"/>
                </a:solidFill>
                <a:latin typeface="Arial"/>
                <a:ea typeface="Arial"/>
                <a:cs typeface="Arial"/>
              </a:defRPr>
            </a:defPPr>
            <a:lvl1pPr>
              <a:defRPr sz="1800" b="0">
                <a:solidFill>
                  <a:srgbClr val="526B66"/>
                </a:solidFill>
                <a:latin typeface="Arial"/>
                <a:ea typeface="Arial"/>
                <a:cs typeface="Arial"/>
              </a:defRPr>
            </a:lvl1pPr>
            <a:lvl2pPr>
              <a:defRPr sz="1800" b="0">
                <a:solidFill>
                  <a:srgbClr val="526B66"/>
                </a:solidFill>
                <a:latin typeface="Arial"/>
                <a:ea typeface="Arial"/>
                <a:cs typeface="Arial"/>
              </a:defRPr>
            </a:lvl2pPr>
            <a:lvl3pPr>
              <a:defRPr sz="1800" b="0">
                <a:solidFill>
                  <a:srgbClr val="526B66"/>
                </a:solidFill>
                <a:latin typeface="Arial"/>
                <a:ea typeface="Arial"/>
                <a:cs typeface="Arial"/>
              </a:defRPr>
            </a:lvl3pPr>
            <a:lvl4pPr>
              <a:defRPr sz="1800" b="0">
                <a:solidFill>
                  <a:srgbClr val="526B66"/>
                </a:solidFill>
                <a:latin typeface="Arial"/>
                <a:ea typeface="Arial"/>
                <a:cs typeface="Arial"/>
              </a:defRPr>
            </a:lvl4pPr>
            <a:lvl5pPr>
              <a:defRPr sz="1800" b="0">
                <a:solidFill>
                  <a:srgbClr val="526B66"/>
                </a:solidFill>
                <a:latin typeface="Arial"/>
                <a:ea typeface="Arial"/>
                <a:cs typeface="Arial"/>
              </a:defRPr>
            </a:lvl5pPr>
            <a:lvl6pPr>
              <a:defRPr sz="1800" b="0">
                <a:solidFill>
                  <a:srgbClr val="526B66"/>
                </a:solidFill>
                <a:latin typeface="Arial"/>
                <a:ea typeface="Arial"/>
                <a:cs typeface="Arial"/>
              </a:defRPr>
            </a:lvl6pPr>
            <a:lvl7pPr>
              <a:defRPr sz="1800" b="0">
                <a:solidFill>
                  <a:srgbClr val="526B66"/>
                </a:solidFill>
                <a:latin typeface="Arial"/>
                <a:ea typeface="Arial"/>
                <a:cs typeface="Arial"/>
              </a:defRPr>
            </a:lvl7pPr>
            <a:lvl8pPr>
              <a:defRPr sz="1800" b="0">
                <a:solidFill>
                  <a:srgbClr val="526B66"/>
                </a:solidFill>
                <a:latin typeface="Arial"/>
                <a:ea typeface="Arial"/>
                <a:cs typeface="Arial"/>
              </a:defRPr>
            </a:lvl8pPr>
            <a:lvl9pPr>
              <a:defRPr sz="1800" b="0">
                <a:solidFill>
                  <a:srgbClr val="526B66"/>
                </a:solidFill>
                <a:latin typeface="Arial"/>
                <a:ea typeface="Arial"/>
                <a:cs typeface="Arial"/>
              </a:defRPr>
            </a:lvl9pPr>
          </a:lstStyle>
          <a:p xmlns:a="http://schemas.openxmlformats.org/drawingml/2006/main">
            <a:pPr>
              <a:defRPr sz="1800" b="0">
                <a:solidFill>
                  <a:srgbClr val="526B66"/>
                </a:solidFill>
                <a:latin typeface="Arial"/>
                <a:ea typeface="Arial"/>
                <a:cs typeface="Arial"/>
              </a:defRPr>
            </a:pPr>
            <a:r>
              <a:rPr sz="1800" b="0">
                <a:solidFill>
                  <a:srgbClr val="526B66"/>
                </a:solidFill>
                <a:latin typeface="Arial"/>
                <a:ea typeface="Arial"/>
                <a:cs typeface="Arial"/>
              </a:rPr>
              <a:t>Phụ thuộc quyền thông báo và báo thức Android. Ghi nhận dữ liệu vẫn hoạt động khi tắt thông báo.</a:t>
            </a:r>
          </a:p>
        </p:txBody>
      </p:sp>
    </p:spTree>
    <p:extLst>
      <p:ext uri="{BB962C8B-B14F-4D97-AF65-F5344CB8AC3E}">
        <p14:creationId xmlns:p14="http://schemas.microsoft.com/office/powerpoint/2010/main" val="157270927"/>
      </p:ext>
    </p:extLst>
  </p:cSld>
</p:sld>
</file>

<file path=ppt/slides/slide4.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2E2139F-ADBC-485F-AB96-475C41E698ED}"/>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1.2  SƠ ĐỒ CHỨC NĂNG</a:t>
            </a:r>
          </a:p>
        </p:txBody>
      </p:sp>
      <p:sp>
        <p:nvSpPr>
          <p:cNvPr id="2" name="">
            <a:extLst xmlns:a="http://schemas.openxmlformats.org/drawingml/2006/main">
              <a:ext uri="{FF2B5EF4-FFF2-40B4-BE49-F238E27FC236}">
                <a16:creationId xmlns:a16="http://schemas.microsoft.com/office/drawing/2014/main" id="{31BFB30A-B0B5-4634-A1C9-C9DDE8077F64}"/>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Sơ đồ ca sử dụng tổng quát</a:t>
            </a:r>
          </a:p>
        </p:txBody>
      </p:sp>
      <p:sp>
        <p:nvSpPr>
          <p:cNvPr id="3" name="">
            <a:extLst xmlns:a="http://schemas.openxmlformats.org/drawingml/2006/main">
              <a:ext uri="{FF2B5EF4-FFF2-40B4-BE49-F238E27FC236}">
                <a16:creationId xmlns:a16="http://schemas.microsoft.com/office/drawing/2014/main" id="{0C5D0D08-1AB0-4635-AF59-8208269B1BEC}"/>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BCB81E1E-29D3-4275-9EC2-5440C3D32509}"/>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04</a:t>
            </a:r>
          </a:p>
        </p:txBody>
      </p:sp>
      <p:pic>
        <p:nvPicPr>
          <p:cNvPr id="5" name="">
            <a:extLst xmlns:a="http://schemas.openxmlformats.org/drawingml/2006/main">
              <a:ext uri="{FF2B5EF4-FFF2-40B4-BE49-F238E27FC236}">
                <a16:creationId xmlns:a16="http://schemas.microsoft.com/office/drawing/2014/main" id="{AD141686-9D47-437C-B85F-C803D7CDA8A4}"/>
              </a:ext>
            </a:extLst>
          </p:cNvPr>
          <p:cNvPicPr>
            <a:picLocks xmlns:a="http://schemas.openxmlformats.org/drawingml/2006/main" noChangeAspect="1"/>
          </p:cNvPicPr>
          <p:nvPr/>
        </p:nvPicPr>
        <p:blipFill>
          <a:blip xmlns:r="http://schemas.openxmlformats.org/officeDocument/2006/relationships" xmlns:a="http://schemas.openxmlformats.org/drawingml/2006/main" r:embed="Rf9a3f17f046c4214"/>
          <a:stretch xmlns:a="http://schemas.openxmlformats.org/drawingml/2006/main"/>
        </p:blipFill>
        <p:spPr>
          <a:xfrm xmlns:a="http://schemas.openxmlformats.org/drawingml/2006/main">
            <a:off x="1423988" y="1381125"/>
            <a:ext cx="4371975" cy="4857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2A8741C-E5E4-4C2E-B340-010F729AEAC2}"/>
              </a:ext>
            </a:extLst>
          </p:cNvPr>
          <p:cNvSpPr>
            <a:spLocks xmlns:a="http://schemas.openxmlformats.org/drawingml/2006/main" noGrp="1"/>
          </p:cNvSpPr>
          <p:nvPr/>
        </p:nvSpPr>
        <p:spPr>
          <a:xfrm xmlns:a="http://schemas.openxmlformats.org/drawingml/2006/main">
            <a:off x="7191375" y="166687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400" b="1">
                <a:solidFill>
                  <a:srgbClr val="164C47"/>
                </a:solidFill>
                <a:latin typeface="Arial"/>
                <a:ea typeface="Arial"/>
                <a:cs typeface="Arial"/>
              </a:defRPr>
            </a:defPPr>
            <a:lvl1pPr>
              <a:defRPr sz="2400" b="1">
                <a:solidFill>
                  <a:srgbClr val="164C47"/>
                </a:solidFill>
                <a:latin typeface="Arial"/>
                <a:ea typeface="Arial"/>
                <a:cs typeface="Arial"/>
              </a:defRPr>
            </a:lvl1pPr>
            <a:lvl2pPr>
              <a:defRPr sz="2400" b="1">
                <a:solidFill>
                  <a:srgbClr val="164C47"/>
                </a:solidFill>
                <a:latin typeface="Arial"/>
                <a:ea typeface="Arial"/>
                <a:cs typeface="Arial"/>
              </a:defRPr>
            </a:lvl2pPr>
            <a:lvl3pPr>
              <a:defRPr sz="2400" b="1">
                <a:solidFill>
                  <a:srgbClr val="164C47"/>
                </a:solidFill>
                <a:latin typeface="Arial"/>
                <a:ea typeface="Arial"/>
                <a:cs typeface="Arial"/>
              </a:defRPr>
            </a:lvl3pPr>
            <a:lvl4pPr>
              <a:defRPr sz="2400" b="1">
                <a:solidFill>
                  <a:srgbClr val="164C47"/>
                </a:solidFill>
                <a:latin typeface="Arial"/>
                <a:ea typeface="Arial"/>
                <a:cs typeface="Arial"/>
              </a:defRPr>
            </a:lvl4pPr>
            <a:lvl5pPr>
              <a:defRPr sz="2400" b="1">
                <a:solidFill>
                  <a:srgbClr val="164C47"/>
                </a:solidFill>
                <a:latin typeface="Arial"/>
                <a:ea typeface="Arial"/>
                <a:cs typeface="Arial"/>
              </a:defRPr>
            </a:lvl5pPr>
            <a:lvl6pPr>
              <a:defRPr sz="2400" b="1">
                <a:solidFill>
                  <a:srgbClr val="164C47"/>
                </a:solidFill>
                <a:latin typeface="Arial"/>
                <a:ea typeface="Arial"/>
                <a:cs typeface="Arial"/>
              </a:defRPr>
            </a:lvl6pPr>
            <a:lvl7pPr>
              <a:defRPr sz="2400" b="1">
                <a:solidFill>
                  <a:srgbClr val="164C47"/>
                </a:solidFill>
                <a:latin typeface="Arial"/>
                <a:ea typeface="Arial"/>
                <a:cs typeface="Arial"/>
              </a:defRPr>
            </a:lvl7pPr>
            <a:lvl8pPr>
              <a:defRPr sz="2400" b="1">
                <a:solidFill>
                  <a:srgbClr val="164C47"/>
                </a:solidFill>
                <a:latin typeface="Arial"/>
                <a:ea typeface="Arial"/>
                <a:cs typeface="Arial"/>
              </a:defRPr>
            </a:lvl8pPr>
            <a:lvl9pPr>
              <a:defRPr sz="2400" b="1">
                <a:solidFill>
                  <a:srgbClr val="164C47"/>
                </a:solidFill>
                <a:latin typeface="Arial"/>
                <a:ea typeface="Arial"/>
                <a:cs typeface="Arial"/>
              </a:defRPr>
            </a:lvl9pPr>
          </a:lstStyle>
          <a:p xmlns:a="http://schemas.openxmlformats.org/drawingml/2006/main">
            <a:pPr>
              <a:defRPr sz="2400" b="1">
                <a:solidFill>
                  <a:srgbClr val="164C47"/>
                </a:solidFill>
                <a:latin typeface="Arial"/>
                <a:ea typeface="Arial"/>
                <a:cs typeface="Arial"/>
              </a:defRPr>
            </a:pPr>
            <a:r>
              <a:rPr sz="2400" b="1">
                <a:solidFill>
                  <a:srgbClr val="164C47"/>
                </a:solidFill>
                <a:latin typeface="Arial"/>
                <a:ea typeface="Arial"/>
                <a:cs typeface="Arial"/>
              </a:rPr>
              <a:t>13 ca sử dụng</a:t>
            </a:r>
          </a:p>
        </p:txBody>
      </p:sp>
      <p:sp>
        <p:nvSpPr>
          <p:cNvPr id="7" name="">
            <a:extLst xmlns:a="http://schemas.openxmlformats.org/drawingml/2006/main">
              <a:ext uri="{FF2B5EF4-FFF2-40B4-BE49-F238E27FC236}">
                <a16:creationId xmlns:a16="http://schemas.microsoft.com/office/drawing/2014/main" id="{9A02F8D6-FB37-473F-9744-6FDE895018D3}"/>
              </a:ext>
            </a:extLst>
          </p:cNvPr>
          <p:cNvSpPr>
            <a:spLocks xmlns:a="http://schemas.openxmlformats.org/drawingml/2006/main" noGrp="1"/>
          </p:cNvSpPr>
          <p:nvPr/>
        </p:nvSpPr>
        <p:spPr>
          <a:xfrm xmlns:a="http://schemas.openxmlformats.org/drawingml/2006/main">
            <a:off x="7191375" y="2381250"/>
            <a:ext cx="4286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025" b="0">
                <a:solidFill>
                  <a:srgbClr val="526B66"/>
                </a:solidFill>
                <a:latin typeface="Arial"/>
                <a:ea typeface="Arial"/>
                <a:cs typeface="Arial"/>
              </a:defRPr>
            </a:defPPr>
            <a:lvl1pPr>
              <a:defRPr sz="2025" b="0">
                <a:solidFill>
                  <a:srgbClr val="526B66"/>
                </a:solidFill>
                <a:latin typeface="Arial"/>
                <a:ea typeface="Arial"/>
                <a:cs typeface="Arial"/>
              </a:defRPr>
            </a:lvl1pPr>
            <a:lvl2pPr>
              <a:defRPr sz="2025" b="0">
                <a:solidFill>
                  <a:srgbClr val="526B66"/>
                </a:solidFill>
                <a:latin typeface="Arial"/>
                <a:ea typeface="Arial"/>
                <a:cs typeface="Arial"/>
              </a:defRPr>
            </a:lvl2pPr>
            <a:lvl3pPr>
              <a:defRPr sz="2025" b="0">
                <a:solidFill>
                  <a:srgbClr val="526B66"/>
                </a:solidFill>
                <a:latin typeface="Arial"/>
                <a:ea typeface="Arial"/>
                <a:cs typeface="Arial"/>
              </a:defRPr>
            </a:lvl3pPr>
            <a:lvl4pPr>
              <a:defRPr sz="2025" b="0">
                <a:solidFill>
                  <a:srgbClr val="526B66"/>
                </a:solidFill>
                <a:latin typeface="Arial"/>
                <a:ea typeface="Arial"/>
                <a:cs typeface="Arial"/>
              </a:defRPr>
            </a:lvl4pPr>
            <a:lvl5pPr>
              <a:defRPr sz="2025" b="0">
                <a:solidFill>
                  <a:srgbClr val="526B66"/>
                </a:solidFill>
                <a:latin typeface="Arial"/>
                <a:ea typeface="Arial"/>
                <a:cs typeface="Arial"/>
              </a:defRPr>
            </a:lvl5pPr>
            <a:lvl6pPr>
              <a:defRPr sz="2025" b="0">
                <a:solidFill>
                  <a:srgbClr val="526B66"/>
                </a:solidFill>
                <a:latin typeface="Arial"/>
                <a:ea typeface="Arial"/>
                <a:cs typeface="Arial"/>
              </a:defRPr>
            </a:lvl6pPr>
            <a:lvl7pPr>
              <a:defRPr sz="2025" b="0">
                <a:solidFill>
                  <a:srgbClr val="526B66"/>
                </a:solidFill>
                <a:latin typeface="Arial"/>
                <a:ea typeface="Arial"/>
                <a:cs typeface="Arial"/>
              </a:defRPr>
            </a:lvl7pPr>
            <a:lvl8pPr>
              <a:defRPr sz="2025" b="0">
                <a:solidFill>
                  <a:srgbClr val="526B66"/>
                </a:solidFill>
                <a:latin typeface="Arial"/>
                <a:ea typeface="Arial"/>
                <a:cs typeface="Arial"/>
              </a:defRPr>
            </a:lvl8pPr>
            <a:lvl9pPr>
              <a:defRPr sz="2025" b="0">
                <a:solidFill>
                  <a:srgbClr val="526B66"/>
                </a:solidFill>
                <a:latin typeface="Arial"/>
                <a:ea typeface="Arial"/>
                <a:cs typeface="Arial"/>
              </a:defRPr>
            </a:lvl9pPr>
          </a:lstStyle>
          <a:p xmlns:a="http://schemas.openxmlformats.org/drawingml/2006/main">
            <a:pPr>
              <a:defRPr sz="2025" b="0">
                <a:solidFill>
                  <a:srgbClr val="526B66"/>
                </a:solidFill>
                <a:latin typeface="Arial"/>
                <a:ea typeface="Arial"/>
                <a:cs typeface="Arial"/>
              </a:defRPr>
            </a:pPr>
            <a:r>
              <a:rPr sz="2025" b="0">
                <a:solidFill>
                  <a:srgbClr val="526B66"/>
                </a:solidFill>
                <a:latin typeface="Arial"/>
                <a:ea typeface="Arial"/>
                <a:cs typeface="Arial"/>
              </a:rPr>
              <a:t>Người dùng là tác nhân nghiệp vụ chính. Android hỗ trợ báo thức và thông báo.</a:t>
            </a:r>
          </a:p>
        </p:txBody>
      </p:sp>
      <p:sp>
        <p:nvSpPr>
          <p:cNvPr id="8" name="">
            <a:extLst xmlns:a="http://schemas.openxmlformats.org/drawingml/2006/main">
              <a:ext uri="{FF2B5EF4-FFF2-40B4-BE49-F238E27FC236}">
                <a16:creationId xmlns:a16="http://schemas.microsoft.com/office/drawing/2014/main" id="{4F2F8A37-F214-4D01-B4B4-5DFA5DB403A7}"/>
              </a:ext>
            </a:extLst>
          </p:cNvPr>
          <p:cNvSpPr>
            <a:spLocks xmlns:a="http://schemas.openxmlformats.org/drawingml/2006/main" noGrp="1"/>
          </p:cNvSpPr>
          <p:nvPr/>
        </p:nvSpPr>
        <p:spPr>
          <a:xfrm xmlns:a="http://schemas.openxmlformats.org/drawingml/2006/main">
            <a:off x="7191375" y="4000500"/>
            <a:ext cx="4286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025" b="0">
                <a:solidFill>
                  <a:srgbClr val="526B66"/>
                </a:solidFill>
                <a:latin typeface="Arial"/>
                <a:ea typeface="Arial"/>
                <a:cs typeface="Arial"/>
              </a:defRPr>
            </a:defPPr>
            <a:lvl1pPr>
              <a:defRPr sz="2025" b="0">
                <a:solidFill>
                  <a:srgbClr val="526B66"/>
                </a:solidFill>
                <a:latin typeface="Arial"/>
                <a:ea typeface="Arial"/>
                <a:cs typeface="Arial"/>
              </a:defRPr>
            </a:lvl1pPr>
            <a:lvl2pPr>
              <a:defRPr sz="2025" b="0">
                <a:solidFill>
                  <a:srgbClr val="526B66"/>
                </a:solidFill>
                <a:latin typeface="Arial"/>
                <a:ea typeface="Arial"/>
                <a:cs typeface="Arial"/>
              </a:defRPr>
            </a:lvl2pPr>
            <a:lvl3pPr>
              <a:defRPr sz="2025" b="0">
                <a:solidFill>
                  <a:srgbClr val="526B66"/>
                </a:solidFill>
                <a:latin typeface="Arial"/>
                <a:ea typeface="Arial"/>
                <a:cs typeface="Arial"/>
              </a:defRPr>
            </a:lvl3pPr>
            <a:lvl4pPr>
              <a:defRPr sz="2025" b="0">
                <a:solidFill>
                  <a:srgbClr val="526B66"/>
                </a:solidFill>
                <a:latin typeface="Arial"/>
                <a:ea typeface="Arial"/>
                <a:cs typeface="Arial"/>
              </a:defRPr>
            </a:lvl4pPr>
            <a:lvl5pPr>
              <a:defRPr sz="2025" b="0">
                <a:solidFill>
                  <a:srgbClr val="526B66"/>
                </a:solidFill>
                <a:latin typeface="Arial"/>
                <a:ea typeface="Arial"/>
                <a:cs typeface="Arial"/>
              </a:defRPr>
            </a:lvl5pPr>
            <a:lvl6pPr>
              <a:defRPr sz="2025" b="0">
                <a:solidFill>
                  <a:srgbClr val="526B66"/>
                </a:solidFill>
                <a:latin typeface="Arial"/>
                <a:ea typeface="Arial"/>
                <a:cs typeface="Arial"/>
              </a:defRPr>
            </a:lvl6pPr>
            <a:lvl7pPr>
              <a:defRPr sz="2025" b="0">
                <a:solidFill>
                  <a:srgbClr val="526B66"/>
                </a:solidFill>
                <a:latin typeface="Arial"/>
                <a:ea typeface="Arial"/>
                <a:cs typeface="Arial"/>
              </a:defRPr>
            </a:lvl7pPr>
            <a:lvl8pPr>
              <a:defRPr sz="2025" b="0">
                <a:solidFill>
                  <a:srgbClr val="526B66"/>
                </a:solidFill>
                <a:latin typeface="Arial"/>
                <a:ea typeface="Arial"/>
                <a:cs typeface="Arial"/>
              </a:defRPr>
            </a:lvl8pPr>
            <a:lvl9pPr>
              <a:defRPr sz="2025" b="0">
                <a:solidFill>
                  <a:srgbClr val="526B66"/>
                </a:solidFill>
                <a:latin typeface="Arial"/>
                <a:ea typeface="Arial"/>
                <a:cs typeface="Arial"/>
              </a:defRPr>
            </a:lvl9pPr>
          </a:lstStyle>
          <a:p xmlns:a="http://schemas.openxmlformats.org/drawingml/2006/main">
            <a:pPr>
              <a:defRPr sz="2025" b="0">
                <a:solidFill>
                  <a:srgbClr val="526B66"/>
                </a:solidFill>
                <a:latin typeface="Arial"/>
                <a:ea typeface="Arial"/>
                <a:cs typeface="Arial"/>
              </a:defRPr>
            </a:pPr>
            <a:r>
              <a:rPr sz="2025" b="0">
                <a:solidFill>
                  <a:srgbClr val="526B66"/>
                </a:solidFill>
                <a:latin typeface="Arial"/>
                <a:ea typeface="Arial"/>
                <a:cs typeface="Arial"/>
              </a:rPr>
              <a:t>Các nghiệp vụ yêu cầu phiên đăng nhập hợp lệ, trừ đăng ký và đăng nhập.</a:t>
            </a:r>
          </a:p>
        </p:txBody>
      </p:sp>
      <p:sp>
        <p:nvSpPr>
          <p:cNvPr id="9" name="">
            <a:extLst xmlns:a="http://schemas.openxmlformats.org/drawingml/2006/main">
              <a:ext uri="{FF2B5EF4-FFF2-40B4-BE49-F238E27FC236}">
                <a16:creationId xmlns:a16="http://schemas.microsoft.com/office/drawing/2014/main" id="{070AB28F-C8DA-419F-9B77-BA91A9F64928}"/>
              </a:ext>
            </a:extLst>
          </p:cNvPr>
          <p:cNvSpPr>
            <a:spLocks xmlns:a="http://schemas.openxmlformats.org/drawingml/2006/main" noGrp="1"/>
          </p:cNvSpPr>
          <p:nvPr/>
        </p:nvSpPr>
        <p:spPr>
          <a:xfrm xmlns:a="http://schemas.openxmlformats.org/drawingml/2006/main">
            <a:off x="7191375" y="5334000"/>
            <a:ext cx="4286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Sơ đồ thể hiện riêng 13 ca sử dụng, tương ứng UC01–UC13 trong Bảng 1.1 của báo cáo.</a:t>
            </a:r>
          </a:p>
        </p:txBody>
      </p:sp>
    </p:spTree>
    <p:extLst>
      <p:ext uri="{BB962C8B-B14F-4D97-AF65-F5344CB8AC3E}">
        <p14:creationId xmlns:p14="http://schemas.microsoft.com/office/powerpoint/2010/main" val="1033763000"/>
      </p:ext>
    </p:extLst>
  </p:cSld>
</p:sld>
</file>

<file path=ppt/slides/slide5.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C481B30-092C-4CEC-A39D-CA74114A71D7}"/>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TỔNG QUAN MÀN HÌNH</a:t>
            </a:r>
          </a:p>
        </p:txBody>
      </p:sp>
      <p:sp>
        <p:nvSpPr>
          <p:cNvPr id="2" name="">
            <a:extLst xmlns:a="http://schemas.openxmlformats.org/drawingml/2006/main">
              <a:ext uri="{FF2B5EF4-FFF2-40B4-BE49-F238E27FC236}">
                <a16:creationId xmlns:a16="http://schemas.microsoft.com/office/drawing/2014/main" id="{1A006275-87D8-44B4-BB6C-34CCAE70ACD9}"/>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Tổ chức giao diện ứng dụng</a:t>
            </a:r>
          </a:p>
        </p:txBody>
      </p:sp>
      <p:sp>
        <p:nvSpPr>
          <p:cNvPr id="3" name="">
            <a:extLst xmlns:a="http://schemas.openxmlformats.org/drawingml/2006/main">
              <a:ext uri="{FF2B5EF4-FFF2-40B4-BE49-F238E27FC236}">
                <a16:creationId xmlns:a16="http://schemas.microsoft.com/office/drawing/2014/main" id="{2885321A-19FC-4AC5-A0F8-8A0232A7B3E9}"/>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4D947BC9-3F0C-4356-A05E-192A1692D7F7}"/>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05EAB77A-FEBE-4F77-8904-BFF44AA55A11}"/>
              </a:ext>
            </a:extLst>
          </p:cNvPr>
          <p:cNvSpPr>
            <a:spLocks xmlns:a="http://schemas.openxmlformats.org/drawingml/2006/main" noGrp="1"/>
          </p:cNvSpPr>
          <p:nvPr/>
        </p:nvSpPr>
        <p:spPr>
          <a:xfrm xmlns:a="http://schemas.openxmlformats.org/drawingml/2006/main">
            <a:off x="514350" y="120015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10 Activity và 4 Fragment chính. MainActivity giữ các tab bằng cơ chế ẩn và hiện.</a:t>
            </a:r>
          </a:p>
        </p:txBody>
      </p:sp>
      <p:pic>
        <p:nvPicPr>
          <p:cNvPr id="6" name="">
            <a:extLst xmlns:a="http://schemas.openxmlformats.org/drawingml/2006/main">
              <a:ext uri="{FF2B5EF4-FFF2-40B4-BE49-F238E27FC236}">
                <a16:creationId xmlns:a16="http://schemas.microsoft.com/office/drawing/2014/main" id="{BFFB7AEE-2B09-4961-B06D-0A24AFD6AA08}"/>
              </a:ext>
            </a:extLst>
          </p:cNvPr>
          <p:cNvPicPr>
            <a:picLocks xmlns:a="http://schemas.openxmlformats.org/drawingml/2006/main" noChangeAspect="1"/>
          </p:cNvPicPr>
          <p:nvPr/>
        </p:nvPicPr>
        <p:blipFill>
          <a:blip xmlns:r="http://schemas.openxmlformats.org/officeDocument/2006/relationships" xmlns:a="http://schemas.openxmlformats.org/drawingml/2006/main" r:embed="Rbfb9dc15069147d0"/>
          <a:stretch xmlns:a="http://schemas.openxmlformats.org/drawingml/2006/main"/>
        </p:blipFill>
        <p:spPr>
          <a:xfrm xmlns:a="http://schemas.openxmlformats.org/drawingml/2006/main">
            <a:off x="963216" y="1762125"/>
            <a:ext cx="1907381" cy="4238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11E116D-C067-4B27-ACC2-25233E955E3A}"/>
              </a:ext>
            </a:extLst>
          </p:cNvPr>
          <p:cNvSpPr>
            <a:spLocks xmlns:a="http://schemas.openxmlformats.org/drawingml/2006/main" noGrp="1"/>
          </p:cNvSpPr>
          <p:nvPr/>
        </p:nvSpPr>
        <p:spPr>
          <a:xfrm xmlns:a="http://schemas.openxmlformats.org/drawingml/2006/main">
            <a:off x="533400"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Trang chủ</a:t>
            </a:r>
          </a:p>
        </p:txBody>
      </p:sp>
      <p:pic>
        <p:nvPicPr>
          <p:cNvPr id="8" name="">
            <a:extLst xmlns:a="http://schemas.openxmlformats.org/drawingml/2006/main">
              <a:ext uri="{FF2B5EF4-FFF2-40B4-BE49-F238E27FC236}">
                <a16:creationId xmlns:a16="http://schemas.microsoft.com/office/drawing/2014/main" id="{078F4395-9113-4A48-96A2-BE8F7A79CD6D}"/>
              </a:ext>
            </a:extLst>
          </p:cNvPr>
          <p:cNvPicPr>
            <a:picLocks xmlns:a="http://schemas.openxmlformats.org/drawingml/2006/main" noChangeAspect="1"/>
          </p:cNvPicPr>
          <p:nvPr/>
        </p:nvPicPr>
        <p:blipFill>
          <a:blip xmlns:r="http://schemas.openxmlformats.org/officeDocument/2006/relationships" xmlns:a="http://schemas.openxmlformats.org/drawingml/2006/main" r:embed="Rd1b065014d1b4512"/>
          <a:stretch xmlns:a="http://schemas.openxmlformats.org/drawingml/2006/main"/>
        </p:blipFill>
        <p:spPr>
          <a:xfrm xmlns:a="http://schemas.openxmlformats.org/drawingml/2006/main">
            <a:off x="3749278" y="1762125"/>
            <a:ext cx="1907381" cy="42386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F1AFB30-3022-45F9-971A-0674792EABEC}"/>
              </a:ext>
            </a:extLst>
          </p:cNvPr>
          <p:cNvSpPr>
            <a:spLocks xmlns:a="http://schemas.openxmlformats.org/drawingml/2006/main" noGrp="1"/>
          </p:cNvSpPr>
          <p:nvPr/>
        </p:nvSpPr>
        <p:spPr>
          <a:xfrm xmlns:a="http://schemas.openxmlformats.org/drawingml/2006/main">
            <a:off x="3319463"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Sức khỏe</a:t>
            </a:r>
          </a:p>
        </p:txBody>
      </p:sp>
      <p:pic>
        <p:nvPicPr>
          <p:cNvPr id="10" name="">
            <a:extLst xmlns:a="http://schemas.openxmlformats.org/drawingml/2006/main">
              <a:ext uri="{FF2B5EF4-FFF2-40B4-BE49-F238E27FC236}">
                <a16:creationId xmlns:a16="http://schemas.microsoft.com/office/drawing/2014/main" id="{760BD127-F393-45E8-8140-E3FBB62637EA}"/>
              </a:ext>
            </a:extLst>
          </p:cNvPr>
          <p:cNvPicPr>
            <a:picLocks xmlns:a="http://schemas.openxmlformats.org/drawingml/2006/main" noChangeAspect="1"/>
          </p:cNvPicPr>
          <p:nvPr/>
        </p:nvPicPr>
        <p:blipFill>
          <a:blip xmlns:r="http://schemas.openxmlformats.org/officeDocument/2006/relationships" xmlns:a="http://schemas.openxmlformats.org/drawingml/2006/main" r:embed="R63dacf59c3a94fae"/>
          <a:stretch xmlns:a="http://schemas.openxmlformats.org/drawingml/2006/main"/>
        </p:blipFill>
        <p:spPr>
          <a:xfrm xmlns:a="http://schemas.openxmlformats.org/drawingml/2006/main">
            <a:off x="6535341" y="1762125"/>
            <a:ext cx="1907381" cy="4238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54C01E8-4F6A-41DB-BE4B-44496830B5FD}"/>
              </a:ext>
            </a:extLst>
          </p:cNvPr>
          <p:cNvSpPr>
            <a:spLocks xmlns:a="http://schemas.openxmlformats.org/drawingml/2006/main" noGrp="1"/>
          </p:cNvSpPr>
          <p:nvPr/>
        </p:nvSpPr>
        <p:spPr>
          <a:xfrm xmlns:a="http://schemas.openxmlformats.org/drawingml/2006/main">
            <a:off x="6105525"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Nhắc nhở</a:t>
            </a:r>
          </a:p>
        </p:txBody>
      </p:sp>
      <p:pic>
        <p:nvPicPr>
          <p:cNvPr id="12" name="">
            <a:extLst xmlns:a="http://schemas.openxmlformats.org/drawingml/2006/main">
              <a:ext uri="{FF2B5EF4-FFF2-40B4-BE49-F238E27FC236}">
                <a16:creationId xmlns:a16="http://schemas.microsoft.com/office/drawing/2014/main" id="{CF812F82-CB27-4649-8169-CB5FB70276E8}"/>
              </a:ext>
            </a:extLst>
          </p:cNvPr>
          <p:cNvPicPr>
            <a:picLocks xmlns:a="http://schemas.openxmlformats.org/drawingml/2006/main" noChangeAspect="1"/>
          </p:cNvPicPr>
          <p:nvPr/>
        </p:nvPicPr>
        <p:blipFill>
          <a:blip xmlns:r="http://schemas.openxmlformats.org/officeDocument/2006/relationships" xmlns:a="http://schemas.openxmlformats.org/drawingml/2006/main" r:embed="R71896d2984f14714"/>
          <a:stretch xmlns:a="http://schemas.openxmlformats.org/drawingml/2006/main"/>
        </p:blipFill>
        <p:spPr>
          <a:xfrm xmlns:a="http://schemas.openxmlformats.org/drawingml/2006/main">
            <a:off x="9321403" y="1762125"/>
            <a:ext cx="1907381" cy="42386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D2213A7-5937-471D-81D8-19452A449E1B}"/>
              </a:ext>
            </a:extLst>
          </p:cNvPr>
          <p:cNvSpPr>
            <a:spLocks xmlns:a="http://schemas.openxmlformats.org/drawingml/2006/main" noGrp="1"/>
          </p:cNvSpPr>
          <p:nvPr/>
        </p:nvSpPr>
        <p:spPr>
          <a:xfrm xmlns:a="http://schemas.openxmlformats.org/drawingml/2006/main">
            <a:off x="8891588"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Thống kê</a:t>
            </a:r>
          </a:p>
        </p:txBody>
      </p:sp>
    </p:spTree>
    <p:extLst>
      <p:ext uri="{BB962C8B-B14F-4D97-AF65-F5344CB8AC3E}">
        <p14:creationId xmlns:p14="http://schemas.microsoft.com/office/powerpoint/2010/main" val="195295614"/>
      </p:ext>
    </p:extLst>
  </p:cSld>
</p:sld>
</file>

<file path=ppt/slides/slide6.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0B45A84-BAA2-4FA3-8380-14A17E9027E9}"/>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LUỒNG ĐĂNG NHẬP VÀ ĐĂNG KÝ</a:t>
            </a:r>
          </a:p>
        </p:txBody>
      </p:sp>
      <p:sp>
        <p:nvSpPr>
          <p:cNvPr id="2" name="">
            <a:extLst xmlns:a="http://schemas.openxmlformats.org/drawingml/2006/main">
              <a:ext uri="{FF2B5EF4-FFF2-40B4-BE49-F238E27FC236}">
                <a16:creationId xmlns:a16="http://schemas.microsoft.com/office/drawing/2014/main" id="{71FCCD75-1F98-4512-AF78-3E2E8BD61445}"/>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Khởi động và xác thực tài khoản</a:t>
            </a:r>
          </a:p>
        </p:txBody>
      </p:sp>
      <p:sp>
        <p:nvSpPr>
          <p:cNvPr id="3" name="">
            <a:extLst xmlns:a="http://schemas.openxmlformats.org/drawingml/2006/main">
              <a:ext uri="{FF2B5EF4-FFF2-40B4-BE49-F238E27FC236}">
                <a16:creationId xmlns:a16="http://schemas.microsoft.com/office/drawing/2014/main" id="{744DC62F-A099-4453-A64B-87B66DF2A234}"/>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E42B5A58-74C4-454F-8527-8FDE09351462}"/>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F0A4F23E-66CA-468E-81F2-2E17AF66B7DC}"/>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SplashActivity</a:t>
            </a:r>
          </a:p>
        </p:txBody>
      </p:sp>
      <p:sp>
        <p:nvSpPr>
          <p:cNvPr id="6" name="">
            <a:extLst xmlns:a="http://schemas.openxmlformats.org/drawingml/2006/main">
              <a:ext uri="{FF2B5EF4-FFF2-40B4-BE49-F238E27FC236}">
                <a16:creationId xmlns:a16="http://schemas.microsoft.com/office/drawing/2014/main" id="{33BC07C4-4C6A-4ADD-A30B-B3E11AFB68BE}"/>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Kiểm tra phiên để mở LoginActivity hoặc MainActivity.</a:t>
            </a:r>
          </a:p>
        </p:txBody>
      </p:sp>
      <p:sp>
        <p:nvSpPr>
          <p:cNvPr id="7" name="">
            <a:extLst xmlns:a="http://schemas.openxmlformats.org/drawingml/2006/main">
              <a:ext uri="{FF2B5EF4-FFF2-40B4-BE49-F238E27FC236}">
                <a16:creationId xmlns:a16="http://schemas.microsoft.com/office/drawing/2014/main" id="{0456B814-8DBE-4BFE-AD33-1581B7596FBE}"/>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LoginActivity</a:t>
            </a:r>
          </a:p>
        </p:txBody>
      </p:sp>
      <p:sp>
        <p:nvSpPr>
          <p:cNvPr id="8" name="">
            <a:extLst xmlns:a="http://schemas.openxmlformats.org/drawingml/2006/main">
              <a:ext uri="{FF2B5EF4-FFF2-40B4-BE49-F238E27FC236}">
                <a16:creationId xmlns:a16="http://schemas.microsoft.com/office/drawing/2014/main" id="{34D954F5-182B-4BFA-A5A7-11604FD14BAC}"/>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Đăng nhập thành công dẫn đến màn hình chính. Có lối mở đăng ký.</a:t>
            </a:r>
          </a:p>
        </p:txBody>
      </p:sp>
      <p:sp>
        <p:nvSpPr>
          <p:cNvPr id="9" name="">
            <a:extLst xmlns:a="http://schemas.openxmlformats.org/drawingml/2006/main">
              <a:ext uri="{FF2B5EF4-FFF2-40B4-BE49-F238E27FC236}">
                <a16:creationId xmlns:a16="http://schemas.microsoft.com/office/drawing/2014/main" id="{19BDB81D-07A0-4C29-B354-4744B4F925B0}"/>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RegisterActivity</a:t>
            </a:r>
          </a:p>
        </p:txBody>
      </p:sp>
      <p:sp>
        <p:nvSpPr>
          <p:cNvPr id="10" name="">
            <a:extLst xmlns:a="http://schemas.openxmlformats.org/drawingml/2006/main">
              <a:ext uri="{FF2B5EF4-FFF2-40B4-BE49-F238E27FC236}">
                <a16:creationId xmlns:a16="http://schemas.microsoft.com/office/drawing/2014/main" id="{5B47B880-EC50-4E8D-BAFA-0A5DF11BDBBE}"/>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Hai bước trong cùng một Activity: tài khoản và hồ sơ ban đầu.</a:t>
            </a:r>
          </a:p>
        </p:txBody>
      </p:sp>
      <p:pic>
        <p:nvPicPr>
          <p:cNvPr id="11" name="">
            <a:extLst xmlns:a="http://schemas.openxmlformats.org/drawingml/2006/main">
              <a:ext uri="{FF2B5EF4-FFF2-40B4-BE49-F238E27FC236}">
                <a16:creationId xmlns:a16="http://schemas.microsoft.com/office/drawing/2014/main" id="{7C2DCC28-7C76-4BA4-AFB9-80EC66F011FA}"/>
              </a:ext>
            </a:extLst>
          </p:cNvPr>
          <p:cNvPicPr>
            <a:picLocks xmlns:a="http://schemas.openxmlformats.org/drawingml/2006/main" noChangeAspect="1"/>
          </p:cNvPicPr>
          <p:nvPr/>
        </p:nvPicPr>
        <p:blipFill>
          <a:blip xmlns:r="http://schemas.openxmlformats.org/officeDocument/2006/relationships" xmlns:a="http://schemas.openxmlformats.org/drawingml/2006/main" r:embed="R9559955686f64434"/>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D3D91BC-4AA2-449F-A006-66D7D21F9609}"/>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Đăng nhập</a:t>
            </a:r>
          </a:p>
        </p:txBody>
      </p:sp>
      <p:pic>
        <p:nvPicPr>
          <p:cNvPr id="13" name="">
            <a:extLst xmlns:a="http://schemas.openxmlformats.org/drawingml/2006/main">
              <a:ext uri="{FF2B5EF4-FFF2-40B4-BE49-F238E27FC236}">
                <a16:creationId xmlns:a16="http://schemas.microsoft.com/office/drawing/2014/main" id="{8F2F949F-3450-4210-B269-AB95161247E4}"/>
              </a:ext>
            </a:extLst>
          </p:cNvPr>
          <p:cNvPicPr>
            <a:picLocks xmlns:a="http://schemas.openxmlformats.org/drawingml/2006/main" noChangeAspect="1"/>
          </p:cNvPicPr>
          <p:nvPr/>
        </p:nvPicPr>
        <p:blipFill>
          <a:blip xmlns:r="http://schemas.openxmlformats.org/officeDocument/2006/relationships" xmlns:a="http://schemas.openxmlformats.org/drawingml/2006/main" r:embed="Rc638b0f5c5964023"/>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808FA87F-61D2-4358-A37C-3A6A432CF71D}"/>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Đăng ký: tài khoản</a:t>
            </a:r>
          </a:p>
        </p:txBody>
      </p:sp>
      <p:pic>
        <p:nvPicPr>
          <p:cNvPr id="15" name="">
            <a:extLst xmlns:a="http://schemas.openxmlformats.org/drawingml/2006/main">
              <a:ext uri="{FF2B5EF4-FFF2-40B4-BE49-F238E27FC236}">
                <a16:creationId xmlns:a16="http://schemas.microsoft.com/office/drawing/2014/main" id="{16F9445A-8DC5-40DF-B459-AB5D97FC4371}"/>
              </a:ext>
            </a:extLst>
          </p:cNvPr>
          <p:cNvPicPr>
            <a:picLocks xmlns:a="http://schemas.openxmlformats.org/drawingml/2006/main" noChangeAspect="1"/>
          </p:cNvPicPr>
          <p:nvPr/>
        </p:nvPicPr>
        <p:blipFill>
          <a:blip xmlns:r="http://schemas.openxmlformats.org/officeDocument/2006/relationships" xmlns:a="http://schemas.openxmlformats.org/drawingml/2006/main" r:embed="R443eb4573dd248fb"/>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FF11A1E8-499E-4F7C-B960-D55B2DE7215E}"/>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Đăng ký: hồ sơ</a:t>
            </a:r>
          </a:p>
        </p:txBody>
      </p:sp>
    </p:spTree>
    <p:extLst>
      <p:ext uri="{BB962C8B-B14F-4D97-AF65-F5344CB8AC3E}">
        <p14:creationId xmlns:p14="http://schemas.microsoft.com/office/powerpoint/2010/main" val="886533125"/>
      </p:ext>
    </p:extLst>
  </p:cSld>
</p:sld>
</file>

<file path=ppt/slides/slide7.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83EAA97-AAF7-47FC-9BB3-3B3D025626B3}"/>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CÁC ĐIỂM TRUY CẬP NHANH</a:t>
            </a:r>
          </a:p>
        </p:txBody>
      </p:sp>
      <p:sp>
        <p:nvSpPr>
          <p:cNvPr id="2" name="">
            <a:extLst xmlns:a="http://schemas.openxmlformats.org/drawingml/2006/main">
              <a:ext uri="{FF2B5EF4-FFF2-40B4-BE49-F238E27FC236}">
                <a16:creationId xmlns:a16="http://schemas.microsoft.com/office/drawing/2014/main" id="{B34E6DE0-E0F2-4063-A770-40E9670EF2CD}"/>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Trang chủ và quản lý hồ sơ</a:t>
            </a:r>
          </a:p>
        </p:txBody>
      </p:sp>
      <p:sp>
        <p:nvSpPr>
          <p:cNvPr id="3" name="">
            <a:extLst xmlns:a="http://schemas.openxmlformats.org/drawingml/2006/main">
              <a:ext uri="{FF2B5EF4-FFF2-40B4-BE49-F238E27FC236}">
                <a16:creationId xmlns:a16="http://schemas.microsoft.com/office/drawing/2014/main" id="{6A3E09E8-963C-4067-B170-DC28E1903857}"/>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D5EB8A06-4F21-4810-AE5C-EDF0B124D672}"/>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97B0BF47-D410-405E-B630-051EC8DF325C}"/>
              </a:ext>
            </a:extLst>
          </p:cNvPr>
          <p:cNvSpPr>
            <a:spLocks xmlns:a="http://schemas.openxmlformats.org/drawingml/2006/main" noGrp="1"/>
          </p:cNvSpPr>
          <p:nvPr/>
        </p:nvSpPr>
        <p:spPr>
          <a:xfrm xmlns:a="http://schemas.openxmlformats.org/drawingml/2006/main">
            <a:off x="514350" y="1495425"/>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HomeFragment</a:t>
            </a:r>
          </a:p>
        </p:txBody>
      </p:sp>
      <p:sp>
        <p:nvSpPr>
          <p:cNvPr id="6" name="">
            <a:extLst xmlns:a="http://schemas.openxmlformats.org/drawingml/2006/main">
              <a:ext uri="{FF2B5EF4-FFF2-40B4-BE49-F238E27FC236}">
                <a16:creationId xmlns:a16="http://schemas.microsoft.com/office/drawing/2014/main" id="{A2061EAF-4B33-4459-B0DF-3BCDF227541D}"/>
              </a:ext>
            </a:extLst>
          </p:cNvPr>
          <p:cNvSpPr>
            <a:spLocks xmlns:a="http://schemas.openxmlformats.org/drawingml/2006/main" noGrp="1"/>
          </p:cNvSpPr>
          <p:nvPr/>
        </p:nvSpPr>
        <p:spPr>
          <a:xfrm xmlns:a="http://schemas.openxmlformats.org/drawingml/2006/main">
            <a:off x="514350" y="1895475"/>
            <a:ext cx="347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Chỉ số mới nhất, cữ kế tiếp</a:t>
            </a:r>
          </a:p>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và tiến độ nước.</a:t>
            </a:r>
          </a:p>
        </p:txBody>
      </p:sp>
      <p:sp>
        <p:nvSpPr>
          <p:cNvPr id="7" name="">
            <a:extLst xmlns:a="http://schemas.openxmlformats.org/drawingml/2006/main">
              <a:ext uri="{FF2B5EF4-FFF2-40B4-BE49-F238E27FC236}">
                <a16:creationId xmlns:a16="http://schemas.microsoft.com/office/drawing/2014/main" id="{05EE2001-C5FB-4098-B626-B17170A28A8F}"/>
              </a:ext>
            </a:extLst>
          </p:cNvPr>
          <p:cNvSpPr>
            <a:spLocks xmlns:a="http://schemas.openxmlformats.org/drawingml/2006/main" noGrp="1"/>
          </p:cNvSpPr>
          <p:nvPr/>
        </p:nvSpPr>
        <p:spPr>
          <a:xfrm xmlns:a="http://schemas.openxmlformats.org/drawingml/2006/main">
            <a:off x="514350" y="2676525"/>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ProfileActivity</a:t>
            </a:r>
          </a:p>
        </p:txBody>
      </p:sp>
      <p:sp>
        <p:nvSpPr>
          <p:cNvPr id="8" name="">
            <a:extLst xmlns:a="http://schemas.openxmlformats.org/drawingml/2006/main">
              <a:ext uri="{FF2B5EF4-FFF2-40B4-BE49-F238E27FC236}">
                <a16:creationId xmlns:a16="http://schemas.microsoft.com/office/drawing/2014/main" id="{04390671-8324-44F6-B9ED-98DBADA9D7A2}"/>
              </a:ext>
            </a:extLst>
          </p:cNvPr>
          <p:cNvSpPr>
            <a:spLocks xmlns:a="http://schemas.openxmlformats.org/drawingml/2006/main" noGrp="1"/>
          </p:cNvSpPr>
          <p:nvPr/>
        </p:nvSpPr>
        <p:spPr>
          <a:xfrm xmlns:a="http://schemas.openxmlformats.org/drawingml/2006/main">
            <a:off x="514350" y="3076575"/>
            <a:ext cx="347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Xem hồ sơ, mở BMI</a:t>
            </a:r>
          </a:p>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và thiết lập nước.</a:t>
            </a:r>
          </a:p>
        </p:txBody>
      </p:sp>
      <p:sp>
        <p:nvSpPr>
          <p:cNvPr id="9" name="">
            <a:extLst xmlns:a="http://schemas.openxmlformats.org/drawingml/2006/main">
              <a:ext uri="{FF2B5EF4-FFF2-40B4-BE49-F238E27FC236}">
                <a16:creationId xmlns:a16="http://schemas.microsoft.com/office/drawing/2014/main" id="{3BC09A04-0592-4E29-8F59-CA3AC874843A}"/>
              </a:ext>
            </a:extLst>
          </p:cNvPr>
          <p:cNvSpPr>
            <a:spLocks xmlns:a="http://schemas.openxmlformats.org/drawingml/2006/main" noGrp="1"/>
          </p:cNvSpPr>
          <p:nvPr/>
        </p:nvSpPr>
        <p:spPr>
          <a:xfrm xmlns:a="http://schemas.openxmlformats.org/drawingml/2006/main">
            <a:off x="514350" y="3857625"/>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EditProfileActivity</a:t>
            </a:r>
          </a:p>
        </p:txBody>
      </p:sp>
      <p:sp>
        <p:nvSpPr>
          <p:cNvPr id="10" name="">
            <a:extLst xmlns:a="http://schemas.openxmlformats.org/drawingml/2006/main">
              <a:ext uri="{FF2B5EF4-FFF2-40B4-BE49-F238E27FC236}">
                <a16:creationId xmlns:a16="http://schemas.microsoft.com/office/drawing/2014/main" id="{151728C5-C2BB-4FD0-A185-1FFCEF7B52C0}"/>
              </a:ext>
            </a:extLst>
          </p:cNvPr>
          <p:cNvSpPr>
            <a:spLocks xmlns:a="http://schemas.openxmlformats.org/drawingml/2006/main" noGrp="1"/>
          </p:cNvSpPr>
          <p:nvPr/>
        </p:nvSpPr>
        <p:spPr>
          <a:xfrm xmlns:a="http://schemas.openxmlformats.org/drawingml/2006/main">
            <a:off x="514350" y="4257675"/>
            <a:ext cx="347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Sửa hồ sơ, cảnh báo</a:t>
            </a:r>
          </a:p>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khi rời biểu mẫu chưa lưu.</a:t>
            </a:r>
          </a:p>
        </p:txBody>
      </p:sp>
      <p:sp>
        <p:nvSpPr>
          <p:cNvPr id="11" name="">
            <a:extLst xmlns:a="http://schemas.openxmlformats.org/drawingml/2006/main">
              <a:ext uri="{FF2B5EF4-FFF2-40B4-BE49-F238E27FC236}">
                <a16:creationId xmlns:a16="http://schemas.microsoft.com/office/drawing/2014/main" id="{E046BA1A-920B-41A8-B050-58C7AFABBF2C}"/>
              </a:ext>
            </a:extLst>
          </p:cNvPr>
          <p:cNvSpPr>
            <a:spLocks xmlns:a="http://schemas.openxmlformats.org/drawingml/2006/main" noGrp="1"/>
          </p:cNvSpPr>
          <p:nvPr/>
        </p:nvSpPr>
        <p:spPr>
          <a:xfrm xmlns:a="http://schemas.openxmlformats.org/drawingml/2006/main">
            <a:off x="514350" y="5038725"/>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BmiActivity</a:t>
            </a:r>
          </a:p>
        </p:txBody>
      </p:sp>
      <p:sp>
        <p:nvSpPr>
          <p:cNvPr id="12" name="">
            <a:extLst xmlns:a="http://schemas.openxmlformats.org/drawingml/2006/main">
              <a:ext uri="{FF2B5EF4-FFF2-40B4-BE49-F238E27FC236}">
                <a16:creationId xmlns:a16="http://schemas.microsoft.com/office/drawing/2014/main" id="{3DEA9F46-D876-403C-A563-339337CEA9DE}"/>
              </a:ext>
            </a:extLst>
          </p:cNvPr>
          <p:cNvSpPr>
            <a:spLocks xmlns:a="http://schemas.openxmlformats.org/drawingml/2006/main" noGrp="1"/>
          </p:cNvSpPr>
          <p:nvPr/>
        </p:nvSpPr>
        <p:spPr>
          <a:xfrm xmlns:a="http://schemas.openxmlformats.org/drawingml/2006/main">
            <a:off x="514350" y="5438775"/>
            <a:ext cx="347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Mở từ Trang chủ hoặc Hồ sơ.</a:t>
            </a:r>
          </a:p>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Tính BMI, chọn bộ ngưỡng.</a:t>
            </a:r>
          </a:p>
        </p:txBody>
      </p:sp>
      <p:pic>
        <p:nvPicPr>
          <p:cNvPr id="13" name="">
            <a:extLst xmlns:a="http://schemas.openxmlformats.org/drawingml/2006/main">
              <a:ext uri="{FF2B5EF4-FFF2-40B4-BE49-F238E27FC236}">
                <a16:creationId xmlns:a16="http://schemas.microsoft.com/office/drawing/2014/main" id="{2730FA91-1D1B-4DAE-A733-2E97161D6CB0}"/>
              </a:ext>
            </a:extLst>
          </p:cNvPr>
          <p:cNvPicPr>
            <a:picLocks xmlns:a="http://schemas.openxmlformats.org/drawingml/2006/main" noChangeAspect="1"/>
          </p:cNvPicPr>
          <p:nvPr/>
        </p:nvPicPr>
        <p:blipFill>
          <a:blip xmlns:r="http://schemas.openxmlformats.org/officeDocument/2006/relationships" xmlns:a="http://schemas.openxmlformats.org/drawingml/2006/main" r:embed="R420cc34f5a894ea9"/>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63211455-BD78-4677-B6BB-0E9C550A4442}"/>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Trang chủ</a:t>
            </a:r>
          </a:p>
        </p:txBody>
      </p:sp>
      <p:pic>
        <p:nvPicPr>
          <p:cNvPr id="15" name="">
            <a:extLst xmlns:a="http://schemas.openxmlformats.org/drawingml/2006/main">
              <a:ext uri="{FF2B5EF4-FFF2-40B4-BE49-F238E27FC236}">
                <a16:creationId xmlns:a16="http://schemas.microsoft.com/office/drawing/2014/main" id="{5B15B9A0-F99A-4796-B593-6C8C7638EE05}"/>
              </a:ext>
            </a:extLst>
          </p:cNvPr>
          <p:cNvPicPr>
            <a:picLocks xmlns:a="http://schemas.openxmlformats.org/drawingml/2006/main" noChangeAspect="1"/>
          </p:cNvPicPr>
          <p:nvPr/>
        </p:nvPicPr>
        <p:blipFill>
          <a:blip xmlns:r="http://schemas.openxmlformats.org/officeDocument/2006/relationships" xmlns:a="http://schemas.openxmlformats.org/drawingml/2006/main" r:embed="R9e8631cf819345bb"/>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06DB707B-0E4D-400F-A53A-8D35B48A8A98}"/>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Hồ sơ</a:t>
            </a:r>
          </a:p>
        </p:txBody>
      </p:sp>
      <p:pic>
        <p:nvPicPr>
          <p:cNvPr id="17" name="">
            <a:extLst xmlns:a="http://schemas.openxmlformats.org/drawingml/2006/main">
              <a:ext uri="{FF2B5EF4-FFF2-40B4-BE49-F238E27FC236}">
                <a16:creationId xmlns:a16="http://schemas.microsoft.com/office/drawing/2014/main" id="{E81382F3-A3CB-47A2-8BCC-0940108EF56E}"/>
              </a:ext>
            </a:extLst>
          </p:cNvPr>
          <p:cNvPicPr>
            <a:picLocks xmlns:a="http://schemas.openxmlformats.org/drawingml/2006/main" noChangeAspect="1"/>
          </p:cNvPicPr>
          <p:nvPr/>
        </p:nvPicPr>
        <p:blipFill>
          <a:blip xmlns:r="http://schemas.openxmlformats.org/officeDocument/2006/relationships" xmlns:a="http://schemas.openxmlformats.org/drawingml/2006/main" r:embed="R040f1f07e53b4019"/>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1CDE12D1-ACD2-40CE-BB43-E44B582C16CC}"/>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Chỉnh sửa hồ sơ</a:t>
            </a:r>
          </a:p>
        </p:txBody>
      </p:sp>
    </p:spTree>
    <p:extLst>
      <p:ext uri="{BB962C8B-B14F-4D97-AF65-F5344CB8AC3E}">
        <p14:creationId xmlns:p14="http://schemas.microsoft.com/office/powerpoint/2010/main" val="1771969197"/>
      </p:ext>
    </p:extLst>
  </p:cSld>
</p:sld>
</file>

<file path=ppt/slides/slide8.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B5B77DF-C184-43BF-88EB-83CA3B2553B0}"/>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LUỒNG MÀN HÌNH SỨC KHỎE</a:t>
            </a:r>
          </a:p>
        </p:txBody>
      </p:sp>
      <p:sp>
        <p:nvSpPr>
          <p:cNvPr id="2" name="">
            <a:extLst xmlns:a="http://schemas.openxmlformats.org/drawingml/2006/main">
              <a:ext uri="{FF2B5EF4-FFF2-40B4-BE49-F238E27FC236}">
                <a16:creationId xmlns:a16="http://schemas.microsoft.com/office/drawing/2014/main" id="{976297BF-E5BE-4485-B967-BCA12DA0478E}"/>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Danh sách, nhập liệu và chi tiết lần đo</a:t>
            </a:r>
          </a:p>
        </p:txBody>
      </p:sp>
      <p:sp>
        <p:nvSpPr>
          <p:cNvPr id="3" name="">
            <a:extLst xmlns:a="http://schemas.openxmlformats.org/drawingml/2006/main">
              <a:ext uri="{FF2B5EF4-FFF2-40B4-BE49-F238E27FC236}">
                <a16:creationId xmlns:a16="http://schemas.microsoft.com/office/drawing/2014/main" id="{06E869FA-224A-4FCA-8DAF-2D172F4F23BC}"/>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7C301B72-F47C-4B22-985C-A348B1E2EEB7}"/>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CEEC8019-49B6-4114-B31E-B8DB5B1403FC}"/>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HealthFragment</a:t>
            </a:r>
          </a:p>
        </p:txBody>
      </p:sp>
      <p:sp>
        <p:nvSpPr>
          <p:cNvPr id="6" name="">
            <a:extLst xmlns:a="http://schemas.openxmlformats.org/drawingml/2006/main">
              <a:ext uri="{FF2B5EF4-FFF2-40B4-BE49-F238E27FC236}">
                <a16:creationId xmlns:a16="http://schemas.microsoft.com/office/drawing/2014/main" id="{56491154-8872-4202-96C0-970DF79872B5}"/>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Lọc lần đo theo khoảng ngày, chọn bản ghi để xem chi tiết.</a:t>
            </a:r>
          </a:p>
        </p:txBody>
      </p:sp>
      <p:sp>
        <p:nvSpPr>
          <p:cNvPr id="7" name="">
            <a:extLst xmlns:a="http://schemas.openxmlformats.org/drawingml/2006/main">
              <a:ext uri="{FF2B5EF4-FFF2-40B4-BE49-F238E27FC236}">
                <a16:creationId xmlns:a16="http://schemas.microsoft.com/office/drawing/2014/main" id="{CB6DEC15-EAD1-4533-AD4D-6036A6FBA631}"/>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AddHealthActivity</a:t>
            </a:r>
          </a:p>
        </p:txBody>
      </p:sp>
      <p:sp>
        <p:nvSpPr>
          <p:cNvPr id="8" name="">
            <a:extLst xmlns:a="http://schemas.openxmlformats.org/drawingml/2006/main">
              <a:ext uri="{FF2B5EF4-FFF2-40B4-BE49-F238E27FC236}">
                <a16:creationId xmlns:a16="http://schemas.microsoft.com/office/drawing/2014/main" id="{EF4B934D-C91E-4B9A-BC6B-9F12F8F89334}"/>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Dùng chung cho thêm mới và chỉnh sửa bản ghi sức khỏe.</a:t>
            </a:r>
          </a:p>
        </p:txBody>
      </p:sp>
      <p:sp>
        <p:nvSpPr>
          <p:cNvPr id="9" name="">
            <a:extLst xmlns:a="http://schemas.openxmlformats.org/drawingml/2006/main">
              <a:ext uri="{FF2B5EF4-FFF2-40B4-BE49-F238E27FC236}">
                <a16:creationId xmlns:a16="http://schemas.microsoft.com/office/drawing/2014/main" id="{011CCD3E-1C30-4034-8F54-5F370951204F}"/>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DetailHealthActivity</a:t>
            </a:r>
          </a:p>
        </p:txBody>
      </p:sp>
      <p:sp>
        <p:nvSpPr>
          <p:cNvPr id="10" name="">
            <a:extLst xmlns:a="http://schemas.openxmlformats.org/drawingml/2006/main">
              <a:ext uri="{FF2B5EF4-FFF2-40B4-BE49-F238E27FC236}">
                <a16:creationId xmlns:a16="http://schemas.microsoft.com/office/drawing/2014/main" id="{F804BA3B-43AD-4F9B-8C72-FBAEC2A0BBF5}"/>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Xem ngày giờ, giá trị, đơn vị và đối chiếu với lần đo trước phù hợp.</a:t>
            </a:r>
          </a:p>
        </p:txBody>
      </p:sp>
      <p:pic>
        <p:nvPicPr>
          <p:cNvPr id="11" name="">
            <a:extLst xmlns:a="http://schemas.openxmlformats.org/drawingml/2006/main">
              <a:ext uri="{FF2B5EF4-FFF2-40B4-BE49-F238E27FC236}">
                <a16:creationId xmlns:a16="http://schemas.microsoft.com/office/drawing/2014/main" id="{5B928DA8-0432-4B4F-B585-4A580F85D02C}"/>
              </a:ext>
            </a:extLst>
          </p:cNvPr>
          <p:cNvPicPr>
            <a:picLocks xmlns:a="http://schemas.openxmlformats.org/drawingml/2006/main" noChangeAspect="1"/>
          </p:cNvPicPr>
          <p:nvPr/>
        </p:nvPicPr>
        <p:blipFill>
          <a:blip xmlns:r="http://schemas.openxmlformats.org/officeDocument/2006/relationships" xmlns:a="http://schemas.openxmlformats.org/drawingml/2006/main" r:embed="Reb1e1c90ba954356"/>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2970629-A649-42FD-9EC4-51159691AD5B}"/>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Danh sách lần đo</a:t>
            </a:r>
          </a:p>
        </p:txBody>
      </p:sp>
      <p:pic>
        <p:nvPicPr>
          <p:cNvPr id="13" name="">
            <a:extLst xmlns:a="http://schemas.openxmlformats.org/drawingml/2006/main">
              <a:ext uri="{FF2B5EF4-FFF2-40B4-BE49-F238E27FC236}">
                <a16:creationId xmlns:a16="http://schemas.microsoft.com/office/drawing/2014/main" id="{3BF8D730-7404-4C5D-817F-0EC1F6449505}"/>
              </a:ext>
            </a:extLst>
          </p:cNvPr>
          <p:cNvPicPr>
            <a:picLocks xmlns:a="http://schemas.openxmlformats.org/drawingml/2006/main" noChangeAspect="1"/>
          </p:cNvPicPr>
          <p:nvPr/>
        </p:nvPicPr>
        <p:blipFill>
          <a:blip xmlns:r="http://schemas.openxmlformats.org/officeDocument/2006/relationships" xmlns:a="http://schemas.openxmlformats.org/drawingml/2006/main" r:embed="Rbe3f7ef5a6224f18"/>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54821783-4B50-4B52-A365-4323B532B166}"/>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Ghi chỉ số</a:t>
            </a:r>
          </a:p>
        </p:txBody>
      </p:sp>
      <p:pic>
        <p:nvPicPr>
          <p:cNvPr id="15" name="">
            <a:extLst xmlns:a="http://schemas.openxmlformats.org/drawingml/2006/main">
              <a:ext uri="{FF2B5EF4-FFF2-40B4-BE49-F238E27FC236}">
                <a16:creationId xmlns:a16="http://schemas.microsoft.com/office/drawing/2014/main" id="{88489D02-5378-4A2A-A4A9-E3D10A816936}"/>
              </a:ext>
            </a:extLst>
          </p:cNvPr>
          <p:cNvPicPr>
            <a:picLocks xmlns:a="http://schemas.openxmlformats.org/drawingml/2006/main" noChangeAspect="1"/>
          </p:cNvPicPr>
          <p:nvPr/>
        </p:nvPicPr>
        <p:blipFill>
          <a:blip xmlns:r="http://schemas.openxmlformats.org/officeDocument/2006/relationships" xmlns:a="http://schemas.openxmlformats.org/drawingml/2006/main" r:embed="Rd3676133b9c34abd"/>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62301FD9-F57D-42A5-B1F0-D665B05777F9}"/>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Chi tiết lần đo</a:t>
            </a:r>
          </a:p>
        </p:txBody>
      </p:sp>
    </p:spTree>
    <p:extLst>
      <p:ext uri="{BB962C8B-B14F-4D97-AF65-F5344CB8AC3E}">
        <p14:creationId xmlns:p14="http://schemas.microsoft.com/office/powerpoint/2010/main" val="2059311182"/>
      </p:ext>
    </p:extLst>
  </p:cSld>
</p:sld>
</file>

<file path=ppt/slides/slide9.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D240426-07BC-4352-A494-2AD61A61F724}"/>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NHẮC NHỞ VÀ THUỐC</a:t>
            </a:r>
          </a:p>
        </p:txBody>
      </p:sp>
      <p:sp>
        <p:nvSpPr>
          <p:cNvPr id="2" name="">
            <a:extLst xmlns:a="http://schemas.openxmlformats.org/drawingml/2006/main">
              <a:ext uri="{FF2B5EF4-FFF2-40B4-BE49-F238E27FC236}">
                <a16:creationId xmlns:a16="http://schemas.microsoft.com/office/drawing/2014/main" id="{B14500C1-4935-41C9-805E-FE92F30A0CEB}"/>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Các màn hình quản lý lịch thuốc</a:t>
            </a:r>
          </a:p>
        </p:txBody>
      </p:sp>
      <p:sp>
        <p:nvSpPr>
          <p:cNvPr id="3" name="">
            <a:extLst xmlns:a="http://schemas.openxmlformats.org/drawingml/2006/main">
              <a:ext uri="{FF2B5EF4-FFF2-40B4-BE49-F238E27FC236}">
                <a16:creationId xmlns:a16="http://schemas.microsoft.com/office/drawing/2014/main" id="{1D5CC836-F08B-4694-8B2B-099F1F451007}"/>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64E9EDE2-4CE9-4C17-948F-9C7F5C4C7F16}"/>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BE0656A1-7D55-4A8F-BA1B-95C3544F0C91}"/>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ReminderFragment</a:t>
            </a:r>
          </a:p>
        </p:txBody>
      </p:sp>
      <p:sp>
        <p:nvSpPr>
          <p:cNvPr id="6" name="">
            <a:extLst xmlns:a="http://schemas.openxmlformats.org/drawingml/2006/main">
              <a:ext uri="{FF2B5EF4-FFF2-40B4-BE49-F238E27FC236}">
                <a16:creationId xmlns:a16="http://schemas.microsoft.com/office/drawing/2014/main" id="{7B19A5A3-76B9-405D-A469-6A4EF0D3964C}"/>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Chuyển giữa cữ hôm nay và danh sách thuốc.</a:t>
            </a:r>
          </a:p>
        </p:txBody>
      </p:sp>
      <p:sp>
        <p:nvSpPr>
          <p:cNvPr id="7" name="">
            <a:extLst xmlns:a="http://schemas.openxmlformats.org/drawingml/2006/main">
              <a:ext uri="{FF2B5EF4-FFF2-40B4-BE49-F238E27FC236}">
                <a16:creationId xmlns:a16="http://schemas.microsoft.com/office/drawing/2014/main" id="{B0BFD89E-F39B-4C5F-B4D1-92AF59DBA607}"/>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AddMedicineActivity</a:t>
            </a:r>
          </a:p>
        </p:txBody>
      </p:sp>
      <p:sp>
        <p:nvSpPr>
          <p:cNvPr id="8" name="">
            <a:extLst xmlns:a="http://schemas.openxmlformats.org/drawingml/2006/main">
              <a:ext uri="{FF2B5EF4-FFF2-40B4-BE49-F238E27FC236}">
                <a16:creationId xmlns:a16="http://schemas.microsoft.com/office/drawing/2014/main" id="{634E7A1C-2BEE-4323-B380-3C6E0A64865E}"/>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Thêm hoặc sửa thuốc, giờ uống và ngày lặp trong tuần.</a:t>
            </a:r>
          </a:p>
        </p:txBody>
      </p:sp>
      <p:sp>
        <p:nvSpPr>
          <p:cNvPr id="9" name="">
            <a:extLst xmlns:a="http://schemas.openxmlformats.org/drawingml/2006/main">
              <a:ext uri="{FF2B5EF4-FFF2-40B4-BE49-F238E27FC236}">
                <a16:creationId xmlns:a16="http://schemas.microsoft.com/office/drawing/2014/main" id="{831854A1-7C37-47F1-A414-20C99D8C5F10}"/>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MedicineDoseDialogs</a:t>
            </a:r>
          </a:p>
        </p:txBody>
      </p:sp>
      <p:sp>
        <p:nvSpPr>
          <p:cNvPr id="10" name="">
            <a:extLst xmlns:a="http://schemas.openxmlformats.org/drawingml/2006/main">
              <a:ext uri="{FF2B5EF4-FFF2-40B4-BE49-F238E27FC236}">
                <a16:creationId xmlns:a16="http://schemas.microsoft.com/office/drawing/2014/main" id="{1084FD57-3F72-4CC9-93E9-7FD06FC33BF9}"/>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Mở xác nhận cữ, điều chỉnh kết quả, lịch sử và xác nhận xóa thuốc.</a:t>
            </a:r>
          </a:p>
        </p:txBody>
      </p:sp>
      <p:pic>
        <p:nvPicPr>
          <p:cNvPr id="11" name="">
            <a:extLst xmlns:a="http://schemas.openxmlformats.org/drawingml/2006/main">
              <a:ext uri="{FF2B5EF4-FFF2-40B4-BE49-F238E27FC236}">
                <a16:creationId xmlns:a16="http://schemas.microsoft.com/office/drawing/2014/main" id="{C18D9F71-FAFC-4DD8-927C-64B415F6EC19}"/>
              </a:ext>
            </a:extLst>
          </p:cNvPr>
          <p:cNvPicPr>
            <a:picLocks xmlns:a="http://schemas.openxmlformats.org/drawingml/2006/main" noChangeAspect="1"/>
          </p:cNvPicPr>
          <p:nvPr/>
        </p:nvPicPr>
        <p:blipFill>
          <a:blip xmlns:r="http://schemas.openxmlformats.org/officeDocument/2006/relationships" xmlns:a="http://schemas.openxmlformats.org/drawingml/2006/main" r:embed="R9aab05455a044ecd"/>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6159BE8-FE71-4A0D-B707-7433EB22AAE9}"/>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Danh sách thuốc</a:t>
            </a:r>
          </a:p>
        </p:txBody>
      </p:sp>
      <p:pic>
        <p:nvPicPr>
          <p:cNvPr id="13" name="">
            <a:extLst xmlns:a="http://schemas.openxmlformats.org/drawingml/2006/main">
              <a:ext uri="{FF2B5EF4-FFF2-40B4-BE49-F238E27FC236}">
                <a16:creationId xmlns:a16="http://schemas.microsoft.com/office/drawing/2014/main" id="{3C44262A-E226-45A3-B66D-390F973BF966}"/>
              </a:ext>
            </a:extLst>
          </p:cNvPr>
          <p:cNvPicPr>
            <a:picLocks xmlns:a="http://schemas.openxmlformats.org/drawingml/2006/main" noChangeAspect="1"/>
          </p:cNvPicPr>
          <p:nvPr/>
        </p:nvPicPr>
        <p:blipFill>
          <a:blip xmlns:r="http://schemas.openxmlformats.org/officeDocument/2006/relationships" xmlns:a="http://schemas.openxmlformats.org/drawingml/2006/main" r:embed="Ra9b25a85392c44f4"/>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A71CE4CA-A3CD-40B4-A6CE-E9AAB7ABF16E}"/>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Thiết lập lịch</a:t>
            </a:r>
          </a:p>
        </p:txBody>
      </p:sp>
      <p:pic>
        <p:nvPicPr>
          <p:cNvPr id="15" name="">
            <a:extLst xmlns:a="http://schemas.openxmlformats.org/drawingml/2006/main">
              <a:ext uri="{FF2B5EF4-FFF2-40B4-BE49-F238E27FC236}">
                <a16:creationId xmlns:a16="http://schemas.microsoft.com/office/drawing/2014/main" id="{3D1D70AD-B7AA-4E62-A30E-2A175A3DE954}"/>
              </a:ext>
            </a:extLst>
          </p:cNvPr>
          <p:cNvPicPr>
            <a:picLocks xmlns:a="http://schemas.openxmlformats.org/drawingml/2006/main" noChangeAspect="1"/>
          </p:cNvPicPr>
          <p:nvPr/>
        </p:nvPicPr>
        <p:blipFill>
          <a:blip xmlns:r="http://schemas.openxmlformats.org/officeDocument/2006/relationships" xmlns:a="http://schemas.openxmlformats.org/drawingml/2006/main" r:embed="R376dd6f1d53f4590"/>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23D34EC9-6931-4D4B-B20B-2A8055DA4760}"/>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Xác nhận cữ thuốc</a:t>
            </a:r>
          </a:p>
        </p:txBody>
      </p:sp>
    </p:spTree>
    <p:extLst>
      <p:ext uri="{BB962C8B-B14F-4D97-AF65-F5344CB8AC3E}">
        <p14:creationId xmlns:p14="http://schemas.microsoft.com/office/powerpoint/2010/main" val="669758313"/>
      </p:ext>
    </p:extLst>
  </p:cSld>
</p:sld>
</file>

<file path=ppt/slides/slide10.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4CB8E84-3319-4D56-9CB6-DED987427686}"/>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GIAO DIỆN THEO DÕI NƯỚC</a:t>
            </a:r>
          </a:p>
        </p:txBody>
      </p:sp>
      <p:sp>
        <p:nvSpPr>
          <p:cNvPr id="2" name="">
            <a:extLst xmlns:a="http://schemas.openxmlformats.org/drawingml/2006/main">
              <a:ext uri="{FF2B5EF4-FFF2-40B4-BE49-F238E27FC236}">
                <a16:creationId xmlns:a16="http://schemas.microsoft.com/office/drawing/2014/main" id="{79380BB5-B14B-4D0F-A959-C4B58B59CCF3}"/>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Nhật ký nước và các biểu mẫu bổ trợ</a:t>
            </a:r>
          </a:p>
        </p:txBody>
      </p:sp>
      <p:sp>
        <p:nvSpPr>
          <p:cNvPr id="3" name="">
            <a:extLst xmlns:a="http://schemas.openxmlformats.org/drawingml/2006/main">
              <a:ext uri="{FF2B5EF4-FFF2-40B4-BE49-F238E27FC236}">
                <a16:creationId xmlns:a16="http://schemas.microsoft.com/office/drawing/2014/main" id="{2EF10984-2B00-47BC-86D4-6C3700A63A42}"/>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30E84FE9-D57E-4874-A970-E6BEFE1DA38C}"/>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CF950ED8-3656-4B56-9640-10478716A314}"/>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Nhật ký từng lần uống</a:t>
            </a:r>
          </a:p>
        </p:txBody>
      </p:sp>
      <p:sp>
        <p:nvSpPr>
          <p:cNvPr id="6" name="">
            <a:extLst xmlns:a="http://schemas.openxmlformats.org/drawingml/2006/main">
              <a:ext uri="{FF2B5EF4-FFF2-40B4-BE49-F238E27FC236}">
                <a16:creationId xmlns:a16="http://schemas.microsoft.com/office/drawing/2014/main" id="{33C4CB86-EA8B-4176-90DC-5B071C83B5F4}"/>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WaterJournalDialog là DialogFragment, không phải Activity riêng.</a:t>
            </a:r>
          </a:p>
        </p:txBody>
      </p:sp>
      <p:sp>
        <p:nvSpPr>
          <p:cNvPr id="7" name="">
            <a:extLst xmlns:a="http://schemas.openxmlformats.org/drawingml/2006/main">
              <a:ext uri="{FF2B5EF4-FFF2-40B4-BE49-F238E27FC236}">
                <a16:creationId xmlns:a16="http://schemas.microsoft.com/office/drawing/2014/main" id="{D952EAE9-6896-4590-A57D-C93D868802F2}"/>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Các điểm truy cập</a:t>
            </a:r>
          </a:p>
        </p:txBody>
      </p:sp>
      <p:sp>
        <p:nvSpPr>
          <p:cNvPr id="8" name="">
            <a:extLst xmlns:a="http://schemas.openxmlformats.org/drawingml/2006/main">
              <a:ext uri="{FF2B5EF4-FFF2-40B4-BE49-F238E27FC236}">
                <a16:creationId xmlns:a16="http://schemas.microsoft.com/office/drawing/2014/main" id="{751940E3-CD00-4A30-8E3B-D0AD298AC8A3}"/>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Mở từ Trang chủ, Nhắc nhở hoặc dữ liệu thống kê nước.</a:t>
            </a:r>
          </a:p>
        </p:txBody>
      </p:sp>
      <p:sp>
        <p:nvSpPr>
          <p:cNvPr id="9" name="">
            <a:extLst xmlns:a="http://schemas.openxmlformats.org/drawingml/2006/main">
              <a:ext uri="{FF2B5EF4-FFF2-40B4-BE49-F238E27FC236}">
                <a16:creationId xmlns:a16="http://schemas.microsoft.com/office/drawing/2014/main" id="{53FE486D-99B7-4F07-BFDF-6FA0AFB9010D}"/>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Các thao tác</a:t>
            </a:r>
          </a:p>
        </p:txBody>
      </p:sp>
      <p:sp>
        <p:nvSpPr>
          <p:cNvPr id="10" name="">
            <a:extLst xmlns:a="http://schemas.openxmlformats.org/drawingml/2006/main">
              <a:ext uri="{FF2B5EF4-FFF2-40B4-BE49-F238E27FC236}">
                <a16:creationId xmlns:a16="http://schemas.microsoft.com/office/drawing/2014/main" id="{F35F640F-F817-4067-ACFA-9868B031CDCF}"/>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Thêm lượng nước, chỉnh sửa lần ghi nhận và thiết lập lịch nhắc trong hồ sơ.</a:t>
            </a:r>
          </a:p>
        </p:txBody>
      </p:sp>
      <p:pic>
        <p:nvPicPr>
          <p:cNvPr id="11" name="">
            <a:extLst xmlns:a="http://schemas.openxmlformats.org/drawingml/2006/main">
              <a:ext uri="{FF2B5EF4-FFF2-40B4-BE49-F238E27FC236}">
                <a16:creationId xmlns:a16="http://schemas.microsoft.com/office/drawing/2014/main" id="{F30972C2-4279-470A-A258-95812C91865D}"/>
              </a:ext>
            </a:extLst>
          </p:cNvPr>
          <p:cNvPicPr>
            <a:picLocks xmlns:a="http://schemas.openxmlformats.org/drawingml/2006/main" noChangeAspect="1"/>
          </p:cNvPicPr>
          <p:nvPr/>
        </p:nvPicPr>
        <p:blipFill>
          <a:blip xmlns:r="http://schemas.openxmlformats.org/officeDocument/2006/relationships" xmlns:a="http://schemas.openxmlformats.org/drawingml/2006/main" r:embed="R473b7c39ed274455"/>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64AD253-D738-4DE1-91F8-A7A0C7D58C7F}"/>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Nhật ký nước</a:t>
            </a:r>
          </a:p>
        </p:txBody>
      </p:sp>
      <p:pic>
        <p:nvPicPr>
          <p:cNvPr id="13" name="">
            <a:extLst xmlns:a="http://schemas.openxmlformats.org/drawingml/2006/main">
              <a:ext uri="{FF2B5EF4-FFF2-40B4-BE49-F238E27FC236}">
                <a16:creationId xmlns:a16="http://schemas.microsoft.com/office/drawing/2014/main" id="{0CECB697-721A-4908-9318-A362A543F533}"/>
              </a:ext>
            </a:extLst>
          </p:cNvPr>
          <p:cNvPicPr>
            <a:picLocks xmlns:a="http://schemas.openxmlformats.org/drawingml/2006/main" noChangeAspect="1"/>
          </p:cNvPicPr>
          <p:nvPr/>
        </p:nvPicPr>
        <p:blipFill>
          <a:blip xmlns:r="http://schemas.openxmlformats.org/officeDocument/2006/relationships" xmlns:a="http://schemas.openxmlformats.org/drawingml/2006/main" r:embed="R4ac785a31d8c4e3f"/>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AA2CC816-77DE-434D-91EE-5CFB8F907F1F}"/>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Sửa lần uống</a:t>
            </a:r>
          </a:p>
        </p:txBody>
      </p:sp>
      <p:pic>
        <p:nvPicPr>
          <p:cNvPr id="15" name="">
            <a:extLst xmlns:a="http://schemas.openxmlformats.org/drawingml/2006/main">
              <a:ext uri="{FF2B5EF4-FFF2-40B4-BE49-F238E27FC236}">
                <a16:creationId xmlns:a16="http://schemas.microsoft.com/office/drawing/2014/main" id="{057B833C-8FB1-4796-92F8-4D96DA3E8DF7}"/>
              </a:ext>
            </a:extLst>
          </p:cNvPr>
          <p:cNvPicPr>
            <a:picLocks xmlns:a="http://schemas.openxmlformats.org/drawingml/2006/main" noChangeAspect="1"/>
          </p:cNvPicPr>
          <p:nvPr/>
        </p:nvPicPr>
        <p:blipFill>
          <a:blip xmlns:r="http://schemas.openxmlformats.org/officeDocument/2006/relationships" xmlns:a="http://schemas.openxmlformats.org/drawingml/2006/main" r:embed="R6d34267166a04f2f"/>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3E211A49-83CC-430A-B271-114E153BBC49}"/>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Cài đặt nước</a:t>
            </a:r>
          </a:p>
        </p:txBody>
      </p:sp>
    </p:spTree>
    <p:extLst>
      <p:ext uri="{BB962C8B-B14F-4D97-AF65-F5344CB8AC3E}">
        <p14:creationId xmlns:p14="http://schemas.microsoft.com/office/powerpoint/2010/main" val="658885363"/>
      </p:ext>
    </p:extLst>
  </p:cSld>
</p:sld>
</file>

<file path=ppt/slides/slide11.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6F7D7D2-489C-406E-B7F2-0500FBC119F5}"/>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STATSFRAGMENT</a:t>
            </a:r>
          </a:p>
        </p:txBody>
      </p:sp>
      <p:sp>
        <p:nvSpPr>
          <p:cNvPr id="2" name="">
            <a:extLst xmlns:a="http://schemas.openxmlformats.org/drawingml/2006/main">
              <a:ext uri="{FF2B5EF4-FFF2-40B4-BE49-F238E27FC236}">
                <a16:creationId xmlns:a16="http://schemas.microsoft.com/office/drawing/2014/main" id="{F3D7C150-CC8B-46A6-88D1-B584DFE7BB39}"/>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Màn hình thống kê và trạng thái dữ liệu</a:t>
            </a:r>
          </a:p>
        </p:txBody>
      </p:sp>
      <p:sp>
        <p:nvSpPr>
          <p:cNvPr id="3" name="">
            <a:extLst xmlns:a="http://schemas.openxmlformats.org/drawingml/2006/main">
              <a:ext uri="{FF2B5EF4-FFF2-40B4-BE49-F238E27FC236}">
                <a16:creationId xmlns:a16="http://schemas.microsoft.com/office/drawing/2014/main" id="{B9CBD727-4545-45E5-A30E-C2295C449B4D}"/>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56D7EDD5-5480-4E6D-B430-E91DA042955D}"/>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FDDCFBC8-D080-4CF4-972A-C46D03B790E4}"/>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Chọn khoảng thời gian</a:t>
            </a:r>
          </a:p>
        </p:txBody>
      </p:sp>
      <p:sp>
        <p:nvSpPr>
          <p:cNvPr id="6" name="">
            <a:extLst xmlns:a="http://schemas.openxmlformats.org/drawingml/2006/main">
              <a:ext uri="{FF2B5EF4-FFF2-40B4-BE49-F238E27FC236}">
                <a16:creationId xmlns:a16="http://schemas.microsoft.com/office/drawing/2014/main" id="{8E9ABDD5-C844-4B9B-8DAB-0320AE5453E3}"/>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Theo dõi 7 hoặc 30 ngày, chọn chỉ số cần xem.</a:t>
            </a:r>
          </a:p>
        </p:txBody>
      </p:sp>
      <p:sp>
        <p:nvSpPr>
          <p:cNvPr id="7" name="">
            <a:extLst xmlns:a="http://schemas.openxmlformats.org/drawingml/2006/main">
              <a:ext uri="{FF2B5EF4-FFF2-40B4-BE49-F238E27FC236}">
                <a16:creationId xmlns:a16="http://schemas.microsoft.com/office/drawing/2014/main" id="{3D7E1D1B-C718-44EA-A2C7-C3A281DDD33D}"/>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Biểu đồ theo dữ liệu</a:t>
            </a:r>
          </a:p>
        </p:txBody>
      </p:sp>
      <p:sp>
        <p:nvSpPr>
          <p:cNvPr id="8" name="">
            <a:extLst xmlns:a="http://schemas.openxmlformats.org/drawingml/2006/main">
              <a:ext uri="{FF2B5EF4-FFF2-40B4-BE49-F238E27FC236}">
                <a16:creationId xmlns:a16="http://schemas.microsoft.com/office/drawing/2014/main" id="{1F01D6EA-B78A-470B-94D2-BFDAF75AB5C3}"/>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Chỉ số đo dùng biểu đồ đường. Nước uống dùng biểu đồ cột theo ngày.</a:t>
            </a:r>
          </a:p>
        </p:txBody>
      </p:sp>
      <p:sp>
        <p:nvSpPr>
          <p:cNvPr id="9" name="">
            <a:extLst xmlns:a="http://schemas.openxmlformats.org/drawingml/2006/main">
              <a:ext uri="{FF2B5EF4-FFF2-40B4-BE49-F238E27FC236}">
                <a16:creationId xmlns:a16="http://schemas.microsoft.com/office/drawing/2014/main" id="{B7326E84-2AF5-4F89-8B98-BDDC7A645E2B}"/>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Bối cảnh và dữ liệu trống</a:t>
            </a:r>
          </a:p>
        </p:txBody>
      </p:sp>
      <p:sp>
        <p:nvSpPr>
          <p:cNvPr id="10" name="">
            <a:extLst xmlns:a="http://schemas.openxmlformats.org/drawingml/2006/main">
              <a:ext uri="{FF2B5EF4-FFF2-40B4-BE49-F238E27FC236}">
                <a16:creationId xmlns:a16="http://schemas.microsoft.com/office/drawing/2014/main" id="{FDAA5C81-B060-41CA-BA8F-14080E249961}"/>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Đường huyết lọc theo bữa ăn. Khi chưa có dữ liệu, hiển thị trạng thái trống.</a:t>
            </a:r>
          </a:p>
        </p:txBody>
      </p:sp>
      <p:pic>
        <p:nvPicPr>
          <p:cNvPr id="11" name="">
            <a:extLst xmlns:a="http://schemas.openxmlformats.org/drawingml/2006/main">
              <a:ext uri="{FF2B5EF4-FFF2-40B4-BE49-F238E27FC236}">
                <a16:creationId xmlns:a16="http://schemas.microsoft.com/office/drawing/2014/main" id="{4ABBF052-1B1B-430D-8943-45EB8FC164CF}"/>
              </a:ext>
            </a:extLst>
          </p:cNvPr>
          <p:cNvPicPr>
            <a:picLocks xmlns:a="http://schemas.openxmlformats.org/drawingml/2006/main" noChangeAspect="1"/>
          </p:cNvPicPr>
          <p:nvPr/>
        </p:nvPicPr>
        <p:blipFill>
          <a:blip xmlns:r="http://schemas.openxmlformats.org/officeDocument/2006/relationships" xmlns:a="http://schemas.openxmlformats.org/drawingml/2006/main" r:embed="Rabfa042929f940f2"/>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88A0C0A-ED80-45EE-8811-55DC5E73D588}"/>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Đường huyết</a:t>
            </a:r>
          </a:p>
        </p:txBody>
      </p:sp>
      <p:pic>
        <p:nvPicPr>
          <p:cNvPr id="13" name="">
            <a:extLst xmlns:a="http://schemas.openxmlformats.org/drawingml/2006/main">
              <a:ext uri="{FF2B5EF4-FFF2-40B4-BE49-F238E27FC236}">
                <a16:creationId xmlns:a16="http://schemas.microsoft.com/office/drawing/2014/main" id="{865F7791-36A1-4838-AA49-B3E6A5B11067}"/>
              </a:ext>
            </a:extLst>
          </p:cNvPr>
          <p:cNvPicPr>
            <a:picLocks xmlns:a="http://schemas.openxmlformats.org/drawingml/2006/main" noChangeAspect="1"/>
          </p:cNvPicPr>
          <p:nvPr/>
        </p:nvPicPr>
        <p:blipFill>
          <a:blip xmlns:r="http://schemas.openxmlformats.org/officeDocument/2006/relationships" xmlns:a="http://schemas.openxmlformats.org/drawingml/2006/main" r:embed="R5fe4da9fabc449e7"/>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B9089A01-4AB5-4137-A9C9-D8335FCD2D2A}"/>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Nước uống</a:t>
            </a:r>
          </a:p>
        </p:txBody>
      </p:sp>
      <p:pic>
        <p:nvPicPr>
          <p:cNvPr id="15" name="">
            <a:extLst xmlns:a="http://schemas.openxmlformats.org/drawingml/2006/main">
              <a:ext uri="{FF2B5EF4-FFF2-40B4-BE49-F238E27FC236}">
                <a16:creationId xmlns:a16="http://schemas.microsoft.com/office/drawing/2014/main" id="{6BA717CF-44D2-4A20-9174-16AEACEC9FFD}"/>
              </a:ext>
            </a:extLst>
          </p:cNvPr>
          <p:cNvPicPr>
            <a:picLocks xmlns:a="http://schemas.openxmlformats.org/drawingml/2006/main" noChangeAspect="1"/>
          </p:cNvPicPr>
          <p:nvPr/>
        </p:nvPicPr>
        <p:blipFill>
          <a:blip xmlns:r="http://schemas.openxmlformats.org/officeDocument/2006/relationships" xmlns:a="http://schemas.openxmlformats.org/drawingml/2006/main" r:embed="R96ef2b9d0ec64680"/>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A4F10F1C-923E-4FAB-B133-D74F917C4CC1}"/>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Chưa có dữ liệu</a:t>
            </a:r>
          </a:p>
        </p:txBody>
      </p:sp>
    </p:spTree>
    <p:extLst>
      <p:ext uri="{BB962C8B-B14F-4D97-AF65-F5344CB8AC3E}">
        <p14:creationId xmlns:p14="http://schemas.microsoft.com/office/powerpoint/2010/main" val="524134206"/>
      </p:ext>
    </p:extLst>
  </p:cSld>
</p:sld>
</file>

<file path=ppt/slides/slide12.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53F21AE-2F54-40F9-9909-0930FFD627AB}"/>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LUỒNG ĐIỀU HƯỚNG VÀ CHÚ GIẢI</a:t>
            </a:r>
          </a:p>
        </p:txBody>
      </p:sp>
      <p:sp>
        <p:nvSpPr>
          <p:cNvPr id="2" name="">
            <a:extLst xmlns:a="http://schemas.openxmlformats.org/drawingml/2006/main">
              <a:ext uri="{FF2B5EF4-FFF2-40B4-BE49-F238E27FC236}">
                <a16:creationId xmlns:a16="http://schemas.microsoft.com/office/drawing/2014/main" id="{5328724E-3139-48C1-B51C-1BE90DC1E33E}"/>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Sơ đồ liên kết các màn hình chính</a:t>
            </a:r>
          </a:p>
        </p:txBody>
      </p:sp>
      <p:sp>
        <p:nvSpPr>
          <p:cNvPr id="3" name="">
            <a:extLst xmlns:a="http://schemas.openxmlformats.org/drawingml/2006/main">
              <a:ext uri="{FF2B5EF4-FFF2-40B4-BE49-F238E27FC236}">
                <a16:creationId xmlns:a16="http://schemas.microsoft.com/office/drawing/2014/main" id="{458A6F18-F571-4A20-84C6-51FD5D9E6AEE}"/>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369F38AE-CF86-40EC-AB99-8E819395FD33}"/>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12</a:t>
            </a:r>
          </a:p>
        </p:txBody>
      </p:sp>
      <p:pic>
        <p:nvPicPr>
          <p:cNvPr id="5" name="">
            <a:extLst xmlns:a="http://schemas.openxmlformats.org/drawingml/2006/main">
              <a:ext uri="{FF2B5EF4-FFF2-40B4-BE49-F238E27FC236}">
                <a16:creationId xmlns:a16="http://schemas.microsoft.com/office/drawing/2014/main" id="{77CD388D-04E9-43D4-A43E-1DDF9CACBDAE}"/>
              </a:ext>
            </a:extLst>
          </p:cNvPr>
          <p:cNvPicPr>
            <a:picLocks xmlns:a="http://schemas.openxmlformats.org/drawingml/2006/main" noChangeAspect="1"/>
          </p:cNvPicPr>
          <p:nvPr/>
        </p:nvPicPr>
        <p:blipFill>
          <a:blip xmlns:r="http://schemas.openxmlformats.org/officeDocument/2006/relationships" xmlns:a="http://schemas.openxmlformats.org/drawingml/2006/main" r:embed="R0abfac55753342ba"/>
          <a:stretch xmlns:a="http://schemas.openxmlformats.org/drawingml/2006/main"/>
        </p:blipFill>
        <p:spPr>
          <a:xfrm xmlns:a="http://schemas.openxmlformats.org/drawingml/2006/main">
            <a:off x="1306916" y="1295400"/>
            <a:ext cx="5415743" cy="5143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E0A34F5-E61D-465B-B2D9-4A07276C190F}"/>
              </a:ext>
            </a:extLst>
          </p:cNvPr>
          <p:cNvSpPr>
            <a:spLocks xmlns:a="http://schemas.openxmlformats.org/drawingml/2006/main" noGrp="1"/>
          </p:cNvSpPr>
          <p:nvPr/>
        </p:nvSpPr>
        <p:spPr>
          <a:xfrm xmlns:a="http://schemas.openxmlformats.org/drawingml/2006/main">
            <a:off x="7762875" y="1428750"/>
            <a:ext cx="3667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Cách đọc các nét</a:t>
            </a:r>
          </a:p>
        </p:txBody>
      </p:sp>
      <p:sp>
        <p:nvSpPr>
          <p:cNvPr id="7" name="">
            <a:extLst xmlns:a="http://schemas.openxmlformats.org/drawingml/2006/main">
              <a:ext uri="{FF2B5EF4-FFF2-40B4-BE49-F238E27FC236}">
                <a16:creationId xmlns:a16="http://schemas.microsoft.com/office/drawing/2014/main" id="{28FDBE88-6458-4B53-AB15-EA8213A7B2EC}"/>
              </a:ext>
            </a:extLst>
          </p:cNvPr>
          <p:cNvSpPr>
            <a:spLocks xmlns:a="http://schemas.openxmlformats.org/drawingml/2006/main" noGrp="1"/>
          </p:cNvSpPr>
          <p:nvPr/>
        </p:nvSpPr>
        <p:spPr>
          <a:xfrm xmlns:a="http://schemas.openxmlformats.org/drawingml/2006/main">
            <a:off x="7762875" y="2047875"/>
            <a:ext cx="3667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Nét liền và mũi tên</a:t>
            </a:r>
          </a:p>
        </p:txBody>
      </p:sp>
      <p:sp>
        <p:nvSpPr>
          <p:cNvPr id="8" name="">
            <a:extLst xmlns:a="http://schemas.openxmlformats.org/drawingml/2006/main">
              <a:ext uri="{FF2B5EF4-FFF2-40B4-BE49-F238E27FC236}">
                <a16:creationId xmlns:a16="http://schemas.microsoft.com/office/drawing/2014/main" id="{3B19927C-FEA6-429E-A963-D097DE207C9C}"/>
              </a:ext>
            </a:extLst>
          </p:cNvPr>
          <p:cNvSpPr>
            <a:spLocks xmlns:a="http://schemas.openxmlformats.org/drawingml/2006/main" noGrp="1"/>
          </p:cNvSpPr>
          <p:nvPr/>
        </p:nvSpPr>
        <p:spPr>
          <a:xfrm xmlns:a="http://schemas.openxmlformats.org/drawingml/2006/main">
            <a:off x="7762875" y="2447925"/>
            <a:ext cx="3667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Hướng mở giao diện.</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Nhãn nêu thao tác hoặc</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điều kiện chuyển màn hình.</a:t>
            </a:r>
          </a:p>
        </p:txBody>
      </p:sp>
      <p:sp>
        <p:nvSpPr>
          <p:cNvPr id="9" name="">
            <a:extLst xmlns:a="http://schemas.openxmlformats.org/drawingml/2006/main">
              <a:ext uri="{FF2B5EF4-FFF2-40B4-BE49-F238E27FC236}">
                <a16:creationId xmlns:a16="http://schemas.microsoft.com/office/drawing/2014/main" id="{8B3578EF-8870-4637-89FE-FA19186E25BF}"/>
              </a:ext>
            </a:extLst>
          </p:cNvPr>
          <p:cNvSpPr>
            <a:spLocks xmlns:a="http://schemas.openxmlformats.org/drawingml/2006/main" noGrp="1"/>
          </p:cNvSpPr>
          <p:nvPr/>
        </p:nvSpPr>
        <p:spPr>
          <a:xfrm xmlns:a="http://schemas.openxmlformats.org/drawingml/2006/main">
            <a:off x="7762875" y="3571875"/>
            <a:ext cx="3667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Nét chấm</a:t>
            </a:r>
          </a:p>
        </p:txBody>
      </p:sp>
      <p:sp>
        <p:nvSpPr>
          <p:cNvPr id="10" name="">
            <a:extLst xmlns:a="http://schemas.openxmlformats.org/drawingml/2006/main">
              <a:ext uri="{FF2B5EF4-FFF2-40B4-BE49-F238E27FC236}">
                <a16:creationId xmlns:a16="http://schemas.microsoft.com/office/drawing/2014/main" id="{BA2F5838-5CE9-4CDE-90B3-B4265E938744}"/>
              </a:ext>
            </a:extLst>
          </p:cNvPr>
          <p:cNvSpPr>
            <a:spLocks xmlns:a="http://schemas.openxmlformats.org/drawingml/2006/main" noGrp="1"/>
          </p:cNvSpPr>
          <p:nvPr/>
        </p:nvSpPr>
        <p:spPr>
          <a:xfrm xmlns:a="http://schemas.openxmlformats.org/drawingml/2006/main">
            <a:off x="7762875" y="3971925"/>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Lối mở hồ sơ từ bốn tab.</a:t>
            </a:r>
          </a:p>
        </p:txBody>
      </p:sp>
      <p:sp>
        <p:nvSpPr>
          <p:cNvPr id="11" name="">
            <a:extLst xmlns:a="http://schemas.openxmlformats.org/drawingml/2006/main">
              <a:ext uri="{FF2B5EF4-FFF2-40B4-BE49-F238E27FC236}">
                <a16:creationId xmlns:a16="http://schemas.microsoft.com/office/drawing/2014/main" id="{9A4A0752-074F-4013-A325-D683A8A946F1}"/>
              </a:ext>
            </a:extLst>
          </p:cNvPr>
          <p:cNvSpPr>
            <a:spLocks xmlns:a="http://schemas.openxmlformats.org/drawingml/2006/main" noGrp="1"/>
          </p:cNvSpPr>
          <p:nvPr/>
        </p:nvSpPr>
        <p:spPr>
          <a:xfrm xmlns:a="http://schemas.openxmlformats.org/drawingml/2006/main">
            <a:off x="7762875" y="4667250"/>
            <a:ext cx="3667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Nét uốn tại giao điểm</a:t>
            </a:r>
          </a:p>
        </p:txBody>
      </p:sp>
      <p:sp>
        <p:nvSpPr>
          <p:cNvPr id="12" name="">
            <a:extLst xmlns:a="http://schemas.openxmlformats.org/drawingml/2006/main">
              <a:ext uri="{FF2B5EF4-FFF2-40B4-BE49-F238E27FC236}">
                <a16:creationId xmlns:a16="http://schemas.microsoft.com/office/drawing/2014/main" id="{0C0B79EA-98F7-4898-B302-6829A377D39D}"/>
              </a:ext>
            </a:extLst>
          </p:cNvPr>
          <p:cNvSpPr>
            <a:spLocks xmlns:a="http://schemas.openxmlformats.org/drawingml/2006/main" noGrp="1"/>
          </p:cNvSpPr>
          <p:nvPr/>
        </p:nvSpPr>
        <p:spPr>
          <a:xfrm xmlns:a="http://schemas.openxmlformats.org/drawingml/2006/main">
            <a:off x="7762875" y="5067300"/>
            <a:ext cx="3667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Hai đường cắt nhau,</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không nối luồng.</a:t>
            </a:r>
          </a:p>
        </p:txBody>
      </p:sp>
      <p:sp>
        <p:nvSpPr>
          <p:cNvPr id="13" name="">
            <a:extLst xmlns:a="http://schemas.openxmlformats.org/drawingml/2006/main">
              <a:ext uri="{FF2B5EF4-FFF2-40B4-BE49-F238E27FC236}">
                <a16:creationId xmlns:a16="http://schemas.microsoft.com/office/drawing/2014/main" id="{CD972972-B354-45B9-9FE6-C3D3CE842978}"/>
              </a:ext>
            </a:extLst>
          </p:cNvPr>
          <p:cNvSpPr>
            <a:spLocks xmlns:a="http://schemas.openxmlformats.org/drawingml/2006/main" noGrp="1"/>
          </p:cNvSpPr>
          <p:nvPr/>
        </p:nvSpPr>
        <p:spPr>
          <a:xfrm xmlns:a="http://schemas.openxmlformats.org/drawingml/2006/main">
            <a:off x="7762875" y="5915025"/>
            <a:ext cx="3667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650" b="1">
                <a:solidFill>
                  <a:srgbClr val="087F72"/>
                </a:solidFill>
                <a:latin typeface="Arial"/>
                <a:ea typeface="Arial"/>
                <a:cs typeface="Arial"/>
              </a:defRPr>
            </a:defPPr>
            <a:lvl1pPr>
              <a:defRPr sz="1650" b="1">
                <a:solidFill>
                  <a:srgbClr val="087F72"/>
                </a:solidFill>
                <a:latin typeface="Arial"/>
                <a:ea typeface="Arial"/>
                <a:cs typeface="Arial"/>
              </a:defRPr>
            </a:lvl1pPr>
            <a:lvl2pPr>
              <a:defRPr sz="1650" b="1">
                <a:solidFill>
                  <a:srgbClr val="087F72"/>
                </a:solidFill>
                <a:latin typeface="Arial"/>
                <a:ea typeface="Arial"/>
                <a:cs typeface="Arial"/>
              </a:defRPr>
            </a:lvl2pPr>
            <a:lvl3pPr>
              <a:defRPr sz="1650" b="1">
                <a:solidFill>
                  <a:srgbClr val="087F72"/>
                </a:solidFill>
                <a:latin typeface="Arial"/>
                <a:ea typeface="Arial"/>
                <a:cs typeface="Arial"/>
              </a:defRPr>
            </a:lvl3pPr>
            <a:lvl4pPr>
              <a:defRPr sz="1650" b="1">
                <a:solidFill>
                  <a:srgbClr val="087F72"/>
                </a:solidFill>
                <a:latin typeface="Arial"/>
                <a:ea typeface="Arial"/>
                <a:cs typeface="Arial"/>
              </a:defRPr>
            </a:lvl4pPr>
            <a:lvl5pPr>
              <a:defRPr sz="1650" b="1">
                <a:solidFill>
                  <a:srgbClr val="087F72"/>
                </a:solidFill>
                <a:latin typeface="Arial"/>
                <a:ea typeface="Arial"/>
                <a:cs typeface="Arial"/>
              </a:defRPr>
            </a:lvl5pPr>
            <a:lvl6pPr>
              <a:defRPr sz="1650" b="1">
                <a:solidFill>
                  <a:srgbClr val="087F72"/>
                </a:solidFill>
                <a:latin typeface="Arial"/>
                <a:ea typeface="Arial"/>
                <a:cs typeface="Arial"/>
              </a:defRPr>
            </a:lvl6pPr>
            <a:lvl7pPr>
              <a:defRPr sz="1650" b="1">
                <a:solidFill>
                  <a:srgbClr val="087F72"/>
                </a:solidFill>
                <a:latin typeface="Arial"/>
                <a:ea typeface="Arial"/>
                <a:cs typeface="Arial"/>
              </a:defRPr>
            </a:lvl7pPr>
            <a:lvl8pPr>
              <a:defRPr sz="1650" b="1">
                <a:solidFill>
                  <a:srgbClr val="087F72"/>
                </a:solidFill>
                <a:latin typeface="Arial"/>
                <a:ea typeface="Arial"/>
                <a:cs typeface="Arial"/>
              </a:defRPr>
            </a:lvl8pPr>
            <a:lvl9pPr>
              <a:defRPr sz="1650" b="1">
                <a:solidFill>
                  <a:srgbClr val="087F72"/>
                </a:solidFill>
                <a:latin typeface="Arial"/>
                <a:ea typeface="Arial"/>
                <a:cs typeface="Arial"/>
              </a:defRPr>
            </a:lvl9pPr>
          </a:lstStyle>
          <a:p xmlns:a="http://schemas.openxmlformats.org/drawingml/2006/main">
            <a:pPr>
              <a:defRPr sz="1650" b="1">
                <a:solidFill>
                  <a:srgbClr val="087F72"/>
                </a:solidFill>
                <a:latin typeface="Arial"/>
                <a:ea typeface="Arial"/>
                <a:cs typeface="Arial"/>
              </a:defRPr>
            </a:pPr>
            <a:r>
              <a:rPr sz="1650" b="1">
                <a:solidFill>
                  <a:srgbClr val="087F72"/>
                </a:solidFill>
                <a:latin typeface="Arial"/>
                <a:ea typeface="Arial"/>
                <a:cs typeface="Arial"/>
              </a:rPr>
              <a:t>Bốn ô màu: bốn tab chính</a:t>
            </a:r>
          </a:p>
          <a:p xmlns:a="http://schemas.openxmlformats.org/drawingml/2006/main">
            <a:pPr>
              <a:defRPr sz="1650" b="1">
                <a:solidFill>
                  <a:srgbClr val="087F72"/>
                </a:solidFill>
                <a:latin typeface="Arial"/>
                <a:ea typeface="Arial"/>
                <a:cs typeface="Arial"/>
              </a:defRPr>
            </a:pPr>
            <a:r>
              <a:rPr sz="1650" b="1">
                <a:solidFill>
                  <a:srgbClr val="087F72"/>
                </a:solidFill>
                <a:latin typeface="Arial"/>
                <a:ea typeface="Arial"/>
                <a:cs typeface="Arial"/>
              </a:rPr>
              <a:t>bên trong MainActivity.</a:t>
            </a:r>
          </a:p>
        </p:txBody>
      </p:sp>
    </p:spTree>
    <p:extLst>
      <p:ext uri="{BB962C8B-B14F-4D97-AF65-F5344CB8AC3E}">
        <p14:creationId xmlns:p14="http://schemas.microsoft.com/office/powerpoint/2010/main" val="1802127525"/>
      </p:ext>
    </p:extLst>
  </p:cSld>
</p:sld>
</file>

<file path=ppt/slides/slide13.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AF3632B-23AA-402A-8613-445BBBA4642B}"/>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SƠ ĐỒ QUAN HỆ VÀ CÁCH ĐỌC</a:t>
            </a:r>
          </a:p>
        </p:txBody>
      </p:sp>
      <p:sp>
        <p:nvSpPr>
          <p:cNvPr id="2" name="">
            <a:extLst xmlns:a="http://schemas.openxmlformats.org/drawingml/2006/main">
              <a:ext uri="{FF2B5EF4-FFF2-40B4-BE49-F238E27FC236}">
                <a16:creationId xmlns:a16="http://schemas.microsoft.com/office/drawing/2014/main" id="{8AD66226-7808-44D6-A8AD-15AC9930DF1A}"/>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Quan hệ giữa năm bảng SQLite</a:t>
            </a:r>
          </a:p>
        </p:txBody>
      </p:sp>
      <p:sp>
        <p:nvSpPr>
          <p:cNvPr id="3" name="">
            <a:extLst xmlns:a="http://schemas.openxmlformats.org/drawingml/2006/main">
              <a:ext uri="{FF2B5EF4-FFF2-40B4-BE49-F238E27FC236}">
                <a16:creationId xmlns:a16="http://schemas.microsoft.com/office/drawing/2014/main" id="{2C79825D-F24C-4EAE-AB61-B8725BB40F70}"/>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A383B793-5F1C-40EE-9311-61B02A3E8636}"/>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13</a:t>
            </a:r>
          </a:p>
        </p:txBody>
      </p:sp>
      <p:pic>
        <p:nvPicPr>
          <p:cNvPr id="5" name="">
            <a:extLst xmlns:a="http://schemas.openxmlformats.org/drawingml/2006/main">
              <a:ext uri="{FF2B5EF4-FFF2-40B4-BE49-F238E27FC236}">
                <a16:creationId xmlns:a16="http://schemas.microsoft.com/office/drawing/2014/main" id="{D3D82F4A-1439-45F0-801A-3CDC94CAF732}"/>
              </a:ext>
            </a:extLst>
          </p:cNvPr>
          <p:cNvPicPr>
            <a:picLocks xmlns:a="http://schemas.openxmlformats.org/drawingml/2006/main" noChangeAspect="1"/>
          </p:cNvPicPr>
          <p:nvPr/>
        </p:nvPicPr>
        <p:blipFill>
          <a:blip xmlns:r="http://schemas.openxmlformats.org/officeDocument/2006/relationships" xmlns:a="http://schemas.openxmlformats.org/drawingml/2006/main" r:embed="R4d82336835bd4ef1"/>
          <a:stretch xmlns:a="http://schemas.openxmlformats.org/drawingml/2006/main"/>
        </p:blipFill>
        <p:spPr>
          <a:xfrm xmlns:a="http://schemas.openxmlformats.org/drawingml/2006/main">
            <a:off x="1568150" y="1295400"/>
            <a:ext cx="4893276" cy="5143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B447EAF-F383-4CC9-9B1F-C62011F22EDD}"/>
              </a:ext>
            </a:extLst>
          </p:cNvPr>
          <p:cNvSpPr>
            <a:spLocks xmlns:a="http://schemas.openxmlformats.org/drawingml/2006/main" noGrp="1"/>
          </p:cNvSpPr>
          <p:nvPr/>
        </p:nvSpPr>
        <p:spPr>
          <a:xfrm xmlns:a="http://schemas.openxmlformats.org/drawingml/2006/main">
            <a:off x="7762875" y="1428750"/>
            <a:ext cx="3667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Ký hiệu quan hệ</a:t>
            </a:r>
          </a:p>
        </p:txBody>
      </p:sp>
      <p:sp>
        <p:nvSpPr>
          <p:cNvPr id="7" name="">
            <a:extLst xmlns:a="http://schemas.openxmlformats.org/drawingml/2006/main">
              <a:ext uri="{FF2B5EF4-FFF2-40B4-BE49-F238E27FC236}">
                <a16:creationId xmlns:a16="http://schemas.microsoft.com/office/drawing/2014/main" id="{7D497FDA-811A-4BA0-BD70-056F7DE398C2}"/>
              </a:ext>
            </a:extLst>
          </p:cNvPr>
          <p:cNvSpPr>
            <a:spLocks xmlns:a="http://schemas.openxmlformats.org/drawingml/2006/main" noGrp="1"/>
          </p:cNvSpPr>
          <p:nvPr/>
        </p:nvSpPr>
        <p:spPr>
          <a:xfrm xmlns:a="http://schemas.openxmlformats.org/drawingml/2006/main">
            <a:off x="7762875" y="1952625"/>
            <a:ext cx="3667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Hai vạch: đúng một.</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Vòng tròn: có thể bằng 0.</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Chân quạ: nhiều bản ghi.</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Vòng tròn + chân quạ: 0..n.</a:t>
            </a:r>
          </a:p>
        </p:txBody>
      </p:sp>
      <p:sp>
        <p:nvSpPr>
          <p:cNvPr id="8" name="">
            <a:extLst xmlns:a="http://schemas.openxmlformats.org/drawingml/2006/main">
              <a:ext uri="{FF2B5EF4-FFF2-40B4-BE49-F238E27FC236}">
                <a16:creationId xmlns:a16="http://schemas.microsoft.com/office/drawing/2014/main" id="{E9DB8531-BAC0-4FA7-89D8-7CE27E423D88}"/>
              </a:ext>
            </a:extLst>
          </p:cNvPr>
          <p:cNvSpPr>
            <a:spLocks xmlns:a="http://schemas.openxmlformats.org/drawingml/2006/main" noGrp="1"/>
          </p:cNvSpPr>
          <p:nvPr/>
        </p:nvSpPr>
        <p:spPr>
          <a:xfrm xmlns:a="http://schemas.openxmlformats.org/drawingml/2006/main">
            <a:off x="7762875" y="3333750"/>
            <a:ext cx="3667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100" b="1">
                <a:solidFill>
                  <a:srgbClr val="164C47"/>
                </a:solidFill>
                <a:latin typeface="Arial"/>
                <a:ea typeface="Arial"/>
                <a:cs typeface="Arial"/>
              </a:defRPr>
            </a:defPPr>
            <a:lvl1pPr>
              <a:defRPr sz="2100" b="1">
                <a:solidFill>
                  <a:srgbClr val="164C47"/>
                </a:solidFill>
                <a:latin typeface="Arial"/>
                <a:ea typeface="Arial"/>
                <a:cs typeface="Arial"/>
              </a:defRPr>
            </a:lvl1pPr>
            <a:lvl2pPr>
              <a:defRPr sz="2100" b="1">
                <a:solidFill>
                  <a:srgbClr val="164C47"/>
                </a:solidFill>
                <a:latin typeface="Arial"/>
                <a:ea typeface="Arial"/>
                <a:cs typeface="Arial"/>
              </a:defRPr>
            </a:lvl2pPr>
            <a:lvl3pPr>
              <a:defRPr sz="2100" b="1">
                <a:solidFill>
                  <a:srgbClr val="164C47"/>
                </a:solidFill>
                <a:latin typeface="Arial"/>
                <a:ea typeface="Arial"/>
                <a:cs typeface="Arial"/>
              </a:defRPr>
            </a:lvl3pPr>
            <a:lvl4pPr>
              <a:defRPr sz="2100" b="1">
                <a:solidFill>
                  <a:srgbClr val="164C47"/>
                </a:solidFill>
                <a:latin typeface="Arial"/>
                <a:ea typeface="Arial"/>
                <a:cs typeface="Arial"/>
              </a:defRPr>
            </a:lvl4pPr>
            <a:lvl5pPr>
              <a:defRPr sz="2100" b="1">
                <a:solidFill>
                  <a:srgbClr val="164C47"/>
                </a:solidFill>
                <a:latin typeface="Arial"/>
                <a:ea typeface="Arial"/>
                <a:cs typeface="Arial"/>
              </a:defRPr>
            </a:lvl5pPr>
            <a:lvl6pPr>
              <a:defRPr sz="2100" b="1">
                <a:solidFill>
                  <a:srgbClr val="164C47"/>
                </a:solidFill>
                <a:latin typeface="Arial"/>
                <a:ea typeface="Arial"/>
                <a:cs typeface="Arial"/>
              </a:defRPr>
            </a:lvl6pPr>
            <a:lvl7pPr>
              <a:defRPr sz="2100" b="1">
                <a:solidFill>
                  <a:srgbClr val="164C47"/>
                </a:solidFill>
                <a:latin typeface="Arial"/>
                <a:ea typeface="Arial"/>
                <a:cs typeface="Arial"/>
              </a:defRPr>
            </a:lvl7pPr>
            <a:lvl8pPr>
              <a:defRPr sz="2100" b="1">
                <a:solidFill>
                  <a:srgbClr val="164C47"/>
                </a:solidFill>
                <a:latin typeface="Arial"/>
                <a:ea typeface="Arial"/>
                <a:cs typeface="Arial"/>
              </a:defRPr>
            </a:lvl8pPr>
            <a:lvl9pPr>
              <a:defRPr sz="2100" b="1">
                <a:solidFill>
                  <a:srgbClr val="164C47"/>
                </a:solidFill>
                <a:latin typeface="Arial"/>
                <a:ea typeface="Arial"/>
                <a:cs typeface="Arial"/>
              </a:defRPr>
            </a:lvl9pPr>
          </a:lstStyle>
          <a:p xmlns:a="http://schemas.openxmlformats.org/drawingml/2006/main">
            <a:pPr>
              <a:defRPr sz="2100" b="1">
                <a:solidFill>
                  <a:srgbClr val="164C47"/>
                </a:solidFill>
                <a:latin typeface="Arial"/>
                <a:ea typeface="Arial"/>
                <a:cs typeface="Arial"/>
              </a:defRPr>
            </a:pPr>
            <a:r>
              <a:rPr sz="2100" b="1">
                <a:solidFill>
                  <a:srgbClr val="164C47"/>
                </a:solidFill>
                <a:latin typeface="Arial"/>
                <a:ea typeface="Arial"/>
                <a:cs typeface="Arial"/>
              </a:rPr>
              <a:t>Các quan hệ 1–n</a:t>
            </a:r>
          </a:p>
        </p:txBody>
      </p:sp>
      <p:sp>
        <p:nvSpPr>
          <p:cNvPr id="9" name="">
            <a:extLst xmlns:a="http://schemas.openxmlformats.org/drawingml/2006/main">
              <a:ext uri="{FF2B5EF4-FFF2-40B4-BE49-F238E27FC236}">
                <a16:creationId xmlns:a16="http://schemas.microsoft.com/office/drawing/2014/main" id="{C68642F6-15D6-439B-9389-A49C19043EA1}"/>
              </a:ext>
            </a:extLst>
          </p:cNvPr>
          <p:cNvSpPr>
            <a:spLocks xmlns:a="http://schemas.openxmlformats.org/drawingml/2006/main" noGrp="1"/>
          </p:cNvSpPr>
          <p:nvPr/>
        </p:nvSpPr>
        <p:spPr>
          <a:xfrm xmlns:a="http://schemas.openxmlformats.org/drawingml/2006/main">
            <a:off x="7762875" y="3857625"/>
            <a:ext cx="3667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users có nhiều lần đo,</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thuốc và lần uống nước.</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Mỗi thuốc có nhiều nhật ký cữ.</a:t>
            </a:r>
          </a:p>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Mỗi hàng con có một cha.</a:t>
            </a:r>
          </a:p>
        </p:txBody>
      </p:sp>
      <p:sp>
        <p:nvSpPr>
          <p:cNvPr id="10" name="">
            <a:extLst xmlns:a="http://schemas.openxmlformats.org/drawingml/2006/main">
              <a:ext uri="{FF2B5EF4-FFF2-40B4-BE49-F238E27FC236}">
                <a16:creationId xmlns:a16="http://schemas.microsoft.com/office/drawing/2014/main" id="{6CA23F6A-D4E5-4915-8AD2-7B2994B38606}"/>
              </a:ext>
            </a:extLst>
          </p:cNvPr>
          <p:cNvSpPr>
            <a:spLocks xmlns:a="http://schemas.openxmlformats.org/drawingml/2006/main" noGrp="1"/>
          </p:cNvSpPr>
          <p:nvPr/>
        </p:nvSpPr>
        <p:spPr>
          <a:xfrm xmlns:a="http://schemas.openxmlformats.org/drawingml/2006/main">
            <a:off x="7762875" y="5248275"/>
            <a:ext cx="3667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650" b="0">
                <a:solidFill>
                  <a:srgbClr val="087F72"/>
                </a:solidFill>
                <a:latin typeface="Arial"/>
                <a:ea typeface="Arial"/>
                <a:cs typeface="Arial"/>
              </a:defRPr>
            </a:defPPr>
            <a:lvl1pPr>
              <a:defRPr sz="1650" b="0">
                <a:solidFill>
                  <a:srgbClr val="087F72"/>
                </a:solidFill>
                <a:latin typeface="Arial"/>
                <a:ea typeface="Arial"/>
                <a:cs typeface="Arial"/>
              </a:defRPr>
            </a:lvl1pPr>
            <a:lvl2pPr>
              <a:defRPr sz="1650" b="0">
                <a:solidFill>
                  <a:srgbClr val="087F72"/>
                </a:solidFill>
                <a:latin typeface="Arial"/>
                <a:ea typeface="Arial"/>
                <a:cs typeface="Arial"/>
              </a:defRPr>
            </a:lvl2pPr>
            <a:lvl3pPr>
              <a:defRPr sz="1650" b="0">
                <a:solidFill>
                  <a:srgbClr val="087F72"/>
                </a:solidFill>
                <a:latin typeface="Arial"/>
                <a:ea typeface="Arial"/>
                <a:cs typeface="Arial"/>
              </a:defRPr>
            </a:lvl3pPr>
            <a:lvl4pPr>
              <a:defRPr sz="1650" b="0">
                <a:solidFill>
                  <a:srgbClr val="087F72"/>
                </a:solidFill>
                <a:latin typeface="Arial"/>
                <a:ea typeface="Arial"/>
                <a:cs typeface="Arial"/>
              </a:defRPr>
            </a:lvl4pPr>
            <a:lvl5pPr>
              <a:defRPr sz="1650" b="0">
                <a:solidFill>
                  <a:srgbClr val="087F72"/>
                </a:solidFill>
                <a:latin typeface="Arial"/>
                <a:ea typeface="Arial"/>
                <a:cs typeface="Arial"/>
              </a:defRPr>
            </a:lvl5pPr>
            <a:lvl6pPr>
              <a:defRPr sz="1650" b="0">
                <a:solidFill>
                  <a:srgbClr val="087F72"/>
                </a:solidFill>
                <a:latin typeface="Arial"/>
                <a:ea typeface="Arial"/>
                <a:cs typeface="Arial"/>
              </a:defRPr>
            </a:lvl6pPr>
            <a:lvl7pPr>
              <a:defRPr sz="1650" b="0">
                <a:solidFill>
                  <a:srgbClr val="087F72"/>
                </a:solidFill>
                <a:latin typeface="Arial"/>
                <a:ea typeface="Arial"/>
                <a:cs typeface="Arial"/>
              </a:defRPr>
            </a:lvl7pPr>
            <a:lvl8pPr>
              <a:defRPr sz="1650" b="0">
                <a:solidFill>
                  <a:srgbClr val="087F72"/>
                </a:solidFill>
                <a:latin typeface="Arial"/>
                <a:ea typeface="Arial"/>
                <a:cs typeface="Arial"/>
              </a:defRPr>
            </a:lvl8pPr>
            <a:lvl9pPr>
              <a:defRPr sz="1650" b="0">
                <a:solidFill>
                  <a:srgbClr val="087F72"/>
                </a:solidFill>
                <a:latin typeface="Arial"/>
                <a:ea typeface="Arial"/>
                <a:cs typeface="Arial"/>
              </a:defRPr>
            </a:lvl9pPr>
          </a:lstStyle>
          <a:p xmlns:a="http://schemas.openxmlformats.org/drawingml/2006/main">
            <a:pPr>
              <a:defRPr sz="1650" b="0">
                <a:solidFill>
                  <a:srgbClr val="087F72"/>
                </a:solidFill>
                <a:latin typeface="Arial"/>
                <a:ea typeface="Arial"/>
                <a:cs typeface="Arial"/>
              </a:defRPr>
            </a:pPr>
            <a:r>
              <a:rPr sz="1650" b="0">
                <a:solidFill>
                  <a:srgbClr val="087F72"/>
                </a:solidFill>
                <a:latin typeface="Arial"/>
                <a:ea typeface="Arial"/>
                <a:cs typeface="Arial"/>
              </a:rPr>
              <a:t>PK: khóa chính.</a:t>
            </a:r>
          </a:p>
          <a:p xmlns:a="http://schemas.openxmlformats.org/drawingml/2006/main">
            <a:pPr>
              <a:defRPr sz="1650" b="0">
                <a:solidFill>
                  <a:srgbClr val="087F72"/>
                </a:solidFill>
                <a:latin typeface="Arial"/>
                <a:ea typeface="Arial"/>
                <a:cs typeface="Arial"/>
              </a:defRPr>
            </a:pPr>
            <a:r>
              <a:rPr sz="1650" b="0">
                <a:solidFill>
                  <a:srgbClr val="087F72"/>
                </a:solidFill>
                <a:latin typeface="Arial"/>
                <a:ea typeface="Arial"/>
                <a:cs typeface="Arial"/>
              </a:rPr>
              <a:t>FK: khóa ngoại. UK: duy nhất.</a:t>
            </a:r>
          </a:p>
        </p:txBody>
      </p:sp>
      <p:sp>
        <p:nvSpPr>
          <p:cNvPr id="11" name="">
            <a:extLst xmlns:a="http://schemas.openxmlformats.org/drawingml/2006/main">
              <a:ext uri="{FF2B5EF4-FFF2-40B4-BE49-F238E27FC236}">
                <a16:creationId xmlns:a16="http://schemas.microsoft.com/office/drawing/2014/main" id="{E0C81672-9E6A-4764-83AE-4BF9CE0F6970}"/>
              </a:ext>
            </a:extLst>
          </p:cNvPr>
          <p:cNvSpPr>
            <a:spLocks xmlns:a="http://schemas.openxmlformats.org/drawingml/2006/main" noGrp="1"/>
          </p:cNvSpPr>
          <p:nvPr/>
        </p:nvSpPr>
        <p:spPr>
          <a:xfrm xmlns:a="http://schemas.openxmlformats.org/drawingml/2006/main">
            <a:off x="7762875" y="5953125"/>
            <a:ext cx="3667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FK liên kết hàng con với</a:t>
            </a:r>
          </a:p>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khóa chính của hàng cha.</a:t>
            </a:r>
          </a:p>
        </p:txBody>
      </p:sp>
    </p:spTree>
    <p:extLst>
      <p:ext uri="{BB962C8B-B14F-4D97-AF65-F5344CB8AC3E}">
        <p14:creationId xmlns:p14="http://schemas.microsoft.com/office/powerpoint/2010/main" val="2030661913"/>
      </p:ext>
    </p:extLst>
  </p:cSld>
</p:sld>
</file>

<file path=ppt/slides/slide14.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7F3BCA-A165-46A6-8A60-5F514584746D}"/>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BẢNG NGƯỜI DÙNG</a:t>
            </a:r>
          </a:p>
        </p:txBody>
      </p:sp>
      <p:sp>
        <p:nvSpPr>
          <p:cNvPr id="2" name="">
            <a:extLst xmlns:a="http://schemas.openxmlformats.org/drawingml/2006/main">
              <a:ext uri="{FF2B5EF4-FFF2-40B4-BE49-F238E27FC236}">
                <a16:creationId xmlns:a16="http://schemas.microsoft.com/office/drawing/2014/main" id="{63B765B2-0105-413A-940A-36F8F2327628}"/>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users: tài khoản, hồ sơ và thiết lập</a:t>
            </a:r>
          </a:p>
        </p:txBody>
      </p:sp>
      <p:sp>
        <p:nvSpPr>
          <p:cNvPr id="3" name="">
            <a:extLst xmlns:a="http://schemas.openxmlformats.org/drawingml/2006/main">
              <a:ext uri="{FF2B5EF4-FFF2-40B4-BE49-F238E27FC236}">
                <a16:creationId xmlns:a16="http://schemas.microsoft.com/office/drawing/2014/main" id="{19E8CE23-EAED-444C-8044-53F25489A4AE}"/>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459C4703-508C-480B-839B-32DE047ABDA3}"/>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14</a:t>
            </a:r>
          </a:p>
        </p:txBody>
      </p:sp>
      <p:graphicFrame>
        <p:nvGraphicFramePr>
          <p:cNvPr id="5" name="">
            <a:extLst xmlns:a="http://schemas.openxmlformats.org/drawingml/2006/main">
              <a:ext uri="{FF2B5EF4-FFF2-40B4-BE49-F238E27FC236}">
                <a16:creationId xmlns:a16="http://schemas.microsoft.com/office/drawing/2014/main" id="{C148302D-80B2-488C-81C2-02DB8B92F91E}"/>
              </a:ext>
            </a:extLst>
          </p:cNvPr>
          <p:cNvGraphicFramePr/>
          <p:nvPr/>
        </p:nvGraphicFramePr>
        <p:xfrm>
          <a:off xmlns:a="http://schemas.openxmlformats.org/drawingml/2006/main" x="514350" y="1457325"/>
          <a:ext xmlns:a="http://schemas.openxmlformats.org/drawingml/2006/main" cx="11144250" cy="4143375"/>
        </p:xfrm>
        <a:graphic xmlns:a="http://schemas.openxmlformats.org/drawingml/2006/main">
          <a:graphicData uri="http://schemas.openxmlformats.org/drawingml/2006/table">
            <a:tbl>
              <a:tblPr/>
              <a:tblGrid>
                <a:gridCol w="2952750"/>
                <a:gridCol w="3095625"/>
                <a:gridCol w="5095875"/>
              </a:tblGrid>
              <a:tr h="517922">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17922">
                <a:tc>
                  <a:txBody>
                    <a:bodyPr/>
                    <a:lstStyle/>
                    <a:p>
                      <a:r>
                        <a:rPr sz="1650" b="0">
                          <a:solidFill>
                            <a:srgbClr val="164C47"/>
                          </a:solidFill>
                          <a:latin typeface="Arial"/>
                          <a:ea typeface="Arial"/>
                          <a:cs typeface="Arial"/>
                        </a:rPr>
                        <a:t>id, username</a:t>
                      </a:r>
                    </a:p>
                  </a:txBody>
                  <a:tcPr marL="91440" marR="91440" marT="45720" marB="45720">
                    <a:solidFill>
                      <a:srgbClr val="FFFFFF"/>
                    </a:solidFill>
                  </a:tcPr>
                </a:tc>
                <a:tc>
                  <a:txBody>
                    <a:bodyPr/>
                    <a:lstStyle/>
                    <a:p>
                      <a:r>
                        <a:rPr sz="1650" b="0">
                          <a:solidFill>
                            <a:srgbClr val="164C47"/>
                          </a:solidFill>
                          <a:latin typeface="Arial"/>
                          <a:ea typeface="Arial"/>
                          <a:cs typeface="Arial"/>
                        </a:rPr>
                        <a:t>PK / UNIQUE, NOT NULL</a:t>
                      </a:r>
                    </a:p>
                  </a:txBody>
                  <a:tcPr marL="91440" marR="91440" marT="45720" marB="45720">
                    <a:solidFill>
                      <a:srgbClr val="FFFFFF"/>
                    </a:solidFill>
                  </a:tcPr>
                </a:tc>
                <a:tc>
                  <a:txBody>
                    <a:bodyPr/>
                    <a:lstStyle/>
                    <a:p>
                      <a:r>
                        <a:rPr sz="1650" b="0">
                          <a:solidFill>
                            <a:srgbClr val="164C47"/>
                          </a:solidFill>
                          <a:latin typeface="Arial"/>
                          <a:ea typeface="Arial"/>
                          <a:cs typeface="Arial"/>
                        </a:rPr>
                        <a:t>Mã tài khoản, tên đăng nhập duy nhất</a:t>
                      </a:r>
                    </a:p>
                  </a:txBody>
                  <a:tcPr marL="91440" marR="91440" marT="45720" marB="45720">
                    <a:solidFill>
                      <a:srgbClr val="FFFFFF"/>
                    </a:solidFill>
                  </a:tcPr>
                </a:tc>
              </a:tr>
              <a:tr h="517922">
                <a:tc>
                  <a:txBody>
                    <a:bodyPr/>
                    <a:lstStyle/>
                    <a:p>
                      <a:r>
                        <a:rPr sz="1650" b="0">
                          <a:solidFill>
                            <a:srgbClr val="164C47"/>
                          </a:solidFill>
                          <a:latin typeface="Arial"/>
                          <a:ea typeface="Arial"/>
                          <a:cs typeface="Arial"/>
                        </a:rPr>
                        <a:t>password_hash, salt</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Mật khẩu dẫn xuất PBKDF2 và salt</a:t>
                      </a:r>
                    </a:p>
                  </a:txBody>
                  <a:tcPr marL="91440" marR="91440" marT="45720" marB="45720">
                    <a:solidFill>
                      <a:srgbClr val="EAF3EE"/>
                    </a:solidFill>
                  </a:tcPr>
                </a:tc>
              </a:tr>
              <a:tr h="517922">
                <a:tc>
                  <a:txBody>
                    <a:bodyPr/>
                    <a:lstStyle/>
                    <a:p>
                      <a:r>
                        <a:rPr sz="1650" b="0">
                          <a:solidFill>
                            <a:srgbClr val="164C47"/>
                          </a:solidFill>
                          <a:latin typeface="Arial"/>
                          <a:ea typeface="Arial"/>
                          <a:cs typeface="Arial"/>
                        </a:rPr>
                        <a:t>fullname, birth_year, gender</a:t>
                      </a:r>
                    </a:p>
                  </a:txBody>
                  <a:tcPr marL="91440" marR="91440" marT="45720" marB="45720">
                    <a:solidFill>
                      <a:srgbClr val="FFFFFF"/>
                    </a:solidFill>
                  </a:tcPr>
                </a:tc>
                <a:tc>
                  <a:txBody>
                    <a:bodyPr/>
                    <a:lstStyle/>
                    <a:p>
                      <a:r>
                        <a:rPr sz="1650" b="0">
                          <a:solidFill>
                            <a:srgbClr val="164C47"/>
                          </a:solidFill>
                          <a:latin typeface="Arial"/>
                          <a:ea typeface="Arial"/>
                          <a:cs typeface="Arial"/>
                        </a:rPr>
                        <a:t>TEXT / INTEGER / TEXT</a:t>
                      </a:r>
                    </a:p>
                  </a:txBody>
                  <a:tcPr marL="91440" marR="91440" marT="45720" marB="45720">
                    <a:solidFill>
                      <a:srgbClr val="FFFFFF"/>
                    </a:solidFill>
                  </a:tcPr>
                </a:tc>
                <a:tc>
                  <a:txBody>
                    <a:bodyPr/>
                    <a:lstStyle/>
                    <a:p>
                      <a:r>
                        <a:rPr sz="1650" b="0">
                          <a:solidFill>
                            <a:srgbClr val="164C47"/>
                          </a:solidFill>
                          <a:latin typeface="Arial"/>
                          <a:ea typeface="Arial"/>
                          <a:cs typeface="Arial"/>
                        </a:rPr>
                        <a:t>Họ tên, năm sinh, giới tính</a:t>
                      </a:r>
                    </a:p>
                  </a:txBody>
                  <a:tcPr marL="91440" marR="91440" marT="45720" marB="45720">
                    <a:solidFill>
                      <a:srgbClr val="FFFFFF"/>
                    </a:solidFill>
                  </a:tcPr>
                </a:tc>
              </a:tr>
              <a:tr h="517922">
                <a:tc>
                  <a:txBody>
                    <a:bodyPr/>
                    <a:lstStyle/>
                    <a:p>
                      <a:r>
                        <a:rPr sz="1650" b="0">
                          <a:solidFill>
                            <a:srgbClr val="164C47"/>
                          </a:solidFill>
                          <a:latin typeface="Arial"/>
                          <a:ea typeface="Arial"/>
                          <a:cs typeface="Arial"/>
                        </a:rPr>
                        <a:t>height_cm, base_weight_kg</a:t>
                      </a:r>
                    </a:p>
                  </a:txBody>
                  <a:tcPr marL="91440" marR="91440" marT="45720" marB="45720">
                    <a:solidFill>
                      <a:srgbClr val="EAF3EE"/>
                    </a:solidFill>
                  </a:tcPr>
                </a:tc>
                <a:tc>
                  <a:txBody>
                    <a:bodyPr/>
                    <a:lstStyle/>
                    <a:p>
                      <a:r>
                        <a:rPr sz="1650" b="0">
                          <a:solidFill>
                            <a:srgbClr val="164C47"/>
                          </a:solidFill>
                          <a:latin typeface="Arial"/>
                          <a:ea typeface="Arial"/>
                          <a:cs typeface="Arial"/>
                        </a:rPr>
                        <a:t>REAL</a:t>
                      </a:r>
                    </a:p>
                  </a:txBody>
                  <a:tcPr marL="91440" marR="91440" marT="45720" marB="45720">
                    <a:solidFill>
                      <a:srgbClr val="EAF3EE"/>
                    </a:solidFill>
                  </a:tcPr>
                </a:tc>
                <a:tc>
                  <a:txBody>
                    <a:bodyPr/>
                    <a:lstStyle/>
                    <a:p>
                      <a:r>
                        <a:rPr sz="1650" b="0">
                          <a:solidFill>
                            <a:srgbClr val="164C47"/>
                          </a:solidFill>
                          <a:latin typeface="Arial"/>
                          <a:ea typeface="Arial"/>
                          <a:cs typeface="Arial"/>
                        </a:rPr>
                        <a:t>Chiều cao (cm), cân nặng cơ sở (kg)</a:t>
                      </a:r>
                    </a:p>
                  </a:txBody>
                  <a:tcPr marL="91440" marR="91440" marT="45720" marB="45720">
                    <a:solidFill>
                      <a:srgbClr val="EAF3EE"/>
                    </a:solidFill>
                  </a:tcPr>
                </a:tc>
              </a:tr>
              <a:tr h="517922">
                <a:tc>
                  <a:txBody>
                    <a:bodyPr/>
                    <a:lstStyle/>
                    <a:p>
                      <a:r>
                        <a:rPr sz="1650" b="0">
                          <a:solidFill>
                            <a:srgbClr val="164C47"/>
                          </a:solidFill>
                          <a:latin typeface="Arial"/>
                          <a:ea typeface="Arial"/>
                          <a:cs typeface="Arial"/>
                        </a:rPr>
                        <a:t>bmi_standard, water_goal_ml</a:t>
                      </a:r>
                    </a:p>
                  </a:txBody>
                  <a:tcPr marL="91440" marR="91440" marT="45720" marB="45720">
                    <a:solidFill>
                      <a:srgbClr val="FFFFFF"/>
                    </a:solidFill>
                  </a:tcPr>
                </a:tc>
                <a:tc>
                  <a:txBody>
                    <a:bodyPr/>
                    <a:lstStyle/>
                    <a:p>
                      <a:r>
                        <a:rPr sz="1650" b="0">
                          <a:solidFill>
                            <a:srgbClr val="164C47"/>
                          </a:solidFill>
                          <a:latin typeface="Arial"/>
                          <a:ea typeface="Arial"/>
                          <a:cs typeface="Arial"/>
                        </a:rPr>
                        <a:t>TEXT / INTEGER</a:t>
                      </a:r>
                    </a:p>
                  </a:txBody>
                  <a:tcPr marL="91440" marR="91440" marT="45720" marB="45720">
                    <a:solidFill>
                      <a:srgbClr val="FFFFFF"/>
                    </a:solidFill>
                  </a:tcPr>
                </a:tc>
                <a:tc>
                  <a:txBody>
                    <a:bodyPr/>
                    <a:lstStyle/>
                    <a:p>
                      <a:r>
                        <a:rPr sz="1650" b="0">
                          <a:solidFill>
                            <a:srgbClr val="164C47"/>
                          </a:solidFill>
                          <a:latin typeface="Arial"/>
                          <a:ea typeface="Arial"/>
                          <a:cs typeface="Arial"/>
                        </a:rPr>
                        <a:t>Bộ ngưỡng BMI, mục tiêu nước (ml)</a:t>
                      </a:r>
                    </a:p>
                  </a:txBody>
                  <a:tcPr marL="91440" marR="91440" marT="45720" marB="45720">
                    <a:solidFill>
                      <a:srgbClr val="FFFFFF"/>
                    </a:solidFill>
                  </a:tcPr>
                </a:tc>
              </a:tr>
              <a:tr h="517922">
                <a:tc>
                  <a:txBody>
                    <a:bodyPr/>
                    <a:lstStyle/>
                    <a:p>
                      <a:r>
                        <a:rPr sz="1650" b="0">
                          <a:solidFill>
                            <a:srgbClr val="164C47"/>
                          </a:solidFill>
                          <a:latin typeface="Arial"/>
                          <a:ea typeface="Arial"/>
                          <a:cs typeface="Arial"/>
                        </a:rPr>
                        <a:t>water_start, water_end,</a:t>
                      </a:r>
                    </a:p>
                    <a:p>
                      <a:r>
                        <a:rPr sz="1650" b="0">
                          <a:solidFill>
                            <a:srgbClr val="164C47"/>
                          </a:solidFill>
                          <a:latin typeface="Arial"/>
                          <a:ea typeface="Arial"/>
                          <a:cs typeface="Arial"/>
                        </a:rPr>
                        <a:t>water_times</a:t>
                      </a:r>
                    </a:p>
                  </a:txBody>
                  <a:tcPr marL="91440" marR="91440" marT="45720" marB="45720">
                    <a:solidFill>
                      <a:srgbClr val="EAF3EE"/>
                    </a:solidFill>
                  </a:tcPr>
                </a:tc>
                <a:tc>
                  <a:txBody>
                    <a:bodyPr/>
                    <a:lstStyle/>
                    <a:p>
                      <a:r>
                        <a:rPr sz="1650" b="0">
                          <a:solidFill>
                            <a:srgbClr val="164C47"/>
                          </a:solidFill>
                          <a:latin typeface="Arial"/>
                          <a:ea typeface="Arial"/>
                          <a:cs typeface="Arial"/>
                        </a:rPr>
                        <a:t>TEXT</a:t>
                      </a:r>
                    </a:p>
                  </a:txBody>
                  <a:tcPr marL="91440" marR="91440" marT="45720" marB="45720">
                    <a:solidFill>
                      <a:srgbClr val="EAF3EE"/>
                    </a:solidFill>
                  </a:tcPr>
                </a:tc>
                <a:tc>
                  <a:txBody>
                    <a:bodyPr/>
                    <a:lstStyle/>
                    <a:p>
                      <a:r>
                        <a:rPr sz="1650" b="0">
                          <a:solidFill>
                            <a:srgbClr val="164C47"/>
                          </a:solidFill>
                          <a:latin typeface="Arial"/>
                          <a:ea typeface="Arial"/>
                          <a:cs typeface="Arial"/>
                        </a:rPr>
                        <a:t>Khung giờ và các giờ nhắc nước</a:t>
                      </a:r>
                    </a:p>
                  </a:txBody>
                  <a:tcPr marL="91440" marR="91440" marT="45720" marB="45720">
                    <a:solidFill>
                      <a:srgbClr val="EAF3EE"/>
                    </a:solidFill>
                  </a:tcPr>
                </a:tc>
              </a:tr>
              <a:tr h="517922">
                <a:tc>
                  <a:txBody>
                    <a:bodyPr/>
                    <a:lstStyle/>
                    <a:p>
                      <a:r>
                        <a:rPr sz="1650" b="0">
                          <a:solidFill>
                            <a:srgbClr val="164C47"/>
                          </a:solidFill>
                          <a:latin typeface="Arial"/>
                          <a:ea typeface="Arial"/>
                          <a:cs typeface="Arial"/>
                        </a:rPr>
                        <a:t>water_amount</a:t>
                      </a:r>
                    </a:p>
                  </a:txBody>
                  <a:tcPr marL="91440" marR="91440" marT="45720" marB="45720">
                    <a:solidFill>
                      <a:srgbClr val="FFFFFF"/>
                    </a:solidFill>
                  </a:tcPr>
                </a:tc>
                <a:tc>
                  <a:txBody>
                    <a:bodyPr/>
                    <a:lstStyle/>
                    <a:p>
                      <a:r>
                        <a:rPr sz="1650" b="0">
                          <a:solidFill>
                            <a:srgbClr val="164C47"/>
                          </a:solidFill>
                          <a:latin typeface="Arial"/>
                          <a:ea typeface="Arial"/>
                          <a:cs typeface="Arial"/>
                        </a:rPr>
                        <a:t>INTEGER</a:t>
                      </a:r>
                    </a:p>
                  </a:txBody>
                  <a:tcPr marL="91440" marR="91440" marT="45720" marB="45720">
                    <a:solidFill>
                      <a:srgbClr val="FFFFFF"/>
                    </a:solidFill>
                  </a:tcPr>
                </a:tc>
                <a:tc>
                  <a:txBody>
                    <a:bodyPr/>
                    <a:lstStyle/>
                    <a:p>
                      <a:r>
                        <a:rPr sz="1650" b="0">
                          <a:solidFill>
                            <a:srgbClr val="164C47"/>
                          </a:solidFill>
                          <a:latin typeface="Arial"/>
                          <a:ea typeface="Arial"/>
                          <a:cs typeface="Arial"/>
                        </a:rPr>
                        <a:t>Lượng thêm nhanh (ml)</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3C94D56-4301-4D73-B855-8C212CC87E84}"/>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Phiên lưu riêng trong SharedPreferences. PBKDF2 không mã hóa toàn bộ tệp SQLite.</a:t>
            </a:r>
          </a:p>
        </p:txBody>
      </p:sp>
    </p:spTree>
    <p:extLst>
      <p:ext uri="{BB962C8B-B14F-4D97-AF65-F5344CB8AC3E}">
        <p14:creationId xmlns:p14="http://schemas.microsoft.com/office/powerpoint/2010/main" val="1344350083"/>
      </p:ext>
    </p:extLst>
  </p:cSld>
</p:sld>
</file>

<file path=ppt/slides/slide15.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1C23D1-2F93-4B0B-99D3-F5D4EF8B5F48}"/>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BẢNG SỨC KHỎE</a:t>
            </a:r>
          </a:p>
        </p:txBody>
      </p:sp>
      <p:sp>
        <p:nvSpPr>
          <p:cNvPr id="2" name="">
            <a:extLst xmlns:a="http://schemas.openxmlformats.org/drawingml/2006/main">
              <a:ext uri="{FF2B5EF4-FFF2-40B4-BE49-F238E27FC236}">
                <a16:creationId xmlns:a16="http://schemas.microsoft.com/office/drawing/2014/main" id="{044A1A80-5213-443C-BC44-14C5DF06BF2D}"/>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health_records: dữ liệu mỗi lần đo</a:t>
            </a:r>
          </a:p>
        </p:txBody>
      </p:sp>
      <p:sp>
        <p:nvSpPr>
          <p:cNvPr id="3" name="">
            <a:extLst xmlns:a="http://schemas.openxmlformats.org/drawingml/2006/main">
              <a:ext uri="{FF2B5EF4-FFF2-40B4-BE49-F238E27FC236}">
                <a16:creationId xmlns:a16="http://schemas.microsoft.com/office/drawing/2014/main" id="{66C32E22-2FE0-48E5-9492-84953DFCF592}"/>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CC7B8025-461E-4F04-9F5F-61395E8E5AB9}"/>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15</a:t>
            </a:r>
          </a:p>
        </p:txBody>
      </p:sp>
      <p:graphicFrame>
        <p:nvGraphicFramePr>
          <p:cNvPr id="5" name="">
            <a:extLst xmlns:a="http://schemas.openxmlformats.org/drawingml/2006/main">
              <a:ext uri="{FF2B5EF4-FFF2-40B4-BE49-F238E27FC236}">
                <a16:creationId xmlns:a16="http://schemas.microsoft.com/office/drawing/2014/main" id="{35FE21AD-F1C5-496C-9F57-A44C6BB22170}"/>
              </a:ext>
            </a:extLst>
          </p:cNvPr>
          <p:cNvGraphicFramePr/>
          <p:nvPr/>
        </p:nvGraphicFramePr>
        <p:xfrm>
          <a:off xmlns:a="http://schemas.openxmlformats.org/drawingml/2006/main" x="514350" y="1457325"/>
          <a:ext xmlns:a="http://schemas.openxmlformats.org/drawingml/2006/main" cx="11144250" cy="3667125"/>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 user_id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 FK</a:t>
                      </a:r>
                    </a:p>
                  </a:txBody>
                  <a:tcPr marL="91440" marR="91440" marT="45720" marB="45720">
                    <a:solidFill>
                      <a:srgbClr val="FFFFFF"/>
                    </a:solidFill>
                  </a:tcPr>
                </a:tc>
                <a:tc>
                  <a:txBody>
                    <a:bodyPr/>
                    <a:lstStyle/>
                    <a:p>
                      <a:r>
                        <a:rPr sz="1650" b="0">
                          <a:solidFill>
                            <a:srgbClr val="164C47"/>
                          </a:solidFill>
                          <a:latin typeface="Arial"/>
                          <a:ea typeface="Arial"/>
                          <a:cs typeface="Arial"/>
                        </a:rPr>
                        <a:t>Bản ghi và chủ sở hữu</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date, measured_time</a:t>
                      </a:r>
                    </a:p>
                  </a:txBody>
                  <a:tcPr marL="91440" marR="91440" marT="45720" marB="45720">
                    <a:solidFill>
                      <a:srgbClr val="EAF3EE"/>
                    </a:solidFill>
                  </a:tcPr>
                </a:tc>
                <a:tc>
                  <a:txBody>
                    <a:bodyPr/>
                    <a:lstStyle/>
                    <a:p>
                      <a:r>
                        <a:rPr sz="1650" b="0">
                          <a:solidFill>
                            <a:srgbClr val="164C47"/>
                          </a:solidFill>
                          <a:latin typeface="Arial"/>
                          <a:ea typeface="Arial"/>
                          <a:cs typeface="Arial"/>
                        </a:rPr>
                        <a:t>TEXT</a:t>
                      </a:r>
                    </a:p>
                  </a:txBody>
                  <a:tcPr marL="91440" marR="91440" marT="45720" marB="45720">
                    <a:solidFill>
                      <a:srgbClr val="EAF3EE"/>
                    </a:solidFill>
                  </a:tcPr>
                </a:tc>
                <a:tc>
                  <a:txBody>
                    <a:bodyPr/>
                    <a:lstStyle/>
                    <a:p>
                      <a:r>
                        <a:rPr sz="1650" b="0">
                          <a:solidFill>
                            <a:srgbClr val="164C47"/>
                          </a:solidFill>
                          <a:latin typeface="Arial"/>
                          <a:ea typeface="Arial"/>
                          <a:cs typeface="Arial"/>
                        </a:rPr>
                        <a:t>Ngày yyyy-MM-dd, giờ HH:mm</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meal_context, note</a:t>
                      </a:r>
                    </a:p>
                  </a:txBody>
                  <a:tcPr marL="91440" marR="91440" marT="45720" marB="45720">
                    <a:solidFill>
                      <a:srgbClr val="FFFFFF"/>
                    </a:solidFill>
                  </a:tcPr>
                </a:tc>
                <a:tc>
                  <a:txBody>
                    <a:bodyPr/>
                    <a:lstStyle/>
                    <a:p>
                      <a:r>
                        <a:rPr sz="1650" b="0">
                          <a:solidFill>
                            <a:srgbClr val="164C47"/>
                          </a:solidFill>
                          <a:latin typeface="Arial"/>
                          <a:ea typeface="Arial"/>
                          <a:cs typeface="Arial"/>
                        </a:rPr>
                        <a:t>TEXT</a:t>
                      </a:r>
                    </a:p>
                  </a:txBody>
                  <a:tcPr marL="91440" marR="91440" marT="45720" marB="45720">
                    <a:solidFill>
                      <a:srgbClr val="FFFFFF"/>
                    </a:solidFill>
                  </a:tcPr>
                </a:tc>
                <a:tc>
                  <a:txBody>
                    <a:bodyPr/>
                    <a:lstStyle/>
                    <a:p>
                      <a:r>
                        <a:rPr sz="1650" b="0">
                          <a:solidFill>
                            <a:srgbClr val="164C47"/>
                          </a:solidFill>
                          <a:latin typeface="Arial"/>
                          <a:ea typeface="Arial"/>
                          <a:cs typeface="Arial"/>
                        </a:rPr>
                        <a:t>Bối cảnh đường huyết và ghi chú</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weight_kg, blood_sugar</a:t>
                      </a:r>
                    </a:p>
                  </a:txBody>
                  <a:tcPr marL="91440" marR="91440" marT="45720" marB="45720">
                    <a:solidFill>
                      <a:srgbClr val="EAF3EE"/>
                    </a:solidFill>
                  </a:tcPr>
                </a:tc>
                <a:tc>
                  <a:txBody>
                    <a:bodyPr/>
                    <a:lstStyle/>
                    <a:p>
                      <a:r>
                        <a:rPr sz="1650" b="0">
                          <a:solidFill>
                            <a:srgbClr val="164C47"/>
                          </a:solidFill>
                          <a:latin typeface="Arial"/>
                          <a:ea typeface="Arial"/>
                          <a:cs typeface="Arial"/>
                        </a:rPr>
                        <a:t>REAL, cho phép NULL</a:t>
                      </a:r>
                    </a:p>
                  </a:txBody>
                  <a:tcPr marL="91440" marR="91440" marT="45720" marB="45720">
                    <a:solidFill>
                      <a:srgbClr val="EAF3EE"/>
                    </a:solidFill>
                  </a:tcPr>
                </a:tc>
                <a:tc>
                  <a:txBody>
                    <a:bodyPr/>
                    <a:lstStyle/>
                    <a:p>
                      <a:r>
                        <a:rPr sz="1650" b="0">
                          <a:solidFill>
                            <a:srgbClr val="164C47"/>
                          </a:solidFill>
                          <a:latin typeface="Arial"/>
                          <a:ea typeface="Arial"/>
                          <a:cs typeface="Arial"/>
                        </a:rPr>
                        <a:t>Cân nặng (kg), đường huyết (mg/dL)</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systolic, diastolic</a:t>
                      </a:r>
                    </a:p>
                  </a:txBody>
                  <a:tcPr marL="91440" marR="91440" marT="45720" marB="45720">
                    <a:solidFill>
                      <a:srgbClr val="FFFFFF"/>
                    </a:solidFill>
                  </a:tcPr>
                </a:tc>
                <a:tc>
                  <a:txBody>
                    <a:bodyPr/>
                    <a:lstStyle/>
                    <a:p>
                      <a:r>
                        <a:rPr sz="1650" b="0">
                          <a:solidFill>
                            <a:srgbClr val="164C47"/>
                          </a:solidFill>
                          <a:latin typeface="Arial"/>
                          <a:ea typeface="Arial"/>
                          <a:cs typeface="Arial"/>
                        </a:rPr>
                        <a:t>INTEGER, cho phép NULL</a:t>
                      </a:r>
                    </a:p>
                  </a:txBody>
                  <a:tcPr marL="91440" marR="91440" marT="45720" marB="45720">
                    <a:solidFill>
                      <a:srgbClr val="FFFFFF"/>
                    </a:solidFill>
                  </a:tcPr>
                </a:tc>
                <a:tc>
                  <a:txBody>
                    <a:bodyPr/>
                    <a:lstStyle/>
                    <a:p>
                      <a:r>
                        <a:rPr sz="1650" b="0">
                          <a:solidFill>
                            <a:srgbClr val="164C47"/>
                          </a:solidFill>
                          <a:latin typeface="Arial"/>
                          <a:ea typeface="Arial"/>
                          <a:cs typeface="Arial"/>
                        </a:rPr>
                        <a:t>Huyết áp tâm thu / tâm trương (mmHg)</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heart_rate</a:t>
                      </a:r>
                    </a:p>
                  </a:txBody>
                  <a:tcPr marL="91440" marR="91440" marT="45720" marB="45720">
                    <a:solidFill>
                      <a:srgbClr val="EAF3EE"/>
                    </a:solidFill>
                  </a:tcPr>
                </a:tc>
                <a:tc>
                  <a:txBody>
                    <a:bodyPr/>
                    <a:lstStyle/>
                    <a:p>
                      <a:r>
                        <a:rPr sz="1650" b="0">
                          <a:solidFill>
                            <a:srgbClr val="164C47"/>
                          </a:solidFill>
                          <a:latin typeface="Arial"/>
                          <a:ea typeface="Arial"/>
                          <a:cs typeface="Arial"/>
                        </a:rPr>
                        <a:t>INTEGER, cho phép NULL</a:t>
                      </a:r>
                    </a:p>
                  </a:txBody>
                  <a:tcPr marL="91440" marR="91440" marT="45720" marB="45720">
                    <a:solidFill>
                      <a:srgbClr val="EAF3EE"/>
                    </a:solidFill>
                  </a:tcPr>
                </a:tc>
                <a:tc>
                  <a:txBody>
                    <a:bodyPr/>
                    <a:lstStyle/>
                    <a:p>
                      <a:r>
                        <a:rPr sz="1650" b="0">
                          <a:solidFill>
                            <a:srgbClr val="164C47"/>
                          </a:solidFill>
                          <a:latin typeface="Arial"/>
                          <a:ea typeface="Arial"/>
                          <a:cs typeface="Arial"/>
                        </a:rPr>
                        <a:t>Nhịp tim (nhịp/phút)</a:t>
                      </a:r>
                    </a:p>
                  </a:txBody>
                  <a:tcPr marL="91440" marR="91440" marT="45720" marB="45720">
                    <a:solidFill>
                      <a:srgbClr val="EAF3EE"/>
                    </a:solidFill>
                  </a:tcPr>
                </a:tc>
              </a:tr>
            </a:tbl>
          </a:graphicData>
        </a:graphic>
      </p:graphicFrame>
      <p:sp>
        <p:nvSpPr>
          <p:cNvPr id="6" name="">
            <a:extLst xmlns:a="http://schemas.openxmlformats.org/drawingml/2006/main">
              <a:ext uri="{FF2B5EF4-FFF2-40B4-BE49-F238E27FC236}">
                <a16:creationId xmlns:a16="http://schemas.microsoft.com/office/drawing/2014/main" id="{4DF525A7-F65A-49D1-A35C-4778B99DC620}"/>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Một ngày có nhiều lần đo. Chỉ số chưa nhập dùng NULL. Biểu mẫu yêu cầu huyết áp đủ cặp.</a:t>
            </a:r>
          </a:p>
        </p:txBody>
      </p:sp>
    </p:spTree>
    <p:extLst>
      <p:ext uri="{BB962C8B-B14F-4D97-AF65-F5344CB8AC3E}">
        <p14:creationId xmlns:p14="http://schemas.microsoft.com/office/powerpoint/2010/main" val="1321784015"/>
      </p:ext>
    </p:extLst>
  </p:cSld>
</p:sld>
</file>

<file path=ppt/slides/slide16.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D1C877-AB6E-4067-A253-D39C46666573}"/>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CẤU TRÚC BẢNG MEDICINES</a:t>
            </a:r>
          </a:p>
        </p:txBody>
      </p:sp>
      <p:sp>
        <p:nvSpPr>
          <p:cNvPr id="2" name="">
            <a:extLst xmlns:a="http://schemas.openxmlformats.org/drawingml/2006/main">
              <a:ext uri="{FF2B5EF4-FFF2-40B4-BE49-F238E27FC236}">
                <a16:creationId xmlns:a16="http://schemas.microsoft.com/office/drawing/2014/main" id="{BD44BF97-C752-4779-9AF3-F1F58AF336B4}"/>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medicines: thông tin thuốc và lịch uống</a:t>
            </a:r>
          </a:p>
        </p:txBody>
      </p:sp>
      <p:sp>
        <p:nvSpPr>
          <p:cNvPr id="3" name="">
            <a:extLst xmlns:a="http://schemas.openxmlformats.org/drawingml/2006/main">
              <a:ext uri="{FF2B5EF4-FFF2-40B4-BE49-F238E27FC236}">
                <a16:creationId xmlns:a16="http://schemas.microsoft.com/office/drawing/2014/main" id="{A1B7DAB9-D66A-481B-9BA1-5CB1C1379C01}"/>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80AEBD68-6E7B-47FB-8DD7-1FF14D8CE3E5}"/>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16</a:t>
            </a:r>
          </a:p>
        </p:txBody>
      </p:sp>
      <p:graphicFrame>
        <p:nvGraphicFramePr>
          <p:cNvPr id="5" name="">
            <a:extLst xmlns:a="http://schemas.openxmlformats.org/drawingml/2006/main">
              <a:ext uri="{FF2B5EF4-FFF2-40B4-BE49-F238E27FC236}">
                <a16:creationId xmlns:a16="http://schemas.microsoft.com/office/drawing/2014/main" id="{902B3D36-9564-4B94-BF54-EFCE5518AB4E}"/>
              </a:ext>
            </a:extLst>
          </p:cNvPr>
          <p:cNvGraphicFramePr/>
          <p:nvPr/>
        </p:nvGraphicFramePr>
        <p:xfrm>
          <a:off xmlns:a="http://schemas.openxmlformats.org/drawingml/2006/main" x="514350" y="1457325"/>
          <a:ext xmlns:a="http://schemas.openxmlformats.org/drawingml/2006/main" cx="11144250" cy="3667125"/>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 user_id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 FK</a:t>
                      </a:r>
                    </a:p>
                  </a:txBody>
                  <a:tcPr marL="91440" marR="91440" marT="45720" marB="45720">
                    <a:solidFill>
                      <a:srgbClr val="FFFFFF"/>
                    </a:solidFill>
                  </a:tcPr>
                </a:tc>
                <a:tc>
                  <a:txBody>
                    <a:bodyPr/>
                    <a:lstStyle/>
                    <a:p>
                      <a:r>
                        <a:rPr sz="1650" b="0">
                          <a:solidFill>
                            <a:srgbClr val="164C47"/>
                          </a:solidFill>
                          <a:latin typeface="Arial"/>
                          <a:ea typeface="Arial"/>
                          <a:cs typeface="Arial"/>
                        </a:rPr>
                        <a:t>Mã thuốc và tài khoản sở hữu</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name</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Tên thuốc</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dosage</a:t>
                      </a:r>
                    </a:p>
                  </a:txBody>
                  <a:tcPr marL="91440" marR="91440" marT="45720" marB="45720">
                    <a:solidFill>
                      <a:srgbClr val="FFFFFF"/>
                    </a:solidFill>
                  </a:tcPr>
                </a:tc>
                <a:tc>
                  <a:txBody>
                    <a:bodyPr/>
                    <a:lstStyle/>
                    <a:p>
                      <a:r>
                        <a:rPr sz="1650" b="0">
                          <a:solidFill>
                            <a:srgbClr val="164C47"/>
                          </a:solidFill>
                          <a:latin typeface="Arial"/>
                          <a:ea typeface="Arial"/>
                          <a:cs typeface="Arial"/>
                        </a:rPr>
                        <a:t>TEXT</a:t>
                      </a:r>
                    </a:p>
                  </a:txBody>
                  <a:tcPr marL="91440" marR="91440" marT="45720" marB="45720">
                    <a:solidFill>
                      <a:srgbClr val="FFFFFF"/>
                    </a:solidFill>
                  </a:tcPr>
                </a:tc>
                <a:tc>
                  <a:txBody>
                    <a:bodyPr/>
                    <a:lstStyle/>
                    <a:p>
                      <a:r>
                        <a:rPr sz="1650" b="0">
                          <a:solidFill>
                            <a:srgbClr val="164C47"/>
                          </a:solidFill>
                          <a:latin typeface="Arial"/>
                          <a:ea typeface="Arial"/>
                          <a:cs typeface="Arial"/>
                        </a:rPr>
                        <a:t>Liều lượng hoặc hướng dẫn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time</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Một hoặc nhiều giờ HH:mm, cách bằng dấu phẩy</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days_mask</a:t>
                      </a:r>
                    </a:p>
                  </a:txBody>
                  <a:tcPr marL="91440" marR="91440" marT="45720" marB="45720">
                    <a:solidFill>
                      <a:srgbClr val="FFFFFF"/>
                    </a:solidFill>
                  </a:tcPr>
                </a:tc>
                <a:tc>
                  <a:txBody>
                    <a:bodyPr/>
                    <a:lstStyle/>
                    <a:p>
                      <a:r>
                        <a:rPr sz="1650" b="0">
                          <a:solidFill>
                            <a:srgbClr val="164C47"/>
                          </a:solidFill>
                          <a:latin typeface="Arial"/>
                          <a:ea typeface="Arial"/>
                          <a:cs typeface="Arial"/>
                        </a:rPr>
                        <a:t>INTEGER, mặc định 127</a:t>
                      </a:r>
                    </a:p>
                  </a:txBody>
                  <a:tcPr marL="91440" marR="91440" marT="45720" marB="45720">
                    <a:solidFill>
                      <a:srgbClr val="FFFFFF"/>
                    </a:solidFill>
                  </a:tcPr>
                </a:tc>
                <a:tc>
                  <a:txBody>
                    <a:bodyPr/>
                    <a:lstStyle/>
                    <a:p>
                      <a:r>
                        <a:rPr sz="1650" b="0">
                          <a:solidFill>
                            <a:srgbClr val="164C47"/>
                          </a:solidFill>
                          <a:latin typeface="Arial"/>
                          <a:ea typeface="Arial"/>
                          <a:cs typeface="Arial"/>
                        </a:rPr>
                        <a:t>Mặt nạ 7 bit, 127 tương ứng cả tuần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is_active</a:t>
                      </a:r>
                    </a:p>
                  </a:txBody>
                  <a:tcPr marL="91440" marR="91440" marT="45720" marB="45720">
                    <a:solidFill>
                      <a:srgbClr val="EAF3EE"/>
                    </a:solidFill>
                  </a:tcPr>
                </a:tc>
                <a:tc>
                  <a:txBody>
                    <a:bodyPr/>
                    <a:lstStyle/>
                    <a:p>
                      <a:r>
                        <a:rPr sz="1650" b="0">
                          <a:solidFill>
                            <a:srgbClr val="164C47"/>
                          </a:solidFill>
                          <a:latin typeface="Arial"/>
                          <a:ea typeface="Arial"/>
                          <a:cs typeface="Arial"/>
                        </a:rPr>
                        <a:t>INTEGER, mặc định 1</a:t>
                      </a:r>
                    </a:p>
                  </a:txBody>
                  <a:tcPr marL="91440" marR="91440" marT="45720" marB="45720">
                    <a:solidFill>
                      <a:srgbClr val="EAF3EE"/>
                    </a:solidFill>
                  </a:tcPr>
                </a:tc>
                <a:tc>
                  <a:txBody>
                    <a:bodyPr/>
                    <a:lstStyle/>
                    <a:p>
                      <a:r>
                        <a:rPr sz="1650" b="0">
                          <a:solidFill>
                            <a:srgbClr val="164C47"/>
                          </a:solidFill>
                          <a:latin typeface="Arial"/>
                          <a:ea typeface="Arial"/>
                          <a:cs typeface="Arial"/>
                        </a:rPr>
                        <a:t>1: bật lịch nhắc, 0: tắt lịch nhắc</a:t>
                      </a:r>
                    </a:p>
                  </a:txBody>
                  <a:tcPr marL="91440" marR="91440" marT="45720" marB="45720">
                    <a:solidFill>
                      <a:srgbClr val="EAF3EE"/>
                    </a:solidFill>
                  </a:tcPr>
                </a:tc>
              </a:tr>
            </a:tbl>
          </a:graphicData>
        </a:graphic>
      </p:graphicFrame>
      <p:sp>
        <p:nvSpPr>
          <p:cNvPr id="6" name="">
            <a:extLst xmlns:a="http://schemas.openxmlformats.org/drawingml/2006/main">
              <a:ext uri="{FF2B5EF4-FFF2-40B4-BE49-F238E27FC236}">
                <a16:creationId xmlns:a16="http://schemas.microsoft.com/office/drawing/2014/main" id="{5E9BD15B-F2CA-4822-A524-59E081ED8E5A}"/>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Nhiều giờ uống vẫn thuộc cùng một thuốc. Cữ cụ thể được phân biệt thêm ngày và giờ dự kiến.</a:t>
            </a:r>
          </a:p>
        </p:txBody>
      </p:sp>
    </p:spTree>
    <p:extLst>
      <p:ext uri="{BB962C8B-B14F-4D97-AF65-F5344CB8AC3E}">
        <p14:creationId xmlns:p14="http://schemas.microsoft.com/office/powerpoint/2010/main" val="1180585136"/>
      </p:ext>
    </p:extLst>
  </p:cSld>
</p:sld>
</file>

<file path=ppt/slides/slide17.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9E5741-A047-49BC-924D-A835E4778AB1}"/>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CẤU TRÚC BẢNG MEDICINE_LOGS</a:t>
            </a:r>
          </a:p>
        </p:txBody>
      </p:sp>
      <p:sp>
        <p:nvSpPr>
          <p:cNvPr id="2" name="">
            <a:extLst xmlns:a="http://schemas.openxmlformats.org/drawingml/2006/main">
              <a:ext uri="{FF2B5EF4-FFF2-40B4-BE49-F238E27FC236}">
                <a16:creationId xmlns:a16="http://schemas.microsoft.com/office/drawing/2014/main" id="{783225CB-D182-4F71-A6B9-6B3CE3586223}"/>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medicine_logs: kết quả xác nhận từng cữ</a:t>
            </a:r>
          </a:p>
        </p:txBody>
      </p:sp>
      <p:sp>
        <p:nvSpPr>
          <p:cNvPr id="3" name="">
            <a:extLst xmlns:a="http://schemas.openxmlformats.org/drawingml/2006/main">
              <a:ext uri="{FF2B5EF4-FFF2-40B4-BE49-F238E27FC236}">
                <a16:creationId xmlns:a16="http://schemas.microsoft.com/office/drawing/2014/main" id="{95696EB9-3F32-4D27-8E79-8915BF11D41F}"/>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5A4BEEB8-D9B0-4A8B-AFEE-76866C989DEF}"/>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17</a:t>
            </a:r>
          </a:p>
        </p:txBody>
      </p:sp>
      <p:graphicFrame>
        <p:nvGraphicFramePr>
          <p:cNvPr id="5" name="">
            <a:extLst xmlns:a="http://schemas.openxmlformats.org/drawingml/2006/main">
              <a:ext uri="{FF2B5EF4-FFF2-40B4-BE49-F238E27FC236}">
                <a16:creationId xmlns:a16="http://schemas.microsoft.com/office/drawing/2014/main" id="{D993F8B7-B1A0-4803-B585-4DE82327C51A}"/>
              </a:ext>
            </a:extLst>
          </p:cNvPr>
          <p:cNvGraphicFramePr/>
          <p:nvPr/>
        </p:nvGraphicFramePr>
        <p:xfrm>
          <a:off xmlns:a="http://schemas.openxmlformats.org/drawingml/2006/main" x="514350" y="1457325"/>
          <a:ext xmlns:a="http://schemas.openxmlformats.org/drawingml/2006/main" cx="11144250" cy="3667125"/>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 medicine_id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 FK</a:t>
                      </a:r>
                    </a:p>
                  </a:txBody>
                  <a:tcPr marL="91440" marR="91440" marT="45720" marB="45720">
                    <a:solidFill>
                      <a:srgbClr val="FFFFFF"/>
                    </a:solidFill>
                  </a:tcPr>
                </a:tc>
                <a:tc>
                  <a:txBody>
                    <a:bodyPr/>
                    <a:lstStyle/>
                    <a:p>
                      <a:r>
                        <a:rPr sz="1650" b="0">
                          <a:solidFill>
                            <a:srgbClr val="164C47"/>
                          </a:solidFill>
                          <a:latin typeface="Arial"/>
                          <a:ea typeface="Arial"/>
                          <a:cs typeface="Arial"/>
                        </a:rPr>
                        <a:t>Mã nhật ký và thuốc liên quan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date, scheduled_time</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Ngày và giờ dự kiến của cữ thuốc</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status</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TAKEN: Đã uống, SKIPPED: Bỏ qua</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logged_at</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Thời điểm người dùng xác nhận</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medicine_name_snapshot,</a:t>
                      </a:r>
                    </a:p>
                    <a:p>
                      <a:r>
                        <a:rPr sz="1650" b="0">
                          <a:solidFill>
                            <a:srgbClr val="164C47"/>
                          </a:solidFill>
                          <a:latin typeface="Arial"/>
                          <a:ea typeface="Arial"/>
                          <a:cs typeface="Arial"/>
                        </a:rPr>
                        <a:t>dosage_snapshot</a:t>
                      </a:r>
                    </a:p>
                  </a:txBody>
                  <a:tcPr marL="91440" marR="91440" marT="45720" marB="45720">
                    <a:solidFill>
                      <a:srgbClr val="FFFFFF"/>
                    </a:solidFill>
                  </a:tcPr>
                </a:tc>
                <a:tc>
                  <a:txBody>
                    <a:bodyPr/>
                    <a:lstStyle/>
                    <a:p>
                      <a:r>
                        <a:rPr sz="1650" b="0">
                          <a:solidFill>
                            <a:srgbClr val="164C47"/>
                          </a:solidFill>
                          <a:latin typeface="Arial"/>
                          <a:ea typeface="Arial"/>
                          <a:cs typeface="Arial"/>
                        </a:rPr>
                        <a:t>TEXT</a:t>
                      </a:r>
                    </a:p>
                  </a:txBody>
                  <a:tcPr marL="91440" marR="91440" marT="45720" marB="45720">
                    <a:solidFill>
                      <a:srgbClr val="FFFFFF"/>
                    </a:solidFill>
                  </a:tcPr>
                </a:tc>
                <a:tc>
                  <a:txBody>
                    <a:bodyPr/>
                    <a:lstStyle/>
                    <a:p>
                      <a:r>
                        <a:rPr sz="1650" b="0">
                          <a:solidFill>
                            <a:srgbClr val="164C47"/>
                          </a:solidFill>
                          <a:latin typeface="Arial"/>
                          <a:ea typeface="Arial"/>
                          <a:cs typeface="Arial"/>
                        </a:rPr>
                        <a:t>Tên và liều lượng tại lúc ghi nhận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snapshot_inherited</a:t>
                      </a:r>
                    </a:p>
                  </a:txBody>
                  <a:tcPr marL="91440" marR="91440" marT="45720" marB="45720">
                    <a:solidFill>
                      <a:srgbClr val="EAF3EE"/>
                    </a:solidFill>
                  </a:tcPr>
                </a:tc>
                <a:tc>
                  <a:txBody>
                    <a:bodyPr/>
                    <a:lstStyle/>
                    <a:p>
                      <a:r>
                        <a:rPr sz="1650" b="0">
                          <a:solidFill>
                            <a:srgbClr val="164C47"/>
                          </a:solidFill>
                          <a:latin typeface="Arial"/>
                          <a:ea typeface="Arial"/>
                          <a:cs typeface="Arial"/>
                        </a:rPr>
                        <a:t>INTEGER, mặc định 0</a:t>
                      </a:r>
                    </a:p>
                  </a:txBody>
                  <a:tcPr marL="91440" marR="91440" marT="45720" marB="45720">
                    <a:solidFill>
                      <a:srgbClr val="EAF3EE"/>
                    </a:solidFill>
                  </a:tcPr>
                </a:tc>
                <a:tc>
                  <a:txBody>
                    <a:bodyPr/>
                    <a:lstStyle/>
                    <a:p>
                      <a:r>
                        <a:rPr sz="1650" b="0">
                          <a:solidFill>
                            <a:srgbClr val="164C47"/>
                          </a:solidFill>
                          <a:latin typeface="Arial"/>
                          <a:ea typeface="Arial"/>
                          <a:cs typeface="Arial"/>
                        </a:rPr>
                        <a:t>Dấu hiệu kế thừa thông tin khi nâng cấp</a:t>
                      </a:r>
                    </a:p>
                  </a:txBody>
                  <a:tcPr marL="91440" marR="91440" marT="45720" marB="45720">
                    <a:solidFill>
                      <a:srgbClr val="EAF3EE"/>
                    </a:solidFill>
                  </a:tcPr>
                </a:tc>
              </a:tr>
            </a:tbl>
          </a:graphicData>
        </a:graphic>
      </p:graphicFrame>
      <p:sp>
        <p:nvSpPr>
          <p:cNvPr id="6" name="">
            <a:extLst xmlns:a="http://schemas.openxmlformats.org/drawingml/2006/main">
              <a:ext uri="{FF2B5EF4-FFF2-40B4-BE49-F238E27FC236}">
                <a16:creationId xmlns:a16="http://schemas.microsoft.com/office/drawing/2014/main" id="{D503E8B7-EBA8-4566-BC41-B1BBAC40F645}"/>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Sắp tới và Chưa xác nhận được tính khi hiển thị, không lưu thành kết quả trong bảng này.</a:t>
            </a:r>
          </a:p>
        </p:txBody>
      </p:sp>
    </p:spTree>
    <p:extLst>
      <p:ext uri="{BB962C8B-B14F-4D97-AF65-F5344CB8AC3E}">
        <p14:creationId xmlns:p14="http://schemas.microsoft.com/office/powerpoint/2010/main" val="2038013154"/>
      </p:ext>
    </p:extLst>
  </p:cSld>
</p:sld>
</file>

<file path=ppt/slides/slide18.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1DFD85-8099-4EC5-A0AE-1313D2D5EB9B}"/>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CẤU TRÚC BẢNG WATER_LOGS</a:t>
            </a:r>
          </a:p>
        </p:txBody>
      </p:sp>
      <p:sp>
        <p:nvSpPr>
          <p:cNvPr id="2" name="">
            <a:extLst xmlns:a="http://schemas.openxmlformats.org/drawingml/2006/main">
              <a:ext uri="{FF2B5EF4-FFF2-40B4-BE49-F238E27FC236}">
                <a16:creationId xmlns:a16="http://schemas.microsoft.com/office/drawing/2014/main" id="{31B24C58-991A-4E08-899C-CF6E657EEE9E}"/>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water_logs: dữ liệu từng lần uống nước</a:t>
            </a:r>
          </a:p>
        </p:txBody>
      </p:sp>
      <p:sp>
        <p:nvSpPr>
          <p:cNvPr id="3" name="">
            <a:extLst xmlns:a="http://schemas.openxmlformats.org/drawingml/2006/main">
              <a:ext uri="{FF2B5EF4-FFF2-40B4-BE49-F238E27FC236}">
                <a16:creationId xmlns:a16="http://schemas.microsoft.com/office/drawing/2014/main" id="{DD50E3D3-9AFF-4F8B-8CC0-AA8BE1DC30CC}"/>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2CCF0937-58E1-47F0-A03F-43CE85445755}"/>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C78335E5-A8AA-4E7D-A09C-6FF2CDFAAD31}"/>
              </a:ext>
            </a:extLst>
          </p:cNvPr>
          <p:cNvGraphicFramePr/>
          <p:nvPr/>
        </p:nvGraphicFramePr>
        <p:xfrm>
          <a:off xmlns:a="http://schemas.openxmlformats.org/drawingml/2006/main" x="514350" y="1457325"/>
          <a:ext xmlns:a="http://schemas.openxmlformats.org/drawingml/2006/main" cx="11144250" cy="3143250"/>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tự tăng</a:t>
                      </a:r>
                    </a:p>
                  </a:txBody>
                  <a:tcPr marL="91440" marR="91440" marT="45720" marB="45720">
                    <a:solidFill>
                      <a:srgbClr val="FFFFFF"/>
                    </a:solidFill>
                  </a:tcPr>
                </a:tc>
                <a:tc>
                  <a:txBody>
                    <a:bodyPr/>
                    <a:lstStyle/>
                    <a:p>
                      <a:r>
                        <a:rPr sz="1650" b="0">
                          <a:solidFill>
                            <a:srgbClr val="164C47"/>
                          </a:solidFill>
                          <a:latin typeface="Arial"/>
                          <a:ea typeface="Arial"/>
                          <a:cs typeface="Arial"/>
                        </a:rPr>
                        <a:t>Mã lần ghi nhận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user_id</a:t>
                      </a:r>
                    </a:p>
                  </a:txBody>
                  <a:tcPr marL="91440" marR="91440" marT="45720" marB="45720">
                    <a:solidFill>
                      <a:srgbClr val="EAF3EE"/>
                    </a:solidFill>
                  </a:tcPr>
                </a:tc>
                <a:tc>
                  <a:txBody>
                    <a:bodyPr/>
                    <a:lstStyle/>
                    <a:p>
                      <a:r>
                        <a:rPr sz="1650" b="0">
                          <a:solidFill>
                            <a:srgbClr val="164C47"/>
                          </a:solidFill>
                          <a:latin typeface="Arial"/>
                          <a:ea typeface="Arial"/>
                          <a:cs typeface="Arial"/>
                        </a:rPr>
                        <a:t>INTEGER, FK, NOT NULL</a:t>
                      </a:r>
                    </a:p>
                  </a:txBody>
                  <a:tcPr marL="91440" marR="91440" marT="45720" marB="45720">
                    <a:solidFill>
                      <a:srgbClr val="EAF3EE"/>
                    </a:solidFill>
                  </a:tcPr>
                </a:tc>
                <a:tc>
                  <a:txBody>
                    <a:bodyPr/>
                    <a:lstStyle/>
                    <a:p>
                      <a:r>
                        <a:rPr sz="1650" b="0">
                          <a:solidFill>
                            <a:srgbClr val="164C47"/>
                          </a:solidFill>
                          <a:latin typeface="Arial"/>
                          <a:ea typeface="Arial"/>
                          <a:cs typeface="Arial"/>
                        </a:rPr>
                        <a:t>Tham chiếu users.id</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date</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Ngày ghi nhận, yyyy-MM-dd</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amount_ml</a:t>
                      </a:r>
                    </a:p>
                  </a:txBody>
                  <a:tcPr marL="91440" marR="91440" marT="45720" marB="45720">
                    <a:solidFill>
                      <a:srgbClr val="EAF3EE"/>
                    </a:solidFill>
                  </a:tcPr>
                </a:tc>
                <a:tc>
                  <a:txBody>
                    <a:bodyPr/>
                    <a:lstStyle/>
                    <a:p>
                      <a:r>
                        <a:rPr sz="1650" b="0">
                          <a:solidFill>
                            <a:srgbClr val="164C47"/>
                          </a:solidFill>
                          <a:latin typeface="Arial"/>
                          <a:ea typeface="Arial"/>
                          <a:cs typeface="Arial"/>
                        </a:rPr>
                        <a:t>INTEGER, NOT NULL</a:t>
                      </a:r>
                    </a:p>
                  </a:txBody>
                  <a:tcPr marL="91440" marR="91440" marT="45720" marB="45720">
                    <a:solidFill>
                      <a:srgbClr val="EAF3EE"/>
                    </a:solidFill>
                  </a:tcPr>
                </a:tc>
                <a:tc>
                  <a:txBody>
                    <a:bodyPr/>
                    <a:lstStyle/>
                    <a:p>
                      <a:r>
                        <a:rPr sz="1650" b="0">
                          <a:solidFill>
                            <a:srgbClr val="164C47"/>
                          </a:solidFill>
                          <a:latin typeface="Arial"/>
                          <a:ea typeface="Arial"/>
                          <a:cs typeface="Arial"/>
                        </a:rPr>
                        <a:t>Lượng nước của lần uống, đơn vị ml</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logged_at</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Thời điểm ghi, yyyy-MM-dd HH:mm:ss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2EE5F5D-952D-4094-9841-B3ABD6A7F073}"/>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Tổng nước được tính từ nhật ký theo tài khoản và ngày. Sửa hoặc xóa một hàng sẽ cập nhật tiến độ.</a:t>
            </a:r>
          </a:p>
        </p:txBody>
      </p:sp>
    </p:spTree>
    <p:extLst>
      <p:ext uri="{BB962C8B-B14F-4D97-AF65-F5344CB8AC3E}">
        <p14:creationId xmlns:p14="http://schemas.microsoft.com/office/powerpoint/2010/main" val="1390713818"/>
      </p:ext>
    </p:extLst>
  </p:cSld>
</p:sld>
</file>

<file path=ppt/slides/slide19.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B81F444-FD52-4BFB-92F3-FBD77E84CB44}"/>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TÍNH NHẤT QUÁN DỮ LIỆU</a:t>
            </a:r>
          </a:p>
        </p:txBody>
      </p:sp>
      <p:sp>
        <p:nvSpPr>
          <p:cNvPr id="2" name="">
            <a:extLst xmlns:a="http://schemas.openxmlformats.org/drawingml/2006/main">
              <a:ext uri="{FF2B5EF4-FFF2-40B4-BE49-F238E27FC236}">
                <a16:creationId xmlns:a16="http://schemas.microsoft.com/office/drawing/2014/main" id="{5B7D1BD1-BCC3-4D26-A97D-FFC45FE4E9A9}"/>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Khóa ngoại, chỉ mục và phạm vi dữ liệu</a:t>
            </a:r>
          </a:p>
        </p:txBody>
      </p:sp>
      <p:sp>
        <p:nvSpPr>
          <p:cNvPr id="3" name="">
            <a:extLst xmlns:a="http://schemas.openxmlformats.org/drawingml/2006/main">
              <a:ext uri="{FF2B5EF4-FFF2-40B4-BE49-F238E27FC236}">
                <a16:creationId xmlns:a16="http://schemas.microsoft.com/office/drawing/2014/main" id="{D7385B4D-7DF5-4D51-B07F-CB04E9236559}"/>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68D63411-6C5F-4084-98EF-ADD53CBF29CB}"/>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3C7B740D-8B4F-40B2-A60F-5736139D8A4A}"/>
              </a:ext>
            </a:extLst>
          </p:cNvPr>
          <p:cNvSpPr>
            <a:spLocks xmlns:a="http://schemas.openxmlformats.org/drawingml/2006/main" noGrp="1"/>
          </p:cNvSpPr>
          <p:nvPr/>
        </p:nvSpPr>
        <p:spPr>
          <a:xfrm xmlns:a="http://schemas.openxmlformats.org/drawingml/2006/main">
            <a:off x="514350" y="1619250"/>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Quan hệ một nhiều</a:t>
            </a:r>
          </a:p>
        </p:txBody>
      </p:sp>
      <p:sp>
        <p:nvSpPr>
          <p:cNvPr id="6" name="">
            <a:extLst xmlns:a="http://schemas.openxmlformats.org/drawingml/2006/main">
              <a:ext uri="{FF2B5EF4-FFF2-40B4-BE49-F238E27FC236}">
                <a16:creationId xmlns:a16="http://schemas.microsoft.com/office/drawing/2014/main" id="{0BC721B6-DBAB-4155-832C-2B536F399B61}"/>
              </a:ext>
            </a:extLst>
          </p:cNvPr>
          <p:cNvSpPr>
            <a:spLocks xmlns:a="http://schemas.openxmlformats.org/drawingml/2006/main" noGrp="1"/>
          </p:cNvSpPr>
          <p:nvPr/>
        </p:nvSpPr>
        <p:spPr>
          <a:xfrm xmlns:a="http://schemas.openxmlformats.org/drawingml/2006/main">
            <a:off x="514350" y="2190750"/>
            <a:ext cx="5238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users có nhiều health_records, medicines và water_logs. medicines có nhiều medicine_logs.</a:t>
            </a:r>
          </a:p>
        </p:txBody>
      </p:sp>
      <p:sp>
        <p:nvSpPr>
          <p:cNvPr id="7" name="">
            <a:extLst xmlns:a="http://schemas.openxmlformats.org/drawingml/2006/main">
              <a:ext uri="{FF2B5EF4-FFF2-40B4-BE49-F238E27FC236}">
                <a16:creationId xmlns:a16="http://schemas.microsoft.com/office/drawing/2014/main" id="{0DDAE3E1-867F-4C89-A793-DCF5AB9F15E9}"/>
              </a:ext>
            </a:extLst>
          </p:cNvPr>
          <p:cNvSpPr>
            <a:spLocks xmlns:a="http://schemas.openxmlformats.org/drawingml/2006/main" noGrp="1"/>
          </p:cNvSpPr>
          <p:nvPr/>
        </p:nvSpPr>
        <p:spPr>
          <a:xfrm xmlns:a="http://schemas.openxmlformats.org/drawingml/2006/main">
            <a:off x="6524625" y="16192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Truy vấn theo tài khoản</a:t>
            </a:r>
          </a:p>
        </p:txBody>
      </p:sp>
      <p:sp>
        <p:nvSpPr>
          <p:cNvPr id="8" name="">
            <a:extLst xmlns:a="http://schemas.openxmlformats.org/drawingml/2006/main">
              <a:ext uri="{FF2B5EF4-FFF2-40B4-BE49-F238E27FC236}">
                <a16:creationId xmlns:a16="http://schemas.microsoft.com/office/drawing/2014/main" id="{FB7EE30F-1069-454F-B89B-93EE6BBE43FB}"/>
              </a:ext>
            </a:extLst>
          </p:cNvPr>
          <p:cNvSpPr>
            <a:spLocks xmlns:a="http://schemas.openxmlformats.org/drawingml/2006/main" noGrp="1"/>
          </p:cNvSpPr>
          <p:nvPr/>
        </p:nvSpPr>
        <p:spPr>
          <a:xfrm xmlns:a="http://schemas.openxmlformats.org/drawingml/2006/main">
            <a:off x="6524625" y="2190750"/>
            <a:ext cx="5095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Mỗi thao tác chỉ truy cập dữ liệu của tài khoản hiện tại. Nhật ký thuốc xác định chủ sở hữu qua medicines.</a:t>
            </a:r>
          </a:p>
        </p:txBody>
      </p:sp>
      <p:sp>
        <p:nvSpPr>
          <p:cNvPr id="9" name="">
            <a:extLst xmlns:a="http://schemas.openxmlformats.org/drawingml/2006/main">
              <a:ext uri="{FF2B5EF4-FFF2-40B4-BE49-F238E27FC236}">
                <a16:creationId xmlns:a16="http://schemas.microsoft.com/office/drawing/2014/main" id="{3FB54855-4DB7-4A82-AF6E-68DDAE03FE81}"/>
              </a:ext>
            </a:extLst>
          </p:cNvPr>
          <p:cNvSpPr>
            <a:spLocks xmlns:a="http://schemas.openxmlformats.org/drawingml/2006/main" noGrp="1"/>
          </p:cNvSpPr>
          <p:nvPr/>
        </p:nvSpPr>
        <p:spPr>
          <a:xfrm xmlns:a="http://schemas.openxmlformats.org/drawingml/2006/main">
            <a:off x="514350" y="404812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Khóa ngoại và xóa dữ liệu</a:t>
            </a:r>
          </a:p>
        </p:txBody>
      </p:sp>
      <p:sp>
        <p:nvSpPr>
          <p:cNvPr id="10" name="">
            <a:extLst xmlns:a="http://schemas.openxmlformats.org/drawingml/2006/main">
              <a:ext uri="{FF2B5EF4-FFF2-40B4-BE49-F238E27FC236}">
                <a16:creationId xmlns:a16="http://schemas.microsoft.com/office/drawing/2014/main" id="{00D7AAE0-908A-4C31-9F95-4FACDA631AD1}"/>
              </a:ext>
            </a:extLst>
          </p:cNvPr>
          <p:cNvSpPr>
            <a:spLocks xmlns:a="http://schemas.openxmlformats.org/drawingml/2006/main" noGrp="1"/>
          </p:cNvSpPr>
          <p:nvPr/>
        </p:nvSpPr>
        <p:spPr>
          <a:xfrm xmlns:a="http://schemas.openxmlformats.org/drawingml/2006/main">
            <a:off x="514350" y="4610100"/>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Bật khóa ngoại trong onConfigure. ON DELETE CASCADE xóa các hàng phụ thuộc khi xóa tài khoản hoặc thuốc.</a:t>
            </a:r>
          </a:p>
        </p:txBody>
      </p:sp>
      <p:sp>
        <p:nvSpPr>
          <p:cNvPr id="11" name="">
            <a:extLst xmlns:a="http://schemas.openxmlformats.org/drawingml/2006/main">
              <a:ext uri="{FF2B5EF4-FFF2-40B4-BE49-F238E27FC236}">
                <a16:creationId xmlns:a16="http://schemas.microsoft.com/office/drawing/2014/main" id="{664CA095-ECC3-4449-87F7-A8B4C4C93833}"/>
              </a:ext>
            </a:extLst>
          </p:cNvPr>
          <p:cNvSpPr>
            <a:spLocks xmlns:a="http://schemas.openxmlformats.org/drawingml/2006/main" noGrp="1"/>
          </p:cNvSpPr>
          <p:nvPr/>
        </p:nvSpPr>
        <p:spPr>
          <a:xfrm xmlns:a="http://schemas.openxmlformats.org/drawingml/2006/main">
            <a:off x="6524625" y="404812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Chỉ mục tra cứu</a:t>
            </a:r>
          </a:p>
        </p:txBody>
      </p:sp>
      <p:sp>
        <p:nvSpPr>
          <p:cNvPr id="12" name="">
            <a:extLst xmlns:a="http://schemas.openxmlformats.org/drawingml/2006/main">
              <a:ext uri="{FF2B5EF4-FFF2-40B4-BE49-F238E27FC236}">
                <a16:creationId xmlns:a16="http://schemas.microsoft.com/office/drawing/2014/main" id="{8BD526FB-0772-4834-88C2-C78EB94FA831}"/>
              </a:ext>
            </a:extLst>
          </p:cNvPr>
          <p:cNvSpPr>
            <a:spLocks xmlns:a="http://schemas.openxmlformats.org/drawingml/2006/main" noGrp="1"/>
          </p:cNvSpPr>
          <p:nvPr/>
        </p:nvSpPr>
        <p:spPr>
          <a:xfrm xmlns:a="http://schemas.openxmlformats.org/drawingml/2006/main">
            <a:off x="6524625" y="4610100"/>
            <a:ext cx="5095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Sức khỏe, nước: (user_id, date).</a:t>
            </a:r>
          </a:p>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Cữ thuốc: (medicine_id, date, scheduled_time). Chỉ mục cữ thuốc không phải UNIQUE.</a:t>
            </a:r>
          </a:p>
        </p:txBody>
      </p:sp>
    </p:spTree>
    <p:extLst>
      <p:ext uri="{BB962C8B-B14F-4D97-AF65-F5344CB8AC3E}">
        <p14:creationId xmlns:p14="http://schemas.microsoft.com/office/powerpoint/2010/main" val="1268583359"/>
      </p:ext>
    </p:extLst>
  </p:cSld>
</p:sld>
</file>

<file path=ppt/slides/slide20.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7343956-8097-4244-8DE0-AF50E3100926}"/>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1.5  PHÂN CÔNG THỰC HIỆN</a:t>
            </a:r>
          </a:p>
        </p:txBody>
      </p:sp>
      <p:sp>
        <p:nvSpPr>
          <p:cNvPr id="2" name="">
            <a:extLst xmlns:a="http://schemas.openxmlformats.org/drawingml/2006/main">
              <a:ext uri="{FF2B5EF4-FFF2-40B4-BE49-F238E27FC236}">
                <a16:creationId xmlns:a16="http://schemas.microsoft.com/office/drawing/2014/main" id="{76249604-9A7B-4BB5-A107-685C45FBD8D3}"/>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Vai trò thành viên và tổng kết</a:t>
            </a:r>
          </a:p>
        </p:txBody>
      </p:sp>
      <p:sp>
        <p:nvSpPr>
          <p:cNvPr id="3" name="">
            <a:extLst xmlns:a="http://schemas.openxmlformats.org/drawingml/2006/main">
              <a:ext uri="{FF2B5EF4-FFF2-40B4-BE49-F238E27FC236}">
                <a16:creationId xmlns:a16="http://schemas.microsoft.com/office/drawing/2014/main" id="{18DB597E-F5BA-4D73-9D85-87C4EA348917}"/>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27E29815-2446-434E-89FF-595524B55BAA}"/>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16926520-CAD2-4A8F-8565-B4A905FC621E}"/>
              </a:ext>
            </a:extLst>
          </p:cNvPr>
          <p:cNvSpPr>
            <a:spLocks xmlns:a="http://schemas.openxmlformats.org/drawingml/2006/main" noGrp="1"/>
          </p:cNvSpPr>
          <p:nvPr/>
        </p:nvSpPr>
        <p:spPr>
          <a:xfrm xmlns:a="http://schemas.openxmlformats.org/drawingml/2006/main">
            <a:off x="514350" y="16192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64C47"/>
                </a:solidFill>
                <a:latin typeface="Arial"/>
                <a:ea typeface="Arial"/>
                <a:cs typeface="Arial"/>
              </a:defRPr>
            </a:defPPr>
            <a:lvl1pPr>
              <a:defRPr sz="2400" b="1">
                <a:solidFill>
                  <a:srgbClr val="164C47"/>
                </a:solidFill>
                <a:latin typeface="Arial"/>
                <a:ea typeface="Arial"/>
                <a:cs typeface="Arial"/>
              </a:defRPr>
            </a:lvl1pPr>
            <a:lvl2pPr>
              <a:defRPr sz="2400" b="1">
                <a:solidFill>
                  <a:srgbClr val="164C47"/>
                </a:solidFill>
                <a:latin typeface="Arial"/>
                <a:ea typeface="Arial"/>
                <a:cs typeface="Arial"/>
              </a:defRPr>
            </a:lvl2pPr>
            <a:lvl3pPr>
              <a:defRPr sz="2400" b="1">
                <a:solidFill>
                  <a:srgbClr val="164C47"/>
                </a:solidFill>
                <a:latin typeface="Arial"/>
                <a:ea typeface="Arial"/>
                <a:cs typeface="Arial"/>
              </a:defRPr>
            </a:lvl3pPr>
            <a:lvl4pPr>
              <a:defRPr sz="2400" b="1">
                <a:solidFill>
                  <a:srgbClr val="164C47"/>
                </a:solidFill>
                <a:latin typeface="Arial"/>
                <a:ea typeface="Arial"/>
                <a:cs typeface="Arial"/>
              </a:defRPr>
            </a:lvl4pPr>
            <a:lvl5pPr>
              <a:defRPr sz="2400" b="1">
                <a:solidFill>
                  <a:srgbClr val="164C47"/>
                </a:solidFill>
                <a:latin typeface="Arial"/>
                <a:ea typeface="Arial"/>
                <a:cs typeface="Arial"/>
              </a:defRPr>
            </a:lvl5pPr>
            <a:lvl6pPr>
              <a:defRPr sz="2400" b="1">
                <a:solidFill>
                  <a:srgbClr val="164C47"/>
                </a:solidFill>
                <a:latin typeface="Arial"/>
                <a:ea typeface="Arial"/>
                <a:cs typeface="Arial"/>
              </a:defRPr>
            </a:lvl6pPr>
            <a:lvl7pPr>
              <a:defRPr sz="2400" b="1">
                <a:solidFill>
                  <a:srgbClr val="164C47"/>
                </a:solidFill>
                <a:latin typeface="Arial"/>
                <a:ea typeface="Arial"/>
                <a:cs typeface="Arial"/>
              </a:defRPr>
            </a:lvl7pPr>
            <a:lvl8pPr>
              <a:defRPr sz="2400" b="1">
                <a:solidFill>
                  <a:srgbClr val="164C47"/>
                </a:solidFill>
                <a:latin typeface="Arial"/>
                <a:ea typeface="Arial"/>
                <a:cs typeface="Arial"/>
              </a:defRPr>
            </a:lvl8pPr>
            <a:lvl9pPr>
              <a:defRPr sz="2400" b="1">
                <a:solidFill>
                  <a:srgbClr val="164C47"/>
                </a:solidFill>
                <a:latin typeface="Arial"/>
                <a:ea typeface="Arial"/>
                <a:cs typeface="Arial"/>
              </a:defRPr>
            </a:lvl9pPr>
          </a:lstStyle>
          <a:p xmlns:a="http://schemas.openxmlformats.org/drawingml/2006/main">
            <a:pPr>
              <a:defRPr sz="2400" b="1">
                <a:solidFill>
                  <a:srgbClr val="164C47"/>
                </a:solidFill>
                <a:latin typeface="Arial"/>
                <a:ea typeface="Arial"/>
                <a:cs typeface="Arial"/>
              </a:defRPr>
            </a:pPr>
            <a:r>
              <a:rPr sz="2400" b="1">
                <a:solidFill>
                  <a:srgbClr val="164C47"/>
                </a:solidFill>
                <a:latin typeface="Arial"/>
                <a:ea typeface="Arial"/>
                <a:cs typeface="Arial"/>
              </a:rPr>
              <a:t>Huỳnh Trung Tín</a:t>
            </a:r>
          </a:p>
        </p:txBody>
      </p:sp>
      <p:sp>
        <p:nvSpPr>
          <p:cNvPr id="6" name="">
            <a:extLst xmlns:a="http://schemas.openxmlformats.org/drawingml/2006/main">
              <a:ext uri="{FF2B5EF4-FFF2-40B4-BE49-F238E27FC236}">
                <a16:creationId xmlns:a16="http://schemas.microsoft.com/office/drawing/2014/main" id="{00B57838-10BB-405E-9B5F-BF7B32E62AB5}"/>
              </a:ext>
            </a:extLst>
          </p:cNvPr>
          <p:cNvSpPr>
            <a:spLocks xmlns:a="http://schemas.openxmlformats.org/drawingml/2006/main" noGrp="1"/>
          </p:cNvSpPr>
          <p:nvPr/>
        </p:nvSpPr>
        <p:spPr>
          <a:xfrm xmlns:a="http://schemas.openxmlformats.org/drawingml/2006/main">
            <a:off x="514350" y="2333625"/>
            <a:ext cx="5238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B66"/>
                </a:solidFill>
                <a:latin typeface="Arial"/>
                <a:ea typeface="Arial"/>
                <a:cs typeface="Arial"/>
              </a:defRPr>
            </a:defPPr>
            <a:lvl1pPr>
              <a:defRPr sz="1950" b="0">
                <a:solidFill>
                  <a:srgbClr val="526B66"/>
                </a:solidFill>
                <a:latin typeface="Arial"/>
                <a:ea typeface="Arial"/>
                <a:cs typeface="Arial"/>
              </a:defRPr>
            </a:lvl1pPr>
            <a:lvl2pPr>
              <a:defRPr sz="1950" b="0">
                <a:solidFill>
                  <a:srgbClr val="526B66"/>
                </a:solidFill>
                <a:latin typeface="Arial"/>
                <a:ea typeface="Arial"/>
                <a:cs typeface="Arial"/>
              </a:defRPr>
            </a:lvl2pPr>
            <a:lvl3pPr>
              <a:defRPr sz="1950" b="0">
                <a:solidFill>
                  <a:srgbClr val="526B66"/>
                </a:solidFill>
                <a:latin typeface="Arial"/>
                <a:ea typeface="Arial"/>
                <a:cs typeface="Arial"/>
              </a:defRPr>
            </a:lvl3pPr>
            <a:lvl4pPr>
              <a:defRPr sz="1950" b="0">
                <a:solidFill>
                  <a:srgbClr val="526B66"/>
                </a:solidFill>
                <a:latin typeface="Arial"/>
                <a:ea typeface="Arial"/>
                <a:cs typeface="Arial"/>
              </a:defRPr>
            </a:lvl4pPr>
            <a:lvl5pPr>
              <a:defRPr sz="1950" b="0">
                <a:solidFill>
                  <a:srgbClr val="526B66"/>
                </a:solidFill>
                <a:latin typeface="Arial"/>
                <a:ea typeface="Arial"/>
                <a:cs typeface="Arial"/>
              </a:defRPr>
            </a:lvl5pPr>
            <a:lvl6pPr>
              <a:defRPr sz="1950" b="0">
                <a:solidFill>
                  <a:srgbClr val="526B66"/>
                </a:solidFill>
                <a:latin typeface="Arial"/>
                <a:ea typeface="Arial"/>
                <a:cs typeface="Arial"/>
              </a:defRPr>
            </a:lvl6pPr>
            <a:lvl7pPr>
              <a:defRPr sz="1950" b="0">
                <a:solidFill>
                  <a:srgbClr val="526B66"/>
                </a:solidFill>
                <a:latin typeface="Arial"/>
                <a:ea typeface="Arial"/>
                <a:cs typeface="Arial"/>
              </a:defRPr>
            </a:lvl7pPr>
            <a:lvl8pPr>
              <a:defRPr sz="1950" b="0">
                <a:solidFill>
                  <a:srgbClr val="526B66"/>
                </a:solidFill>
                <a:latin typeface="Arial"/>
                <a:ea typeface="Arial"/>
                <a:cs typeface="Arial"/>
              </a:defRPr>
            </a:lvl8pPr>
            <a:lvl9pPr>
              <a:defRPr sz="1950" b="0">
                <a:solidFill>
                  <a:srgbClr val="526B66"/>
                </a:solidFill>
                <a:latin typeface="Arial"/>
                <a:ea typeface="Arial"/>
                <a:cs typeface="Arial"/>
              </a:defRPr>
            </a:lvl9pPr>
          </a:lstStyle>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Trưởng nhóm · Đóng góp 50%</a:t>
            </a:r>
          </a:p>
          <a:p xmlns:a="http://schemas.openxmlformats.org/drawingml/2006/main">
            <a:r>
              <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Giao diện và trải nghiệm sử dụng.</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Tích hợp danh sách, biểu đồ và BMI.</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Tổng hợp, biên soạn báo cáo.</a:t>
            </a:r>
          </a:p>
        </p:txBody>
      </p:sp>
      <p:sp>
        <p:nvSpPr>
          <p:cNvPr id="7" name="">
            <a:extLst xmlns:a="http://schemas.openxmlformats.org/drawingml/2006/main">
              <a:ext uri="{FF2B5EF4-FFF2-40B4-BE49-F238E27FC236}">
                <a16:creationId xmlns:a16="http://schemas.microsoft.com/office/drawing/2014/main" id="{985FB1F5-B6DC-41F1-B49E-91B133897B58}"/>
              </a:ext>
            </a:extLst>
          </p:cNvPr>
          <p:cNvSpPr>
            <a:spLocks xmlns:a="http://schemas.openxmlformats.org/drawingml/2006/main" noGrp="1"/>
          </p:cNvSpPr>
          <p:nvPr/>
        </p:nvSpPr>
        <p:spPr>
          <a:xfrm xmlns:a="http://schemas.openxmlformats.org/drawingml/2006/main">
            <a:off x="6477000" y="161925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64C47"/>
                </a:solidFill>
                <a:latin typeface="Arial"/>
                <a:ea typeface="Arial"/>
                <a:cs typeface="Arial"/>
              </a:defRPr>
            </a:defPPr>
            <a:lvl1pPr>
              <a:defRPr sz="2400" b="1">
                <a:solidFill>
                  <a:srgbClr val="164C47"/>
                </a:solidFill>
                <a:latin typeface="Arial"/>
                <a:ea typeface="Arial"/>
                <a:cs typeface="Arial"/>
              </a:defRPr>
            </a:lvl1pPr>
            <a:lvl2pPr>
              <a:defRPr sz="2400" b="1">
                <a:solidFill>
                  <a:srgbClr val="164C47"/>
                </a:solidFill>
                <a:latin typeface="Arial"/>
                <a:ea typeface="Arial"/>
                <a:cs typeface="Arial"/>
              </a:defRPr>
            </a:lvl2pPr>
            <a:lvl3pPr>
              <a:defRPr sz="2400" b="1">
                <a:solidFill>
                  <a:srgbClr val="164C47"/>
                </a:solidFill>
                <a:latin typeface="Arial"/>
                <a:ea typeface="Arial"/>
                <a:cs typeface="Arial"/>
              </a:defRPr>
            </a:lvl3pPr>
            <a:lvl4pPr>
              <a:defRPr sz="2400" b="1">
                <a:solidFill>
                  <a:srgbClr val="164C47"/>
                </a:solidFill>
                <a:latin typeface="Arial"/>
                <a:ea typeface="Arial"/>
                <a:cs typeface="Arial"/>
              </a:defRPr>
            </a:lvl4pPr>
            <a:lvl5pPr>
              <a:defRPr sz="2400" b="1">
                <a:solidFill>
                  <a:srgbClr val="164C47"/>
                </a:solidFill>
                <a:latin typeface="Arial"/>
                <a:ea typeface="Arial"/>
                <a:cs typeface="Arial"/>
              </a:defRPr>
            </a:lvl5pPr>
            <a:lvl6pPr>
              <a:defRPr sz="2400" b="1">
                <a:solidFill>
                  <a:srgbClr val="164C47"/>
                </a:solidFill>
                <a:latin typeface="Arial"/>
                <a:ea typeface="Arial"/>
                <a:cs typeface="Arial"/>
              </a:defRPr>
            </a:lvl6pPr>
            <a:lvl7pPr>
              <a:defRPr sz="2400" b="1">
                <a:solidFill>
                  <a:srgbClr val="164C47"/>
                </a:solidFill>
                <a:latin typeface="Arial"/>
                <a:ea typeface="Arial"/>
                <a:cs typeface="Arial"/>
              </a:defRPr>
            </a:lvl7pPr>
            <a:lvl8pPr>
              <a:defRPr sz="2400" b="1">
                <a:solidFill>
                  <a:srgbClr val="164C47"/>
                </a:solidFill>
                <a:latin typeface="Arial"/>
                <a:ea typeface="Arial"/>
                <a:cs typeface="Arial"/>
              </a:defRPr>
            </a:lvl8pPr>
            <a:lvl9pPr>
              <a:defRPr sz="2400" b="1">
                <a:solidFill>
                  <a:srgbClr val="164C47"/>
                </a:solidFill>
                <a:latin typeface="Arial"/>
                <a:ea typeface="Arial"/>
                <a:cs typeface="Arial"/>
              </a:defRPr>
            </a:lvl9pPr>
          </a:lstStyle>
          <a:p xmlns:a="http://schemas.openxmlformats.org/drawingml/2006/main">
            <a:pPr>
              <a:defRPr sz="2400" b="1">
                <a:solidFill>
                  <a:srgbClr val="164C47"/>
                </a:solidFill>
                <a:latin typeface="Arial"/>
                <a:ea typeface="Arial"/>
                <a:cs typeface="Arial"/>
              </a:defRPr>
            </a:pPr>
            <a:r>
              <a:rPr sz="2400" b="1">
                <a:solidFill>
                  <a:srgbClr val="164C47"/>
                </a:solidFill>
                <a:latin typeface="Arial"/>
                <a:ea typeface="Arial"/>
                <a:cs typeface="Arial"/>
              </a:rPr>
              <a:t>Đinh Tấn Minh</a:t>
            </a:r>
          </a:p>
        </p:txBody>
      </p:sp>
      <p:sp>
        <p:nvSpPr>
          <p:cNvPr id="8" name="">
            <a:extLst xmlns:a="http://schemas.openxmlformats.org/drawingml/2006/main">
              <a:ext uri="{FF2B5EF4-FFF2-40B4-BE49-F238E27FC236}">
                <a16:creationId xmlns:a16="http://schemas.microsoft.com/office/drawing/2014/main" id="{4485F423-FACE-42AF-BD26-9E65F162C742}"/>
              </a:ext>
            </a:extLst>
          </p:cNvPr>
          <p:cNvSpPr>
            <a:spLocks xmlns:a="http://schemas.openxmlformats.org/drawingml/2006/main" noGrp="1"/>
          </p:cNvSpPr>
          <p:nvPr/>
        </p:nvSpPr>
        <p:spPr>
          <a:xfrm xmlns:a="http://schemas.openxmlformats.org/drawingml/2006/main">
            <a:off x="6477000" y="2333625"/>
            <a:ext cx="50958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B66"/>
                </a:solidFill>
                <a:latin typeface="Arial"/>
                <a:ea typeface="Arial"/>
                <a:cs typeface="Arial"/>
              </a:defRPr>
            </a:defPPr>
            <a:lvl1pPr>
              <a:defRPr sz="1950" b="0">
                <a:solidFill>
                  <a:srgbClr val="526B66"/>
                </a:solidFill>
                <a:latin typeface="Arial"/>
                <a:ea typeface="Arial"/>
                <a:cs typeface="Arial"/>
              </a:defRPr>
            </a:lvl1pPr>
            <a:lvl2pPr>
              <a:defRPr sz="1950" b="0">
                <a:solidFill>
                  <a:srgbClr val="526B66"/>
                </a:solidFill>
                <a:latin typeface="Arial"/>
                <a:ea typeface="Arial"/>
                <a:cs typeface="Arial"/>
              </a:defRPr>
            </a:lvl2pPr>
            <a:lvl3pPr>
              <a:defRPr sz="1950" b="0">
                <a:solidFill>
                  <a:srgbClr val="526B66"/>
                </a:solidFill>
                <a:latin typeface="Arial"/>
                <a:ea typeface="Arial"/>
                <a:cs typeface="Arial"/>
              </a:defRPr>
            </a:lvl3pPr>
            <a:lvl4pPr>
              <a:defRPr sz="1950" b="0">
                <a:solidFill>
                  <a:srgbClr val="526B66"/>
                </a:solidFill>
                <a:latin typeface="Arial"/>
                <a:ea typeface="Arial"/>
                <a:cs typeface="Arial"/>
              </a:defRPr>
            </a:lvl4pPr>
            <a:lvl5pPr>
              <a:defRPr sz="1950" b="0">
                <a:solidFill>
                  <a:srgbClr val="526B66"/>
                </a:solidFill>
                <a:latin typeface="Arial"/>
                <a:ea typeface="Arial"/>
                <a:cs typeface="Arial"/>
              </a:defRPr>
            </a:lvl5pPr>
            <a:lvl6pPr>
              <a:defRPr sz="1950" b="0">
                <a:solidFill>
                  <a:srgbClr val="526B66"/>
                </a:solidFill>
                <a:latin typeface="Arial"/>
                <a:ea typeface="Arial"/>
                <a:cs typeface="Arial"/>
              </a:defRPr>
            </a:lvl6pPr>
            <a:lvl7pPr>
              <a:defRPr sz="1950" b="0">
                <a:solidFill>
                  <a:srgbClr val="526B66"/>
                </a:solidFill>
                <a:latin typeface="Arial"/>
                <a:ea typeface="Arial"/>
                <a:cs typeface="Arial"/>
              </a:defRPr>
            </a:lvl7pPr>
            <a:lvl8pPr>
              <a:defRPr sz="1950" b="0">
                <a:solidFill>
                  <a:srgbClr val="526B66"/>
                </a:solidFill>
                <a:latin typeface="Arial"/>
                <a:ea typeface="Arial"/>
                <a:cs typeface="Arial"/>
              </a:defRPr>
            </a:lvl8pPr>
            <a:lvl9pPr>
              <a:defRPr sz="1950" b="0">
                <a:solidFill>
                  <a:srgbClr val="526B66"/>
                </a:solidFill>
                <a:latin typeface="Arial"/>
                <a:ea typeface="Arial"/>
                <a:cs typeface="Arial"/>
              </a:defRPr>
            </a:lvl9pPr>
          </a:lstStyle>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Đóng góp 50%</a:t>
            </a:r>
          </a:p>
          <a:p xmlns:a="http://schemas.openxmlformats.org/drawingml/2006/main">
            <a:r>
              <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Cơ sở dữ liệu, nghiệp vụ và xác thực.</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Lập lịch thuốc, nước và thông báo.</a:t>
            </a:r>
          </a:p>
          <a:p xmlns:a="http://schemas.openxmlformats.org/drawingml/2006/main">
            <a:pPr>
              <a:defRPr sz="1950" b="0">
                <a:solidFill>
                  <a:srgbClr val="526B66"/>
                </a:solidFill>
                <a:latin typeface="Arial"/>
                <a:ea typeface="Arial"/>
                <a:cs typeface="Arial"/>
              </a:defRPr>
            </a:pPr>
            <a:r>
              <a:rPr sz="1950" b="0">
                <a:solidFill>
                  <a:srgbClr val="526B66"/>
                </a:solidFill>
                <a:latin typeface="Arial"/>
                <a:ea typeface="Arial"/>
                <a:cs typeface="Arial"/>
              </a:rPr>
              <a:t>Chuẩn bị thuyết trình và demo.</a:t>
            </a:r>
          </a:p>
        </p:txBody>
      </p:sp>
      <p:sp>
        <p:nvSpPr>
          <p:cNvPr id="9" name="">
            <a:extLst xmlns:a="http://schemas.openxmlformats.org/drawingml/2006/main">
              <a:ext uri="{FF2B5EF4-FFF2-40B4-BE49-F238E27FC236}">
                <a16:creationId xmlns:a16="http://schemas.microsoft.com/office/drawing/2014/main" id="{E053779F-22DC-4EC3-AAA5-E1787C94A721}"/>
              </a:ext>
            </a:extLst>
          </p:cNvPr>
          <p:cNvSpPr>
            <a:spLocks xmlns:a="http://schemas.openxmlformats.org/drawingml/2006/main" noGrp="1"/>
          </p:cNvSpPr>
          <p:nvPr/>
        </p:nvSpPr>
        <p:spPr>
          <a:xfrm xmlns:a="http://schemas.openxmlformats.org/drawingml/2006/main">
            <a:off x="514350" y="5429250"/>
            <a:ext cx="10953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87F72"/>
                </a:solidFill>
                <a:latin typeface="Arial"/>
                <a:ea typeface="Arial"/>
                <a:cs typeface="Arial"/>
              </a:defRPr>
            </a:defPPr>
            <a:lvl1pPr>
              <a:defRPr sz="1950" b="1">
                <a:solidFill>
                  <a:srgbClr val="087F72"/>
                </a:solidFill>
                <a:latin typeface="Arial"/>
                <a:ea typeface="Arial"/>
                <a:cs typeface="Arial"/>
              </a:defRPr>
            </a:lvl1pPr>
            <a:lvl2pPr>
              <a:defRPr sz="1950" b="1">
                <a:solidFill>
                  <a:srgbClr val="087F72"/>
                </a:solidFill>
                <a:latin typeface="Arial"/>
                <a:ea typeface="Arial"/>
                <a:cs typeface="Arial"/>
              </a:defRPr>
            </a:lvl2pPr>
            <a:lvl3pPr>
              <a:defRPr sz="1950" b="1">
                <a:solidFill>
                  <a:srgbClr val="087F72"/>
                </a:solidFill>
                <a:latin typeface="Arial"/>
                <a:ea typeface="Arial"/>
                <a:cs typeface="Arial"/>
              </a:defRPr>
            </a:lvl3pPr>
            <a:lvl4pPr>
              <a:defRPr sz="1950" b="1">
                <a:solidFill>
                  <a:srgbClr val="087F72"/>
                </a:solidFill>
                <a:latin typeface="Arial"/>
                <a:ea typeface="Arial"/>
                <a:cs typeface="Arial"/>
              </a:defRPr>
            </a:lvl4pPr>
            <a:lvl5pPr>
              <a:defRPr sz="1950" b="1">
                <a:solidFill>
                  <a:srgbClr val="087F72"/>
                </a:solidFill>
                <a:latin typeface="Arial"/>
                <a:ea typeface="Arial"/>
                <a:cs typeface="Arial"/>
              </a:defRPr>
            </a:lvl5pPr>
            <a:lvl6pPr>
              <a:defRPr sz="1950" b="1">
                <a:solidFill>
                  <a:srgbClr val="087F72"/>
                </a:solidFill>
                <a:latin typeface="Arial"/>
                <a:ea typeface="Arial"/>
                <a:cs typeface="Arial"/>
              </a:defRPr>
            </a:lvl6pPr>
            <a:lvl7pPr>
              <a:defRPr sz="1950" b="1">
                <a:solidFill>
                  <a:srgbClr val="087F72"/>
                </a:solidFill>
                <a:latin typeface="Arial"/>
                <a:ea typeface="Arial"/>
                <a:cs typeface="Arial"/>
              </a:defRPr>
            </a:lvl7pPr>
            <a:lvl8pPr>
              <a:defRPr sz="1950" b="1">
                <a:solidFill>
                  <a:srgbClr val="087F72"/>
                </a:solidFill>
                <a:latin typeface="Arial"/>
                <a:ea typeface="Arial"/>
                <a:cs typeface="Arial"/>
              </a:defRPr>
            </a:lvl8pPr>
            <a:lvl9pPr>
              <a:defRPr sz="1950" b="1">
                <a:solidFill>
                  <a:srgbClr val="087F72"/>
                </a:solidFill>
                <a:latin typeface="Arial"/>
                <a:ea typeface="Arial"/>
                <a:cs typeface="Arial"/>
              </a:defRPr>
            </a:lvl9pPr>
          </a:lstStyle>
          <a:p xmlns:a="http://schemas.openxmlformats.org/drawingml/2006/main">
            <a:pPr>
              <a:defRPr sz="1950" b="1">
                <a:solidFill>
                  <a:srgbClr val="087F72"/>
                </a:solidFill>
                <a:latin typeface="Arial"/>
                <a:ea typeface="Arial"/>
                <a:cs typeface="Arial"/>
              </a:defRPr>
            </a:pPr>
            <a:r>
              <a:rPr sz="1950" b="1">
                <a:solidFill>
                  <a:srgbClr val="087F72"/>
                </a:solidFill>
                <a:latin typeface="Arial"/>
                <a:ea typeface="Arial"/>
                <a:cs typeface="Arial"/>
              </a:rPr>
              <a:t>Vita tổ chức việc ghi chép sức khỏe, thuốc và nước trên thiết bị. Dữ liệu cục bộ chưa có đồng bộ hoặc xuất sao lưu.</a:t>
            </a:r>
          </a:p>
        </p:txBody>
      </p:sp>
    </p:spTree>
    <p:extLst>
      <p:ext uri="{BB962C8B-B14F-4D97-AF65-F5344CB8AC3E}">
        <p14:creationId xmlns:p14="http://schemas.microsoft.com/office/powerpoint/2010/main" val="14961452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2026-10-26T14:33:11.7140000Z</dcterms:created>
  <dcterms:modified xsi:type="dcterms:W3CDTF">2026-10-26T14:33:11.7140000Z</dcterms:modified>
</coreProperties>
</file>