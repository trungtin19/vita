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dadbad6964459d" /><Relationship Type="http://schemas.openxmlformats.org/officeDocument/2006/relationships/extended-properties" Target="/docProps/app.xml" Id="R76013f9ac2cc4097" /><Relationship Type="http://schemas.openxmlformats.org/officeDocument/2006/relationships/officeDocument" Target="/ppt/presentation.xml" Id="R5f4c266dc2e447e8" /></Relationships>
</file>

<file path=ppt/presentation.xml><?xml version="1.0" encoding="utf-8"?>
<p:presentation xmlns:p="http://schemas.openxmlformats.org/presentationml/2006/main">
  <p:sldMasterIdLst>
    <p:sldMasterId xmlns:r="http://schemas.openxmlformats.org/officeDocument/2006/relationships" id="2147483648" r:id="Rc942108fc8d64516"/>
  </p:sldMasterIdLst>
  <p:notesMasterIdLst>
    <p:notesMasterId xmlns:r="http://schemas.openxmlformats.org/officeDocument/2006/relationships" r:id="R16263d730d944393"/>
  </p:notesMasterIdLst>
  <p:sldIdLst>
    <p:sldId xmlns:r="http://schemas.openxmlformats.org/officeDocument/2006/relationships" id="256" r:id="R61a076dba7e84e76"/>
    <p:sldId xmlns:r="http://schemas.openxmlformats.org/officeDocument/2006/relationships" id="257" r:id="R064a0f20b6ef408d"/>
    <p:sldId xmlns:r="http://schemas.openxmlformats.org/officeDocument/2006/relationships" id="258" r:id="R0982f1fb4a85405d"/>
    <p:sldId xmlns:r="http://schemas.openxmlformats.org/officeDocument/2006/relationships" id="259" r:id="Rb63dcad59aba4a47"/>
    <p:sldId xmlns:r="http://schemas.openxmlformats.org/officeDocument/2006/relationships" id="260" r:id="Ra4b856e85cf8443f"/>
    <p:sldId xmlns:r="http://schemas.openxmlformats.org/officeDocument/2006/relationships" id="261" r:id="R8cb0acb472ae4449"/>
    <p:sldId xmlns:r="http://schemas.openxmlformats.org/officeDocument/2006/relationships" id="262" r:id="Rbf8e13b60a3242c9"/>
    <p:sldId xmlns:r="http://schemas.openxmlformats.org/officeDocument/2006/relationships" id="263" r:id="Rffb3a723ffd744ad"/>
    <p:sldId xmlns:r="http://schemas.openxmlformats.org/officeDocument/2006/relationships" id="264" r:id="R7c43abbc42ad4c61"/>
    <p:sldId xmlns:r="http://schemas.openxmlformats.org/officeDocument/2006/relationships" id="265" r:id="R93425d9135864ca5"/>
    <p:sldId xmlns:r="http://schemas.openxmlformats.org/officeDocument/2006/relationships" id="266" r:id="R471f9728cb704e79"/>
    <p:sldId xmlns:r="http://schemas.openxmlformats.org/officeDocument/2006/relationships" id="267" r:id="R3b22eb9fce7146ec"/>
    <p:sldId xmlns:r="http://schemas.openxmlformats.org/officeDocument/2006/relationships" id="268" r:id="R8aad45fd7ce7462b"/>
    <p:sldId xmlns:r="http://schemas.openxmlformats.org/officeDocument/2006/relationships" id="269" r:id="R126d966f0d024b11"/>
    <p:sldId xmlns:r="http://schemas.openxmlformats.org/officeDocument/2006/relationships" id="270" r:id="Rc5314233593145fe"/>
    <p:sldId xmlns:r="http://schemas.openxmlformats.org/officeDocument/2006/relationships" id="271" r:id="R32249f93d8d047c7"/>
    <p:sldId xmlns:r="http://schemas.openxmlformats.org/officeDocument/2006/relationships" id="272" r:id="Rf7bd8857aed14afb"/>
    <p:sldId xmlns:r="http://schemas.openxmlformats.org/officeDocument/2006/relationships" id="273" r:id="R5779c44780b3404e"/>
    <p:sldId xmlns:r="http://schemas.openxmlformats.org/officeDocument/2006/relationships" id="274" r:id="R5517c3483e534372"/>
    <p:sldId xmlns:r="http://schemas.openxmlformats.org/officeDocument/2006/relationships" id="275" r:id="Re7f64cd56b0045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0dcce4f7f44191" /><Relationship Type="http://schemas.openxmlformats.org/officeDocument/2006/relationships/slideMaster" Target="/ppt/slideMasters/slideMaster1.xml" Id="Rc942108fc8d64516" /><Relationship Type="http://schemas.openxmlformats.org/officeDocument/2006/relationships/notesMaster" Target="/ppt/notesMasters/notesMaster1.xml" Id="R16263d730d944393" /><Relationship Type="http://schemas.openxmlformats.org/officeDocument/2006/relationships/presProps" Target="/ppt/presProps.xml" Id="R342f0ad6341448e5" /><Relationship Type="http://schemas.openxmlformats.org/officeDocument/2006/relationships/tableStyles" Target="/ppt/tableStyles.xml" Id="R5fcfe85872124c1c" /><Relationship Type="http://schemas.openxmlformats.org/officeDocument/2006/relationships/slide" Target="/ppt/slides/slide1.xml" Id="R61a076dba7e84e76" /><Relationship Type="http://schemas.openxmlformats.org/officeDocument/2006/relationships/slide" Target="/ppt/slides/slide2.xml" Id="R064a0f20b6ef408d" /><Relationship Type="http://schemas.openxmlformats.org/officeDocument/2006/relationships/slide" Target="/ppt/slides/slide3.xml" Id="R0982f1fb4a85405d" /><Relationship Type="http://schemas.openxmlformats.org/officeDocument/2006/relationships/slide" Target="/ppt/slides/slide4.xml" Id="Rb63dcad59aba4a47" /><Relationship Type="http://schemas.openxmlformats.org/officeDocument/2006/relationships/slide" Target="/ppt/slides/slide5.xml" Id="Ra4b856e85cf8443f" /><Relationship Type="http://schemas.openxmlformats.org/officeDocument/2006/relationships/slide" Target="/ppt/slides/slide6.xml" Id="R8cb0acb472ae4449" /><Relationship Type="http://schemas.openxmlformats.org/officeDocument/2006/relationships/slide" Target="/ppt/slides/slide7.xml" Id="Rbf8e13b60a3242c9" /><Relationship Type="http://schemas.openxmlformats.org/officeDocument/2006/relationships/slide" Target="/ppt/slides/slide8.xml" Id="Rffb3a723ffd744ad" /><Relationship Type="http://schemas.openxmlformats.org/officeDocument/2006/relationships/slide" Target="/ppt/slides/slide9.xml" Id="R7c43abbc42ad4c61" /><Relationship Type="http://schemas.openxmlformats.org/officeDocument/2006/relationships/slide" Target="/ppt/slides/slide10.xml" Id="R93425d9135864ca5" /><Relationship Type="http://schemas.openxmlformats.org/officeDocument/2006/relationships/slide" Target="/ppt/slides/slide11.xml" Id="R471f9728cb704e79" /><Relationship Type="http://schemas.openxmlformats.org/officeDocument/2006/relationships/slide" Target="/ppt/slides/slide12.xml" Id="R3b22eb9fce7146ec" /><Relationship Type="http://schemas.openxmlformats.org/officeDocument/2006/relationships/slide" Target="/ppt/slides/slide13.xml" Id="R8aad45fd7ce7462b" /><Relationship Type="http://schemas.openxmlformats.org/officeDocument/2006/relationships/slide" Target="/ppt/slides/slide14.xml" Id="R126d966f0d024b11" /><Relationship Type="http://schemas.openxmlformats.org/officeDocument/2006/relationships/slide" Target="/ppt/slides/slide15.xml" Id="Rc5314233593145fe" /><Relationship Type="http://schemas.openxmlformats.org/officeDocument/2006/relationships/slide" Target="/ppt/slides/slide16.xml" Id="R32249f93d8d047c7" /><Relationship Type="http://schemas.openxmlformats.org/officeDocument/2006/relationships/slide" Target="/ppt/slides/slide17.xml" Id="Rf7bd8857aed14afb" /><Relationship Type="http://schemas.openxmlformats.org/officeDocument/2006/relationships/slide" Target="/ppt/slides/slide18.xml" Id="R5779c44780b3404e" /><Relationship Type="http://schemas.openxmlformats.org/officeDocument/2006/relationships/slide" Target="/ppt/slides/slide19.xml" Id="R5517c3483e534372" /><Relationship Type="http://schemas.openxmlformats.org/officeDocument/2006/relationships/slide" Target="/ppt/slides/slide20.xml" Id="Re7f64cd56b0045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de35a16dfc04f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7442f4d8484abf" /><Relationship Type="http://schemas.openxmlformats.org/officeDocument/2006/relationships/notesMaster" Target="/ppt/notesMasters/notesMaster1.xml" Id="R27ae88c980d341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8766b46fe34bd0" /><Relationship Type="http://schemas.openxmlformats.org/officeDocument/2006/relationships/notesMaster" Target="/ppt/notesMasters/notesMaster1.xml" Id="R610879afd72948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2b320813bf4db7" /><Relationship Type="http://schemas.openxmlformats.org/officeDocument/2006/relationships/notesMaster" Target="/ppt/notesMasters/notesMaster1.xml" Id="R126e618482204f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278edb495d4024" /><Relationship Type="http://schemas.openxmlformats.org/officeDocument/2006/relationships/notesMaster" Target="/ppt/notesMasters/notesMaster1.xml" Id="R2b656c9d477242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35458afdad4287" /><Relationship Type="http://schemas.openxmlformats.org/officeDocument/2006/relationships/notesMaster" Target="/ppt/notesMasters/notesMaster1.xml" Id="R5280378c79e645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c731f21cf84292" /><Relationship Type="http://schemas.openxmlformats.org/officeDocument/2006/relationships/notesMaster" Target="/ppt/notesMasters/notesMaster1.xml" Id="R3035287ec1e04b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2df24efb9549d3" /><Relationship Type="http://schemas.openxmlformats.org/officeDocument/2006/relationships/notesMaster" Target="/ppt/notesMasters/notesMaster1.xml" Id="Rc3bf4512d1cf4d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d332c48c13740d7" /><Relationship Type="http://schemas.openxmlformats.org/officeDocument/2006/relationships/notesMaster" Target="/ppt/notesMasters/notesMaster1.xml" Id="R2812addef65848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b6aefe6aa74455" /><Relationship Type="http://schemas.openxmlformats.org/officeDocument/2006/relationships/notesMaster" Target="/ppt/notesMasters/notesMaster1.xml" Id="R57ecbad8d20148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8c46c97b7d4fe0" /><Relationship Type="http://schemas.openxmlformats.org/officeDocument/2006/relationships/notesMaster" Target="/ppt/notesMasters/notesMaster1.xml" Id="R303a0bc2c8fe43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5b1bc762814d0d" /><Relationship Type="http://schemas.openxmlformats.org/officeDocument/2006/relationships/notesMaster" Target="/ppt/notesMasters/notesMaster1.xml" Id="R1038bf0f2e4b49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8ce20ba9854b51" /><Relationship Type="http://schemas.openxmlformats.org/officeDocument/2006/relationships/notesMaster" Target="/ppt/notesMasters/notesMaster1.xml" Id="R6e658b3360f94d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f39b5ef9994c27" /><Relationship Type="http://schemas.openxmlformats.org/officeDocument/2006/relationships/notesMaster" Target="/ppt/notesMasters/notesMaster1.xml" Id="Rccba63a189f14d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45726777dd47d6" /><Relationship Type="http://schemas.openxmlformats.org/officeDocument/2006/relationships/notesMaster" Target="/ppt/notesMasters/notesMaster1.xml" Id="Rfbdb0e803a9342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a52477912842d5" /><Relationship Type="http://schemas.openxmlformats.org/officeDocument/2006/relationships/notesMaster" Target="/ppt/notesMasters/notesMaster1.xml" Id="Rce17d6cef0f44a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3b4a0c91fb1447d" /><Relationship Type="http://schemas.openxmlformats.org/officeDocument/2006/relationships/notesMaster" Target="/ppt/notesMasters/notesMaster1.xml" Id="R0123afab22234d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5a3ed0795f4e2b" /><Relationship Type="http://schemas.openxmlformats.org/officeDocument/2006/relationships/notesMaster" Target="/ppt/notesMasters/notesMaster1.xml" Id="R61b895f9ade44a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c0d16951b44c24" /><Relationship Type="http://schemas.openxmlformats.org/officeDocument/2006/relationships/notesMaster" Target="/ppt/notesMasters/notesMaster1.xml" Id="R5aadec8af3474bf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813683f742246eb" /><Relationship Type="http://schemas.openxmlformats.org/officeDocument/2006/relationships/notesMaster" Target="/ppt/notesMasters/notesMaster1.xml" Id="R4a6a429cc93a45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bcefc29645429f" /><Relationship Type="http://schemas.openxmlformats.org/officeDocument/2006/relationships/notesMaster" Target="/ppt/notesMasters/notesMaster1.xml" Id="Rf76e44013f294a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nội dung: Tai_lieu/Chương/Chốt/Chuong_1.docx, mục 1.3 và 1.4, bảng 1.2–1.8. Ảnh giao diện thực tế: .audit-cache/full-ui-native-shots trong dự án Vita. Sơ đồ liên kết màn hình và ERD là hình gốc trích từ tài liệu. Các bảng trên slide là bản tóm tắt để trình bày.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7998bd9c864a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da8cba0d8c49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c464e0fcac40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c6720cdff54a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84e11b71bc43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06b9b5090747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F51EF9-540B-4BAF-BA94-1F6B4CDED1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F0B646-AA6A-48FF-B8EE-A92B12E92C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04EE21-8B57-4CB1-AF76-F0C584B576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2963F7-C77C-449A-8E36-AC76F5586A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BE96B01-C5CF-4E92-B37E-A46FAC230B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755CC4-D693-4C12-A1B6-63FF411475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0DBA80-E1F9-4A85-931E-2AC510F26AB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387952-57D1-4D29-8E2A-0E719DE6AEB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EC1B89-4556-4A0D-9029-D9C752B301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43B384-3E66-4494-A51C-DC4827873D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caf6e6376940e1" /><Relationship Type="http://schemas.openxmlformats.org/officeDocument/2006/relationships/slideLayout" Target="/ppt/slideLayouts/slideLayout1.xml" Id="Rc9a8e6d4a2ea4350" /><Relationship Type="http://schemas.openxmlformats.org/officeDocument/2006/relationships/slideLayout" Target="/ppt/slideLayouts/slideLayout2.xml" Id="Rd39faebec8d341a8" /><Relationship Type="http://schemas.openxmlformats.org/officeDocument/2006/relationships/slideLayout" Target="/ppt/slideLayouts/slideLayout3.xml" Id="R6f882008eff34e63" /><Relationship Type="http://schemas.openxmlformats.org/officeDocument/2006/relationships/slideLayout" Target="/ppt/slideLayouts/slideLayout4.xml" Id="Rec3d04948c9e4ac8" /><Relationship Type="http://schemas.openxmlformats.org/officeDocument/2006/relationships/slideLayout" Target="/ppt/slideLayouts/slideLayout5.xml" Id="Rfad69887659743e8" /><Relationship Type="http://schemas.openxmlformats.org/officeDocument/2006/relationships/slideLayout" Target="/ppt/slideLayouts/slideLayout6.xml" Id="R334bdb2bf6fc49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a8e6d4a2ea4350"/>
    <p:sldLayoutId xmlns:r="http://schemas.openxmlformats.org/officeDocument/2006/relationships" id="2147483650" r:id="Rd39faebec8d341a8"/>
    <p:sldLayoutId xmlns:r="http://schemas.openxmlformats.org/officeDocument/2006/relationships" id="2147483651" r:id="R6f882008eff34e63"/>
    <p:sldLayoutId xmlns:r="http://schemas.openxmlformats.org/officeDocument/2006/relationships" id="2147483652" r:id="Rec3d04948c9e4ac8"/>
    <p:sldLayoutId xmlns:r="http://schemas.openxmlformats.org/officeDocument/2006/relationships" id="2147483653" r:id="Rfad69887659743e8"/>
    <p:sldLayoutId xmlns:r="http://schemas.openxmlformats.org/officeDocument/2006/relationships" id="2147483654" r:id="R334bdb2bf6fc49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bc93a3f13d4786" /><Relationship Type="http://schemas.openxmlformats.org/officeDocument/2006/relationships/image" Target="/ppt/media/image.jpeg" Id="R8e8ed82e6fcd4caa" /><Relationship Type="http://schemas.openxmlformats.org/officeDocument/2006/relationships/notesSlide" Target="/ppt/notesSlides/notesSlide1.xml" Id="R7f2ca04c6f104c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e43cf85b5f48c0" /><Relationship Type="http://schemas.openxmlformats.org/officeDocument/2006/relationships/image" Target="/ppt/media/image.png" Id="R305f1dfe19a947af" /><Relationship Type="http://schemas.openxmlformats.org/officeDocument/2006/relationships/image" Target="/ppt/media/image2.png" Id="Rf051d3d2674a405e" /><Relationship Type="http://schemas.openxmlformats.org/officeDocument/2006/relationships/image" Target="/ppt/media/image3.png" Id="R0809d882b6534d37" /><Relationship Type="http://schemas.openxmlformats.org/officeDocument/2006/relationships/image" Target="/ppt/media/image4.png" Id="Rfd845046309d4cba" /><Relationship Type="http://schemas.openxmlformats.org/officeDocument/2006/relationships/notesSlide" Target="/ppt/notesSlides/notesSlide2.xml" Id="R655875dc11e149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413b81382e48b0" /><Relationship Type="http://schemas.openxmlformats.org/officeDocument/2006/relationships/image" Target="/ppt/media/image5.png" Id="R10ddb98336fc47e7" /><Relationship Type="http://schemas.openxmlformats.org/officeDocument/2006/relationships/image" Target="/ppt/media/image6.png" Id="R7866d01e8ce24863" /><Relationship Type="http://schemas.openxmlformats.org/officeDocument/2006/relationships/image" Target="/ppt/media/image7.png" Id="R73a55f9374db4820" /><Relationship Type="http://schemas.openxmlformats.org/officeDocument/2006/relationships/notesSlide" Target="/ppt/notesSlides/notesSlide3.xml" Id="R2ee0e3bc605b47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f16e696d944d64" /><Relationship Type="http://schemas.openxmlformats.org/officeDocument/2006/relationships/image" Target="/ppt/media/image8.png" Id="R2a09f632387a465b" /><Relationship Type="http://schemas.openxmlformats.org/officeDocument/2006/relationships/image" Target="/ppt/media/image9.png" Id="R268fbe3278234f90" /><Relationship Type="http://schemas.openxmlformats.org/officeDocument/2006/relationships/image" Target="/ppt/media/image10.png" Id="R02c79f331a0b4dba" /><Relationship Type="http://schemas.openxmlformats.org/officeDocument/2006/relationships/notesSlide" Target="/ppt/notesSlides/notesSlide4.xml" Id="R933ed276264b47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41a77537cf4b3c" /><Relationship Type="http://schemas.openxmlformats.org/officeDocument/2006/relationships/image" Target="/ppt/media/image11.png" Id="R1417d990517f45c7" /><Relationship Type="http://schemas.openxmlformats.org/officeDocument/2006/relationships/image" Target="/ppt/media/image12.png" Id="R2d5e7a185ffa4306" /><Relationship Type="http://schemas.openxmlformats.org/officeDocument/2006/relationships/image" Target="/ppt/media/image13.png" Id="Ra745e1e29250430f" /><Relationship Type="http://schemas.openxmlformats.org/officeDocument/2006/relationships/notesSlide" Target="/ppt/notesSlides/notesSlide5.xml" Id="Rb54ba06bfe6344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6807278579c4f4a" /><Relationship Type="http://schemas.openxmlformats.org/officeDocument/2006/relationships/image" Target="/ppt/media/image14.png" Id="R529c42be4b1a48bd" /><Relationship Type="http://schemas.openxmlformats.org/officeDocument/2006/relationships/image" Target="/ppt/media/image15.png" Id="R1b637d71f56144d4" /><Relationship Type="http://schemas.openxmlformats.org/officeDocument/2006/relationships/notesSlide" Target="/ppt/notesSlides/notesSlide6.xml" Id="Rf0aa7e1040f741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375f6cd10ad4631" /><Relationship Type="http://schemas.openxmlformats.org/officeDocument/2006/relationships/image" Target="/ppt/media/image16.png" Id="R9176d6878636488c" /><Relationship Type="http://schemas.openxmlformats.org/officeDocument/2006/relationships/image" Target="/ppt/media/image17.png" Id="R7f0782c7948c4bcf" /><Relationship Type="http://schemas.openxmlformats.org/officeDocument/2006/relationships/image" Target="/ppt/media/image18.png" Id="Rbd2bdcf53af449d0" /><Relationship Type="http://schemas.openxmlformats.org/officeDocument/2006/relationships/notesSlide" Target="/ppt/notesSlides/notesSlide7.xml" Id="R4f949cbee0f445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c010c56e7de4f4c" /><Relationship Type="http://schemas.openxmlformats.org/officeDocument/2006/relationships/image" Target="/ppt/media/image19.png" Id="Rc7897d7e37dc457a" /><Relationship Type="http://schemas.openxmlformats.org/officeDocument/2006/relationships/image" Target="/ppt/media/image20.png" Id="R9111283c195f4ad7" /><Relationship Type="http://schemas.openxmlformats.org/officeDocument/2006/relationships/image" Target="/ppt/media/image21.png" Id="R4ee1d7b9167e47e9" /><Relationship Type="http://schemas.openxmlformats.org/officeDocument/2006/relationships/notesSlide" Target="/ppt/notesSlides/notesSlide8.xml" Id="R9ffc9bdc2cde45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e03afa4dda24cbf" /><Relationship Type="http://schemas.openxmlformats.org/officeDocument/2006/relationships/image" Target="/ppt/media/image22.png" Id="R4ef7bb5844234904" /><Relationship Type="http://schemas.openxmlformats.org/officeDocument/2006/relationships/image" Target="/ppt/media/image23.png" Id="R1ec6973d04184070" /><Relationship Type="http://schemas.openxmlformats.org/officeDocument/2006/relationships/image" Target="/ppt/media/image24.png" Id="R65699e75880e4500" /><Relationship Type="http://schemas.openxmlformats.org/officeDocument/2006/relationships/notesSlide" Target="/ppt/notesSlides/notesSlide9.xml" Id="Rc4631931f3b447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e263510c5e4129" /><Relationship Type="http://schemas.openxmlformats.org/officeDocument/2006/relationships/image" Target="/ppt/media/image25.png" Id="Re66058e90f234548" /><Relationship Type="http://schemas.openxmlformats.org/officeDocument/2006/relationships/notesSlide" Target="/ppt/notesSlides/notesSlide10.xml" Id="Rdfa2cdbe5ada4d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f69134c2804269" /><Relationship Type="http://schemas.openxmlformats.org/officeDocument/2006/relationships/image" Target="/ppt/media/image26.png" Id="R13624e3247fe417c" /><Relationship Type="http://schemas.openxmlformats.org/officeDocument/2006/relationships/notesSlide" Target="/ppt/notesSlides/notesSlide11.xml" Id="Rde91d676c2a540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d307349ab543f8" /><Relationship Type="http://schemas.openxmlformats.org/officeDocument/2006/relationships/notesSlide" Target="/ppt/notesSlides/notesSlide12.xml" Id="R73a11eb2fc4a48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f0d6fc1960437e" /><Relationship Type="http://schemas.openxmlformats.org/officeDocument/2006/relationships/notesSlide" Target="/ppt/notesSlides/notesSlide13.xml" Id="R34963cdb51ad473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8cd66f2848d4558" /><Relationship Type="http://schemas.openxmlformats.org/officeDocument/2006/relationships/notesSlide" Target="/ppt/notesSlides/notesSlide14.xml" Id="R279ae653335a44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63fc953946a4108" /><Relationship Type="http://schemas.openxmlformats.org/officeDocument/2006/relationships/notesSlide" Target="/ppt/notesSlides/notesSlide15.xml" Id="Rb7b650fddad141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d9bfed8eb7748fb" /><Relationship Type="http://schemas.openxmlformats.org/officeDocument/2006/relationships/notesSlide" Target="/ppt/notesSlides/notesSlide16.xml" Id="R6af15f585ec54a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de327bb35a54d05" /><Relationship Type="http://schemas.openxmlformats.org/officeDocument/2006/relationships/notesSlide" Target="/ppt/notesSlides/notesSlide17.xml" Id="R60e1a869eedf4f1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049e68b8d746ed" /><Relationship Type="http://schemas.openxmlformats.org/officeDocument/2006/relationships/notesSlide" Target="/ppt/notesSlides/notesSlide18.xml" Id="Ra333365d86714f4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278ca576e2843c2" /><Relationship Type="http://schemas.openxmlformats.org/officeDocument/2006/relationships/notesSlide" Target="/ppt/notesSlides/notesSlide19.xml" Id="R8f706903ec434b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ab6d67fdd0940a8" /><Relationship Type="http://schemas.openxmlformats.org/officeDocument/2006/relationships/notesSlide" Target="/ppt/notesSlides/notesSlide20.xml" Id="R5b542708a2534b6d" /></Relationships>
</file>

<file path=ppt/slides/slide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83B4CC-5322-4A70-8F03-016AE82A3D1C}"/>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CHƯƠNG 1  /  TRỌNG TÂM 1.3 VÀ 1.4</a:t>
            </a:r>
          </a:p>
        </p:txBody>
      </p:sp>
      <p:sp>
        <p:nvSpPr>
          <p:cNvPr id="2" name="">
            <a:extLst xmlns:a="http://schemas.openxmlformats.org/drawingml/2006/main">
              <a:ext uri="{FF2B5EF4-FFF2-40B4-BE49-F238E27FC236}">
                <a16:creationId xmlns:a16="http://schemas.microsoft.com/office/drawing/2014/main" id="{1AF66AB8-D199-4134-BC5E-E4437C45C193}"/>
              </a:ext>
            </a:extLst>
          </p:cNvPr>
          <p:cNvSpPr>
            <a:spLocks xmlns:a="http://schemas.openxmlformats.org/drawingml/2006/main" noGrp="1"/>
          </p:cNvSpPr>
          <p:nvPr/>
        </p:nvSpPr>
        <p:spPr>
          <a:xfrm xmlns:a="http://schemas.openxmlformats.org/drawingml/2006/main">
            <a:off x="514350" y="1066800"/>
            <a:ext cx="7524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Ứng dụng Vita</a:t>
            </a:r>
          </a:p>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và cơ sở dữ liệu</a:t>
            </a:r>
          </a:p>
        </p:txBody>
      </p:sp>
      <p:sp>
        <p:nvSpPr>
          <p:cNvPr id="3" name="">
            <a:extLst xmlns:a="http://schemas.openxmlformats.org/drawingml/2006/main">
              <a:ext uri="{FF2B5EF4-FFF2-40B4-BE49-F238E27FC236}">
                <a16:creationId xmlns:a16="http://schemas.microsoft.com/office/drawing/2014/main" id="{2C101E61-E009-4F37-BD3B-E431C62AAF43}"/>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E23876D-C691-4C0E-B219-AB4C037AF12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4C54BFD-E63D-4366-B3F2-DCD1C32F0124}"/>
              </a:ext>
            </a:extLst>
          </p:cNvPr>
          <p:cNvSpPr>
            <a:spLocks xmlns:a="http://schemas.openxmlformats.org/drawingml/2006/main" noGrp="1"/>
          </p:cNvSpPr>
          <p:nvPr/>
        </p:nvSpPr>
        <p:spPr>
          <a:xfrm xmlns:a="http://schemas.openxmlformats.org/drawingml/2006/main">
            <a:off x="514350" y="3143250"/>
            <a:ext cx="723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72"/>
                </a:solidFill>
                <a:latin typeface="Arial"/>
                <a:ea typeface="Arial"/>
                <a:cs typeface="Arial"/>
              </a:defRPr>
            </a:defPPr>
            <a:lvl1pPr>
              <a:defRPr sz="2175" b="1">
                <a:solidFill>
                  <a:srgbClr val="087F72"/>
                </a:solidFill>
                <a:latin typeface="Arial"/>
                <a:ea typeface="Arial"/>
                <a:cs typeface="Arial"/>
              </a:defRPr>
            </a:lvl1pPr>
            <a:lvl2pPr>
              <a:defRPr sz="2175" b="1">
                <a:solidFill>
                  <a:srgbClr val="087F72"/>
                </a:solidFill>
                <a:latin typeface="Arial"/>
                <a:ea typeface="Arial"/>
                <a:cs typeface="Arial"/>
              </a:defRPr>
            </a:lvl2pPr>
            <a:lvl3pPr>
              <a:defRPr sz="2175" b="1">
                <a:solidFill>
                  <a:srgbClr val="087F72"/>
                </a:solidFill>
                <a:latin typeface="Arial"/>
                <a:ea typeface="Arial"/>
                <a:cs typeface="Arial"/>
              </a:defRPr>
            </a:lvl3pPr>
            <a:lvl4pPr>
              <a:defRPr sz="2175" b="1">
                <a:solidFill>
                  <a:srgbClr val="087F72"/>
                </a:solidFill>
                <a:latin typeface="Arial"/>
                <a:ea typeface="Arial"/>
                <a:cs typeface="Arial"/>
              </a:defRPr>
            </a:lvl4pPr>
            <a:lvl5pPr>
              <a:defRPr sz="2175" b="1">
                <a:solidFill>
                  <a:srgbClr val="087F72"/>
                </a:solidFill>
                <a:latin typeface="Arial"/>
                <a:ea typeface="Arial"/>
                <a:cs typeface="Arial"/>
              </a:defRPr>
            </a:lvl5pPr>
            <a:lvl6pPr>
              <a:defRPr sz="2175" b="1">
                <a:solidFill>
                  <a:srgbClr val="087F72"/>
                </a:solidFill>
                <a:latin typeface="Arial"/>
                <a:ea typeface="Arial"/>
                <a:cs typeface="Arial"/>
              </a:defRPr>
            </a:lvl6pPr>
            <a:lvl7pPr>
              <a:defRPr sz="2175" b="1">
                <a:solidFill>
                  <a:srgbClr val="087F72"/>
                </a:solidFill>
                <a:latin typeface="Arial"/>
                <a:ea typeface="Arial"/>
                <a:cs typeface="Arial"/>
              </a:defRPr>
            </a:lvl7pPr>
            <a:lvl8pPr>
              <a:defRPr sz="2175" b="1">
                <a:solidFill>
                  <a:srgbClr val="087F72"/>
                </a:solidFill>
                <a:latin typeface="Arial"/>
                <a:ea typeface="Arial"/>
                <a:cs typeface="Arial"/>
              </a:defRPr>
            </a:lvl8pPr>
            <a:lvl9pPr>
              <a:defRPr sz="2175" b="1">
                <a:solidFill>
                  <a:srgbClr val="087F72"/>
                </a:solidFill>
                <a:latin typeface="Arial"/>
                <a:ea typeface="Arial"/>
                <a:cs typeface="Arial"/>
              </a:defRPr>
            </a:lvl9pPr>
          </a:lstStyle>
          <a:p xmlns:a="http://schemas.openxmlformats.org/drawingml/2006/main">
            <a:pPr>
              <a:defRPr sz="2175" b="1">
                <a:solidFill>
                  <a:srgbClr val="087F72"/>
                </a:solidFill>
                <a:latin typeface="Arial"/>
                <a:ea typeface="Arial"/>
                <a:cs typeface="Arial"/>
              </a:defRPr>
            </a:pPr>
            <a:r>
              <a:rPr sz="2175" b="1">
                <a:solidFill>
                  <a:srgbClr val="087F72"/>
                </a:solidFill>
                <a:latin typeface="Arial"/>
                <a:ea typeface="Arial"/>
                <a:cs typeface="Arial"/>
              </a:rPr>
              <a:t>1.3  Các màn hình ứng dụng và sơ đồ liên kết</a:t>
            </a:r>
          </a:p>
        </p:txBody>
      </p:sp>
      <p:sp>
        <p:nvSpPr>
          <p:cNvPr id="6" name="">
            <a:extLst xmlns:a="http://schemas.openxmlformats.org/drawingml/2006/main">
              <a:ext uri="{FF2B5EF4-FFF2-40B4-BE49-F238E27FC236}">
                <a16:creationId xmlns:a16="http://schemas.microsoft.com/office/drawing/2014/main" id="{B97C630F-3D3E-4BB7-935D-141024C81107}"/>
              </a:ext>
            </a:extLst>
          </p:cNvPr>
          <p:cNvSpPr>
            <a:spLocks xmlns:a="http://schemas.openxmlformats.org/drawingml/2006/main" noGrp="1"/>
          </p:cNvSpPr>
          <p:nvPr/>
        </p:nvSpPr>
        <p:spPr>
          <a:xfrm xmlns:a="http://schemas.openxmlformats.org/drawingml/2006/main">
            <a:off x="514350" y="40386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72"/>
                </a:solidFill>
                <a:latin typeface="Arial"/>
                <a:ea typeface="Arial"/>
                <a:cs typeface="Arial"/>
              </a:defRPr>
            </a:defPPr>
            <a:lvl1pPr>
              <a:defRPr sz="2175" b="1">
                <a:solidFill>
                  <a:srgbClr val="087F72"/>
                </a:solidFill>
                <a:latin typeface="Arial"/>
                <a:ea typeface="Arial"/>
                <a:cs typeface="Arial"/>
              </a:defRPr>
            </a:lvl1pPr>
            <a:lvl2pPr>
              <a:defRPr sz="2175" b="1">
                <a:solidFill>
                  <a:srgbClr val="087F72"/>
                </a:solidFill>
                <a:latin typeface="Arial"/>
                <a:ea typeface="Arial"/>
                <a:cs typeface="Arial"/>
              </a:defRPr>
            </a:lvl2pPr>
            <a:lvl3pPr>
              <a:defRPr sz="2175" b="1">
                <a:solidFill>
                  <a:srgbClr val="087F72"/>
                </a:solidFill>
                <a:latin typeface="Arial"/>
                <a:ea typeface="Arial"/>
                <a:cs typeface="Arial"/>
              </a:defRPr>
            </a:lvl3pPr>
            <a:lvl4pPr>
              <a:defRPr sz="2175" b="1">
                <a:solidFill>
                  <a:srgbClr val="087F72"/>
                </a:solidFill>
                <a:latin typeface="Arial"/>
                <a:ea typeface="Arial"/>
                <a:cs typeface="Arial"/>
              </a:defRPr>
            </a:lvl4pPr>
            <a:lvl5pPr>
              <a:defRPr sz="2175" b="1">
                <a:solidFill>
                  <a:srgbClr val="087F72"/>
                </a:solidFill>
                <a:latin typeface="Arial"/>
                <a:ea typeface="Arial"/>
                <a:cs typeface="Arial"/>
              </a:defRPr>
            </a:lvl5pPr>
            <a:lvl6pPr>
              <a:defRPr sz="2175" b="1">
                <a:solidFill>
                  <a:srgbClr val="087F72"/>
                </a:solidFill>
                <a:latin typeface="Arial"/>
                <a:ea typeface="Arial"/>
                <a:cs typeface="Arial"/>
              </a:defRPr>
            </a:lvl6pPr>
            <a:lvl7pPr>
              <a:defRPr sz="2175" b="1">
                <a:solidFill>
                  <a:srgbClr val="087F72"/>
                </a:solidFill>
                <a:latin typeface="Arial"/>
                <a:ea typeface="Arial"/>
                <a:cs typeface="Arial"/>
              </a:defRPr>
            </a:lvl7pPr>
            <a:lvl8pPr>
              <a:defRPr sz="2175" b="1">
                <a:solidFill>
                  <a:srgbClr val="087F72"/>
                </a:solidFill>
                <a:latin typeface="Arial"/>
                <a:ea typeface="Arial"/>
                <a:cs typeface="Arial"/>
              </a:defRPr>
            </a:lvl8pPr>
            <a:lvl9pPr>
              <a:defRPr sz="2175" b="1">
                <a:solidFill>
                  <a:srgbClr val="087F72"/>
                </a:solidFill>
                <a:latin typeface="Arial"/>
                <a:ea typeface="Arial"/>
                <a:cs typeface="Arial"/>
              </a:defRPr>
            </a:lvl9pPr>
          </a:lstStyle>
          <a:p xmlns:a="http://schemas.openxmlformats.org/drawingml/2006/main">
            <a:pPr>
              <a:defRPr sz="2175" b="1">
                <a:solidFill>
                  <a:srgbClr val="087F72"/>
                </a:solidFill>
                <a:latin typeface="Arial"/>
                <a:ea typeface="Arial"/>
                <a:cs typeface="Arial"/>
              </a:defRPr>
            </a:pPr>
            <a:r>
              <a:rPr sz="2175" b="1">
                <a:solidFill>
                  <a:srgbClr val="087F72"/>
                </a:solidFill>
                <a:latin typeface="Arial"/>
                <a:ea typeface="Arial"/>
                <a:cs typeface="Arial"/>
              </a:rPr>
              <a:t>1.4  Cơ sở dữ liệu của ứng dụng</a:t>
            </a:r>
          </a:p>
        </p:txBody>
      </p:sp>
      <p:sp>
        <p:nvSpPr>
          <p:cNvPr id="7" name="">
            <a:extLst xmlns:a="http://schemas.openxmlformats.org/drawingml/2006/main">
              <a:ext uri="{FF2B5EF4-FFF2-40B4-BE49-F238E27FC236}">
                <a16:creationId xmlns:a16="http://schemas.microsoft.com/office/drawing/2014/main" id="{500FDDF4-C675-44F4-BA49-EFF61CADDC75}"/>
              </a:ext>
            </a:extLst>
          </p:cNvPr>
          <p:cNvSpPr>
            <a:spLocks xmlns:a="http://schemas.openxmlformats.org/drawingml/2006/main" noGrp="1"/>
          </p:cNvSpPr>
          <p:nvPr/>
        </p:nvSpPr>
        <p:spPr>
          <a:xfrm xmlns:a="http://schemas.openxmlformats.org/drawingml/2006/main">
            <a:off x="514350" y="5286375"/>
            <a:ext cx="723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B66"/>
                </a:solidFill>
                <a:latin typeface="Arial"/>
                <a:ea typeface="Arial"/>
                <a:cs typeface="Arial"/>
              </a:defRPr>
            </a:defPPr>
            <a:lvl1pPr>
              <a:defRPr sz="1575" b="0">
                <a:solidFill>
                  <a:srgbClr val="526B66"/>
                </a:solidFill>
                <a:latin typeface="Arial"/>
                <a:ea typeface="Arial"/>
                <a:cs typeface="Arial"/>
              </a:defRPr>
            </a:lvl1pPr>
            <a:lvl2pPr>
              <a:defRPr sz="1575" b="0">
                <a:solidFill>
                  <a:srgbClr val="526B66"/>
                </a:solidFill>
                <a:latin typeface="Arial"/>
                <a:ea typeface="Arial"/>
                <a:cs typeface="Arial"/>
              </a:defRPr>
            </a:lvl2pPr>
            <a:lvl3pPr>
              <a:defRPr sz="1575" b="0">
                <a:solidFill>
                  <a:srgbClr val="526B66"/>
                </a:solidFill>
                <a:latin typeface="Arial"/>
                <a:ea typeface="Arial"/>
                <a:cs typeface="Arial"/>
              </a:defRPr>
            </a:lvl3pPr>
            <a:lvl4pPr>
              <a:defRPr sz="1575" b="0">
                <a:solidFill>
                  <a:srgbClr val="526B66"/>
                </a:solidFill>
                <a:latin typeface="Arial"/>
                <a:ea typeface="Arial"/>
                <a:cs typeface="Arial"/>
              </a:defRPr>
            </a:lvl4pPr>
            <a:lvl5pPr>
              <a:defRPr sz="1575" b="0">
                <a:solidFill>
                  <a:srgbClr val="526B66"/>
                </a:solidFill>
                <a:latin typeface="Arial"/>
                <a:ea typeface="Arial"/>
                <a:cs typeface="Arial"/>
              </a:defRPr>
            </a:lvl5pPr>
            <a:lvl6pPr>
              <a:defRPr sz="1575" b="0">
                <a:solidFill>
                  <a:srgbClr val="526B66"/>
                </a:solidFill>
                <a:latin typeface="Arial"/>
                <a:ea typeface="Arial"/>
                <a:cs typeface="Arial"/>
              </a:defRPr>
            </a:lvl6pPr>
            <a:lvl7pPr>
              <a:defRPr sz="1575" b="0">
                <a:solidFill>
                  <a:srgbClr val="526B66"/>
                </a:solidFill>
                <a:latin typeface="Arial"/>
                <a:ea typeface="Arial"/>
                <a:cs typeface="Arial"/>
              </a:defRPr>
            </a:lvl7pPr>
            <a:lvl8pPr>
              <a:defRPr sz="1575" b="0">
                <a:solidFill>
                  <a:srgbClr val="526B66"/>
                </a:solidFill>
                <a:latin typeface="Arial"/>
                <a:ea typeface="Arial"/>
                <a:cs typeface="Arial"/>
              </a:defRPr>
            </a:lvl8pPr>
            <a:lvl9pPr>
              <a:defRPr sz="1575" b="0">
                <a:solidFill>
                  <a:srgbClr val="526B66"/>
                </a:solidFill>
                <a:latin typeface="Arial"/>
                <a:ea typeface="Arial"/>
                <a:cs typeface="Arial"/>
              </a:defRPr>
            </a:lvl9pPr>
          </a:lstStyle>
          <a:p xmlns:a="http://schemas.openxmlformats.org/drawingml/2006/main">
            <a:pPr>
              <a:defRPr sz="1575" b="0">
                <a:solidFill>
                  <a:srgbClr val="526B66"/>
                </a:solidFill>
                <a:latin typeface="Arial"/>
                <a:ea typeface="Arial"/>
                <a:cs typeface="Arial"/>
              </a:defRPr>
            </a:pPr>
            <a:r>
              <a:rPr sz="1575" b="0">
                <a:solidFill>
                  <a:srgbClr val="526B66"/>
                </a:solidFill>
                <a:latin typeface="Arial"/>
                <a:ea typeface="Arial"/>
                <a:cs typeface="Arial"/>
              </a:rPr>
              <a:t>Huỳnh Trung Tín · Đinh Tấn Minh</a:t>
            </a:r>
          </a:p>
          <a:p xmlns:a="http://schemas.openxmlformats.org/drawingml/2006/main">
            <a:pPr>
              <a:defRPr sz="1575" b="0">
                <a:solidFill>
                  <a:srgbClr val="526B66"/>
                </a:solidFill>
                <a:latin typeface="Arial"/>
                <a:ea typeface="Arial"/>
                <a:cs typeface="Arial"/>
              </a:defRPr>
            </a:pPr>
            <a:r>
              <a:rPr sz="1575" b="0">
                <a:solidFill>
                  <a:srgbClr val="526B66"/>
                </a:solidFill>
                <a:latin typeface="Arial"/>
                <a:ea typeface="Arial"/>
                <a:cs typeface="Arial"/>
              </a:rPr>
              <a:t>GVHD: ThS. Nguyễn Kim Duy</a:t>
            </a:r>
          </a:p>
          <a:p xmlns:a="http://schemas.openxmlformats.org/drawingml/2006/main">
            <a:pPr>
              <a:defRPr sz="1575" b="0">
                <a:solidFill>
                  <a:srgbClr val="526B66"/>
                </a:solidFill>
                <a:latin typeface="Arial"/>
                <a:ea typeface="Arial"/>
                <a:cs typeface="Arial"/>
              </a:defRPr>
            </a:pPr>
            <a:r>
              <a:rPr sz="1575" b="0">
                <a:solidFill>
                  <a:srgbClr val="526B66"/>
                </a:solidFill>
                <a:latin typeface="Arial"/>
                <a:ea typeface="Arial"/>
                <a:cs typeface="Arial"/>
              </a:rPr>
              <a:t>Trường Đại học Thủ Dầu Một</a:t>
            </a:r>
          </a:p>
        </p:txBody>
      </p:sp>
      <p:pic>
        <p:nvPicPr>
          <p:cNvPr id="8" name="">
            <a:extLst xmlns:a="http://schemas.openxmlformats.org/drawingml/2006/main">
              <a:ext uri="{FF2B5EF4-FFF2-40B4-BE49-F238E27FC236}">
                <a16:creationId xmlns:a16="http://schemas.microsoft.com/office/drawing/2014/main" id="{D4387A3D-1DBB-4A51-B7BE-970172D65681}"/>
              </a:ext>
            </a:extLst>
          </p:cNvPr>
          <p:cNvPicPr>
            <a:picLocks xmlns:a="http://schemas.openxmlformats.org/drawingml/2006/main" noChangeAspect="1"/>
          </p:cNvPicPr>
          <p:nvPr/>
        </p:nvPicPr>
        <p:blipFill>
          <a:blip xmlns:r="http://schemas.openxmlformats.org/officeDocument/2006/relationships" xmlns:a="http://schemas.openxmlformats.org/drawingml/2006/main" r:embed="R8e8ed82e6fcd4caa"/>
          <a:stretch xmlns:a="http://schemas.openxmlformats.org/drawingml/2006/main"/>
        </p:blipFill>
        <p:spPr>
          <a:xfrm xmlns:a="http://schemas.openxmlformats.org/drawingml/2006/main">
            <a:off x="8572500" y="2000250"/>
            <a:ext cx="2571750" cy="2571750"/>
          </a:xfrm>
          <a:prstGeom xmlns:a="http://schemas.openxmlformats.org/drawingml/2006/main" prst="rect">
            <a:avLst/>
          </a:prstGeom>
        </p:spPr>
      </p:pic>
    </p:spTree>
    <p:extLst>
      <p:ext uri="{BB962C8B-B14F-4D97-AF65-F5344CB8AC3E}">
        <p14:creationId xmlns:p14="http://schemas.microsoft.com/office/powerpoint/2010/main" val="1171052091"/>
      </p:ext>
    </p:extLst>
  </p:cSld>
</p:sld>
</file>

<file path=ppt/slides/slide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5531D42-AB19-4DFB-B058-0B0F1B4C951B}"/>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QUAN MÀN HÌNH</a:t>
            </a:r>
          </a:p>
        </p:txBody>
      </p:sp>
      <p:sp>
        <p:nvSpPr>
          <p:cNvPr id="2" name="">
            <a:extLst xmlns:a="http://schemas.openxmlformats.org/drawingml/2006/main">
              <a:ext uri="{FF2B5EF4-FFF2-40B4-BE49-F238E27FC236}">
                <a16:creationId xmlns:a16="http://schemas.microsoft.com/office/drawing/2014/main" id="{436EA5F8-C437-4664-BB5C-9A86A6358BC9}"/>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Tổ chức giao diện ứng dụng</a:t>
            </a:r>
          </a:p>
        </p:txBody>
      </p:sp>
      <p:sp>
        <p:nvSpPr>
          <p:cNvPr id="3" name="">
            <a:extLst xmlns:a="http://schemas.openxmlformats.org/drawingml/2006/main">
              <a:ext uri="{FF2B5EF4-FFF2-40B4-BE49-F238E27FC236}">
                <a16:creationId xmlns:a16="http://schemas.microsoft.com/office/drawing/2014/main" id="{065B1C2F-6889-4502-B802-C6BF873BF6D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5A4A4058-F139-4CEF-A951-85DA25466772}"/>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F011AECE-10EA-4FB6-986F-6D47A6CAE37A}"/>
              </a:ext>
            </a:extLst>
          </p:cNvPr>
          <p:cNvSpPr>
            <a:spLocks xmlns:a="http://schemas.openxmlformats.org/drawingml/2006/main" noGrp="1"/>
          </p:cNvSpPr>
          <p:nvPr/>
        </p:nvSpPr>
        <p:spPr>
          <a:xfrm xmlns:a="http://schemas.openxmlformats.org/drawingml/2006/main">
            <a:off x="514350" y="12001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10 Activity và 4 Fragment chính. MainActivity giữ các tab bằng cơ chế ẩn và hiện.</a:t>
            </a:r>
          </a:p>
        </p:txBody>
      </p:sp>
      <p:pic>
        <p:nvPicPr>
          <p:cNvPr id="6" name="">
            <a:extLst xmlns:a="http://schemas.openxmlformats.org/drawingml/2006/main">
              <a:ext uri="{FF2B5EF4-FFF2-40B4-BE49-F238E27FC236}">
                <a16:creationId xmlns:a16="http://schemas.microsoft.com/office/drawing/2014/main" id="{A950FDBD-F471-4494-B3EE-2126A9F53A5B}"/>
              </a:ext>
            </a:extLst>
          </p:cNvPr>
          <p:cNvPicPr>
            <a:picLocks xmlns:a="http://schemas.openxmlformats.org/drawingml/2006/main" noChangeAspect="1"/>
          </p:cNvPicPr>
          <p:nvPr/>
        </p:nvPicPr>
        <p:blipFill>
          <a:blip xmlns:r="http://schemas.openxmlformats.org/officeDocument/2006/relationships" xmlns:a="http://schemas.openxmlformats.org/drawingml/2006/main" r:embed="R305f1dfe19a947af"/>
          <a:stretch xmlns:a="http://schemas.openxmlformats.org/drawingml/2006/main"/>
        </p:blipFill>
        <p:spPr>
          <a:xfrm xmlns:a="http://schemas.openxmlformats.org/drawingml/2006/main">
            <a:off x="963216" y="1762125"/>
            <a:ext cx="1907381" cy="4238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91AEE0D-DA10-4DB0-BC7D-3C426CE4A4CD}"/>
              </a:ext>
            </a:extLst>
          </p:cNvPr>
          <p:cNvSpPr>
            <a:spLocks xmlns:a="http://schemas.openxmlformats.org/drawingml/2006/main" noGrp="1"/>
          </p:cNvSpPr>
          <p:nvPr/>
        </p:nvSpPr>
        <p:spPr>
          <a:xfrm xmlns:a="http://schemas.openxmlformats.org/drawingml/2006/main">
            <a:off x="533400"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8" name="">
            <a:extLst xmlns:a="http://schemas.openxmlformats.org/drawingml/2006/main">
              <a:ext uri="{FF2B5EF4-FFF2-40B4-BE49-F238E27FC236}">
                <a16:creationId xmlns:a16="http://schemas.microsoft.com/office/drawing/2014/main" id="{618AE440-4EB4-4E73-AFE2-6A8E32BBBC97}"/>
              </a:ext>
            </a:extLst>
          </p:cNvPr>
          <p:cNvPicPr>
            <a:picLocks xmlns:a="http://schemas.openxmlformats.org/drawingml/2006/main" noChangeAspect="1"/>
          </p:cNvPicPr>
          <p:nvPr/>
        </p:nvPicPr>
        <p:blipFill>
          <a:blip xmlns:r="http://schemas.openxmlformats.org/officeDocument/2006/relationships" xmlns:a="http://schemas.openxmlformats.org/drawingml/2006/main" r:embed="Rf051d3d2674a405e"/>
          <a:stretch xmlns:a="http://schemas.openxmlformats.org/drawingml/2006/main"/>
        </p:blipFill>
        <p:spPr>
          <a:xfrm xmlns:a="http://schemas.openxmlformats.org/drawingml/2006/main">
            <a:off x="3749278" y="1762125"/>
            <a:ext cx="1907381" cy="4238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9EE5E7C-1AE6-41DA-8876-848469998080}"/>
              </a:ext>
            </a:extLst>
          </p:cNvPr>
          <p:cNvSpPr>
            <a:spLocks xmlns:a="http://schemas.openxmlformats.org/drawingml/2006/main" noGrp="1"/>
          </p:cNvSpPr>
          <p:nvPr/>
        </p:nvSpPr>
        <p:spPr>
          <a:xfrm xmlns:a="http://schemas.openxmlformats.org/drawingml/2006/main">
            <a:off x="3319463"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Sức khỏe</a:t>
            </a:r>
          </a:p>
        </p:txBody>
      </p:sp>
      <p:pic>
        <p:nvPicPr>
          <p:cNvPr id="10" name="">
            <a:extLst xmlns:a="http://schemas.openxmlformats.org/drawingml/2006/main">
              <a:ext uri="{FF2B5EF4-FFF2-40B4-BE49-F238E27FC236}">
                <a16:creationId xmlns:a16="http://schemas.microsoft.com/office/drawing/2014/main" id="{5B33FE08-BFEA-42EA-9F81-AFF39791C9B7}"/>
              </a:ext>
            </a:extLst>
          </p:cNvPr>
          <p:cNvPicPr>
            <a:picLocks xmlns:a="http://schemas.openxmlformats.org/drawingml/2006/main" noChangeAspect="1"/>
          </p:cNvPicPr>
          <p:nvPr/>
        </p:nvPicPr>
        <p:blipFill>
          <a:blip xmlns:r="http://schemas.openxmlformats.org/officeDocument/2006/relationships" xmlns:a="http://schemas.openxmlformats.org/drawingml/2006/main" r:embed="R0809d882b6534d37"/>
          <a:stretch xmlns:a="http://schemas.openxmlformats.org/drawingml/2006/main"/>
        </p:blipFill>
        <p:spPr>
          <a:xfrm xmlns:a="http://schemas.openxmlformats.org/drawingml/2006/main">
            <a:off x="6535341" y="1762125"/>
            <a:ext cx="1907381" cy="4238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6F579D7-6645-49A9-A676-2CB30F2E9BFB}"/>
              </a:ext>
            </a:extLst>
          </p:cNvPr>
          <p:cNvSpPr>
            <a:spLocks xmlns:a="http://schemas.openxmlformats.org/drawingml/2006/main" noGrp="1"/>
          </p:cNvSpPr>
          <p:nvPr/>
        </p:nvSpPr>
        <p:spPr>
          <a:xfrm xmlns:a="http://schemas.openxmlformats.org/drawingml/2006/main">
            <a:off x="6105525"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Nhắc nhở</a:t>
            </a:r>
          </a:p>
        </p:txBody>
      </p:sp>
      <p:pic>
        <p:nvPicPr>
          <p:cNvPr id="12" name="">
            <a:extLst xmlns:a="http://schemas.openxmlformats.org/drawingml/2006/main">
              <a:ext uri="{FF2B5EF4-FFF2-40B4-BE49-F238E27FC236}">
                <a16:creationId xmlns:a16="http://schemas.microsoft.com/office/drawing/2014/main" id="{9C35922D-61DF-4CB0-8754-FDA1C24475A2}"/>
              </a:ext>
            </a:extLst>
          </p:cNvPr>
          <p:cNvPicPr>
            <a:picLocks xmlns:a="http://schemas.openxmlformats.org/drawingml/2006/main" noChangeAspect="1"/>
          </p:cNvPicPr>
          <p:nvPr/>
        </p:nvPicPr>
        <p:blipFill>
          <a:blip xmlns:r="http://schemas.openxmlformats.org/officeDocument/2006/relationships" xmlns:a="http://schemas.openxmlformats.org/drawingml/2006/main" r:embed="Rfd845046309d4cba"/>
          <a:stretch xmlns:a="http://schemas.openxmlformats.org/drawingml/2006/main"/>
        </p:blipFill>
        <p:spPr>
          <a:xfrm xmlns:a="http://schemas.openxmlformats.org/drawingml/2006/main">
            <a:off x="9321403" y="1762125"/>
            <a:ext cx="1907381" cy="423862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1FA3B8C2-A488-4014-B5E7-F68F0B66F2AB}"/>
              </a:ext>
            </a:extLst>
          </p:cNvPr>
          <p:cNvSpPr>
            <a:spLocks xmlns:a="http://schemas.openxmlformats.org/drawingml/2006/main" noGrp="1"/>
          </p:cNvSpPr>
          <p:nvPr/>
        </p:nvSpPr>
        <p:spPr>
          <a:xfrm xmlns:a="http://schemas.openxmlformats.org/drawingml/2006/main">
            <a:off x="8891588" y="6067425"/>
            <a:ext cx="2767013"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Thống kê</a:t>
            </a:r>
          </a:p>
        </p:txBody>
      </p:sp>
    </p:spTree>
    <p:extLst>
      <p:ext uri="{BB962C8B-B14F-4D97-AF65-F5344CB8AC3E}">
        <p14:creationId xmlns:p14="http://schemas.microsoft.com/office/powerpoint/2010/main" val="869375493"/>
      </p:ext>
    </p:extLst>
  </p:cSld>
</p:sld>
</file>

<file path=ppt/slides/slide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479D0E-698F-49F1-9501-527B2DF1B04F}"/>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ĐĂNG NHẬP VÀ ĐĂNG KÝ</a:t>
            </a:r>
          </a:p>
        </p:txBody>
      </p:sp>
      <p:sp>
        <p:nvSpPr>
          <p:cNvPr id="2" name="">
            <a:extLst xmlns:a="http://schemas.openxmlformats.org/drawingml/2006/main">
              <a:ext uri="{FF2B5EF4-FFF2-40B4-BE49-F238E27FC236}">
                <a16:creationId xmlns:a16="http://schemas.microsoft.com/office/drawing/2014/main" id="{37C8ECCB-4F32-4C73-AEF4-F99937B9807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Khởi động và xác thực tài khoản</a:t>
            </a:r>
          </a:p>
        </p:txBody>
      </p:sp>
      <p:sp>
        <p:nvSpPr>
          <p:cNvPr id="3" name="">
            <a:extLst xmlns:a="http://schemas.openxmlformats.org/drawingml/2006/main">
              <a:ext uri="{FF2B5EF4-FFF2-40B4-BE49-F238E27FC236}">
                <a16:creationId xmlns:a16="http://schemas.microsoft.com/office/drawing/2014/main" id="{7178301A-13A0-4CC5-B817-471B52B179C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D50BE308-E19B-47DF-9719-DB3D588697C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C0AE7D5-1EFD-48A0-88D9-E8A7EC071A19}"/>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SplashActivity</a:t>
            </a:r>
          </a:p>
        </p:txBody>
      </p:sp>
      <p:sp>
        <p:nvSpPr>
          <p:cNvPr id="6" name="">
            <a:extLst xmlns:a="http://schemas.openxmlformats.org/drawingml/2006/main">
              <a:ext uri="{FF2B5EF4-FFF2-40B4-BE49-F238E27FC236}">
                <a16:creationId xmlns:a16="http://schemas.microsoft.com/office/drawing/2014/main" id="{9D53DF54-E5B1-4440-B562-3E838ACEB9D4}"/>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Kiểm tra phiên để mở LoginActivity hoặc MainActivity.</a:t>
            </a:r>
          </a:p>
        </p:txBody>
      </p:sp>
      <p:sp>
        <p:nvSpPr>
          <p:cNvPr id="7" name="">
            <a:extLst xmlns:a="http://schemas.openxmlformats.org/drawingml/2006/main">
              <a:ext uri="{FF2B5EF4-FFF2-40B4-BE49-F238E27FC236}">
                <a16:creationId xmlns:a16="http://schemas.microsoft.com/office/drawing/2014/main" id="{EA3A6E41-6C07-4809-9648-A3BA010A3E4E}"/>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LoginActivity</a:t>
            </a:r>
          </a:p>
        </p:txBody>
      </p:sp>
      <p:sp>
        <p:nvSpPr>
          <p:cNvPr id="8" name="">
            <a:extLst xmlns:a="http://schemas.openxmlformats.org/drawingml/2006/main">
              <a:ext uri="{FF2B5EF4-FFF2-40B4-BE49-F238E27FC236}">
                <a16:creationId xmlns:a16="http://schemas.microsoft.com/office/drawing/2014/main" id="{F8910313-BC1C-4BC3-BC1F-4C36B4CB4CE9}"/>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Đăng nhập thành công dẫn đến màn hình chính. Có lối mở đăng ký.</a:t>
            </a:r>
          </a:p>
        </p:txBody>
      </p:sp>
      <p:sp>
        <p:nvSpPr>
          <p:cNvPr id="9" name="">
            <a:extLst xmlns:a="http://schemas.openxmlformats.org/drawingml/2006/main">
              <a:ext uri="{FF2B5EF4-FFF2-40B4-BE49-F238E27FC236}">
                <a16:creationId xmlns:a16="http://schemas.microsoft.com/office/drawing/2014/main" id="{622CF2E8-1924-4B44-B74F-45460BBF8E6E}"/>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RegisterActivity</a:t>
            </a:r>
          </a:p>
        </p:txBody>
      </p:sp>
      <p:sp>
        <p:nvSpPr>
          <p:cNvPr id="10" name="">
            <a:extLst xmlns:a="http://schemas.openxmlformats.org/drawingml/2006/main">
              <a:ext uri="{FF2B5EF4-FFF2-40B4-BE49-F238E27FC236}">
                <a16:creationId xmlns:a16="http://schemas.microsoft.com/office/drawing/2014/main" id="{4134F48B-4502-428E-A53A-FFAB186B201F}"/>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Hai bước trong cùng một Activity: tài khoản và hồ sơ ban đầu.</a:t>
            </a:r>
          </a:p>
        </p:txBody>
      </p:sp>
      <p:pic>
        <p:nvPicPr>
          <p:cNvPr id="11" name="">
            <a:extLst xmlns:a="http://schemas.openxmlformats.org/drawingml/2006/main">
              <a:ext uri="{FF2B5EF4-FFF2-40B4-BE49-F238E27FC236}">
                <a16:creationId xmlns:a16="http://schemas.microsoft.com/office/drawing/2014/main" id="{3DDC14AA-C6B5-440E-8C57-FCCEE775EF4B}"/>
              </a:ext>
            </a:extLst>
          </p:cNvPr>
          <p:cNvPicPr>
            <a:picLocks xmlns:a="http://schemas.openxmlformats.org/drawingml/2006/main" noChangeAspect="1"/>
          </p:cNvPicPr>
          <p:nvPr/>
        </p:nvPicPr>
        <p:blipFill>
          <a:blip xmlns:r="http://schemas.openxmlformats.org/officeDocument/2006/relationships" xmlns:a="http://schemas.openxmlformats.org/drawingml/2006/main" r:embed="R10ddb98336fc47e7"/>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8867F99-2B00-468F-BE61-09B83B30D47A}"/>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nhập</a:t>
            </a:r>
          </a:p>
        </p:txBody>
      </p:sp>
      <p:pic>
        <p:nvPicPr>
          <p:cNvPr id="13" name="">
            <a:extLst xmlns:a="http://schemas.openxmlformats.org/drawingml/2006/main">
              <a:ext uri="{FF2B5EF4-FFF2-40B4-BE49-F238E27FC236}">
                <a16:creationId xmlns:a16="http://schemas.microsoft.com/office/drawing/2014/main" id="{B8738EF2-042C-4765-9C73-BFF68DFAEA60}"/>
              </a:ext>
            </a:extLst>
          </p:cNvPr>
          <p:cNvPicPr>
            <a:picLocks xmlns:a="http://schemas.openxmlformats.org/drawingml/2006/main" noChangeAspect="1"/>
          </p:cNvPicPr>
          <p:nvPr/>
        </p:nvPicPr>
        <p:blipFill>
          <a:blip xmlns:r="http://schemas.openxmlformats.org/officeDocument/2006/relationships" xmlns:a="http://schemas.openxmlformats.org/drawingml/2006/main" r:embed="R7866d01e8ce24863"/>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019FFC3-402A-4625-88CC-A551483F2CAE}"/>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tài khoản</a:t>
            </a:r>
          </a:p>
        </p:txBody>
      </p:sp>
      <p:pic>
        <p:nvPicPr>
          <p:cNvPr id="15" name="">
            <a:extLst xmlns:a="http://schemas.openxmlformats.org/drawingml/2006/main">
              <a:ext uri="{FF2B5EF4-FFF2-40B4-BE49-F238E27FC236}">
                <a16:creationId xmlns:a16="http://schemas.microsoft.com/office/drawing/2014/main" id="{AF0F853C-75DB-4C99-AA75-9256A4911476}"/>
              </a:ext>
            </a:extLst>
          </p:cNvPr>
          <p:cNvPicPr>
            <a:picLocks xmlns:a="http://schemas.openxmlformats.org/drawingml/2006/main" noChangeAspect="1"/>
          </p:cNvPicPr>
          <p:nvPr/>
        </p:nvPicPr>
        <p:blipFill>
          <a:blip xmlns:r="http://schemas.openxmlformats.org/officeDocument/2006/relationships" xmlns:a="http://schemas.openxmlformats.org/drawingml/2006/main" r:embed="R73a55f9374db482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FCC37E1-E62F-4FBC-BD0A-3F542A7D5C55}"/>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Đăng ký: hồ sơ</a:t>
            </a:r>
          </a:p>
        </p:txBody>
      </p:sp>
    </p:spTree>
    <p:extLst>
      <p:ext uri="{BB962C8B-B14F-4D97-AF65-F5344CB8AC3E}">
        <p14:creationId xmlns:p14="http://schemas.microsoft.com/office/powerpoint/2010/main" val="786533553"/>
      </p:ext>
    </p:extLst>
  </p:cSld>
</p:sld>
</file>

<file path=ppt/slides/slide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4274CE8-D79D-4940-A968-E3165A33D296}"/>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CÁC ĐIỂM TRUY CẬP NHANH</a:t>
            </a:r>
          </a:p>
        </p:txBody>
      </p:sp>
      <p:sp>
        <p:nvSpPr>
          <p:cNvPr id="2" name="">
            <a:extLst xmlns:a="http://schemas.openxmlformats.org/drawingml/2006/main">
              <a:ext uri="{FF2B5EF4-FFF2-40B4-BE49-F238E27FC236}">
                <a16:creationId xmlns:a16="http://schemas.microsoft.com/office/drawing/2014/main" id="{C5C72E16-CA92-43E4-8327-011921C2F193}"/>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Trang chủ và quản lý hồ sơ</a:t>
            </a:r>
          </a:p>
        </p:txBody>
      </p:sp>
      <p:sp>
        <p:nvSpPr>
          <p:cNvPr id="3" name="">
            <a:extLst xmlns:a="http://schemas.openxmlformats.org/drawingml/2006/main">
              <a:ext uri="{FF2B5EF4-FFF2-40B4-BE49-F238E27FC236}">
                <a16:creationId xmlns:a16="http://schemas.microsoft.com/office/drawing/2014/main" id="{A80D704E-7993-4B43-8B63-C95A853C4B81}"/>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7E90378D-8A80-4F47-A120-9E912C3CE1C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74BBA474-21EF-4CC5-8183-3A6FD64AE7FF}"/>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HomeFragment</a:t>
            </a:r>
          </a:p>
        </p:txBody>
      </p:sp>
      <p:sp>
        <p:nvSpPr>
          <p:cNvPr id="6" name="">
            <a:extLst xmlns:a="http://schemas.openxmlformats.org/drawingml/2006/main">
              <a:ext uri="{FF2B5EF4-FFF2-40B4-BE49-F238E27FC236}">
                <a16:creationId xmlns:a16="http://schemas.microsoft.com/office/drawing/2014/main" id="{45E29B50-3FC7-4D42-8E66-0CE02FC66907}"/>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hợp chỉ số gần nhất, cữ thuốc kế tiếp và tiến độ nước.</a:t>
            </a:r>
          </a:p>
        </p:txBody>
      </p:sp>
      <p:sp>
        <p:nvSpPr>
          <p:cNvPr id="7" name="">
            <a:extLst xmlns:a="http://schemas.openxmlformats.org/drawingml/2006/main">
              <a:ext uri="{FF2B5EF4-FFF2-40B4-BE49-F238E27FC236}">
                <a16:creationId xmlns:a16="http://schemas.microsoft.com/office/drawing/2014/main" id="{7B5B7A92-C57A-483D-A571-9B7F2CACF1DC}"/>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ProfileActivity</a:t>
            </a:r>
          </a:p>
        </p:txBody>
      </p:sp>
      <p:sp>
        <p:nvSpPr>
          <p:cNvPr id="8" name="">
            <a:extLst xmlns:a="http://schemas.openxmlformats.org/drawingml/2006/main">
              <a:ext uri="{FF2B5EF4-FFF2-40B4-BE49-F238E27FC236}">
                <a16:creationId xmlns:a16="http://schemas.microsoft.com/office/drawing/2014/main" id="{486F9764-4254-4F12-926A-171388827EFA}"/>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thông tin cá nhân, mở BMI và thiết lập nước.</a:t>
            </a:r>
          </a:p>
        </p:txBody>
      </p:sp>
      <p:sp>
        <p:nvSpPr>
          <p:cNvPr id="9" name="">
            <a:extLst xmlns:a="http://schemas.openxmlformats.org/drawingml/2006/main">
              <a:ext uri="{FF2B5EF4-FFF2-40B4-BE49-F238E27FC236}">
                <a16:creationId xmlns:a16="http://schemas.microsoft.com/office/drawing/2014/main" id="{ED4AA106-A857-40A8-A806-7AEF1B8F560B}"/>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EditProfileActivity</a:t>
            </a:r>
          </a:p>
        </p:txBody>
      </p:sp>
      <p:sp>
        <p:nvSpPr>
          <p:cNvPr id="10" name="">
            <a:extLst xmlns:a="http://schemas.openxmlformats.org/drawingml/2006/main">
              <a:ext uri="{FF2B5EF4-FFF2-40B4-BE49-F238E27FC236}">
                <a16:creationId xmlns:a16="http://schemas.microsoft.com/office/drawing/2014/main" id="{0326793C-1C7E-43DE-ABD5-8A48C1C054FD}"/>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Cập nhật hồ sơ. Các biểu mẫu cảnh báo khi rời đi mà chưa lưu.</a:t>
            </a:r>
          </a:p>
        </p:txBody>
      </p:sp>
      <p:pic>
        <p:nvPicPr>
          <p:cNvPr id="11" name="">
            <a:extLst xmlns:a="http://schemas.openxmlformats.org/drawingml/2006/main">
              <a:ext uri="{FF2B5EF4-FFF2-40B4-BE49-F238E27FC236}">
                <a16:creationId xmlns:a16="http://schemas.microsoft.com/office/drawing/2014/main" id="{138F619F-DB02-4856-9D65-A0278B55A634}"/>
              </a:ext>
            </a:extLst>
          </p:cNvPr>
          <p:cNvPicPr>
            <a:picLocks xmlns:a="http://schemas.openxmlformats.org/drawingml/2006/main" noChangeAspect="1"/>
          </p:cNvPicPr>
          <p:nvPr/>
        </p:nvPicPr>
        <p:blipFill>
          <a:blip xmlns:r="http://schemas.openxmlformats.org/officeDocument/2006/relationships" xmlns:a="http://schemas.openxmlformats.org/drawingml/2006/main" r:embed="R2a09f632387a465b"/>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C72B9E65-FEF6-49B6-BE32-2158CD1347F0}"/>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Trang chủ</a:t>
            </a:r>
          </a:p>
        </p:txBody>
      </p:sp>
      <p:pic>
        <p:nvPicPr>
          <p:cNvPr id="13" name="">
            <a:extLst xmlns:a="http://schemas.openxmlformats.org/drawingml/2006/main">
              <a:ext uri="{FF2B5EF4-FFF2-40B4-BE49-F238E27FC236}">
                <a16:creationId xmlns:a16="http://schemas.microsoft.com/office/drawing/2014/main" id="{BC56F04E-7235-4D75-ADFB-FB5D7AA5E755}"/>
              </a:ext>
            </a:extLst>
          </p:cNvPr>
          <p:cNvPicPr>
            <a:picLocks xmlns:a="http://schemas.openxmlformats.org/drawingml/2006/main" noChangeAspect="1"/>
          </p:cNvPicPr>
          <p:nvPr/>
        </p:nvPicPr>
        <p:blipFill>
          <a:blip xmlns:r="http://schemas.openxmlformats.org/officeDocument/2006/relationships" xmlns:a="http://schemas.openxmlformats.org/drawingml/2006/main" r:embed="R268fbe3278234f90"/>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F59FE1C-F56E-460D-B034-59F27A4EF9BF}"/>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Hồ sơ</a:t>
            </a:r>
          </a:p>
        </p:txBody>
      </p:sp>
      <p:pic>
        <p:nvPicPr>
          <p:cNvPr id="15" name="">
            <a:extLst xmlns:a="http://schemas.openxmlformats.org/drawingml/2006/main">
              <a:ext uri="{FF2B5EF4-FFF2-40B4-BE49-F238E27FC236}">
                <a16:creationId xmlns:a16="http://schemas.microsoft.com/office/drawing/2014/main" id="{A0F3F435-EAF2-4A5E-8717-F9560774FAED}"/>
              </a:ext>
            </a:extLst>
          </p:cNvPr>
          <p:cNvPicPr>
            <a:picLocks xmlns:a="http://schemas.openxmlformats.org/drawingml/2006/main" noChangeAspect="1"/>
          </p:cNvPicPr>
          <p:nvPr/>
        </p:nvPicPr>
        <p:blipFill>
          <a:blip xmlns:r="http://schemas.openxmlformats.org/officeDocument/2006/relationships" xmlns:a="http://schemas.openxmlformats.org/drawingml/2006/main" r:embed="R02c79f331a0b4dba"/>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094E47F-33DF-4877-9C30-DC1D445A94DC}"/>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Chỉnh sửa hồ sơ</a:t>
            </a:r>
          </a:p>
        </p:txBody>
      </p:sp>
    </p:spTree>
    <p:extLst>
      <p:ext uri="{BB962C8B-B14F-4D97-AF65-F5344CB8AC3E}">
        <p14:creationId xmlns:p14="http://schemas.microsoft.com/office/powerpoint/2010/main" val="1352075418"/>
      </p:ext>
    </p:extLst>
  </p:cSld>
</p:sld>
</file>

<file path=ppt/slides/slide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6ECC599-D753-4B80-86E9-A3B0FBF030F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LUỒNG MÀN HÌNH SỨC KHỎE</a:t>
            </a:r>
          </a:p>
        </p:txBody>
      </p:sp>
      <p:sp>
        <p:nvSpPr>
          <p:cNvPr id="2" name="">
            <a:extLst xmlns:a="http://schemas.openxmlformats.org/drawingml/2006/main">
              <a:ext uri="{FF2B5EF4-FFF2-40B4-BE49-F238E27FC236}">
                <a16:creationId xmlns:a16="http://schemas.microsoft.com/office/drawing/2014/main" id="{0459354D-65C9-489C-80E0-0CCE22944762}"/>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Danh sách, nhập liệu và chi tiết lần đo</a:t>
            </a:r>
          </a:p>
        </p:txBody>
      </p:sp>
      <p:sp>
        <p:nvSpPr>
          <p:cNvPr id="3" name="">
            <a:extLst xmlns:a="http://schemas.openxmlformats.org/drawingml/2006/main">
              <a:ext uri="{FF2B5EF4-FFF2-40B4-BE49-F238E27FC236}">
                <a16:creationId xmlns:a16="http://schemas.microsoft.com/office/drawing/2014/main" id="{7813E56F-175A-4A75-ABBF-E3424F479692}"/>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5CDD5D3-3384-4656-ABE3-B99EE6CF0F3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18F246A-5B2D-46ED-912D-F0AFBD3F5C55}"/>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HealthFragment</a:t>
            </a:r>
          </a:p>
        </p:txBody>
      </p:sp>
      <p:sp>
        <p:nvSpPr>
          <p:cNvPr id="6" name="">
            <a:extLst xmlns:a="http://schemas.openxmlformats.org/drawingml/2006/main">
              <a:ext uri="{FF2B5EF4-FFF2-40B4-BE49-F238E27FC236}">
                <a16:creationId xmlns:a16="http://schemas.microsoft.com/office/drawing/2014/main" id="{6E0454E6-EAB5-4A8E-A186-CE4F0A21B4DC}"/>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Lọc lần đo theo khoảng ngày, chọn bản ghi để xem chi tiết.</a:t>
            </a:r>
          </a:p>
        </p:txBody>
      </p:sp>
      <p:sp>
        <p:nvSpPr>
          <p:cNvPr id="7" name="">
            <a:extLst xmlns:a="http://schemas.openxmlformats.org/drawingml/2006/main">
              <a:ext uri="{FF2B5EF4-FFF2-40B4-BE49-F238E27FC236}">
                <a16:creationId xmlns:a16="http://schemas.microsoft.com/office/drawing/2014/main" id="{AE08B80E-DF65-4AFD-B6AF-4C0698D74B49}"/>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AddHealthActivity</a:t>
            </a:r>
          </a:p>
        </p:txBody>
      </p:sp>
      <p:sp>
        <p:nvSpPr>
          <p:cNvPr id="8" name="">
            <a:extLst xmlns:a="http://schemas.openxmlformats.org/drawingml/2006/main">
              <a:ext uri="{FF2B5EF4-FFF2-40B4-BE49-F238E27FC236}">
                <a16:creationId xmlns:a16="http://schemas.microsoft.com/office/drawing/2014/main" id="{7991E754-99F1-4BBD-B08F-B4F612DC0DCC}"/>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Dùng chung cho thêm mới và chỉnh sửa bản ghi sức khỏe.</a:t>
            </a:r>
          </a:p>
        </p:txBody>
      </p:sp>
      <p:sp>
        <p:nvSpPr>
          <p:cNvPr id="9" name="">
            <a:extLst xmlns:a="http://schemas.openxmlformats.org/drawingml/2006/main">
              <a:ext uri="{FF2B5EF4-FFF2-40B4-BE49-F238E27FC236}">
                <a16:creationId xmlns:a16="http://schemas.microsoft.com/office/drawing/2014/main" id="{1FF85FE6-6CBE-4302-B185-0DEA08D4FD4D}"/>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DetailHealthActivity</a:t>
            </a:r>
          </a:p>
        </p:txBody>
      </p:sp>
      <p:sp>
        <p:nvSpPr>
          <p:cNvPr id="10" name="">
            <a:extLst xmlns:a="http://schemas.openxmlformats.org/drawingml/2006/main">
              <a:ext uri="{FF2B5EF4-FFF2-40B4-BE49-F238E27FC236}">
                <a16:creationId xmlns:a16="http://schemas.microsoft.com/office/drawing/2014/main" id="{A8EBA7C0-FF35-48D7-8F04-C9091CF8D131}"/>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Xem ngày giờ, giá trị, đơn vị và đối chiếu với lần đo trước phù hợp.</a:t>
            </a:r>
          </a:p>
        </p:txBody>
      </p:sp>
      <p:pic>
        <p:nvPicPr>
          <p:cNvPr id="11" name="">
            <a:extLst xmlns:a="http://schemas.openxmlformats.org/drawingml/2006/main">
              <a:ext uri="{FF2B5EF4-FFF2-40B4-BE49-F238E27FC236}">
                <a16:creationId xmlns:a16="http://schemas.microsoft.com/office/drawing/2014/main" id="{42352FEA-544A-4650-AE45-C561849F92BC}"/>
              </a:ext>
            </a:extLst>
          </p:cNvPr>
          <p:cNvPicPr>
            <a:picLocks xmlns:a="http://schemas.openxmlformats.org/drawingml/2006/main" noChangeAspect="1"/>
          </p:cNvPicPr>
          <p:nvPr/>
        </p:nvPicPr>
        <p:blipFill>
          <a:blip xmlns:r="http://schemas.openxmlformats.org/officeDocument/2006/relationships" xmlns:a="http://schemas.openxmlformats.org/drawingml/2006/main" r:embed="R1417d990517f45c7"/>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D0CB45F-AD35-4BF2-9348-A333D674B105}"/>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lần đo</a:t>
            </a:r>
          </a:p>
        </p:txBody>
      </p:sp>
      <p:pic>
        <p:nvPicPr>
          <p:cNvPr id="13" name="">
            <a:extLst xmlns:a="http://schemas.openxmlformats.org/drawingml/2006/main">
              <a:ext uri="{FF2B5EF4-FFF2-40B4-BE49-F238E27FC236}">
                <a16:creationId xmlns:a16="http://schemas.microsoft.com/office/drawing/2014/main" id="{6447CA5E-78F4-4935-B19A-E494B133B577}"/>
              </a:ext>
            </a:extLst>
          </p:cNvPr>
          <p:cNvPicPr>
            <a:picLocks xmlns:a="http://schemas.openxmlformats.org/drawingml/2006/main" noChangeAspect="1"/>
          </p:cNvPicPr>
          <p:nvPr/>
        </p:nvPicPr>
        <p:blipFill>
          <a:blip xmlns:r="http://schemas.openxmlformats.org/officeDocument/2006/relationships" xmlns:a="http://schemas.openxmlformats.org/drawingml/2006/main" r:embed="R2d5e7a185ffa4306"/>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B2465D3-6809-40CF-9F90-C0E2886D099C}"/>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Ghi chỉ số</a:t>
            </a:r>
          </a:p>
        </p:txBody>
      </p:sp>
      <p:pic>
        <p:nvPicPr>
          <p:cNvPr id="15" name="">
            <a:extLst xmlns:a="http://schemas.openxmlformats.org/drawingml/2006/main">
              <a:ext uri="{FF2B5EF4-FFF2-40B4-BE49-F238E27FC236}">
                <a16:creationId xmlns:a16="http://schemas.microsoft.com/office/drawing/2014/main" id="{E03FE7C8-53E5-4F0B-B6F3-84FEBD54F3F4}"/>
              </a:ext>
            </a:extLst>
          </p:cNvPr>
          <p:cNvPicPr>
            <a:picLocks xmlns:a="http://schemas.openxmlformats.org/drawingml/2006/main" noChangeAspect="1"/>
          </p:cNvPicPr>
          <p:nvPr/>
        </p:nvPicPr>
        <p:blipFill>
          <a:blip xmlns:r="http://schemas.openxmlformats.org/officeDocument/2006/relationships" xmlns:a="http://schemas.openxmlformats.org/drawingml/2006/main" r:embed="Ra745e1e29250430f"/>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3553E83-0784-4E37-A491-E81177934999}"/>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Chi tiết lần đo</a:t>
            </a:r>
          </a:p>
        </p:txBody>
      </p:sp>
    </p:spTree>
    <p:extLst>
      <p:ext uri="{BB962C8B-B14F-4D97-AF65-F5344CB8AC3E}">
        <p14:creationId xmlns:p14="http://schemas.microsoft.com/office/powerpoint/2010/main" val="1471762514"/>
      </p:ext>
    </p:extLst>
  </p:cSld>
</p:sld>
</file>

<file path=ppt/slides/slide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BB4102D-C575-4D04-8895-B161272DF6D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BMI VÀ ĐIỀU HƯỚNG LIÊN QUAN</a:t>
            </a:r>
          </a:p>
        </p:txBody>
      </p:sp>
      <p:sp>
        <p:nvSpPr>
          <p:cNvPr id="2" name="">
            <a:extLst xmlns:a="http://schemas.openxmlformats.org/drawingml/2006/main">
              <a:ext uri="{FF2B5EF4-FFF2-40B4-BE49-F238E27FC236}">
                <a16:creationId xmlns:a16="http://schemas.microsoft.com/office/drawing/2014/main" id="{2762D030-404C-49A1-A876-06660776D84F}"/>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BMI và hồ sơ thể trạng</a:t>
            </a:r>
          </a:p>
        </p:txBody>
      </p:sp>
      <p:sp>
        <p:nvSpPr>
          <p:cNvPr id="3" name="">
            <a:extLst xmlns:a="http://schemas.openxmlformats.org/drawingml/2006/main">
              <a:ext uri="{FF2B5EF4-FFF2-40B4-BE49-F238E27FC236}">
                <a16:creationId xmlns:a16="http://schemas.microsoft.com/office/drawing/2014/main" id="{358BDB0E-5B06-4DFE-A8B3-7AADE9942F05}"/>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E115CCA-3FA4-4161-B02E-5BA5FF2A89E5}"/>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186B50E-7DBC-4634-A9C2-120171191C10}"/>
              </a:ext>
            </a:extLst>
          </p:cNvPr>
          <p:cNvSpPr>
            <a:spLocks xmlns:a="http://schemas.openxmlformats.org/drawingml/2006/main" noGrp="1"/>
          </p:cNvSpPr>
          <p:nvPr/>
        </p:nvSpPr>
        <p:spPr>
          <a:xfrm xmlns:a="http://schemas.openxmlformats.org/drawingml/2006/main">
            <a:off x="514350" y="1619250"/>
            <a:ext cx="442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4C47"/>
                </a:solidFill>
                <a:latin typeface="Arial"/>
                <a:ea typeface="Arial"/>
                <a:cs typeface="Arial"/>
              </a:defRPr>
            </a:defPPr>
            <a:lvl1pPr>
              <a:defRPr sz="1950" b="1">
                <a:solidFill>
                  <a:srgbClr val="164C47"/>
                </a:solidFill>
                <a:latin typeface="Arial"/>
                <a:ea typeface="Arial"/>
                <a:cs typeface="Arial"/>
              </a:defRPr>
            </a:lvl1pPr>
            <a:lvl2pPr>
              <a:defRPr sz="1950" b="1">
                <a:solidFill>
                  <a:srgbClr val="164C47"/>
                </a:solidFill>
                <a:latin typeface="Arial"/>
                <a:ea typeface="Arial"/>
                <a:cs typeface="Arial"/>
              </a:defRPr>
            </a:lvl2pPr>
            <a:lvl3pPr>
              <a:defRPr sz="1950" b="1">
                <a:solidFill>
                  <a:srgbClr val="164C47"/>
                </a:solidFill>
                <a:latin typeface="Arial"/>
                <a:ea typeface="Arial"/>
                <a:cs typeface="Arial"/>
              </a:defRPr>
            </a:lvl3pPr>
            <a:lvl4pPr>
              <a:defRPr sz="1950" b="1">
                <a:solidFill>
                  <a:srgbClr val="164C47"/>
                </a:solidFill>
                <a:latin typeface="Arial"/>
                <a:ea typeface="Arial"/>
                <a:cs typeface="Arial"/>
              </a:defRPr>
            </a:lvl4pPr>
            <a:lvl5pPr>
              <a:defRPr sz="1950" b="1">
                <a:solidFill>
                  <a:srgbClr val="164C47"/>
                </a:solidFill>
                <a:latin typeface="Arial"/>
                <a:ea typeface="Arial"/>
                <a:cs typeface="Arial"/>
              </a:defRPr>
            </a:lvl5pPr>
            <a:lvl6pPr>
              <a:defRPr sz="1950" b="1">
                <a:solidFill>
                  <a:srgbClr val="164C47"/>
                </a:solidFill>
                <a:latin typeface="Arial"/>
                <a:ea typeface="Arial"/>
                <a:cs typeface="Arial"/>
              </a:defRPr>
            </a:lvl6pPr>
            <a:lvl7pPr>
              <a:defRPr sz="1950" b="1">
                <a:solidFill>
                  <a:srgbClr val="164C47"/>
                </a:solidFill>
                <a:latin typeface="Arial"/>
                <a:ea typeface="Arial"/>
                <a:cs typeface="Arial"/>
              </a:defRPr>
            </a:lvl7pPr>
            <a:lvl8pPr>
              <a:defRPr sz="1950" b="1">
                <a:solidFill>
                  <a:srgbClr val="164C47"/>
                </a:solidFill>
                <a:latin typeface="Arial"/>
                <a:ea typeface="Arial"/>
                <a:cs typeface="Arial"/>
              </a:defRPr>
            </a:lvl8pPr>
            <a:lvl9pPr>
              <a:defRPr sz="1950" b="1">
                <a:solidFill>
                  <a:srgbClr val="164C47"/>
                </a:solidFill>
                <a:latin typeface="Arial"/>
                <a:ea typeface="Arial"/>
                <a:cs typeface="Arial"/>
              </a:defRPr>
            </a:lvl9pPr>
          </a:lstStyle>
          <a:p xmlns:a="http://schemas.openxmlformats.org/drawingml/2006/main">
            <a:pPr>
              <a:defRPr sz="1950" b="1">
                <a:solidFill>
                  <a:srgbClr val="164C47"/>
                </a:solidFill>
                <a:latin typeface="Arial"/>
                <a:ea typeface="Arial"/>
                <a:cs typeface="Arial"/>
              </a:defRPr>
            </a:pPr>
            <a:r>
              <a:rPr sz="1950" b="1">
                <a:solidFill>
                  <a:srgbClr val="164C47"/>
                </a:solidFill>
                <a:latin typeface="Arial"/>
                <a:ea typeface="Arial"/>
                <a:cs typeface="Arial"/>
              </a:rPr>
              <a:t>Điểm mở màn hình</a:t>
            </a:r>
          </a:p>
        </p:txBody>
      </p:sp>
      <p:sp>
        <p:nvSpPr>
          <p:cNvPr id="6" name="">
            <a:extLst xmlns:a="http://schemas.openxmlformats.org/drawingml/2006/main">
              <a:ext uri="{FF2B5EF4-FFF2-40B4-BE49-F238E27FC236}">
                <a16:creationId xmlns:a16="http://schemas.microsoft.com/office/drawing/2014/main" id="{047148DA-9259-4187-83EC-5FDA16678286}"/>
              </a:ext>
            </a:extLst>
          </p:cNvPr>
          <p:cNvSpPr>
            <a:spLocks xmlns:a="http://schemas.openxmlformats.org/drawingml/2006/main" noGrp="1"/>
          </p:cNvSpPr>
          <p:nvPr/>
        </p:nvSpPr>
        <p:spPr>
          <a:xfrm xmlns:a="http://schemas.openxmlformats.org/drawingml/2006/main">
            <a:off x="514350" y="2047875"/>
            <a:ext cx="4429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BmiActivity có thể mở từ Trang chủ hoặc Hồ sơ.</a:t>
            </a:r>
          </a:p>
        </p:txBody>
      </p:sp>
      <p:sp>
        <p:nvSpPr>
          <p:cNvPr id="7" name="">
            <a:extLst xmlns:a="http://schemas.openxmlformats.org/drawingml/2006/main">
              <a:ext uri="{FF2B5EF4-FFF2-40B4-BE49-F238E27FC236}">
                <a16:creationId xmlns:a16="http://schemas.microsoft.com/office/drawing/2014/main" id="{3B83E4FC-E1ED-4DA2-AC31-0D7D1445DCA7}"/>
              </a:ext>
            </a:extLst>
          </p:cNvPr>
          <p:cNvSpPr>
            <a:spLocks xmlns:a="http://schemas.openxmlformats.org/drawingml/2006/main" noGrp="1"/>
          </p:cNvSpPr>
          <p:nvPr/>
        </p:nvSpPr>
        <p:spPr>
          <a:xfrm xmlns:a="http://schemas.openxmlformats.org/drawingml/2006/main">
            <a:off x="514350" y="3095625"/>
            <a:ext cx="442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4C47"/>
                </a:solidFill>
                <a:latin typeface="Arial"/>
                <a:ea typeface="Arial"/>
                <a:cs typeface="Arial"/>
              </a:defRPr>
            </a:defPPr>
            <a:lvl1pPr>
              <a:defRPr sz="1950" b="1">
                <a:solidFill>
                  <a:srgbClr val="164C47"/>
                </a:solidFill>
                <a:latin typeface="Arial"/>
                <a:ea typeface="Arial"/>
                <a:cs typeface="Arial"/>
              </a:defRPr>
            </a:lvl1pPr>
            <a:lvl2pPr>
              <a:defRPr sz="1950" b="1">
                <a:solidFill>
                  <a:srgbClr val="164C47"/>
                </a:solidFill>
                <a:latin typeface="Arial"/>
                <a:ea typeface="Arial"/>
                <a:cs typeface="Arial"/>
              </a:defRPr>
            </a:lvl2pPr>
            <a:lvl3pPr>
              <a:defRPr sz="1950" b="1">
                <a:solidFill>
                  <a:srgbClr val="164C47"/>
                </a:solidFill>
                <a:latin typeface="Arial"/>
                <a:ea typeface="Arial"/>
                <a:cs typeface="Arial"/>
              </a:defRPr>
            </a:lvl3pPr>
            <a:lvl4pPr>
              <a:defRPr sz="1950" b="1">
                <a:solidFill>
                  <a:srgbClr val="164C47"/>
                </a:solidFill>
                <a:latin typeface="Arial"/>
                <a:ea typeface="Arial"/>
                <a:cs typeface="Arial"/>
              </a:defRPr>
            </a:lvl4pPr>
            <a:lvl5pPr>
              <a:defRPr sz="1950" b="1">
                <a:solidFill>
                  <a:srgbClr val="164C47"/>
                </a:solidFill>
                <a:latin typeface="Arial"/>
                <a:ea typeface="Arial"/>
                <a:cs typeface="Arial"/>
              </a:defRPr>
            </a:lvl5pPr>
            <a:lvl6pPr>
              <a:defRPr sz="1950" b="1">
                <a:solidFill>
                  <a:srgbClr val="164C47"/>
                </a:solidFill>
                <a:latin typeface="Arial"/>
                <a:ea typeface="Arial"/>
                <a:cs typeface="Arial"/>
              </a:defRPr>
            </a:lvl6pPr>
            <a:lvl7pPr>
              <a:defRPr sz="1950" b="1">
                <a:solidFill>
                  <a:srgbClr val="164C47"/>
                </a:solidFill>
                <a:latin typeface="Arial"/>
                <a:ea typeface="Arial"/>
                <a:cs typeface="Arial"/>
              </a:defRPr>
            </a:lvl7pPr>
            <a:lvl8pPr>
              <a:defRPr sz="1950" b="1">
                <a:solidFill>
                  <a:srgbClr val="164C47"/>
                </a:solidFill>
                <a:latin typeface="Arial"/>
                <a:ea typeface="Arial"/>
                <a:cs typeface="Arial"/>
              </a:defRPr>
            </a:lvl8pPr>
            <a:lvl9pPr>
              <a:defRPr sz="1950" b="1">
                <a:solidFill>
                  <a:srgbClr val="164C47"/>
                </a:solidFill>
                <a:latin typeface="Arial"/>
                <a:ea typeface="Arial"/>
                <a:cs typeface="Arial"/>
              </a:defRPr>
            </a:lvl9pPr>
          </a:lstStyle>
          <a:p xmlns:a="http://schemas.openxmlformats.org/drawingml/2006/main">
            <a:pPr>
              <a:defRPr sz="1950" b="1">
                <a:solidFill>
                  <a:srgbClr val="164C47"/>
                </a:solidFill>
                <a:latin typeface="Arial"/>
                <a:ea typeface="Arial"/>
                <a:cs typeface="Arial"/>
              </a:defRPr>
            </a:pPr>
            <a:r>
              <a:rPr sz="1950" b="1">
                <a:solidFill>
                  <a:srgbClr val="164C47"/>
                </a:solidFill>
                <a:latin typeface="Arial"/>
                <a:ea typeface="Arial"/>
                <a:cs typeface="Arial"/>
              </a:rPr>
              <a:t>Dữ liệu sử dụng</a:t>
            </a:r>
          </a:p>
        </p:txBody>
      </p:sp>
      <p:sp>
        <p:nvSpPr>
          <p:cNvPr id="8" name="">
            <a:extLst xmlns:a="http://schemas.openxmlformats.org/drawingml/2006/main">
              <a:ext uri="{FF2B5EF4-FFF2-40B4-BE49-F238E27FC236}">
                <a16:creationId xmlns:a16="http://schemas.microsoft.com/office/drawing/2014/main" id="{49DDCBBD-CF6B-48C2-8201-8EB0D7233457}"/>
              </a:ext>
            </a:extLst>
          </p:cNvPr>
          <p:cNvSpPr>
            <a:spLocks xmlns:a="http://schemas.openxmlformats.org/drawingml/2006/main" noGrp="1"/>
          </p:cNvSpPr>
          <p:nvPr/>
        </p:nvSpPr>
        <p:spPr>
          <a:xfrm xmlns:a="http://schemas.openxmlformats.org/drawingml/2006/main">
            <a:off x="514350" y="3524250"/>
            <a:ext cx="4429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Chiều cao trong hồ sơ và cân nặng của người dùng.</a:t>
            </a:r>
          </a:p>
        </p:txBody>
      </p:sp>
      <p:sp>
        <p:nvSpPr>
          <p:cNvPr id="9" name="">
            <a:extLst xmlns:a="http://schemas.openxmlformats.org/drawingml/2006/main">
              <a:ext uri="{FF2B5EF4-FFF2-40B4-BE49-F238E27FC236}">
                <a16:creationId xmlns:a16="http://schemas.microsoft.com/office/drawing/2014/main" id="{151CD30D-91C1-4DD5-A0BC-FCE451381E04}"/>
              </a:ext>
            </a:extLst>
          </p:cNvPr>
          <p:cNvSpPr>
            <a:spLocks xmlns:a="http://schemas.openxmlformats.org/drawingml/2006/main" noGrp="1"/>
          </p:cNvSpPr>
          <p:nvPr/>
        </p:nvSpPr>
        <p:spPr>
          <a:xfrm xmlns:a="http://schemas.openxmlformats.org/drawingml/2006/main">
            <a:off x="514350" y="4572000"/>
            <a:ext cx="4429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64C47"/>
                </a:solidFill>
                <a:latin typeface="Arial"/>
                <a:ea typeface="Arial"/>
                <a:cs typeface="Arial"/>
              </a:defRPr>
            </a:defPPr>
            <a:lvl1pPr>
              <a:defRPr sz="1950" b="1">
                <a:solidFill>
                  <a:srgbClr val="164C47"/>
                </a:solidFill>
                <a:latin typeface="Arial"/>
                <a:ea typeface="Arial"/>
                <a:cs typeface="Arial"/>
              </a:defRPr>
            </a:lvl1pPr>
            <a:lvl2pPr>
              <a:defRPr sz="1950" b="1">
                <a:solidFill>
                  <a:srgbClr val="164C47"/>
                </a:solidFill>
                <a:latin typeface="Arial"/>
                <a:ea typeface="Arial"/>
                <a:cs typeface="Arial"/>
              </a:defRPr>
            </a:lvl2pPr>
            <a:lvl3pPr>
              <a:defRPr sz="1950" b="1">
                <a:solidFill>
                  <a:srgbClr val="164C47"/>
                </a:solidFill>
                <a:latin typeface="Arial"/>
                <a:ea typeface="Arial"/>
                <a:cs typeface="Arial"/>
              </a:defRPr>
            </a:lvl3pPr>
            <a:lvl4pPr>
              <a:defRPr sz="1950" b="1">
                <a:solidFill>
                  <a:srgbClr val="164C47"/>
                </a:solidFill>
                <a:latin typeface="Arial"/>
                <a:ea typeface="Arial"/>
                <a:cs typeface="Arial"/>
              </a:defRPr>
            </a:lvl4pPr>
            <a:lvl5pPr>
              <a:defRPr sz="1950" b="1">
                <a:solidFill>
                  <a:srgbClr val="164C47"/>
                </a:solidFill>
                <a:latin typeface="Arial"/>
                <a:ea typeface="Arial"/>
                <a:cs typeface="Arial"/>
              </a:defRPr>
            </a:lvl5pPr>
            <a:lvl6pPr>
              <a:defRPr sz="1950" b="1">
                <a:solidFill>
                  <a:srgbClr val="164C47"/>
                </a:solidFill>
                <a:latin typeface="Arial"/>
                <a:ea typeface="Arial"/>
                <a:cs typeface="Arial"/>
              </a:defRPr>
            </a:lvl6pPr>
            <a:lvl7pPr>
              <a:defRPr sz="1950" b="1">
                <a:solidFill>
                  <a:srgbClr val="164C47"/>
                </a:solidFill>
                <a:latin typeface="Arial"/>
                <a:ea typeface="Arial"/>
                <a:cs typeface="Arial"/>
              </a:defRPr>
            </a:lvl7pPr>
            <a:lvl8pPr>
              <a:defRPr sz="1950" b="1">
                <a:solidFill>
                  <a:srgbClr val="164C47"/>
                </a:solidFill>
                <a:latin typeface="Arial"/>
                <a:ea typeface="Arial"/>
                <a:cs typeface="Arial"/>
              </a:defRPr>
            </a:lvl8pPr>
            <a:lvl9pPr>
              <a:defRPr sz="1950" b="1">
                <a:solidFill>
                  <a:srgbClr val="164C47"/>
                </a:solidFill>
                <a:latin typeface="Arial"/>
                <a:ea typeface="Arial"/>
                <a:cs typeface="Arial"/>
              </a:defRPr>
            </a:lvl9pPr>
          </a:lstStyle>
          <a:p xmlns:a="http://schemas.openxmlformats.org/drawingml/2006/main">
            <a:pPr>
              <a:defRPr sz="1950" b="1">
                <a:solidFill>
                  <a:srgbClr val="164C47"/>
                </a:solidFill>
                <a:latin typeface="Arial"/>
                <a:ea typeface="Arial"/>
                <a:cs typeface="Arial"/>
              </a:defRPr>
            </a:pPr>
            <a:r>
              <a:rPr sz="1950" b="1">
                <a:solidFill>
                  <a:srgbClr val="164C47"/>
                </a:solidFill>
                <a:latin typeface="Arial"/>
                <a:ea typeface="Arial"/>
                <a:cs typeface="Arial"/>
              </a:rPr>
              <a:t>Kết quả hiển thị</a:t>
            </a:r>
          </a:p>
        </p:txBody>
      </p:sp>
      <p:sp>
        <p:nvSpPr>
          <p:cNvPr id="10" name="">
            <a:extLst xmlns:a="http://schemas.openxmlformats.org/drawingml/2006/main">
              <a:ext uri="{FF2B5EF4-FFF2-40B4-BE49-F238E27FC236}">
                <a16:creationId xmlns:a16="http://schemas.microsoft.com/office/drawing/2014/main" id="{80C435B1-AD1C-4B9B-91FA-BEFC31FBC784}"/>
              </a:ext>
            </a:extLst>
          </p:cNvPr>
          <p:cNvSpPr>
            <a:spLocks xmlns:a="http://schemas.openxmlformats.org/drawingml/2006/main" noGrp="1"/>
          </p:cNvSpPr>
          <p:nvPr/>
        </p:nvSpPr>
        <p:spPr>
          <a:xfrm xmlns:a="http://schemas.openxmlformats.org/drawingml/2006/main">
            <a:off x="514350" y="5000625"/>
            <a:ext cx="4429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B66"/>
                </a:solidFill>
                <a:latin typeface="Arial"/>
                <a:ea typeface="Arial"/>
                <a:cs typeface="Arial"/>
              </a:defRPr>
            </a:defPPr>
            <a:lvl1pPr>
              <a:defRPr sz="1725" b="0">
                <a:solidFill>
                  <a:srgbClr val="526B66"/>
                </a:solidFill>
                <a:latin typeface="Arial"/>
                <a:ea typeface="Arial"/>
                <a:cs typeface="Arial"/>
              </a:defRPr>
            </a:lvl1pPr>
            <a:lvl2pPr>
              <a:defRPr sz="1725" b="0">
                <a:solidFill>
                  <a:srgbClr val="526B66"/>
                </a:solidFill>
                <a:latin typeface="Arial"/>
                <a:ea typeface="Arial"/>
                <a:cs typeface="Arial"/>
              </a:defRPr>
            </a:lvl2pPr>
            <a:lvl3pPr>
              <a:defRPr sz="1725" b="0">
                <a:solidFill>
                  <a:srgbClr val="526B66"/>
                </a:solidFill>
                <a:latin typeface="Arial"/>
                <a:ea typeface="Arial"/>
                <a:cs typeface="Arial"/>
              </a:defRPr>
            </a:lvl3pPr>
            <a:lvl4pPr>
              <a:defRPr sz="1725" b="0">
                <a:solidFill>
                  <a:srgbClr val="526B66"/>
                </a:solidFill>
                <a:latin typeface="Arial"/>
                <a:ea typeface="Arial"/>
                <a:cs typeface="Arial"/>
              </a:defRPr>
            </a:lvl4pPr>
            <a:lvl5pPr>
              <a:defRPr sz="1725" b="0">
                <a:solidFill>
                  <a:srgbClr val="526B66"/>
                </a:solidFill>
                <a:latin typeface="Arial"/>
                <a:ea typeface="Arial"/>
                <a:cs typeface="Arial"/>
              </a:defRPr>
            </a:lvl5pPr>
            <a:lvl6pPr>
              <a:defRPr sz="1725" b="0">
                <a:solidFill>
                  <a:srgbClr val="526B66"/>
                </a:solidFill>
                <a:latin typeface="Arial"/>
                <a:ea typeface="Arial"/>
                <a:cs typeface="Arial"/>
              </a:defRPr>
            </a:lvl6pPr>
            <a:lvl7pPr>
              <a:defRPr sz="1725" b="0">
                <a:solidFill>
                  <a:srgbClr val="526B66"/>
                </a:solidFill>
                <a:latin typeface="Arial"/>
                <a:ea typeface="Arial"/>
                <a:cs typeface="Arial"/>
              </a:defRPr>
            </a:lvl7pPr>
            <a:lvl8pPr>
              <a:defRPr sz="1725" b="0">
                <a:solidFill>
                  <a:srgbClr val="526B66"/>
                </a:solidFill>
                <a:latin typeface="Arial"/>
                <a:ea typeface="Arial"/>
                <a:cs typeface="Arial"/>
              </a:defRPr>
            </a:lvl8pPr>
            <a:lvl9pPr>
              <a:defRPr sz="1725" b="0">
                <a:solidFill>
                  <a:srgbClr val="526B66"/>
                </a:solidFill>
                <a:latin typeface="Arial"/>
                <a:ea typeface="Arial"/>
                <a:cs typeface="Arial"/>
              </a:defRPr>
            </a:lvl9pPr>
          </a:lstStyle>
          <a:p xmlns:a="http://schemas.openxmlformats.org/drawingml/2006/main">
            <a:pPr>
              <a:defRPr sz="1725" b="0">
                <a:solidFill>
                  <a:srgbClr val="526B66"/>
                </a:solidFill>
                <a:latin typeface="Arial"/>
                <a:ea typeface="Arial"/>
                <a:cs typeface="Arial"/>
              </a:defRPr>
            </a:pPr>
            <a:r>
              <a:rPr sz="1725" b="0">
                <a:solidFill>
                  <a:srgbClr val="526B66"/>
                </a:solidFill>
                <a:latin typeface="Arial"/>
                <a:ea typeface="Arial"/>
                <a:cs typeface="Arial"/>
              </a:rPr>
              <a:t>BMI, bộ ngưỡng Châu Á hoặc Quốc tế và khoảng cân nặng tham khảo.</a:t>
            </a:r>
          </a:p>
        </p:txBody>
      </p:sp>
      <p:pic>
        <p:nvPicPr>
          <p:cNvPr id="11" name="">
            <a:extLst xmlns:a="http://schemas.openxmlformats.org/drawingml/2006/main">
              <a:ext uri="{FF2B5EF4-FFF2-40B4-BE49-F238E27FC236}">
                <a16:creationId xmlns:a16="http://schemas.microsoft.com/office/drawing/2014/main" id="{A88DB1B2-E08E-4C19-B458-CF8FA1A33147}"/>
              </a:ext>
            </a:extLst>
          </p:cNvPr>
          <p:cNvPicPr>
            <a:picLocks xmlns:a="http://schemas.openxmlformats.org/drawingml/2006/main" noChangeAspect="1"/>
          </p:cNvPicPr>
          <p:nvPr/>
        </p:nvPicPr>
        <p:blipFill>
          <a:blip xmlns:r="http://schemas.openxmlformats.org/officeDocument/2006/relationships" xmlns:a="http://schemas.openxmlformats.org/drawingml/2006/main" r:embed="R529c42be4b1a48bd"/>
          <a:stretch xmlns:a="http://schemas.openxmlformats.org/drawingml/2006/main"/>
        </p:blipFill>
        <p:spPr>
          <a:xfrm xmlns:a="http://schemas.openxmlformats.org/drawingml/2006/main">
            <a:off x="5907881"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7C54C7D-574A-45C3-9A2E-D1806AE53CE8}"/>
              </a:ext>
            </a:extLst>
          </p:cNvPr>
          <p:cNvSpPr>
            <a:spLocks xmlns:a="http://schemas.openxmlformats.org/drawingml/2006/main" noGrp="1"/>
          </p:cNvSpPr>
          <p:nvPr/>
        </p:nvSpPr>
        <p:spPr>
          <a:xfrm xmlns:a="http://schemas.openxmlformats.org/drawingml/2006/main">
            <a:off x="5448300" y="6143625"/>
            <a:ext cx="3019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BMI cá nhân</a:t>
            </a:r>
          </a:p>
        </p:txBody>
      </p:sp>
      <p:pic>
        <p:nvPicPr>
          <p:cNvPr id="13" name="">
            <a:extLst xmlns:a="http://schemas.openxmlformats.org/drawingml/2006/main">
              <a:ext uri="{FF2B5EF4-FFF2-40B4-BE49-F238E27FC236}">
                <a16:creationId xmlns:a16="http://schemas.microsoft.com/office/drawing/2014/main" id="{15815115-50C0-4BDB-86C9-F23CB6B680AE}"/>
              </a:ext>
            </a:extLst>
          </p:cNvPr>
          <p:cNvPicPr>
            <a:picLocks xmlns:a="http://schemas.openxmlformats.org/drawingml/2006/main" noChangeAspect="1"/>
          </p:cNvPicPr>
          <p:nvPr/>
        </p:nvPicPr>
        <p:blipFill>
          <a:blip xmlns:r="http://schemas.openxmlformats.org/officeDocument/2006/relationships" xmlns:a="http://schemas.openxmlformats.org/drawingml/2006/main" r:embed="R1b637d71f56144d4"/>
          <a:stretch xmlns:a="http://schemas.openxmlformats.org/drawingml/2006/main"/>
        </p:blipFill>
        <p:spPr>
          <a:xfrm xmlns:a="http://schemas.openxmlformats.org/drawingml/2006/main">
            <a:off x="8946356"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3655416-6EFC-440C-913E-47FBE337A200}"/>
              </a:ext>
            </a:extLst>
          </p:cNvPr>
          <p:cNvSpPr>
            <a:spLocks xmlns:a="http://schemas.openxmlformats.org/drawingml/2006/main" noGrp="1"/>
          </p:cNvSpPr>
          <p:nvPr/>
        </p:nvSpPr>
        <p:spPr>
          <a:xfrm xmlns:a="http://schemas.openxmlformats.org/drawingml/2006/main">
            <a:off x="8486775" y="6143625"/>
            <a:ext cx="30194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Hồ sơ thể trạng</a:t>
            </a:r>
          </a:p>
        </p:txBody>
      </p:sp>
    </p:spTree>
    <p:extLst>
      <p:ext uri="{BB962C8B-B14F-4D97-AF65-F5344CB8AC3E}">
        <p14:creationId xmlns:p14="http://schemas.microsoft.com/office/powerpoint/2010/main" val="300850221"/>
      </p:ext>
    </p:extLst>
  </p:cSld>
</p:sld>
</file>

<file path=ppt/slides/slide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C72B7F8-6AD1-45F5-867C-2057671B37AD}"/>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NHẮC NHỞ VÀ THUỐC</a:t>
            </a:r>
          </a:p>
        </p:txBody>
      </p:sp>
      <p:sp>
        <p:nvSpPr>
          <p:cNvPr id="2" name="">
            <a:extLst xmlns:a="http://schemas.openxmlformats.org/drawingml/2006/main">
              <a:ext uri="{FF2B5EF4-FFF2-40B4-BE49-F238E27FC236}">
                <a16:creationId xmlns:a16="http://schemas.microsoft.com/office/drawing/2014/main" id="{A15E3C7E-293C-423E-AECD-82B31C74BF2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Các màn hình quản lý lịch thuốc</a:t>
            </a:r>
          </a:p>
        </p:txBody>
      </p:sp>
      <p:sp>
        <p:nvSpPr>
          <p:cNvPr id="3" name="">
            <a:extLst xmlns:a="http://schemas.openxmlformats.org/drawingml/2006/main">
              <a:ext uri="{FF2B5EF4-FFF2-40B4-BE49-F238E27FC236}">
                <a16:creationId xmlns:a16="http://schemas.microsoft.com/office/drawing/2014/main" id="{C4928F6A-6136-4CFA-AD81-1EE8D3B18D6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86046BE-A049-4A33-9D54-3B6F1BDF61D0}"/>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3D60C57-0CFB-4753-A97C-1CDED4896710}"/>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ReminderFragment</a:t>
            </a:r>
          </a:p>
        </p:txBody>
      </p:sp>
      <p:sp>
        <p:nvSpPr>
          <p:cNvPr id="6" name="">
            <a:extLst xmlns:a="http://schemas.openxmlformats.org/drawingml/2006/main">
              <a:ext uri="{FF2B5EF4-FFF2-40B4-BE49-F238E27FC236}">
                <a16:creationId xmlns:a16="http://schemas.microsoft.com/office/drawing/2014/main" id="{F6B6D129-E72A-4F3A-AFD0-2FAF2218A698}"/>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Chuyển giữa cữ hôm nay và danh sách thuốc.</a:t>
            </a:r>
          </a:p>
        </p:txBody>
      </p:sp>
      <p:sp>
        <p:nvSpPr>
          <p:cNvPr id="7" name="">
            <a:extLst xmlns:a="http://schemas.openxmlformats.org/drawingml/2006/main">
              <a:ext uri="{FF2B5EF4-FFF2-40B4-BE49-F238E27FC236}">
                <a16:creationId xmlns:a16="http://schemas.microsoft.com/office/drawing/2014/main" id="{E80288CF-66A5-47E8-81FE-08BB6907F902}"/>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AddMedicineActivity</a:t>
            </a:r>
          </a:p>
        </p:txBody>
      </p:sp>
      <p:sp>
        <p:nvSpPr>
          <p:cNvPr id="8" name="">
            <a:extLst xmlns:a="http://schemas.openxmlformats.org/drawingml/2006/main">
              <a:ext uri="{FF2B5EF4-FFF2-40B4-BE49-F238E27FC236}">
                <a16:creationId xmlns:a16="http://schemas.microsoft.com/office/drawing/2014/main" id="{2DB8DDA5-B0F6-4AB4-B006-8123576C6CAB}"/>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hoặc sửa thuốc, giờ uống và ngày lặp trong tuần.</a:t>
            </a:r>
          </a:p>
        </p:txBody>
      </p:sp>
      <p:sp>
        <p:nvSpPr>
          <p:cNvPr id="9" name="">
            <a:extLst xmlns:a="http://schemas.openxmlformats.org/drawingml/2006/main">
              <a:ext uri="{FF2B5EF4-FFF2-40B4-BE49-F238E27FC236}">
                <a16:creationId xmlns:a16="http://schemas.microsoft.com/office/drawing/2014/main" id="{A4B917F7-8D3E-46B0-824F-68E366E0AE56}"/>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MedicineDoseDialogs</a:t>
            </a:r>
          </a:p>
        </p:txBody>
      </p:sp>
      <p:sp>
        <p:nvSpPr>
          <p:cNvPr id="10" name="">
            <a:extLst xmlns:a="http://schemas.openxmlformats.org/drawingml/2006/main">
              <a:ext uri="{FF2B5EF4-FFF2-40B4-BE49-F238E27FC236}">
                <a16:creationId xmlns:a16="http://schemas.microsoft.com/office/drawing/2014/main" id="{1A694DED-B8A1-47B6-BCDE-1328687CBD45}"/>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xác nhận cữ, điều chỉnh kết quả, lịch sử và xác nhận xóa thuốc.</a:t>
            </a:r>
          </a:p>
        </p:txBody>
      </p:sp>
      <p:pic>
        <p:nvPicPr>
          <p:cNvPr id="11" name="">
            <a:extLst xmlns:a="http://schemas.openxmlformats.org/drawingml/2006/main">
              <a:ext uri="{FF2B5EF4-FFF2-40B4-BE49-F238E27FC236}">
                <a16:creationId xmlns:a16="http://schemas.microsoft.com/office/drawing/2014/main" id="{407ADFA8-8194-45B5-A856-6069C9A8BD34}"/>
              </a:ext>
            </a:extLst>
          </p:cNvPr>
          <p:cNvPicPr>
            <a:picLocks xmlns:a="http://schemas.openxmlformats.org/drawingml/2006/main" noChangeAspect="1"/>
          </p:cNvPicPr>
          <p:nvPr/>
        </p:nvPicPr>
        <p:blipFill>
          <a:blip xmlns:r="http://schemas.openxmlformats.org/officeDocument/2006/relationships" xmlns:a="http://schemas.openxmlformats.org/drawingml/2006/main" r:embed="R9176d6878636488c"/>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C44A07A-0912-4852-BD60-F9DE6BFBE5E3}"/>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Danh sách thuốc</a:t>
            </a:r>
          </a:p>
        </p:txBody>
      </p:sp>
      <p:pic>
        <p:nvPicPr>
          <p:cNvPr id="13" name="">
            <a:extLst xmlns:a="http://schemas.openxmlformats.org/drawingml/2006/main">
              <a:ext uri="{FF2B5EF4-FFF2-40B4-BE49-F238E27FC236}">
                <a16:creationId xmlns:a16="http://schemas.microsoft.com/office/drawing/2014/main" id="{8E040902-D17A-43CC-B526-9A3A3A1EF46E}"/>
              </a:ext>
            </a:extLst>
          </p:cNvPr>
          <p:cNvPicPr>
            <a:picLocks xmlns:a="http://schemas.openxmlformats.org/drawingml/2006/main" noChangeAspect="1"/>
          </p:cNvPicPr>
          <p:nvPr/>
        </p:nvPicPr>
        <p:blipFill>
          <a:blip xmlns:r="http://schemas.openxmlformats.org/officeDocument/2006/relationships" xmlns:a="http://schemas.openxmlformats.org/drawingml/2006/main" r:embed="R7f0782c7948c4bcf"/>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7DC0D1F-10D2-4D3A-94BE-87EC10E08942}"/>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Thiết lập lịch</a:t>
            </a:r>
          </a:p>
        </p:txBody>
      </p:sp>
      <p:pic>
        <p:nvPicPr>
          <p:cNvPr id="15" name="">
            <a:extLst xmlns:a="http://schemas.openxmlformats.org/drawingml/2006/main">
              <a:ext uri="{FF2B5EF4-FFF2-40B4-BE49-F238E27FC236}">
                <a16:creationId xmlns:a16="http://schemas.microsoft.com/office/drawing/2014/main" id="{259D9C55-6EBC-452B-BDCA-B5969E4A12B9}"/>
              </a:ext>
            </a:extLst>
          </p:cNvPr>
          <p:cNvPicPr>
            <a:picLocks xmlns:a="http://schemas.openxmlformats.org/drawingml/2006/main" noChangeAspect="1"/>
          </p:cNvPicPr>
          <p:nvPr/>
        </p:nvPicPr>
        <p:blipFill>
          <a:blip xmlns:r="http://schemas.openxmlformats.org/officeDocument/2006/relationships" xmlns:a="http://schemas.openxmlformats.org/drawingml/2006/main" r:embed="Rbd2bdcf53af449d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B78CF25-CA16-4C27-B2A5-D751A339B141}"/>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Xác nhận cữ thuốc</a:t>
            </a:r>
          </a:p>
        </p:txBody>
      </p:sp>
    </p:spTree>
    <p:extLst>
      <p:ext uri="{BB962C8B-B14F-4D97-AF65-F5344CB8AC3E}">
        <p14:creationId xmlns:p14="http://schemas.microsoft.com/office/powerpoint/2010/main" val="116245633"/>
      </p:ext>
    </p:extLst>
  </p:cSld>
</p:sld>
</file>

<file path=ppt/slides/slide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EBEAAA8-2C68-49E8-AC44-7CCBA7F0495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GIAO DIỆN THEO DÕI NƯỚC</a:t>
            </a:r>
          </a:p>
        </p:txBody>
      </p:sp>
      <p:sp>
        <p:nvSpPr>
          <p:cNvPr id="2" name="">
            <a:extLst xmlns:a="http://schemas.openxmlformats.org/drawingml/2006/main">
              <a:ext uri="{FF2B5EF4-FFF2-40B4-BE49-F238E27FC236}">
                <a16:creationId xmlns:a16="http://schemas.microsoft.com/office/drawing/2014/main" id="{53033F54-9526-4107-8E2D-93FF35A4DCF4}"/>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Nhật ký nước và các biểu mẫu bổ trợ</a:t>
            </a:r>
          </a:p>
        </p:txBody>
      </p:sp>
      <p:sp>
        <p:nvSpPr>
          <p:cNvPr id="3" name="">
            <a:extLst xmlns:a="http://schemas.openxmlformats.org/drawingml/2006/main">
              <a:ext uri="{FF2B5EF4-FFF2-40B4-BE49-F238E27FC236}">
                <a16:creationId xmlns:a16="http://schemas.microsoft.com/office/drawing/2014/main" id="{A7926577-AE77-470E-AD9F-64EA2971C63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B790DDBE-2939-4C9D-B4A4-9C915872E128}"/>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05F34C2-3582-430A-82E9-E0080544305A}"/>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Nhật ký từng lần uống</a:t>
            </a:r>
          </a:p>
        </p:txBody>
      </p:sp>
      <p:sp>
        <p:nvSpPr>
          <p:cNvPr id="6" name="">
            <a:extLst xmlns:a="http://schemas.openxmlformats.org/drawingml/2006/main">
              <a:ext uri="{FF2B5EF4-FFF2-40B4-BE49-F238E27FC236}">
                <a16:creationId xmlns:a16="http://schemas.microsoft.com/office/drawing/2014/main" id="{05123052-6354-43A6-B940-230DA3C722D3}"/>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WaterJournalDialog là DialogFragment, không phải Activity riêng.</a:t>
            </a:r>
          </a:p>
        </p:txBody>
      </p:sp>
      <p:sp>
        <p:nvSpPr>
          <p:cNvPr id="7" name="">
            <a:extLst xmlns:a="http://schemas.openxmlformats.org/drawingml/2006/main">
              <a:ext uri="{FF2B5EF4-FFF2-40B4-BE49-F238E27FC236}">
                <a16:creationId xmlns:a16="http://schemas.microsoft.com/office/drawing/2014/main" id="{D220E337-9614-49CF-BA58-4B607C5D5C03}"/>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điểm truy cập</a:t>
            </a:r>
          </a:p>
        </p:txBody>
      </p:sp>
      <p:sp>
        <p:nvSpPr>
          <p:cNvPr id="8" name="">
            <a:extLst xmlns:a="http://schemas.openxmlformats.org/drawingml/2006/main">
              <a:ext uri="{FF2B5EF4-FFF2-40B4-BE49-F238E27FC236}">
                <a16:creationId xmlns:a16="http://schemas.microsoft.com/office/drawing/2014/main" id="{6608995F-BDF1-44B4-A3E0-5D815AC2D1F3}"/>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Mở từ Trang chủ, Nhắc nhở hoặc dữ liệu thống kê nước.</a:t>
            </a:r>
          </a:p>
        </p:txBody>
      </p:sp>
      <p:sp>
        <p:nvSpPr>
          <p:cNvPr id="9" name="">
            <a:extLst xmlns:a="http://schemas.openxmlformats.org/drawingml/2006/main">
              <a:ext uri="{FF2B5EF4-FFF2-40B4-BE49-F238E27FC236}">
                <a16:creationId xmlns:a16="http://schemas.microsoft.com/office/drawing/2014/main" id="{7FDC600A-D1C1-4C67-BBA3-0D8CC6017D62}"/>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Các thao tác</a:t>
            </a:r>
          </a:p>
        </p:txBody>
      </p:sp>
      <p:sp>
        <p:nvSpPr>
          <p:cNvPr id="10" name="">
            <a:extLst xmlns:a="http://schemas.openxmlformats.org/drawingml/2006/main">
              <a:ext uri="{FF2B5EF4-FFF2-40B4-BE49-F238E27FC236}">
                <a16:creationId xmlns:a16="http://schemas.microsoft.com/office/drawing/2014/main" id="{098CE2CA-258C-4062-A016-A795DB8EC2A6}"/>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Thêm lượng nước, chỉnh sửa lần ghi nhận và thiết lập lịch nhắc trong hồ sơ.</a:t>
            </a:r>
          </a:p>
        </p:txBody>
      </p:sp>
      <p:pic>
        <p:nvPicPr>
          <p:cNvPr id="11" name="">
            <a:extLst xmlns:a="http://schemas.openxmlformats.org/drawingml/2006/main">
              <a:ext uri="{FF2B5EF4-FFF2-40B4-BE49-F238E27FC236}">
                <a16:creationId xmlns:a16="http://schemas.microsoft.com/office/drawing/2014/main" id="{90F8B3A2-2125-4718-B550-8F5C435C3780}"/>
              </a:ext>
            </a:extLst>
          </p:cNvPr>
          <p:cNvPicPr>
            <a:picLocks xmlns:a="http://schemas.openxmlformats.org/drawingml/2006/main" noChangeAspect="1"/>
          </p:cNvPicPr>
          <p:nvPr/>
        </p:nvPicPr>
        <p:blipFill>
          <a:blip xmlns:r="http://schemas.openxmlformats.org/officeDocument/2006/relationships" xmlns:a="http://schemas.openxmlformats.org/drawingml/2006/main" r:embed="Rc7897d7e37dc457a"/>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F1C6A36-2BD1-4D43-8DC9-7EEDA0A3054D}"/>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Nhật ký nước</a:t>
            </a:r>
          </a:p>
        </p:txBody>
      </p:sp>
      <p:pic>
        <p:nvPicPr>
          <p:cNvPr id="13" name="">
            <a:extLst xmlns:a="http://schemas.openxmlformats.org/drawingml/2006/main">
              <a:ext uri="{FF2B5EF4-FFF2-40B4-BE49-F238E27FC236}">
                <a16:creationId xmlns:a16="http://schemas.microsoft.com/office/drawing/2014/main" id="{D0B51D0C-D822-41A1-93FC-D30C0D861ACD}"/>
              </a:ext>
            </a:extLst>
          </p:cNvPr>
          <p:cNvPicPr>
            <a:picLocks xmlns:a="http://schemas.openxmlformats.org/drawingml/2006/main" noChangeAspect="1"/>
          </p:cNvPicPr>
          <p:nvPr/>
        </p:nvPicPr>
        <p:blipFill>
          <a:blip xmlns:r="http://schemas.openxmlformats.org/officeDocument/2006/relationships" xmlns:a="http://schemas.openxmlformats.org/drawingml/2006/main" r:embed="R9111283c195f4ad7"/>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D5EBC4E5-48AE-44C2-B7B1-649ACAC6FFC8}"/>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Sửa lần uống</a:t>
            </a:r>
          </a:p>
        </p:txBody>
      </p:sp>
      <p:pic>
        <p:nvPicPr>
          <p:cNvPr id="15" name="">
            <a:extLst xmlns:a="http://schemas.openxmlformats.org/drawingml/2006/main">
              <a:ext uri="{FF2B5EF4-FFF2-40B4-BE49-F238E27FC236}">
                <a16:creationId xmlns:a16="http://schemas.microsoft.com/office/drawing/2014/main" id="{5C6685EC-FDD6-4B47-9FE7-6BB48E944C0B}"/>
              </a:ext>
            </a:extLst>
          </p:cNvPr>
          <p:cNvPicPr>
            <a:picLocks xmlns:a="http://schemas.openxmlformats.org/drawingml/2006/main" noChangeAspect="1"/>
          </p:cNvPicPr>
          <p:nvPr/>
        </p:nvPicPr>
        <p:blipFill>
          <a:blip xmlns:r="http://schemas.openxmlformats.org/officeDocument/2006/relationships" xmlns:a="http://schemas.openxmlformats.org/drawingml/2006/main" r:embed="R4ee1d7b9167e47e9"/>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44602B4-70FB-4D2E-83DB-24DACE16659C}"/>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Cài đặt nước</a:t>
            </a:r>
          </a:p>
        </p:txBody>
      </p:sp>
    </p:spTree>
    <p:extLst>
      <p:ext uri="{BB962C8B-B14F-4D97-AF65-F5344CB8AC3E}">
        <p14:creationId xmlns:p14="http://schemas.microsoft.com/office/powerpoint/2010/main" val="238718002"/>
      </p:ext>
    </p:extLst>
  </p:cSld>
</p:sld>
</file>

<file path=ppt/slides/slide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D963DD-AC90-4288-BF15-19307464C37F}"/>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STATSFRAGMENT</a:t>
            </a:r>
          </a:p>
        </p:txBody>
      </p:sp>
      <p:sp>
        <p:nvSpPr>
          <p:cNvPr id="2" name="">
            <a:extLst xmlns:a="http://schemas.openxmlformats.org/drawingml/2006/main">
              <a:ext uri="{FF2B5EF4-FFF2-40B4-BE49-F238E27FC236}">
                <a16:creationId xmlns:a16="http://schemas.microsoft.com/office/drawing/2014/main" id="{E71C287D-1CFA-482B-8DFD-DA1BB7E39E0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Màn hình thống kê và trạng thái dữ liệu</a:t>
            </a:r>
          </a:p>
        </p:txBody>
      </p:sp>
      <p:sp>
        <p:nvSpPr>
          <p:cNvPr id="3" name="">
            <a:extLst xmlns:a="http://schemas.openxmlformats.org/drawingml/2006/main">
              <a:ext uri="{FF2B5EF4-FFF2-40B4-BE49-F238E27FC236}">
                <a16:creationId xmlns:a16="http://schemas.microsoft.com/office/drawing/2014/main" id="{153AB02B-39A3-43AA-A7F3-834B15C5FA03}"/>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F203D24F-56C9-459E-B87E-D10F3649EC0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5BB9CCC-E1E1-4FEF-A1F6-7FB4F66CCD02}"/>
              </a:ext>
            </a:extLst>
          </p:cNvPr>
          <p:cNvSpPr>
            <a:spLocks xmlns:a="http://schemas.openxmlformats.org/drawingml/2006/main" noGrp="1"/>
          </p:cNvSpPr>
          <p:nvPr/>
        </p:nvSpPr>
        <p:spPr>
          <a:xfrm xmlns:a="http://schemas.openxmlformats.org/drawingml/2006/main">
            <a:off x="514350" y="161925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Chọn khoảng thời gian</a:t>
            </a:r>
          </a:p>
        </p:txBody>
      </p:sp>
      <p:sp>
        <p:nvSpPr>
          <p:cNvPr id="6" name="">
            <a:extLst xmlns:a="http://schemas.openxmlformats.org/drawingml/2006/main">
              <a:ext uri="{FF2B5EF4-FFF2-40B4-BE49-F238E27FC236}">
                <a16:creationId xmlns:a16="http://schemas.microsoft.com/office/drawing/2014/main" id="{59DA1770-CC1D-4C7F-92BE-97AD8768185D}"/>
              </a:ext>
            </a:extLst>
          </p:cNvPr>
          <p:cNvSpPr>
            <a:spLocks xmlns:a="http://schemas.openxmlformats.org/drawingml/2006/main" noGrp="1"/>
          </p:cNvSpPr>
          <p:nvPr/>
        </p:nvSpPr>
        <p:spPr>
          <a:xfrm xmlns:a="http://schemas.openxmlformats.org/drawingml/2006/main">
            <a:off x="514350" y="204787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Theo dõi 7 hoặc 30 ngày, chọn chỉ số cần xem.</a:t>
            </a:r>
          </a:p>
        </p:txBody>
      </p:sp>
      <p:sp>
        <p:nvSpPr>
          <p:cNvPr id="7" name="">
            <a:extLst xmlns:a="http://schemas.openxmlformats.org/drawingml/2006/main">
              <a:ext uri="{FF2B5EF4-FFF2-40B4-BE49-F238E27FC236}">
                <a16:creationId xmlns:a16="http://schemas.microsoft.com/office/drawing/2014/main" id="{26214E1D-B74F-40F2-8734-F55B197BBF05}"/>
              </a:ext>
            </a:extLst>
          </p:cNvPr>
          <p:cNvSpPr>
            <a:spLocks xmlns:a="http://schemas.openxmlformats.org/drawingml/2006/main" noGrp="1"/>
          </p:cNvSpPr>
          <p:nvPr/>
        </p:nvSpPr>
        <p:spPr>
          <a:xfrm xmlns:a="http://schemas.openxmlformats.org/drawingml/2006/main">
            <a:off x="514350" y="30956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Biểu đồ theo dữ liệu</a:t>
            </a:r>
          </a:p>
        </p:txBody>
      </p:sp>
      <p:sp>
        <p:nvSpPr>
          <p:cNvPr id="8" name="">
            <a:extLst xmlns:a="http://schemas.openxmlformats.org/drawingml/2006/main">
              <a:ext uri="{FF2B5EF4-FFF2-40B4-BE49-F238E27FC236}">
                <a16:creationId xmlns:a16="http://schemas.microsoft.com/office/drawing/2014/main" id="{A5BD2C31-66A5-4457-BEA4-31A0211CF70F}"/>
              </a:ext>
            </a:extLst>
          </p:cNvPr>
          <p:cNvSpPr>
            <a:spLocks xmlns:a="http://schemas.openxmlformats.org/drawingml/2006/main" noGrp="1"/>
          </p:cNvSpPr>
          <p:nvPr/>
        </p:nvSpPr>
        <p:spPr>
          <a:xfrm xmlns:a="http://schemas.openxmlformats.org/drawingml/2006/main">
            <a:off x="514350" y="3524250"/>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đo dùng biểu đồ đường. Nước uống dùng biểu đồ cột theo ngày.</a:t>
            </a:r>
          </a:p>
        </p:txBody>
      </p:sp>
      <p:sp>
        <p:nvSpPr>
          <p:cNvPr id="9" name="">
            <a:extLst xmlns:a="http://schemas.openxmlformats.org/drawingml/2006/main">
              <a:ext uri="{FF2B5EF4-FFF2-40B4-BE49-F238E27FC236}">
                <a16:creationId xmlns:a16="http://schemas.microsoft.com/office/drawing/2014/main" id="{77A26C06-5379-4F90-BD2C-AC441D4F1A1E}"/>
              </a:ext>
            </a:extLst>
          </p:cNvPr>
          <p:cNvSpPr>
            <a:spLocks xmlns:a="http://schemas.openxmlformats.org/drawingml/2006/main" noGrp="1"/>
          </p:cNvSpPr>
          <p:nvPr/>
        </p:nvSpPr>
        <p:spPr>
          <a:xfrm xmlns:a="http://schemas.openxmlformats.org/drawingml/2006/main">
            <a:off x="514350" y="4572000"/>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64C47"/>
                </a:solidFill>
                <a:latin typeface="Arial"/>
                <a:ea typeface="Arial"/>
                <a:cs typeface="Arial"/>
              </a:defRPr>
            </a:defPPr>
            <a:lvl1pPr>
              <a:defRPr sz="1875" b="1">
                <a:solidFill>
                  <a:srgbClr val="164C47"/>
                </a:solidFill>
                <a:latin typeface="Arial"/>
                <a:ea typeface="Arial"/>
                <a:cs typeface="Arial"/>
              </a:defRPr>
            </a:lvl1pPr>
            <a:lvl2pPr>
              <a:defRPr sz="1875" b="1">
                <a:solidFill>
                  <a:srgbClr val="164C47"/>
                </a:solidFill>
                <a:latin typeface="Arial"/>
                <a:ea typeface="Arial"/>
                <a:cs typeface="Arial"/>
              </a:defRPr>
            </a:lvl2pPr>
            <a:lvl3pPr>
              <a:defRPr sz="1875" b="1">
                <a:solidFill>
                  <a:srgbClr val="164C47"/>
                </a:solidFill>
                <a:latin typeface="Arial"/>
                <a:ea typeface="Arial"/>
                <a:cs typeface="Arial"/>
              </a:defRPr>
            </a:lvl3pPr>
            <a:lvl4pPr>
              <a:defRPr sz="1875" b="1">
                <a:solidFill>
                  <a:srgbClr val="164C47"/>
                </a:solidFill>
                <a:latin typeface="Arial"/>
                <a:ea typeface="Arial"/>
                <a:cs typeface="Arial"/>
              </a:defRPr>
            </a:lvl4pPr>
            <a:lvl5pPr>
              <a:defRPr sz="1875" b="1">
                <a:solidFill>
                  <a:srgbClr val="164C47"/>
                </a:solidFill>
                <a:latin typeface="Arial"/>
                <a:ea typeface="Arial"/>
                <a:cs typeface="Arial"/>
              </a:defRPr>
            </a:lvl5pPr>
            <a:lvl6pPr>
              <a:defRPr sz="1875" b="1">
                <a:solidFill>
                  <a:srgbClr val="164C47"/>
                </a:solidFill>
                <a:latin typeface="Arial"/>
                <a:ea typeface="Arial"/>
                <a:cs typeface="Arial"/>
              </a:defRPr>
            </a:lvl6pPr>
            <a:lvl7pPr>
              <a:defRPr sz="1875" b="1">
                <a:solidFill>
                  <a:srgbClr val="164C47"/>
                </a:solidFill>
                <a:latin typeface="Arial"/>
                <a:ea typeface="Arial"/>
                <a:cs typeface="Arial"/>
              </a:defRPr>
            </a:lvl7pPr>
            <a:lvl8pPr>
              <a:defRPr sz="1875" b="1">
                <a:solidFill>
                  <a:srgbClr val="164C47"/>
                </a:solidFill>
                <a:latin typeface="Arial"/>
                <a:ea typeface="Arial"/>
                <a:cs typeface="Arial"/>
              </a:defRPr>
            </a:lvl8pPr>
            <a:lvl9pPr>
              <a:defRPr sz="1875" b="1">
                <a:solidFill>
                  <a:srgbClr val="164C47"/>
                </a:solidFill>
                <a:latin typeface="Arial"/>
                <a:ea typeface="Arial"/>
                <a:cs typeface="Arial"/>
              </a:defRPr>
            </a:lvl9pPr>
          </a:lstStyle>
          <a:p xmlns:a="http://schemas.openxmlformats.org/drawingml/2006/main">
            <a:pPr>
              <a:defRPr sz="1875" b="1">
                <a:solidFill>
                  <a:srgbClr val="164C47"/>
                </a:solidFill>
                <a:latin typeface="Arial"/>
                <a:ea typeface="Arial"/>
                <a:cs typeface="Arial"/>
              </a:defRPr>
            </a:pPr>
            <a:r>
              <a:rPr sz="1875" b="1">
                <a:solidFill>
                  <a:srgbClr val="164C47"/>
                </a:solidFill>
                <a:latin typeface="Arial"/>
                <a:ea typeface="Arial"/>
                <a:cs typeface="Arial"/>
              </a:rPr>
              <a:t>Bối cảnh và dữ liệu trống</a:t>
            </a:r>
          </a:p>
        </p:txBody>
      </p:sp>
      <p:sp>
        <p:nvSpPr>
          <p:cNvPr id="10" name="">
            <a:extLst xmlns:a="http://schemas.openxmlformats.org/drawingml/2006/main">
              <a:ext uri="{FF2B5EF4-FFF2-40B4-BE49-F238E27FC236}">
                <a16:creationId xmlns:a16="http://schemas.microsoft.com/office/drawing/2014/main" id="{98957680-50EC-41C8-A924-99CD04DDF7AE}"/>
              </a:ext>
            </a:extLst>
          </p:cNvPr>
          <p:cNvSpPr>
            <a:spLocks xmlns:a="http://schemas.openxmlformats.org/drawingml/2006/main" noGrp="1"/>
          </p:cNvSpPr>
          <p:nvPr/>
        </p:nvSpPr>
        <p:spPr>
          <a:xfrm xmlns:a="http://schemas.openxmlformats.org/drawingml/2006/main">
            <a:off x="514350" y="5000625"/>
            <a:ext cx="3476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Đường huyết lọc theo bữa ăn. Khi chưa có dữ liệu, hiển thị trạng thái trống.</a:t>
            </a:r>
          </a:p>
        </p:txBody>
      </p:sp>
      <p:pic>
        <p:nvPicPr>
          <p:cNvPr id="11" name="">
            <a:extLst xmlns:a="http://schemas.openxmlformats.org/drawingml/2006/main">
              <a:ext uri="{FF2B5EF4-FFF2-40B4-BE49-F238E27FC236}">
                <a16:creationId xmlns:a16="http://schemas.microsoft.com/office/drawing/2014/main" id="{35E4DBA8-4982-49A8-95B8-4E5A4D808E0B}"/>
              </a:ext>
            </a:extLst>
          </p:cNvPr>
          <p:cNvPicPr>
            <a:picLocks xmlns:a="http://schemas.openxmlformats.org/drawingml/2006/main" noChangeAspect="1"/>
          </p:cNvPicPr>
          <p:nvPr/>
        </p:nvPicPr>
        <p:blipFill>
          <a:blip xmlns:r="http://schemas.openxmlformats.org/officeDocument/2006/relationships" xmlns:a="http://schemas.openxmlformats.org/drawingml/2006/main" r:embed="R4ef7bb5844234904"/>
          <a:stretch xmlns:a="http://schemas.openxmlformats.org/drawingml/2006/main"/>
        </p:blipFill>
        <p:spPr>
          <a:xfrm xmlns:a="http://schemas.openxmlformats.org/drawingml/2006/main">
            <a:off x="4452144" y="1409700"/>
            <a:ext cx="2100263" cy="46672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5FA2BDA-327B-482A-94C6-188BD762ED31}"/>
              </a:ext>
            </a:extLst>
          </p:cNvPr>
          <p:cNvSpPr>
            <a:spLocks xmlns:a="http://schemas.openxmlformats.org/drawingml/2006/main" noGrp="1"/>
          </p:cNvSpPr>
          <p:nvPr/>
        </p:nvSpPr>
        <p:spPr>
          <a:xfrm xmlns:a="http://schemas.openxmlformats.org/drawingml/2006/main">
            <a:off x="4305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Đường huyết</a:t>
            </a:r>
          </a:p>
        </p:txBody>
      </p:sp>
      <p:pic>
        <p:nvPicPr>
          <p:cNvPr id="13" name="">
            <a:extLst xmlns:a="http://schemas.openxmlformats.org/drawingml/2006/main">
              <a:ext uri="{FF2B5EF4-FFF2-40B4-BE49-F238E27FC236}">
                <a16:creationId xmlns:a16="http://schemas.microsoft.com/office/drawing/2014/main" id="{7F58A34F-B2D8-4386-B6B8-8454C6C2D9C5}"/>
              </a:ext>
            </a:extLst>
          </p:cNvPr>
          <p:cNvPicPr>
            <a:picLocks xmlns:a="http://schemas.openxmlformats.org/drawingml/2006/main" noChangeAspect="1"/>
          </p:cNvPicPr>
          <p:nvPr/>
        </p:nvPicPr>
        <p:blipFill>
          <a:blip xmlns:r="http://schemas.openxmlformats.org/officeDocument/2006/relationships" xmlns:a="http://schemas.openxmlformats.org/drawingml/2006/main" r:embed="R1ec6973d04184070"/>
          <a:stretch xmlns:a="http://schemas.openxmlformats.org/drawingml/2006/main"/>
        </p:blipFill>
        <p:spPr>
          <a:xfrm xmlns:a="http://schemas.openxmlformats.org/drawingml/2006/main">
            <a:off x="6865144" y="1409700"/>
            <a:ext cx="2100263" cy="4667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DADDF6B-92C9-48DB-8625-0F571592B2B1}"/>
              </a:ext>
            </a:extLst>
          </p:cNvPr>
          <p:cNvSpPr>
            <a:spLocks xmlns:a="http://schemas.openxmlformats.org/drawingml/2006/main" noGrp="1"/>
          </p:cNvSpPr>
          <p:nvPr/>
        </p:nvSpPr>
        <p:spPr>
          <a:xfrm xmlns:a="http://schemas.openxmlformats.org/drawingml/2006/main">
            <a:off x="6718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Nước uống</a:t>
            </a:r>
          </a:p>
        </p:txBody>
      </p:sp>
      <p:pic>
        <p:nvPicPr>
          <p:cNvPr id="15" name="">
            <a:extLst xmlns:a="http://schemas.openxmlformats.org/drawingml/2006/main">
              <a:ext uri="{FF2B5EF4-FFF2-40B4-BE49-F238E27FC236}">
                <a16:creationId xmlns:a16="http://schemas.microsoft.com/office/drawing/2014/main" id="{77B2F0F0-0E1D-4D07-AF5D-92DCEAA25BB4}"/>
              </a:ext>
            </a:extLst>
          </p:cNvPr>
          <p:cNvPicPr>
            <a:picLocks xmlns:a="http://schemas.openxmlformats.org/drawingml/2006/main" noChangeAspect="1"/>
          </p:cNvPicPr>
          <p:nvPr/>
        </p:nvPicPr>
        <p:blipFill>
          <a:blip xmlns:r="http://schemas.openxmlformats.org/officeDocument/2006/relationships" xmlns:a="http://schemas.openxmlformats.org/drawingml/2006/main" r:embed="R65699e75880e4500"/>
          <a:stretch xmlns:a="http://schemas.openxmlformats.org/drawingml/2006/main"/>
        </p:blipFill>
        <p:spPr>
          <a:xfrm xmlns:a="http://schemas.openxmlformats.org/drawingml/2006/main">
            <a:off x="9278144" y="1409700"/>
            <a:ext cx="2100263" cy="46672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EDA33D1-DE22-4E93-8719-46D74DE76CFB}"/>
              </a:ext>
            </a:extLst>
          </p:cNvPr>
          <p:cNvSpPr>
            <a:spLocks xmlns:a="http://schemas.openxmlformats.org/drawingml/2006/main" noGrp="1"/>
          </p:cNvSpPr>
          <p:nvPr/>
        </p:nvSpPr>
        <p:spPr>
          <a:xfrm xmlns:a="http://schemas.openxmlformats.org/drawingml/2006/main">
            <a:off x="9131300" y="6143625"/>
            <a:ext cx="2393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66"/>
                </a:solidFill>
                <a:latin typeface="Arial"/>
                <a:ea typeface="Arial"/>
                <a:cs typeface="Arial"/>
              </a:defRPr>
            </a:defPPr>
            <a:lvl1pPr>
              <a:defRPr sz="1275" b="0">
                <a:solidFill>
                  <a:srgbClr val="526B66"/>
                </a:solidFill>
                <a:latin typeface="Arial"/>
                <a:ea typeface="Arial"/>
                <a:cs typeface="Arial"/>
              </a:defRPr>
            </a:lvl1pPr>
            <a:lvl2pPr>
              <a:defRPr sz="1275" b="0">
                <a:solidFill>
                  <a:srgbClr val="526B66"/>
                </a:solidFill>
                <a:latin typeface="Arial"/>
                <a:ea typeface="Arial"/>
                <a:cs typeface="Arial"/>
              </a:defRPr>
            </a:lvl2pPr>
            <a:lvl3pPr>
              <a:defRPr sz="1275" b="0">
                <a:solidFill>
                  <a:srgbClr val="526B66"/>
                </a:solidFill>
                <a:latin typeface="Arial"/>
                <a:ea typeface="Arial"/>
                <a:cs typeface="Arial"/>
              </a:defRPr>
            </a:lvl3pPr>
            <a:lvl4pPr>
              <a:defRPr sz="1275" b="0">
                <a:solidFill>
                  <a:srgbClr val="526B66"/>
                </a:solidFill>
                <a:latin typeface="Arial"/>
                <a:ea typeface="Arial"/>
                <a:cs typeface="Arial"/>
              </a:defRPr>
            </a:lvl4pPr>
            <a:lvl5pPr>
              <a:defRPr sz="1275" b="0">
                <a:solidFill>
                  <a:srgbClr val="526B66"/>
                </a:solidFill>
                <a:latin typeface="Arial"/>
                <a:ea typeface="Arial"/>
                <a:cs typeface="Arial"/>
              </a:defRPr>
            </a:lvl5pPr>
            <a:lvl6pPr>
              <a:defRPr sz="1275" b="0">
                <a:solidFill>
                  <a:srgbClr val="526B66"/>
                </a:solidFill>
                <a:latin typeface="Arial"/>
                <a:ea typeface="Arial"/>
                <a:cs typeface="Arial"/>
              </a:defRPr>
            </a:lvl6pPr>
            <a:lvl7pPr>
              <a:defRPr sz="1275" b="0">
                <a:solidFill>
                  <a:srgbClr val="526B66"/>
                </a:solidFill>
                <a:latin typeface="Arial"/>
                <a:ea typeface="Arial"/>
                <a:cs typeface="Arial"/>
              </a:defRPr>
            </a:lvl7pPr>
            <a:lvl8pPr>
              <a:defRPr sz="1275" b="0">
                <a:solidFill>
                  <a:srgbClr val="526B66"/>
                </a:solidFill>
                <a:latin typeface="Arial"/>
                <a:ea typeface="Arial"/>
                <a:cs typeface="Arial"/>
              </a:defRPr>
            </a:lvl8pPr>
            <a:lvl9pPr>
              <a:defRPr sz="1275" b="0">
                <a:solidFill>
                  <a:srgbClr val="526B66"/>
                </a:solidFill>
                <a:latin typeface="Arial"/>
                <a:ea typeface="Arial"/>
                <a:cs typeface="Arial"/>
              </a:defRPr>
            </a:lvl9pPr>
          </a:lstStyle>
          <a:p xmlns:a="http://schemas.openxmlformats.org/drawingml/2006/main">
            <a:pPr>
              <a:defRPr sz="1275" b="0">
                <a:solidFill>
                  <a:srgbClr val="526B66"/>
                </a:solidFill>
                <a:latin typeface="Arial"/>
                <a:ea typeface="Arial"/>
                <a:cs typeface="Arial"/>
              </a:defRPr>
            </a:pPr>
            <a:r>
              <a:rPr sz="1275" b="0">
                <a:solidFill>
                  <a:srgbClr val="526B66"/>
                </a:solidFill>
                <a:latin typeface="Arial"/>
                <a:ea typeface="Arial"/>
                <a:cs typeface="Arial"/>
              </a:rPr>
              <a:t>Chưa có dữ liệu</a:t>
            </a:r>
          </a:p>
        </p:txBody>
      </p:sp>
    </p:spTree>
    <p:extLst>
      <p:ext uri="{BB962C8B-B14F-4D97-AF65-F5344CB8AC3E}">
        <p14:creationId xmlns:p14="http://schemas.microsoft.com/office/powerpoint/2010/main" val="616193880"/>
      </p:ext>
    </p:extLst>
  </p:cSld>
</p:sld>
</file>

<file path=ppt/slides/slide1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70FBD6-122B-49C2-A6B0-06B5818A6EA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1.3  TỔNG HỢP LUỒNG ĐIỀU HƯỚNG</a:t>
            </a:r>
          </a:p>
        </p:txBody>
      </p:sp>
      <p:sp>
        <p:nvSpPr>
          <p:cNvPr id="2" name="">
            <a:extLst xmlns:a="http://schemas.openxmlformats.org/drawingml/2006/main">
              <a:ext uri="{FF2B5EF4-FFF2-40B4-BE49-F238E27FC236}">
                <a16:creationId xmlns:a16="http://schemas.microsoft.com/office/drawing/2014/main" id="{8FBA9E6A-6F00-497C-91D2-7BF4D85F841C}"/>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Sơ đồ liên kết các màn hình chính</a:t>
            </a:r>
          </a:p>
        </p:txBody>
      </p:sp>
      <p:sp>
        <p:nvSpPr>
          <p:cNvPr id="3" name="">
            <a:extLst xmlns:a="http://schemas.openxmlformats.org/drawingml/2006/main">
              <a:ext uri="{FF2B5EF4-FFF2-40B4-BE49-F238E27FC236}">
                <a16:creationId xmlns:a16="http://schemas.microsoft.com/office/drawing/2014/main" id="{E5D783ED-867F-48F0-B51A-CA2322FBA019}"/>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8563F366-A021-438A-B770-540F95C33C3B}"/>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A00B4B7E-B3F4-43B7-BE05-429EF491DC1A}"/>
              </a:ext>
            </a:extLst>
          </p:cNvPr>
          <p:cNvPicPr>
            <a:picLocks xmlns:a="http://schemas.openxmlformats.org/drawingml/2006/main" noChangeAspect="1"/>
          </p:cNvPicPr>
          <p:nvPr/>
        </p:nvPicPr>
        <p:blipFill>
          <a:blip xmlns:r="http://schemas.openxmlformats.org/officeDocument/2006/relationships" xmlns:a="http://schemas.openxmlformats.org/drawingml/2006/main" r:embed="Re66058e90f234548"/>
          <a:stretch xmlns:a="http://schemas.openxmlformats.org/drawingml/2006/main"/>
        </p:blipFill>
        <p:spPr>
          <a:xfrm xmlns:a="http://schemas.openxmlformats.org/drawingml/2006/main">
            <a:off x="3512850" y="1238250"/>
            <a:ext cx="5166299" cy="4905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8D3092A-5973-455C-8987-76182EBD284B}"/>
              </a:ext>
            </a:extLst>
          </p:cNvPr>
          <p:cNvSpPr>
            <a:spLocks xmlns:a="http://schemas.openxmlformats.org/drawingml/2006/main" noGrp="1"/>
          </p:cNvSpPr>
          <p:nvPr/>
        </p:nvSpPr>
        <p:spPr>
          <a:xfrm xmlns:a="http://schemas.openxmlformats.org/drawingml/2006/main">
            <a:off x="514350" y="62103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66"/>
                </a:solidFill>
                <a:latin typeface="Arial"/>
                <a:ea typeface="Arial"/>
                <a:cs typeface="Arial"/>
              </a:defRPr>
            </a:defPPr>
            <a:lvl1pPr>
              <a:defRPr sz="1425" b="0">
                <a:solidFill>
                  <a:srgbClr val="526B66"/>
                </a:solidFill>
                <a:latin typeface="Arial"/>
                <a:ea typeface="Arial"/>
                <a:cs typeface="Arial"/>
              </a:defRPr>
            </a:lvl1pPr>
            <a:lvl2pPr>
              <a:defRPr sz="1425" b="0">
                <a:solidFill>
                  <a:srgbClr val="526B66"/>
                </a:solidFill>
                <a:latin typeface="Arial"/>
                <a:ea typeface="Arial"/>
                <a:cs typeface="Arial"/>
              </a:defRPr>
            </a:lvl2pPr>
            <a:lvl3pPr>
              <a:defRPr sz="1425" b="0">
                <a:solidFill>
                  <a:srgbClr val="526B66"/>
                </a:solidFill>
                <a:latin typeface="Arial"/>
                <a:ea typeface="Arial"/>
                <a:cs typeface="Arial"/>
              </a:defRPr>
            </a:lvl3pPr>
            <a:lvl4pPr>
              <a:defRPr sz="1425" b="0">
                <a:solidFill>
                  <a:srgbClr val="526B66"/>
                </a:solidFill>
                <a:latin typeface="Arial"/>
                <a:ea typeface="Arial"/>
                <a:cs typeface="Arial"/>
              </a:defRPr>
            </a:lvl4pPr>
            <a:lvl5pPr>
              <a:defRPr sz="1425" b="0">
                <a:solidFill>
                  <a:srgbClr val="526B66"/>
                </a:solidFill>
                <a:latin typeface="Arial"/>
                <a:ea typeface="Arial"/>
                <a:cs typeface="Arial"/>
              </a:defRPr>
            </a:lvl5pPr>
            <a:lvl6pPr>
              <a:defRPr sz="1425" b="0">
                <a:solidFill>
                  <a:srgbClr val="526B66"/>
                </a:solidFill>
                <a:latin typeface="Arial"/>
                <a:ea typeface="Arial"/>
                <a:cs typeface="Arial"/>
              </a:defRPr>
            </a:lvl6pPr>
            <a:lvl7pPr>
              <a:defRPr sz="1425" b="0">
                <a:solidFill>
                  <a:srgbClr val="526B66"/>
                </a:solidFill>
                <a:latin typeface="Arial"/>
                <a:ea typeface="Arial"/>
                <a:cs typeface="Arial"/>
              </a:defRPr>
            </a:lvl7pPr>
            <a:lvl8pPr>
              <a:defRPr sz="1425" b="0">
                <a:solidFill>
                  <a:srgbClr val="526B66"/>
                </a:solidFill>
                <a:latin typeface="Arial"/>
                <a:ea typeface="Arial"/>
                <a:cs typeface="Arial"/>
              </a:defRPr>
            </a:lvl8pPr>
            <a:lvl9pPr>
              <a:defRPr sz="1425" b="0">
                <a:solidFill>
                  <a:srgbClr val="526B66"/>
                </a:solidFill>
                <a:latin typeface="Arial"/>
                <a:ea typeface="Arial"/>
                <a:cs typeface="Arial"/>
              </a:defRPr>
            </a:lvl9pPr>
          </a:lstStyle>
          <a:p xmlns:a="http://schemas.openxmlformats.org/drawingml/2006/main">
            <a:pPr>
              <a:defRPr sz="1425" b="0">
                <a:solidFill>
                  <a:srgbClr val="526B66"/>
                </a:solidFill>
                <a:latin typeface="Arial"/>
                <a:ea typeface="Arial"/>
                <a:cs typeface="Arial"/>
              </a:defRPr>
            </a:pPr>
            <a:r>
              <a:rPr sz="1425" b="0">
                <a:solidFill>
                  <a:srgbClr val="526B66"/>
                </a:solidFill>
                <a:latin typeface="Arial"/>
                <a:ea typeface="Arial"/>
                <a:cs typeface="Arial"/>
              </a:rPr>
              <a:t>MainActivity điều hướng bốn tab. Các tác vụ và Hồ sơ có thể có nhiều điểm truy cập.</a:t>
            </a:r>
          </a:p>
        </p:txBody>
      </p:sp>
    </p:spTree>
    <p:extLst>
      <p:ext uri="{BB962C8B-B14F-4D97-AF65-F5344CB8AC3E}">
        <p14:creationId xmlns:p14="http://schemas.microsoft.com/office/powerpoint/2010/main" val="2093762987"/>
      </p:ext>
    </p:extLst>
  </p:cSld>
</p:sld>
</file>

<file path=ppt/slides/slide11.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CFFA14-1A14-4810-BBFA-AF33B97B6FE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SƠ ĐỒ CƠ SỞ DỮ LIỆU</a:t>
            </a:r>
          </a:p>
        </p:txBody>
      </p:sp>
      <p:sp>
        <p:nvSpPr>
          <p:cNvPr id="2" name="">
            <a:extLst xmlns:a="http://schemas.openxmlformats.org/drawingml/2006/main">
              <a:ext uri="{FF2B5EF4-FFF2-40B4-BE49-F238E27FC236}">
                <a16:creationId xmlns:a16="http://schemas.microsoft.com/office/drawing/2014/main" id="{47BBF746-D107-4999-952A-D550F8A5CDF8}"/>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Quan hệ giữa năm bảng SQLite</a:t>
            </a:r>
          </a:p>
        </p:txBody>
      </p:sp>
      <p:sp>
        <p:nvSpPr>
          <p:cNvPr id="3" name="">
            <a:extLst xmlns:a="http://schemas.openxmlformats.org/drawingml/2006/main">
              <a:ext uri="{FF2B5EF4-FFF2-40B4-BE49-F238E27FC236}">
                <a16:creationId xmlns:a16="http://schemas.microsoft.com/office/drawing/2014/main" id="{17379049-47AF-4741-8309-3C75397B2094}"/>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869E428-F105-48BA-A9AE-0B2C0B5598A7}"/>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01E46DE6-99D3-41C3-8623-CB6B5B716E8B}"/>
              </a:ext>
            </a:extLst>
          </p:cNvPr>
          <p:cNvPicPr>
            <a:picLocks xmlns:a="http://schemas.openxmlformats.org/drawingml/2006/main" noChangeAspect="1"/>
          </p:cNvPicPr>
          <p:nvPr/>
        </p:nvPicPr>
        <p:blipFill>
          <a:blip xmlns:r="http://schemas.openxmlformats.org/officeDocument/2006/relationships" xmlns:a="http://schemas.openxmlformats.org/drawingml/2006/main" r:embed="R13624e3247fe417c"/>
          <a:stretch xmlns:a="http://schemas.openxmlformats.org/drawingml/2006/main"/>
        </p:blipFill>
        <p:spPr>
          <a:xfrm xmlns:a="http://schemas.openxmlformats.org/drawingml/2006/main">
            <a:off x="3762632" y="1238250"/>
            <a:ext cx="4666735" cy="4905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46BEB8-69C7-4AC7-98BC-7812A885193A}"/>
              </a:ext>
            </a:extLst>
          </p:cNvPr>
          <p:cNvSpPr>
            <a:spLocks xmlns:a="http://schemas.openxmlformats.org/drawingml/2006/main" noGrp="1"/>
          </p:cNvSpPr>
          <p:nvPr/>
        </p:nvSpPr>
        <p:spPr>
          <a:xfrm xmlns:a="http://schemas.openxmlformats.org/drawingml/2006/main">
            <a:off x="514350" y="621030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66"/>
                </a:solidFill>
                <a:latin typeface="Arial"/>
                <a:ea typeface="Arial"/>
                <a:cs typeface="Arial"/>
              </a:defRPr>
            </a:defPPr>
            <a:lvl1pPr>
              <a:defRPr sz="1425" b="0">
                <a:solidFill>
                  <a:srgbClr val="526B66"/>
                </a:solidFill>
                <a:latin typeface="Arial"/>
                <a:ea typeface="Arial"/>
                <a:cs typeface="Arial"/>
              </a:defRPr>
            </a:lvl1pPr>
            <a:lvl2pPr>
              <a:defRPr sz="1425" b="0">
                <a:solidFill>
                  <a:srgbClr val="526B66"/>
                </a:solidFill>
                <a:latin typeface="Arial"/>
                <a:ea typeface="Arial"/>
                <a:cs typeface="Arial"/>
              </a:defRPr>
            </a:lvl2pPr>
            <a:lvl3pPr>
              <a:defRPr sz="1425" b="0">
                <a:solidFill>
                  <a:srgbClr val="526B66"/>
                </a:solidFill>
                <a:latin typeface="Arial"/>
                <a:ea typeface="Arial"/>
                <a:cs typeface="Arial"/>
              </a:defRPr>
            </a:lvl3pPr>
            <a:lvl4pPr>
              <a:defRPr sz="1425" b="0">
                <a:solidFill>
                  <a:srgbClr val="526B66"/>
                </a:solidFill>
                <a:latin typeface="Arial"/>
                <a:ea typeface="Arial"/>
                <a:cs typeface="Arial"/>
              </a:defRPr>
            </a:lvl4pPr>
            <a:lvl5pPr>
              <a:defRPr sz="1425" b="0">
                <a:solidFill>
                  <a:srgbClr val="526B66"/>
                </a:solidFill>
                <a:latin typeface="Arial"/>
                <a:ea typeface="Arial"/>
                <a:cs typeface="Arial"/>
              </a:defRPr>
            </a:lvl5pPr>
            <a:lvl6pPr>
              <a:defRPr sz="1425" b="0">
                <a:solidFill>
                  <a:srgbClr val="526B66"/>
                </a:solidFill>
                <a:latin typeface="Arial"/>
                <a:ea typeface="Arial"/>
                <a:cs typeface="Arial"/>
              </a:defRPr>
            </a:lvl6pPr>
            <a:lvl7pPr>
              <a:defRPr sz="1425" b="0">
                <a:solidFill>
                  <a:srgbClr val="526B66"/>
                </a:solidFill>
                <a:latin typeface="Arial"/>
                <a:ea typeface="Arial"/>
                <a:cs typeface="Arial"/>
              </a:defRPr>
            </a:lvl7pPr>
            <a:lvl8pPr>
              <a:defRPr sz="1425" b="0">
                <a:solidFill>
                  <a:srgbClr val="526B66"/>
                </a:solidFill>
                <a:latin typeface="Arial"/>
                <a:ea typeface="Arial"/>
                <a:cs typeface="Arial"/>
              </a:defRPr>
            </a:lvl8pPr>
            <a:lvl9pPr>
              <a:defRPr sz="1425" b="0">
                <a:solidFill>
                  <a:srgbClr val="526B66"/>
                </a:solidFill>
                <a:latin typeface="Arial"/>
                <a:ea typeface="Arial"/>
                <a:cs typeface="Arial"/>
              </a:defRPr>
            </a:lvl9pPr>
          </a:lstStyle>
          <a:p xmlns:a="http://schemas.openxmlformats.org/drawingml/2006/main">
            <a:pPr>
              <a:defRPr sz="1425" b="0">
                <a:solidFill>
                  <a:srgbClr val="526B66"/>
                </a:solidFill>
                <a:latin typeface="Arial"/>
                <a:ea typeface="Arial"/>
                <a:cs typeface="Arial"/>
              </a:defRPr>
            </a:pPr>
            <a:r>
              <a:rPr sz="1425" b="0">
                <a:solidFill>
                  <a:srgbClr val="526B66"/>
                </a:solidFill>
                <a:latin typeface="Arial"/>
                <a:ea typeface="Arial"/>
                <a:cs typeface="Arial"/>
              </a:rPr>
              <a:t>vita_health.db, lược đồ phiên bản 6. users là gốc dữ liệu, medicine_logs liên kết qua medicines.</a:t>
            </a:r>
          </a:p>
        </p:txBody>
      </p:sp>
    </p:spTree>
    <p:extLst>
      <p:ext uri="{BB962C8B-B14F-4D97-AF65-F5344CB8AC3E}">
        <p14:creationId xmlns:p14="http://schemas.microsoft.com/office/powerpoint/2010/main" val="560290801"/>
      </p:ext>
    </p:extLst>
  </p:cSld>
</p:sld>
</file>

<file path=ppt/slides/slide12.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91C3B61-5B13-4EB3-8CB9-2A29DE0453B9}"/>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USERS</a:t>
            </a:r>
          </a:p>
        </p:txBody>
      </p:sp>
      <p:sp>
        <p:nvSpPr>
          <p:cNvPr id="2" name="">
            <a:extLst xmlns:a="http://schemas.openxmlformats.org/drawingml/2006/main">
              <a:ext uri="{FF2B5EF4-FFF2-40B4-BE49-F238E27FC236}">
                <a16:creationId xmlns:a16="http://schemas.microsoft.com/office/drawing/2014/main" id="{F23D1789-182C-4614-B2B9-58F28226F362}"/>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users: tài khoản và thông tin thể trạng</a:t>
            </a:r>
          </a:p>
        </p:txBody>
      </p:sp>
      <p:sp>
        <p:nvSpPr>
          <p:cNvPr id="3" name="">
            <a:extLst xmlns:a="http://schemas.openxmlformats.org/drawingml/2006/main">
              <a:ext uri="{FF2B5EF4-FFF2-40B4-BE49-F238E27FC236}">
                <a16:creationId xmlns:a16="http://schemas.microsoft.com/office/drawing/2014/main" id="{5D614FAF-629B-429B-9A12-129C4EB94B9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AC38AA4F-6C9F-4CD6-A360-7ECCCCBAC15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1A0A5F37-1E1B-4F82-B092-A46A7C4540D1}"/>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người dùng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username</a:t>
                      </a:r>
                    </a:p>
                  </a:txBody>
                  <a:tcPr marL="91440" marR="91440" marT="45720" marB="45720">
                    <a:solidFill>
                      <a:srgbClr val="EAF3EE"/>
                    </a:solidFill>
                  </a:tcPr>
                </a:tc>
                <a:tc>
                  <a:txBody>
                    <a:bodyPr/>
                    <a:lstStyle/>
                    <a:p>
                      <a:r>
                        <a:rPr sz="1650" b="0">
                          <a:solidFill>
                            <a:srgbClr val="164C47"/>
                          </a:solidFill>
                          <a:latin typeface="Arial"/>
                          <a:ea typeface="Arial"/>
                          <a:cs typeface="Arial"/>
                        </a:rPr>
                        <a:t>TEXT, UNIQUE,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Tên đăng nhập duy nhất</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password_hash, salt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Giá trị dẫn xuất mật khẩu và salt riêng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fullname, birth_year, gender</a:t>
                      </a:r>
                    </a:p>
                  </a:txBody>
                  <a:tcPr marL="91440" marR="91440" marT="45720" marB="45720">
                    <a:solidFill>
                      <a:srgbClr val="EAF3EE"/>
                    </a:solidFill>
                  </a:tcPr>
                </a:tc>
                <a:tc>
                  <a:txBody>
                    <a:bodyPr/>
                    <a:lstStyle/>
                    <a:p>
                      <a:r>
                        <a:rPr sz="1650" b="0">
                          <a:solidFill>
                            <a:srgbClr val="164C47"/>
                          </a:solidFill>
                          <a:latin typeface="Arial"/>
                          <a:ea typeface="Arial"/>
                          <a:cs typeface="Arial"/>
                        </a:rPr>
                        <a:t>TEXT / INTEGER / TEXT</a:t>
                      </a:r>
                    </a:p>
                  </a:txBody>
                  <a:tcPr marL="91440" marR="91440" marT="45720" marB="45720">
                    <a:solidFill>
                      <a:srgbClr val="EAF3EE"/>
                    </a:solidFill>
                  </a:tcPr>
                </a:tc>
                <a:tc>
                  <a:txBody>
                    <a:bodyPr/>
                    <a:lstStyle/>
                    <a:p>
                      <a:r>
                        <a:rPr sz="1650" b="0">
                          <a:solidFill>
                            <a:srgbClr val="164C47"/>
                          </a:solidFill>
                          <a:latin typeface="Arial"/>
                          <a:ea typeface="Arial"/>
                          <a:cs typeface="Arial"/>
                        </a:rPr>
                        <a:t>Họ tên, năm sinh và giới tính</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height_cm, base_weight_kg</a:t>
                      </a:r>
                    </a:p>
                  </a:txBody>
                  <a:tcPr marL="91440" marR="91440" marT="45720" marB="45720">
                    <a:solidFill>
                      <a:srgbClr val="FFFFFF"/>
                    </a:solidFill>
                  </a:tcPr>
                </a:tc>
                <a:tc>
                  <a:txBody>
                    <a:bodyPr/>
                    <a:lstStyle/>
                    <a:p>
                      <a:r>
                        <a:rPr sz="1650" b="0">
                          <a:solidFill>
                            <a:srgbClr val="164C47"/>
                          </a:solidFill>
                          <a:latin typeface="Arial"/>
                          <a:ea typeface="Arial"/>
                          <a:cs typeface="Arial"/>
                        </a:rPr>
                        <a:t>REAL</a:t>
                      </a:r>
                    </a:p>
                  </a:txBody>
                  <a:tcPr marL="91440" marR="91440" marT="45720" marB="45720">
                    <a:solidFill>
                      <a:srgbClr val="FFFFFF"/>
                    </a:solidFill>
                  </a:tcPr>
                </a:tc>
                <a:tc>
                  <a:txBody>
                    <a:bodyPr/>
                    <a:lstStyle/>
                    <a:p>
                      <a:r>
                        <a:rPr sz="1650" b="0">
                          <a:solidFill>
                            <a:srgbClr val="164C47"/>
                          </a:solidFill>
                          <a:latin typeface="Arial"/>
                          <a:ea typeface="Arial"/>
                          <a:cs typeface="Arial"/>
                        </a:rPr>
                        <a:t>Chiều cao (cm), cân nặng cơ sở (kg)</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ACE071F-3E08-4DB0-86CA-17EDEC548BFE}"/>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Mỗi tài khoản có hồ sơ riêng. Phiên đăng nhập lưu trong SharedPreferences.</a:t>
            </a:r>
          </a:p>
        </p:txBody>
      </p:sp>
    </p:spTree>
    <p:extLst>
      <p:ext uri="{BB962C8B-B14F-4D97-AF65-F5344CB8AC3E}">
        <p14:creationId xmlns:p14="http://schemas.microsoft.com/office/powerpoint/2010/main" val="976566734"/>
      </p:ext>
    </p:extLst>
  </p:cSld>
</p:sld>
</file>

<file path=ppt/slides/slide13.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539FCD-ACC8-4E2F-8DC9-E962513F9041}"/>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HÌNH THEO TỪNG TÀI KHOẢN</a:t>
            </a:r>
          </a:p>
        </p:txBody>
      </p:sp>
      <p:sp>
        <p:nvSpPr>
          <p:cNvPr id="2" name="">
            <a:extLst xmlns:a="http://schemas.openxmlformats.org/drawingml/2006/main">
              <a:ext uri="{FF2B5EF4-FFF2-40B4-BE49-F238E27FC236}">
                <a16:creationId xmlns:a16="http://schemas.microsoft.com/office/drawing/2014/main" id="{23340753-2DC5-4E49-9793-5CF958B9915F}"/>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users: thiết lập BMI và nước uống</a:t>
            </a:r>
          </a:p>
        </p:txBody>
      </p:sp>
      <p:sp>
        <p:nvSpPr>
          <p:cNvPr id="3" name="">
            <a:extLst xmlns:a="http://schemas.openxmlformats.org/drawingml/2006/main">
              <a:ext uri="{FF2B5EF4-FFF2-40B4-BE49-F238E27FC236}">
                <a16:creationId xmlns:a16="http://schemas.microsoft.com/office/drawing/2014/main" id="{348B51DA-B236-492B-8BCA-68C3FA1777AC}"/>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81FA1EB-F284-4D12-A8F7-C63A45315D9F}"/>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13</a:t>
            </a:r>
          </a:p>
        </p:txBody>
      </p:sp>
      <p:graphicFrame>
        <p:nvGraphicFramePr>
          <p:cNvPr id="5" name="">
            <a:extLst xmlns:a="http://schemas.openxmlformats.org/drawingml/2006/main">
              <a:ext uri="{FF2B5EF4-FFF2-40B4-BE49-F238E27FC236}">
                <a16:creationId xmlns:a16="http://schemas.microsoft.com/office/drawing/2014/main" id="{CA9E681E-BCB7-4682-BDCE-9E520540101A}"/>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bmi_standard</a:t>
                      </a:r>
                    </a:p>
                  </a:txBody>
                  <a:tcPr marL="91440" marR="91440" marT="45720" marB="45720">
                    <a:solidFill>
                      <a:srgbClr val="FFFFFF"/>
                    </a:solidFill>
                  </a:tcPr>
                </a:tc>
                <a:tc>
                  <a:txBody>
                    <a:bodyPr/>
                    <a:lstStyle/>
                    <a:p>
                      <a:r>
                        <a:rPr sz="1650" b="0">
                          <a:solidFill>
                            <a:srgbClr val="164C47"/>
                          </a:solidFill>
                          <a:latin typeface="Arial"/>
                          <a:ea typeface="Arial"/>
                          <a:cs typeface="Arial"/>
                        </a:rPr>
                        <a:t>TEXT, mặc định ASIAN</a:t>
                      </a:r>
                    </a:p>
                  </a:txBody>
                  <a:tcPr marL="91440" marR="91440" marT="45720" marB="45720">
                    <a:solidFill>
                      <a:srgbClr val="FFFFFF"/>
                    </a:solidFill>
                  </a:tcPr>
                </a:tc>
                <a:tc>
                  <a:txBody>
                    <a:bodyPr/>
                    <a:lstStyle/>
                    <a:p>
                      <a:r>
                        <a:rPr sz="1650" b="0">
                          <a:solidFill>
                            <a:srgbClr val="164C47"/>
                          </a:solidFill>
                          <a:latin typeface="Arial"/>
                          <a:ea typeface="Arial"/>
                          <a:cs typeface="Arial"/>
                        </a:rPr>
                        <a:t>Bộ ngưỡng ASIAN hoặc WHO</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water_goal_ml</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2000</a:t>
                      </a:r>
                    </a:p>
                  </a:txBody>
                  <a:tcPr marL="91440" marR="91440" marT="45720" marB="45720">
                    <a:solidFill>
                      <a:srgbClr val="EAF3EE"/>
                    </a:solidFill>
                  </a:tcPr>
                </a:tc>
                <a:tc>
                  <a:txBody>
                    <a:bodyPr/>
                    <a:lstStyle/>
                    <a:p>
                      <a:r>
                        <a:rPr sz="1650" b="0">
                          <a:solidFill>
                            <a:srgbClr val="164C47"/>
                          </a:solidFill>
                          <a:latin typeface="Arial"/>
                          <a:ea typeface="Arial"/>
                          <a:cs typeface="Arial"/>
                        </a:rPr>
                        <a:t>Mục tiêu nước trong ngày, đơn vị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water_start, water_end</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Khung giờ mặc định 07:00–22:00</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water_amount</a:t>
                      </a:r>
                    </a:p>
                  </a:txBody>
                  <a:tcPr marL="91440" marR="91440" marT="45720" marB="45720">
                    <a:solidFill>
                      <a:srgbClr val="EAF3EE"/>
                    </a:solidFill>
                  </a:tcPr>
                </a:tc>
                <a:tc>
                  <a:txBody>
                    <a:bodyPr/>
                    <a:lstStyle/>
                    <a:p>
                      <a:r>
                        <a:rPr sz="1650" b="0">
                          <a:solidFill>
                            <a:srgbClr val="164C47"/>
                          </a:solidFill>
                          <a:latin typeface="Arial"/>
                          <a:ea typeface="Arial"/>
                          <a:cs typeface="Arial"/>
                        </a:rPr>
                        <a:t>INTEGER, NOT NULL</a:t>
                      </a:r>
                    </a:p>
                  </a:txBody>
                  <a:tcPr marL="91440" marR="91440" marT="45720" marB="45720">
                    <a:solidFill>
                      <a:srgbClr val="EAF3EE"/>
                    </a:solidFill>
                  </a:tcPr>
                </a:tc>
                <a:tc>
                  <a:txBody>
                    <a:bodyPr/>
                    <a:lstStyle/>
                    <a:p>
                      <a:r>
                        <a:rPr sz="1650" b="0">
                          <a:solidFill>
                            <a:srgbClr val="164C47"/>
                          </a:solidFill>
                          <a:latin typeface="Arial"/>
                          <a:ea typeface="Arial"/>
                          <a:cs typeface="Arial"/>
                        </a:rPr>
                        <a:t>Lượng thêm nhanh, mặc định 250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water_times</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Các giờ nhắc cụ thể, mặc định rỗng</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F3B4035-8376-4A9F-814A-C5CB5F3BA830}"/>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water_times rỗng dùng lịch nhắc mặc định. Người dùng có thể đổi các thiết lập qua giao diện.</a:t>
            </a:r>
          </a:p>
        </p:txBody>
      </p:sp>
    </p:spTree>
    <p:extLst>
      <p:ext uri="{BB962C8B-B14F-4D97-AF65-F5344CB8AC3E}">
        <p14:creationId xmlns:p14="http://schemas.microsoft.com/office/powerpoint/2010/main" val="159189540"/>
      </p:ext>
    </p:extLst>
  </p:cSld>
</p:sld>
</file>

<file path=ppt/slides/slide14.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867130-C3BF-41B1-B8C3-88DE15E16018}"/>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THÔNG TIN CỦA MỖI LẦN ĐO</a:t>
            </a:r>
          </a:p>
        </p:txBody>
      </p:sp>
      <p:sp>
        <p:nvSpPr>
          <p:cNvPr id="2" name="">
            <a:extLst xmlns:a="http://schemas.openxmlformats.org/drawingml/2006/main">
              <a:ext uri="{FF2B5EF4-FFF2-40B4-BE49-F238E27FC236}">
                <a16:creationId xmlns:a16="http://schemas.microsoft.com/office/drawing/2014/main" id="{1E64DAE1-6C46-492C-965D-22BBA40BD8AC}"/>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health_records: chủ sở hữu và bối cảnh</a:t>
            </a:r>
          </a:p>
        </p:txBody>
      </p:sp>
      <p:sp>
        <p:nvSpPr>
          <p:cNvPr id="3" name="">
            <a:extLst xmlns:a="http://schemas.openxmlformats.org/drawingml/2006/main">
              <a:ext uri="{FF2B5EF4-FFF2-40B4-BE49-F238E27FC236}">
                <a16:creationId xmlns:a16="http://schemas.microsoft.com/office/drawing/2014/main" id="{1FD945BF-6B7E-4933-ACAF-4E90B73B19E6}"/>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182F67A-EBD6-4835-B5D1-7C8D5CD82B7C}"/>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B4CA4E50-CA92-4C78-B5F9-3249DA894539}"/>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bản ghi sức khỏe</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user_id</a:t>
                      </a:r>
                    </a:p>
                  </a:txBody>
                  <a:tcPr marL="91440" marR="91440" marT="45720" marB="45720">
                    <a:solidFill>
                      <a:srgbClr val="EAF3EE"/>
                    </a:solidFill>
                  </a:tcPr>
                </a:tc>
                <a:tc>
                  <a:txBody>
                    <a:bodyPr/>
                    <a:lstStyle/>
                    <a:p>
                      <a:r>
                        <a:rPr sz="1650" b="0">
                          <a:solidFill>
                            <a:srgbClr val="164C47"/>
                          </a:solidFill>
                          <a:latin typeface="Arial"/>
                          <a:ea typeface="Arial"/>
                          <a:cs typeface="Arial"/>
                        </a:rPr>
                        <a:t>INTEGER, FK,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Tham chiếu users.id</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date</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Ngày đo theo yyyy-MM-dd</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measured_time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Giờ đo HH:mm, có thể thiếu ở dữ liệu cũ</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meal_context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UNSPECIFIED, FASTING,</a:t>
                      </a:r>
                    </a:p>
                    <a:p>
                      <a:r>
                        <a:rPr sz="1650" b="0">
                          <a:solidFill>
                            <a:srgbClr val="164C47"/>
                          </a:solidFill>
                          <a:latin typeface="Arial"/>
                          <a:ea typeface="Arial"/>
                          <a:cs typeface="Arial"/>
                        </a:rPr>
                        <a:t>BEFORE_MEAL hoặc AFTER_MEAL</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note</a:t>
                      </a:r>
                    </a:p>
                  </a:txBody>
                  <a:tcPr marL="91440" marR="91440" marT="45720" marB="45720">
                    <a:solidFill>
                      <a:srgbClr val="EAF3EE"/>
                    </a:solidFill>
                  </a:tcPr>
                </a:tc>
                <a:tc>
                  <a:txBody>
                    <a:bodyPr/>
                    <a:lstStyle/>
                    <a:p>
                      <a:r>
                        <a:rPr sz="1650" b="0">
                          <a:solidFill>
                            <a:srgbClr val="164C47"/>
                          </a:solidFill>
                          <a:latin typeface="Arial"/>
                          <a:ea typeface="Arial"/>
                          <a:cs typeface="Arial"/>
                        </a:rPr>
                        <a:t>TEXT</a:t>
                      </a:r>
                    </a:p>
                  </a:txBody>
                  <a:tcPr marL="91440" marR="91440" marT="45720" marB="45720">
                    <a:solidFill>
                      <a:srgbClr val="EAF3EE"/>
                    </a:solidFill>
                  </a:tcPr>
                </a:tc>
                <a:tc>
                  <a:txBody>
                    <a:bodyPr/>
                    <a:lstStyle/>
                    <a:p>
                      <a:r>
                        <a:rPr sz="1650" b="0">
                          <a:solidFill>
                            <a:srgbClr val="164C47"/>
                          </a:solidFill>
                          <a:latin typeface="Arial"/>
                          <a:ea typeface="Arial"/>
                          <a:cs typeface="Arial"/>
                        </a:rPr>
                        <a:t>Ghi chú cho lần đo</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4DF892A4-1ED1-425C-A842-76F2841370D4}"/>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Một ngày có thể có nhiều lần đo. date không phải khóa duy nhất.</a:t>
            </a:r>
          </a:p>
        </p:txBody>
      </p:sp>
    </p:spTree>
    <p:extLst>
      <p:ext uri="{BB962C8B-B14F-4D97-AF65-F5344CB8AC3E}">
        <p14:creationId xmlns:p14="http://schemas.microsoft.com/office/powerpoint/2010/main" val="1808947376"/>
      </p:ext>
    </p:extLst>
  </p:cSld>
</p:sld>
</file>

<file path=ppt/slides/slide15.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443CC7-CA65-45F1-8C8E-068F6AA7AAF8}"/>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GIÁ TRỊ VÀ ĐƠN VỊ</a:t>
            </a:r>
          </a:p>
        </p:txBody>
      </p:sp>
      <p:sp>
        <p:nvSpPr>
          <p:cNvPr id="2" name="">
            <a:extLst xmlns:a="http://schemas.openxmlformats.org/drawingml/2006/main">
              <a:ext uri="{FF2B5EF4-FFF2-40B4-BE49-F238E27FC236}">
                <a16:creationId xmlns:a16="http://schemas.microsoft.com/office/drawing/2014/main" id="{E9C7E276-D6EF-45E4-9588-05923EA3FFE0}"/>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health_records: các chỉ số đo lường</a:t>
            </a:r>
          </a:p>
        </p:txBody>
      </p:sp>
      <p:sp>
        <p:nvSpPr>
          <p:cNvPr id="3" name="">
            <a:extLst xmlns:a="http://schemas.openxmlformats.org/drawingml/2006/main">
              <a:ext uri="{FF2B5EF4-FFF2-40B4-BE49-F238E27FC236}">
                <a16:creationId xmlns:a16="http://schemas.microsoft.com/office/drawing/2014/main" id="{B72BEE89-91F5-44BE-9B0E-E35463ED9CBD}"/>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1928BE1F-7037-48B7-BD94-C01A6B9B2041}"/>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15</a:t>
            </a:r>
          </a:p>
        </p:txBody>
      </p:sp>
      <p:graphicFrame>
        <p:nvGraphicFramePr>
          <p:cNvPr id="5" name="">
            <a:extLst xmlns:a="http://schemas.openxmlformats.org/drawingml/2006/main">
              <a:ext uri="{FF2B5EF4-FFF2-40B4-BE49-F238E27FC236}">
                <a16:creationId xmlns:a16="http://schemas.microsoft.com/office/drawing/2014/main" id="{B3B45B48-B530-4C82-8A03-E11095374E43}"/>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weight_kg</a:t>
                      </a:r>
                    </a:p>
                  </a:txBody>
                  <a:tcPr marL="91440" marR="91440" marT="45720" marB="45720">
                    <a:solidFill>
                      <a:srgbClr val="FFFFFF"/>
                    </a:solidFill>
                  </a:tcPr>
                </a:tc>
                <a:tc>
                  <a:txBody>
                    <a:bodyPr/>
                    <a:lstStyle/>
                    <a:p>
                      <a:r>
                        <a:rPr sz="1650" b="0">
                          <a:solidFill>
                            <a:srgbClr val="164C47"/>
                          </a:solidFill>
                          <a:latin typeface="Arial"/>
                          <a:ea typeface="Arial"/>
                          <a:cs typeface="Arial"/>
                        </a:rPr>
                        <a:t>REAL,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Cân nặng, đơn vị kg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systolic</a:t>
                      </a:r>
                    </a:p>
                  </a:txBody>
                  <a:tcPr marL="91440" marR="91440" marT="45720" marB="45720">
                    <a:solidFill>
                      <a:srgbClr val="EAF3EE"/>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Huyết áp tâm thu, đơn vị mmHg</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diastolic</a:t>
                      </a:r>
                    </a:p>
                  </a:txBody>
                  <a:tcPr marL="91440" marR="91440" marT="45720" marB="45720">
                    <a:solidFill>
                      <a:srgbClr val="FFFFFF"/>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Huyết áp tâm trương, đơn vị mmHg</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heart_rate</a:t>
                      </a:r>
                    </a:p>
                  </a:txBody>
                  <a:tcPr marL="91440" marR="91440" marT="45720" marB="45720">
                    <a:solidFill>
                      <a:srgbClr val="EAF3EE"/>
                    </a:solidFill>
                  </a:tcPr>
                </a:tc>
                <a:tc>
                  <a:txBody>
                    <a:bodyPr/>
                    <a:lstStyle/>
                    <a:p>
                      <a:r>
                        <a:rPr sz="1650" b="0">
                          <a:solidFill>
                            <a:srgbClr val="164C47"/>
                          </a:solidFill>
                          <a:latin typeface="Arial"/>
                          <a:ea typeface="Arial"/>
                          <a:cs typeface="Arial"/>
                        </a:rPr>
                        <a:t>INTEGER, cho phép NULL</a:t>
                      </a:r>
                    </a:p>
                  </a:txBody>
                  <a:tcPr marL="91440" marR="91440" marT="45720" marB="45720">
                    <a:solidFill>
                      <a:srgbClr val="EAF3EE"/>
                    </a:solidFill>
                  </a:tcPr>
                </a:tc>
                <a:tc>
                  <a:txBody>
                    <a:bodyPr/>
                    <a:lstStyle/>
                    <a:p>
                      <a:r>
                        <a:rPr sz="1650" b="0">
                          <a:solidFill>
                            <a:srgbClr val="164C47"/>
                          </a:solidFill>
                          <a:latin typeface="Arial"/>
                          <a:ea typeface="Arial"/>
                          <a:cs typeface="Arial"/>
                        </a:rPr>
                        <a:t>Nhịp tim, đơn vị nhịp/phút</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blood_sugar</a:t>
                      </a:r>
                    </a:p>
                  </a:txBody>
                  <a:tcPr marL="91440" marR="91440" marT="45720" marB="45720">
                    <a:solidFill>
                      <a:srgbClr val="FFFFFF"/>
                    </a:solidFill>
                  </a:tcPr>
                </a:tc>
                <a:tc>
                  <a:txBody>
                    <a:bodyPr/>
                    <a:lstStyle/>
                    <a:p>
                      <a:r>
                        <a:rPr sz="1650" b="0">
                          <a:solidFill>
                            <a:srgbClr val="164C47"/>
                          </a:solidFill>
                          <a:latin typeface="Arial"/>
                          <a:ea typeface="Arial"/>
                          <a:cs typeface="Arial"/>
                        </a:rPr>
                        <a:t>REAL, cho phép NULL</a:t>
                      </a:r>
                    </a:p>
                  </a:txBody>
                  <a:tcPr marL="91440" marR="91440" marT="45720" marB="45720">
                    <a:solidFill>
                      <a:srgbClr val="FFFFFF"/>
                    </a:solidFill>
                  </a:tcPr>
                </a:tc>
                <a:tc>
                  <a:txBody>
                    <a:bodyPr/>
                    <a:lstStyle/>
                    <a:p>
                      <a:r>
                        <a:rPr sz="1650" b="0">
                          <a:solidFill>
                            <a:srgbClr val="164C47"/>
                          </a:solidFill>
                          <a:latin typeface="Arial"/>
                          <a:ea typeface="Arial"/>
                          <a:cs typeface="Arial"/>
                        </a:rPr>
                        <a:t>Đường huyết, đơn vị mg/dL</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6E06B7E-F514-4DF0-BDD8-0555F15B5C65}"/>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Chỉ số chưa nhập dùng NULL. Biểu mẫu kiểm tra huyết áp đủ cặp và không chấp nhận bản ghi trống.</a:t>
            </a:r>
          </a:p>
        </p:txBody>
      </p:sp>
    </p:spTree>
    <p:extLst>
      <p:ext uri="{BB962C8B-B14F-4D97-AF65-F5344CB8AC3E}">
        <p14:creationId xmlns:p14="http://schemas.microsoft.com/office/powerpoint/2010/main" val="556951942"/>
      </p:ext>
    </p:extLst>
  </p:cSld>
</p:sld>
</file>

<file path=ppt/slides/slide16.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7C75FF-6EA8-4D43-9E7B-EEA7A42F7252}"/>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MEDICINES</a:t>
            </a:r>
          </a:p>
        </p:txBody>
      </p:sp>
      <p:sp>
        <p:nvSpPr>
          <p:cNvPr id="2" name="">
            <a:extLst xmlns:a="http://schemas.openxmlformats.org/drawingml/2006/main">
              <a:ext uri="{FF2B5EF4-FFF2-40B4-BE49-F238E27FC236}">
                <a16:creationId xmlns:a16="http://schemas.microsoft.com/office/drawing/2014/main" id="{25696350-959D-486D-B249-44DAEAE32BEB}"/>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medicines: thông tin thuốc và lịch uống</a:t>
            </a:r>
          </a:p>
        </p:txBody>
      </p:sp>
      <p:sp>
        <p:nvSpPr>
          <p:cNvPr id="3" name="">
            <a:extLst xmlns:a="http://schemas.openxmlformats.org/drawingml/2006/main">
              <a:ext uri="{FF2B5EF4-FFF2-40B4-BE49-F238E27FC236}">
                <a16:creationId xmlns:a16="http://schemas.microsoft.com/office/drawing/2014/main" id="{6DB1D71D-6D71-4CE4-8018-15198DF719F0}"/>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27165C70-722A-4638-859E-8B10B22DED16}"/>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16</a:t>
            </a:r>
          </a:p>
        </p:txBody>
      </p:sp>
      <p:graphicFrame>
        <p:nvGraphicFramePr>
          <p:cNvPr id="5" name="">
            <a:extLst xmlns:a="http://schemas.openxmlformats.org/drawingml/2006/main">
              <a:ext uri="{FF2B5EF4-FFF2-40B4-BE49-F238E27FC236}">
                <a16:creationId xmlns:a16="http://schemas.microsoft.com/office/drawing/2014/main" id="{D257F051-3557-4EE7-89BD-BA7BD7DA3BBD}"/>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user_id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thuốc và tài khoản sở hữu</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name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Tên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dosage</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Liều lượng hoặc hướng dẫn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Một hoặc nhiều giờ HH:mm, cách bằng dấu phẩy</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days_mask</a:t>
                      </a:r>
                    </a:p>
                  </a:txBody>
                  <a:tcPr marL="91440" marR="91440" marT="45720" marB="45720">
                    <a:solidFill>
                      <a:srgbClr val="FFFFFF"/>
                    </a:solidFill>
                  </a:tcPr>
                </a:tc>
                <a:tc>
                  <a:txBody>
                    <a:bodyPr/>
                    <a:lstStyle/>
                    <a:p>
                      <a:r>
                        <a:rPr sz="1650" b="0">
                          <a:solidFill>
                            <a:srgbClr val="164C47"/>
                          </a:solidFill>
                          <a:latin typeface="Arial"/>
                          <a:ea typeface="Arial"/>
                          <a:cs typeface="Arial"/>
                        </a:rPr>
                        <a:t>INTEGER, mặc định 127</a:t>
                      </a:r>
                    </a:p>
                  </a:txBody>
                  <a:tcPr marL="91440" marR="91440" marT="45720" marB="45720">
                    <a:solidFill>
                      <a:srgbClr val="FFFFFF"/>
                    </a:solidFill>
                  </a:tcPr>
                </a:tc>
                <a:tc>
                  <a:txBody>
                    <a:bodyPr/>
                    <a:lstStyle/>
                    <a:p>
                      <a:r>
                        <a:rPr sz="1650" b="0">
                          <a:solidFill>
                            <a:srgbClr val="164C47"/>
                          </a:solidFill>
                          <a:latin typeface="Arial"/>
                          <a:ea typeface="Arial"/>
                          <a:cs typeface="Arial"/>
                        </a:rPr>
                        <a:t>Mặt nạ 7 bit, 127 tương ứng cả tuần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is_active</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1</a:t>
                      </a:r>
                    </a:p>
                  </a:txBody>
                  <a:tcPr marL="91440" marR="91440" marT="45720" marB="45720">
                    <a:solidFill>
                      <a:srgbClr val="EAF3EE"/>
                    </a:solidFill>
                  </a:tcPr>
                </a:tc>
                <a:tc>
                  <a:txBody>
                    <a:bodyPr/>
                    <a:lstStyle/>
                    <a:p>
                      <a:r>
                        <a:rPr sz="1650" b="0">
                          <a:solidFill>
                            <a:srgbClr val="164C47"/>
                          </a:solidFill>
                          <a:latin typeface="Arial"/>
                          <a:ea typeface="Arial"/>
                          <a:cs typeface="Arial"/>
                        </a:rPr>
                        <a:t>1: bật lịch nhắc, 0: tắt lịch nhắc</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0E73A830-CD31-402A-9C75-0FE136A2D3B3}"/>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Nhiều giờ uống vẫn thuộc cùng một thuốc. Cữ cụ thể được phân biệt thêm ngày và giờ dự kiến.</a:t>
            </a:r>
          </a:p>
        </p:txBody>
      </p:sp>
    </p:spTree>
    <p:extLst>
      <p:ext uri="{BB962C8B-B14F-4D97-AF65-F5344CB8AC3E}">
        <p14:creationId xmlns:p14="http://schemas.microsoft.com/office/powerpoint/2010/main" val="1832424014"/>
      </p:ext>
    </p:extLst>
  </p:cSld>
</p:sld>
</file>

<file path=ppt/slides/slide17.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BE20E1-DDC8-49DE-98A1-AE86FBEF9985}"/>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MEDICINE_LOGS</a:t>
            </a:r>
          </a:p>
        </p:txBody>
      </p:sp>
      <p:sp>
        <p:nvSpPr>
          <p:cNvPr id="2" name="">
            <a:extLst xmlns:a="http://schemas.openxmlformats.org/drawingml/2006/main">
              <a:ext uri="{FF2B5EF4-FFF2-40B4-BE49-F238E27FC236}">
                <a16:creationId xmlns:a16="http://schemas.microsoft.com/office/drawing/2014/main" id="{1BF69AC6-7587-4469-A3A4-4CF2A9567EA3}"/>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medicine_logs: kết quả xác nhận từng cữ</a:t>
            </a:r>
          </a:p>
        </p:txBody>
      </p:sp>
      <p:sp>
        <p:nvSpPr>
          <p:cNvPr id="3" name="">
            <a:extLst xmlns:a="http://schemas.openxmlformats.org/drawingml/2006/main">
              <a:ext uri="{FF2B5EF4-FFF2-40B4-BE49-F238E27FC236}">
                <a16:creationId xmlns:a16="http://schemas.microsoft.com/office/drawing/2014/main" id="{A9970479-FCD2-46D0-8BA8-B55D6164D173}"/>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F7C376C1-1990-45F2-861C-B689EDBF5CB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17</a:t>
            </a:r>
          </a:p>
        </p:txBody>
      </p:sp>
      <p:graphicFrame>
        <p:nvGraphicFramePr>
          <p:cNvPr id="5" name="">
            <a:extLst xmlns:a="http://schemas.openxmlformats.org/drawingml/2006/main">
              <a:ext uri="{FF2B5EF4-FFF2-40B4-BE49-F238E27FC236}">
                <a16:creationId xmlns:a16="http://schemas.microsoft.com/office/drawing/2014/main" id="{CB3B6303-6F2B-49B1-ADDC-467815123D85}"/>
              </a:ext>
            </a:extLst>
          </p:cNvPr>
          <p:cNvGraphicFramePr/>
          <p:nvPr/>
        </p:nvGraphicFramePr>
        <p:xfrm>
          <a:off xmlns:a="http://schemas.openxmlformats.org/drawingml/2006/main" x="514350" y="1457325"/>
          <a:ext xmlns:a="http://schemas.openxmlformats.org/drawingml/2006/main" cx="11144250" cy="3667125"/>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 medicine_id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 FK</a:t>
                      </a:r>
                    </a:p>
                  </a:txBody>
                  <a:tcPr marL="91440" marR="91440" marT="45720" marB="45720">
                    <a:solidFill>
                      <a:srgbClr val="FFFFFF"/>
                    </a:solidFill>
                  </a:tcPr>
                </a:tc>
                <a:tc>
                  <a:txBody>
                    <a:bodyPr/>
                    <a:lstStyle/>
                    <a:p>
                      <a:r>
                        <a:rPr sz="1650" b="0">
                          <a:solidFill>
                            <a:srgbClr val="164C47"/>
                          </a:solidFill>
                          <a:latin typeface="Arial"/>
                          <a:ea typeface="Arial"/>
                          <a:cs typeface="Arial"/>
                        </a:rPr>
                        <a:t>Mã nhật ký và thuốc liên quan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date, scheduled_time</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Ngày và giờ dự kiến của cữ thuốc</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status</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TAKEN: Đã uống, SKIPPED: Bỏ qua</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EAF3EE"/>
                    </a:solidFill>
                  </a:tcPr>
                </a:tc>
                <a:tc>
                  <a:txBody>
                    <a:bodyPr/>
                    <a:lstStyle/>
                    <a:p>
                      <a:r>
                        <a:rPr sz="1650" b="0">
                          <a:solidFill>
                            <a:srgbClr val="164C47"/>
                          </a:solidFill>
                          <a:latin typeface="Arial"/>
                          <a:ea typeface="Arial"/>
                          <a:cs typeface="Arial"/>
                        </a:rPr>
                        <a:t>TEXT,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Thời điểm người dùng xác nhận</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medicine_name_snapshot,</a:t>
                      </a:r>
                    </a:p>
                    <a:p>
                      <a:r>
                        <a:rPr sz="1650" b="0">
                          <a:solidFill>
                            <a:srgbClr val="164C47"/>
                          </a:solidFill>
                          <a:latin typeface="Arial"/>
                          <a:ea typeface="Arial"/>
                          <a:cs typeface="Arial"/>
                        </a:rPr>
                        <a:t>dosage_snapshot</a:t>
                      </a:r>
                    </a:p>
                  </a:txBody>
                  <a:tcPr marL="91440" marR="91440" marT="45720" marB="45720">
                    <a:solidFill>
                      <a:srgbClr val="FFFFFF"/>
                    </a:solidFill>
                  </a:tcPr>
                </a:tc>
                <a:tc>
                  <a:txBody>
                    <a:bodyPr/>
                    <a:lstStyle/>
                    <a:p>
                      <a:r>
                        <a:rPr sz="1650" b="0">
                          <a:solidFill>
                            <a:srgbClr val="164C47"/>
                          </a:solidFill>
                          <a:latin typeface="Arial"/>
                          <a:ea typeface="Arial"/>
                          <a:cs typeface="Arial"/>
                        </a:rPr>
                        <a:t>TEXT</a:t>
                      </a:r>
                    </a:p>
                  </a:txBody>
                  <a:tcPr marL="91440" marR="91440" marT="45720" marB="45720">
                    <a:solidFill>
                      <a:srgbClr val="FFFFFF"/>
                    </a:solidFill>
                  </a:tcPr>
                </a:tc>
                <a:tc>
                  <a:txBody>
                    <a:bodyPr/>
                    <a:lstStyle/>
                    <a:p>
                      <a:r>
                        <a:rPr sz="1650" b="0">
                          <a:solidFill>
                            <a:srgbClr val="164C47"/>
                          </a:solidFill>
                          <a:latin typeface="Arial"/>
                          <a:ea typeface="Arial"/>
                          <a:cs typeface="Arial"/>
                        </a:rPr>
                        <a:t>Tên và liều lượng tại lúc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snapshot_inherited</a:t>
                      </a:r>
                    </a:p>
                  </a:txBody>
                  <a:tcPr marL="91440" marR="91440" marT="45720" marB="45720">
                    <a:solidFill>
                      <a:srgbClr val="EAF3EE"/>
                    </a:solidFill>
                  </a:tcPr>
                </a:tc>
                <a:tc>
                  <a:txBody>
                    <a:bodyPr/>
                    <a:lstStyle/>
                    <a:p>
                      <a:r>
                        <a:rPr sz="1650" b="0">
                          <a:solidFill>
                            <a:srgbClr val="164C47"/>
                          </a:solidFill>
                          <a:latin typeface="Arial"/>
                          <a:ea typeface="Arial"/>
                          <a:cs typeface="Arial"/>
                        </a:rPr>
                        <a:t>INTEGER, mặc định 0</a:t>
                      </a:r>
                    </a:p>
                  </a:txBody>
                  <a:tcPr marL="91440" marR="91440" marT="45720" marB="45720">
                    <a:solidFill>
                      <a:srgbClr val="EAF3EE"/>
                    </a:solidFill>
                  </a:tcPr>
                </a:tc>
                <a:tc>
                  <a:txBody>
                    <a:bodyPr/>
                    <a:lstStyle/>
                    <a:p>
                      <a:r>
                        <a:rPr sz="1650" b="0">
                          <a:solidFill>
                            <a:srgbClr val="164C47"/>
                          </a:solidFill>
                          <a:latin typeface="Arial"/>
                          <a:ea typeface="Arial"/>
                          <a:cs typeface="Arial"/>
                        </a:rPr>
                        <a:t>Dấu hiệu kế thừa thông tin khi nâng cấp</a:t>
                      </a:r>
                    </a:p>
                  </a:txBody>
                  <a:tcPr marL="91440" marR="91440" marT="45720" marB="45720">
                    <a:solidFill>
                      <a:srgbClr val="EAF3EE"/>
                    </a:solidFill>
                  </a:tcPr>
                </a:tc>
              </a:tr>
            </a:tbl>
          </a:graphicData>
        </a:graphic>
      </p:graphicFrame>
      <p:sp>
        <p:nvSpPr>
          <p:cNvPr id="6" name="">
            <a:extLst xmlns:a="http://schemas.openxmlformats.org/drawingml/2006/main">
              <a:ext uri="{FF2B5EF4-FFF2-40B4-BE49-F238E27FC236}">
                <a16:creationId xmlns:a16="http://schemas.microsoft.com/office/drawing/2014/main" id="{7A6BC856-9F44-40C6-A031-2E83EE7B24EA}"/>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Sắp tới và Chưa xác nhận được tính khi hiển thị, không lưu thành kết quả trong bảng này.</a:t>
            </a:r>
          </a:p>
        </p:txBody>
      </p:sp>
    </p:spTree>
    <p:extLst>
      <p:ext uri="{BB962C8B-B14F-4D97-AF65-F5344CB8AC3E}">
        <p14:creationId xmlns:p14="http://schemas.microsoft.com/office/powerpoint/2010/main" val="2041239146"/>
      </p:ext>
    </p:extLst>
  </p:cSld>
</p:sld>
</file>

<file path=ppt/slides/slide18.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73543D-5290-4393-8638-BAB2BC00CAA3}"/>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CẤU TRÚC BẢNG WATER_LOGS</a:t>
            </a:r>
          </a:p>
        </p:txBody>
      </p:sp>
      <p:sp>
        <p:nvSpPr>
          <p:cNvPr id="2" name="">
            <a:extLst xmlns:a="http://schemas.openxmlformats.org/drawingml/2006/main">
              <a:ext uri="{FF2B5EF4-FFF2-40B4-BE49-F238E27FC236}">
                <a16:creationId xmlns:a16="http://schemas.microsoft.com/office/drawing/2014/main" id="{1AB2D2A5-6D90-45E6-99F0-6FB78984264E}"/>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water_logs: dữ liệu từng lần uống nước</a:t>
            </a:r>
          </a:p>
        </p:txBody>
      </p:sp>
      <p:sp>
        <p:nvSpPr>
          <p:cNvPr id="3" name="">
            <a:extLst xmlns:a="http://schemas.openxmlformats.org/drawingml/2006/main">
              <a:ext uri="{FF2B5EF4-FFF2-40B4-BE49-F238E27FC236}">
                <a16:creationId xmlns:a16="http://schemas.microsoft.com/office/drawing/2014/main" id="{400A2BC3-391D-4588-AD9C-45843B02E097}"/>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E7D21923-8F17-4EDD-9AD8-334F9DDEFEF7}"/>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EE5C26AE-B425-4E80-AC07-80E02157C8AC}"/>
              </a:ext>
            </a:extLst>
          </p:cNvPr>
          <p:cNvGraphicFramePr/>
          <p:nvPr/>
        </p:nvGraphicFramePr>
        <p:xfrm>
          <a:off xmlns:a="http://schemas.openxmlformats.org/drawingml/2006/main" x="514350" y="1457325"/>
          <a:ext xmlns:a="http://schemas.openxmlformats.org/drawingml/2006/main" cx="11144250" cy="3143250"/>
        </p:xfrm>
        <a:graphic xmlns:a="http://schemas.openxmlformats.org/drawingml/2006/main">
          <a:graphicData uri="http://schemas.openxmlformats.org/drawingml/2006/table">
            <a:tbl>
              <a:tblPr/>
              <a:tblGrid>
                <a:gridCol w="2952750"/>
                <a:gridCol w="3095625"/>
                <a:gridCol w="5095875"/>
              </a:tblGrid>
              <a:tr h="523875">
                <a:tc>
                  <a:txBody>
                    <a:bodyPr/>
                    <a:lstStyle/>
                    <a:p>
                      <a:r>
                        <a:rPr sz="1725" b="1">
                          <a:solidFill>
                            <a:srgbClr val="FFFFFF"/>
                          </a:solidFill>
                          <a:latin typeface="Arial"/>
                          <a:ea typeface="Arial"/>
                          <a:cs typeface="Arial"/>
                        </a:rPr>
                        <a:t>Trường dữ liệu</a:t>
                      </a:r>
                    </a:p>
                  </a:txBody>
                  <a:tcPr marL="91440" marR="91440" marT="45720" marB="45720">
                    <a:solidFill>
                      <a:srgbClr val="164C47"/>
                    </a:solidFill>
                  </a:tcPr>
                </a:tc>
                <a:tc>
                  <a:txBody>
                    <a:bodyPr/>
                    <a:lstStyle/>
                    <a:p>
                      <a:r>
                        <a:rPr sz="1725" b="1">
                          <a:solidFill>
                            <a:srgbClr val="FFFFFF"/>
                          </a:solidFill>
                          <a:latin typeface="Arial"/>
                          <a:ea typeface="Arial"/>
                          <a:cs typeface="Arial"/>
                        </a:rPr>
                        <a:t>Kiểu / ràng buộc</a:t>
                      </a:r>
                    </a:p>
                  </a:txBody>
                  <a:tcPr marL="91440" marR="91440" marT="45720" marB="45720">
                    <a:solidFill>
                      <a:srgbClr val="164C47"/>
                    </a:solidFill>
                  </a:tcPr>
                </a:tc>
                <a:tc>
                  <a:txBody>
                    <a:bodyPr/>
                    <a:lstStyle/>
                    <a:p>
                      <a:r>
                        <a:rPr sz="1725" b="1">
                          <a:solidFill>
                            <a:srgbClr val="FFFFFF"/>
                          </a:solidFill>
                          <a:latin typeface="Arial"/>
                          <a:ea typeface="Arial"/>
                          <a:cs typeface="Arial"/>
                        </a:rPr>
                        <a:t>Ý nghĩa</a:t>
                      </a:r>
                    </a:p>
                  </a:txBody>
                  <a:tcPr marL="91440" marR="91440" marT="45720" marB="45720">
                    <a:solidFill>
                      <a:srgbClr val="164C47"/>
                    </a:solidFill>
                  </a:tcPr>
                </a:tc>
              </a:tr>
              <a:tr h="523875">
                <a:tc>
                  <a:txBody>
                    <a:bodyPr/>
                    <a:lstStyle/>
                    <a:p>
                      <a:r>
                        <a:rPr sz="1650" b="0">
                          <a:solidFill>
                            <a:srgbClr val="164C47"/>
                          </a:solidFill>
                          <a:latin typeface="Arial"/>
                          <a:ea typeface="Arial"/>
                          <a:cs typeface="Arial"/>
                        </a:rPr>
                        <a:t>id</a:t>
                      </a:r>
                    </a:p>
                  </a:txBody>
                  <a:tcPr marL="91440" marR="91440" marT="45720" marB="45720">
                    <a:solidFill>
                      <a:srgbClr val="FFFFFF"/>
                    </a:solidFill>
                  </a:tcPr>
                </a:tc>
                <a:tc>
                  <a:txBody>
                    <a:bodyPr/>
                    <a:lstStyle/>
                    <a:p>
                      <a:r>
                        <a:rPr sz="1650" b="0">
                          <a:solidFill>
                            <a:srgbClr val="164C47"/>
                          </a:solidFill>
                          <a:latin typeface="Arial"/>
                          <a:ea typeface="Arial"/>
                          <a:cs typeface="Arial"/>
                        </a:rPr>
                        <a:t>INTEGER, PK, tự tăng</a:t>
                      </a:r>
                    </a:p>
                  </a:txBody>
                  <a:tcPr marL="91440" marR="91440" marT="45720" marB="45720">
                    <a:solidFill>
                      <a:srgbClr val="FFFFFF"/>
                    </a:solidFill>
                  </a:tcPr>
                </a:tc>
                <a:tc>
                  <a:txBody>
                    <a:bodyPr/>
                    <a:lstStyle/>
                    <a:p>
                      <a:r>
                        <a:rPr sz="1650" b="0">
                          <a:solidFill>
                            <a:srgbClr val="164C47"/>
                          </a:solidFill>
                          <a:latin typeface="Arial"/>
                          <a:ea typeface="Arial"/>
                          <a:cs typeface="Arial"/>
                        </a:rPr>
                        <a:t>Mã lần ghi nhận</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user_id</a:t>
                      </a:r>
                    </a:p>
                  </a:txBody>
                  <a:tcPr marL="91440" marR="91440" marT="45720" marB="45720">
                    <a:solidFill>
                      <a:srgbClr val="EAF3EE"/>
                    </a:solidFill>
                  </a:tcPr>
                </a:tc>
                <a:tc>
                  <a:txBody>
                    <a:bodyPr/>
                    <a:lstStyle/>
                    <a:p>
                      <a:r>
                        <a:rPr sz="1650" b="0">
                          <a:solidFill>
                            <a:srgbClr val="164C47"/>
                          </a:solidFill>
                          <a:latin typeface="Arial"/>
                          <a:ea typeface="Arial"/>
                          <a:cs typeface="Arial"/>
                        </a:rPr>
                        <a:t>INTEGER, FK, NOT NULL</a:t>
                      </a:r>
                    </a:p>
                  </a:txBody>
                  <a:tcPr marL="91440" marR="91440" marT="45720" marB="45720">
                    <a:solidFill>
                      <a:srgbClr val="EAF3EE"/>
                    </a:solidFill>
                  </a:tcPr>
                </a:tc>
                <a:tc>
                  <a:txBody>
                    <a:bodyPr/>
                    <a:lstStyle/>
                    <a:p>
                      <a:r>
                        <a:rPr sz="1650" b="0">
                          <a:solidFill>
                            <a:srgbClr val="164C47"/>
                          </a:solidFill>
                          <a:latin typeface="Arial"/>
                          <a:ea typeface="Arial"/>
                          <a:cs typeface="Arial"/>
                        </a:rPr>
                        <a:t>Tham chiếu users.id</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date</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Ngày ghi nhận, yyyy-MM-dd</a:t>
                      </a:r>
                    </a:p>
                  </a:txBody>
                  <a:tcPr marL="91440" marR="91440" marT="45720" marB="45720">
                    <a:solidFill>
                      <a:srgbClr val="FFFFFF"/>
                    </a:solidFill>
                  </a:tcPr>
                </a:tc>
              </a:tr>
              <a:tr h="523875">
                <a:tc>
                  <a:txBody>
                    <a:bodyPr/>
                    <a:lstStyle/>
                    <a:p>
                      <a:r>
                        <a:rPr sz="1650" b="0">
                          <a:solidFill>
                            <a:srgbClr val="164C47"/>
                          </a:solidFill>
                          <a:latin typeface="Arial"/>
                          <a:ea typeface="Arial"/>
                          <a:cs typeface="Arial"/>
                        </a:rPr>
                        <a:t>amount_ml</a:t>
                      </a:r>
                    </a:p>
                  </a:txBody>
                  <a:tcPr marL="91440" marR="91440" marT="45720" marB="45720">
                    <a:solidFill>
                      <a:srgbClr val="EAF3EE"/>
                    </a:solidFill>
                  </a:tcPr>
                </a:tc>
                <a:tc>
                  <a:txBody>
                    <a:bodyPr/>
                    <a:lstStyle/>
                    <a:p>
                      <a:r>
                        <a:rPr sz="1650" b="0">
                          <a:solidFill>
                            <a:srgbClr val="164C47"/>
                          </a:solidFill>
                          <a:latin typeface="Arial"/>
                          <a:ea typeface="Arial"/>
                          <a:cs typeface="Arial"/>
                        </a:rPr>
                        <a:t>INTEGER, NOT NULL</a:t>
                      </a:r>
                    </a:p>
                  </a:txBody>
                  <a:tcPr marL="91440" marR="91440" marT="45720" marB="45720">
                    <a:solidFill>
                      <a:srgbClr val="EAF3EE"/>
                    </a:solidFill>
                  </a:tcPr>
                </a:tc>
                <a:tc>
                  <a:txBody>
                    <a:bodyPr/>
                    <a:lstStyle/>
                    <a:p>
                      <a:r>
                        <a:rPr sz="1650" b="0">
                          <a:solidFill>
                            <a:srgbClr val="164C47"/>
                          </a:solidFill>
                          <a:latin typeface="Arial"/>
                          <a:ea typeface="Arial"/>
                          <a:cs typeface="Arial"/>
                        </a:rPr>
                        <a:t>Lượng nước của lần uống, đơn vị ml</a:t>
                      </a:r>
                    </a:p>
                  </a:txBody>
                  <a:tcPr marL="91440" marR="91440" marT="45720" marB="45720">
                    <a:solidFill>
                      <a:srgbClr val="EAF3EE"/>
                    </a:solidFill>
                  </a:tcPr>
                </a:tc>
              </a:tr>
              <a:tr h="523875">
                <a:tc>
                  <a:txBody>
                    <a:bodyPr/>
                    <a:lstStyle/>
                    <a:p>
                      <a:r>
                        <a:rPr sz="1650" b="0">
                          <a:solidFill>
                            <a:srgbClr val="164C47"/>
                          </a:solidFill>
                          <a:latin typeface="Arial"/>
                          <a:ea typeface="Arial"/>
                          <a:cs typeface="Arial"/>
                        </a:rPr>
                        <a:t>logged_at</a:t>
                      </a:r>
                    </a:p>
                  </a:txBody>
                  <a:tcPr marL="91440" marR="91440" marT="45720" marB="45720">
                    <a:solidFill>
                      <a:srgbClr val="FFFFFF"/>
                    </a:solidFill>
                  </a:tcPr>
                </a:tc>
                <a:tc>
                  <a:txBody>
                    <a:bodyPr/>
                    <a:lstStyle/>
                    <a:p>
                      <a:r>
                        <a:rPr sz="1650" b="0">
                          <a:solidFill>
                            <a:srgbClr val="164C47"/>
                          </a:solidFill>
                          <a:latin typeface="Arial"/>
                          <a:ea typeface="Arial"/>
                          <a:cs typeface="Arial"/>
                        </a:rPr>
                        <a:t>TEXT, NOT NULL</a:t>
                      </a:r>
                    </a:p>
                  </a:txBody>
                  <a:tcPr marL="91440" marR="91440" marT="45720" marB="45720">
                    <a:solidFill>
                      <a:srgbClr val="FFFFFF"/>
                    </a:solidFill>
                  </a:tcPr>
                </a:tc>
                <a:tc>
                  <a:txBody>
                    <a:bodyPr/>
                    <a:lstStyle/>
                    <a:p>
                      <a:r>
                        <a:rPr sz="1650" b="0">
                          <a:solidFill>
                            <a:srgbClr val="164C47"/>
                          </a:solidFill>
                          <a:latin typeface="Arial"/>
                          <a:ea typeface="Arial"/>
                          <a:cs typeface="Arial"/>
                        </a:rPr>
                        <a:t>Thời điểm ghi, yyyy-MM-dd HH:mm:ss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E2E9DAD-43F0-4A5C-8D8F-6948B3D174C0}"/>
              </a:ext>
            </a:extLst>
          </p:cNvPr>
          <p:cNvSpPr>
            <a:spLocks xmlns:a="http://schemas.openxmlformats.org/drawingml/2006/main" noGrp="1"/>
          </p:cNvSpPr>
          <p:nvPr/>
        </p:nvSpPr>
        <p:spPr>
          <a:xfrm xmlns:a="http://schemas.openxmlformats.org/drawingml/2006/main">
            <a:off x="514350" y="5810250"/>
            <a:ext cx="11096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B66"/>
                </a:solidFill>
                <a:latin typeface="Arial"/>
                <a:ea typeface="Arial"/>
                <a:cs typeface="Arial"/>
              </a:defRPr>
            </a:defPPr>
            <a:lvl1pPr>
              <a:defRPr sz="1650" b="0">
                <a:solidFill>
                  <a:srgbClr val="526B66"/>
                </a:solidFill>
                <a:latin typeface="Arial"/>
                <a:ea typeface="Arial"/>
                <a:cs typeface="Arial"/>
              </a:defRPr>
            </a:lvl1pPr>
            <a:lvl2pPr>
              <a:defRPr sz="1650" b="0">
                <a:solidFill>
                  <a:srgbClr val="526B66"/>
                </a:solidFill>
                <a:latin typeface="Arial"/>
                <a:ea typeface="Arial"/>
                <a:cs typeface="Arial"/>
              </a:defRPr>
            </a:lvl2pPr>
            <a:lvl3pPr>
              <a:defRPr sz="1650" b="0">
                <a:solidFill>
                  <a:srgbClr val="526B66"/>
                </a:solidFill>
                <a:latin typeface="Arial"/>
                <a:ea typeface="Arial"/>
                <a:cs typeface="Arial"/>
              </a:defRPr>
            </a:lvl3pPr>
            <a:lvl4pPr>
              <a:defRPr sz="1650" b="0">
                <a:solidFill>
                  <a:srgbClr val="526B66"/>
                </a:solidFill>
                <a:latin typeface="Arial"/>
                <a:ea typeface="Arial"/>
                <a:cs typeface="Arial"/>
              </a:defRPr>
            </a:lvl4pPr>
            <a:lvl5pPr>
              <a:defRPr sz="1650" b="0">
                <a:solidFill>
                  <a:srgbClr val="526B66"/>
                </a:solidFill>
                <a:latin typeface="Arial"/>
                <a:ea typeface="Arial"/>
                <a:cs typeface="Arial"/>
              </a:defRPr>
            </a:lvl5pPr>
            <a:lvl6pPr>
              <a:defRPr sz="1650" b="0">
                <a:solidFill>
                  <a:srgbClr val="526B66"/>
                </a:solidFill>
                <a:latin typeface="Arial"/>
                <a:ea typeface="Arial"/>
                <a:cs typeface="Arial"/>
              </a:defRPr>
            </a:lvl6pPr>
            <a:lvl7pPr>
              <a:defRPr sz="1650" b="0">
                <a:solidFill>
                  <a:srgbClr val="526B66"/>
                </a:solidFill>
                <a:latin typeface="Arial"/>
                <a:ea typeface="Arial"/>
                <a:cs typeface="Arial"/>
              </a:defRPr>
            </a:lvl7pPr>
            <a:lvl8pPr>
              <a:defRPr sz="1650" b="0">
                <a:solidFill>
                  <a:srgbClr val="526B66"/>
                </a:solidFill>
                <a:latin typeface="Arial"/>
                <a:ea typeface="Arial"/>
                <a:cs typeface="Arial"/>
              </a:defRPr>
            </a:lvl8pPr>
            <a:lvl9pPr>
              <a:defRPr sz="1650" b="0">
                <a:solidFill>
                  <a:srgbClr val="526B66"/>
                </a:solidFill>
                <a:latin typeface="Arial"/>
                <a:ea typeface="Arial"/>
                <a:cs typeface="Arial"/>
              </a:defRPr>
            </a:lvl9pPr>
          </a:lstStyle>
          <a:p xmlns:a="http://schemas.openxmlformats.org/drawingml/2006/main">
            <a:pPr>
              <a:defRPr sz="1650" b="0">
                <a:solidFill>
                  <a:srgbClr val="526B66"/>
                </a:solidFill>
                <a:latin typeface="Arial"/>
                <a:ea typeface="Arial"/>
                <a:cs typeface="Arial"/>
              </a:defRPr>
            </a:pPr>
            <a:r>
              <a:rPr sz="1650" b="0">
                <a:solidFill>
                  <a:srgbClr val="526B66"/>
                </a:solidFill>
                <a:latin typeface="Arial"/>
                <a:ea typeface="Arial"/>
                <a:cs typeface="Arial"/>
              </a:rPr>
              <a:t>Tổng nước được tính từ nhật ký theo tài khoản và ngày. Sửa hoặc xóa một hàng sẽ cập nhật tiến độ.</a:t>
            </a:r>
          </a:p>
        </p:txBody>
      </p:sp>
    </p:spTree>
    <p:extLst>
      <p:ext uri="{BB962C8B-B14F-4D97-AF65-F5344CB8AC3E}">
        <p14:creationId xmlns:p14="http://schemas.microsoft.com/office/powerpoint/2010/main" val="1650697709"/>
      </p:ext>
    </p:extLst>
  </p:cSld>
</p:sld>
</file>

<file path=ppt/slides/slide19.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A334C26-0B05-4F62-A685-E95950367A21}"/>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TÍNH NHẤT QUÁN DỮ LIỆU</a:t>
            </a:r>
          </a:p>
        </p:txBody>
      </p:sp>
      <p:sp>
        <p:nvSpPr>
          <p:cNvPr id="2" name="">
            <a:extLst xmlns:a="http://schemas.openxmlformats.org/drawingml/2006/main">
              <a:ext uri="{FF2B5EF4-FFF2-40B4-BE49-F238E27FC236}">
                <a16:creationId xmlns:a16="http://schemas.microsoft.com/office/drawing/2014/main" id="{D27C6466-7342-43D4-AA99-9079786831CD}"/>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Khóa ngoại, chỉ mục và phạm vi dữ liệu</a:t>
            </a:r>
          </a:p>
        </p:txBody>
      </p:sp>
      <p:sp>
        <p:nvSpPr>
          <p:cNvPr id="3" name="">
            <a:extLst xmlns:a="http://schemas.openxmlformats.org/drawingml/2006/main">
              <a:ext uri="{FF2B5EF4-FFF2-40B4-BE49-F238E27FC236}">
                <a16:creationId xmlns:a16="http://schemas.microsoft.com/office/drawing/2014/main" id="{57D2F2BC-27BC-49B6-BC87-7CDC3091F291}"/>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63DC6224-CD9A-4D10-B791-F00630F5AE50}"/>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BAD343DC-FD3F-4CFB-86F6-4B12AA6CD496}"/>
              </a:ext>
            </a:extLst>
          </p:cNvPr>
          <p:cNvSpPr>
            <a:spLocks xmlns:a="http://schemas.openxmlformats.org/drawingml/2006/main" noGrp="1"/>
          </p:cNvSpPr>
          <p:nvPr/>
        </p:nvSpPr>
        <p:spPr>
          <a:xfrm xmlns:a="http://schemas.openxmlformats.org/drawingml/2006/main">
            <a:off x="514350" y="1619250"/>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Quan hệ một nhiều</a:t>
            </a:r>
          </a:p>
        </p:txBody>
      </p:sp>
      <p:sp>
        <p:nvSpPr>
          <p:cNvPr id="6" name="">
            <a:extLst xmlns:a="http://schemas.openxmlformats.org/drawingml/2006/main">
              <a:ext uri="{FF2B5EF4-FFF2-40B4-BE49-F238E27FC236}">
                <a16:creationId xmlns:a16="http://schemas.microsoft.com/office/drawing/2014/main" id="{7B0D58B6-C79B-4B60-B855-F451B1F1062E}"/>
              </a:ext>
            </a:extLst>
          </p:cNvPr>
          <p:cNvSpPr>
            <a:spLocks xmlns:a="http://schemas.openxmlformats.org/drawingml/2006/main" noGrp="1"/>
          </p:cNvSpPr>
          <p:nvPr/>
        </p:nvSpPr>
        <p:spPr>
          <a:xfrm xmlns:a="http://schemas.openxmlformats.org/drawingml/2006/main">
            <a:off x="514350" y="2190750"/>
            <a:ext cx="5238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users có nhiều health_records, medicines và water_logs. medicines có nhiều medicine_logs.</a:t>
            </a:r>
          </a:p>
        </p:txBody>
      </p:sp>
      <p:sp>
        <p:nvSpPr>
          <p:cNvPr id="7" name="">
            <a:extLst xmlns:a="http://schemas.openxmlformats.org/drawingml/2006/main">
              <a:ext uri="{FF2B5EF4-FFF2-40B4-BE49-F238E27FC236}">
                <a16:creationId xmlns:a16="http://schemas.microsoft.com/office/drawing/2014/main" id="{86581D57-A4C5-4E70-AC4A-47C9B5A95816}"/>
              </a:ext>
            </a:extLst>
          </p:cNvPr>
          <p:cNvSpPr>
            <a:spLocks xmlns:a="http://schemas.openxmlformats.org/drawingml/2006/main" noGrp="1"/>
          </p:cNvSpPr>
          <p:nvPr/>
        </p:nvSpPr>
        <p:spPr>
          <a:xfrm xmlns:a="http://schemas.openxmlformats.org/drawingml/2006/main">
            <a:off x="6524625" y="16192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Truy vấn theo tài khoản</a:t>
            </a:r>
          </a:p>
        </p:txBody>
      </p:sp>
      <p:sp>
        <p:nvSpPr>
          <p:cNvPr id="8" name="">
            <a:extLst xmlns:a="http://schemas.openxmlformats.org/drawingml/2006/main">
              <a:ext uri="{FF2B5EF4-FFF2-40B4-BE49-F238E27FC236}">
                <a16:creationId xmlns:a16="http://schemas.microsoft.com/office/drawing/2014/main" id="{EBDB429B-7237-4002-903E-86AF7E9AEDEC}"/>
              </a:ext>
            </a:extLst>
          </p:cNvPr>
          <p:cNvSpPr>
            <a:spLocks xmlns:a="http://schemas.openxmlformats.org/drawingml/2006/main" noGrp="1"/>
          </p:cNvSpPr>
          <p:nvPr/>
        </p:nvSpPr>
        <p:spPr>
          <a:xfrm xmlns:a="http://schemas.openxmlformats.org/drawingml/2006/main">
            <a:off x="6524625" y="2190750"/>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Mỗi thao tác chỉ truy cập dữ liệu của tài khoản hiện tại. Nhật ký thuốc xác định chủ sở hữu qua medicines.</a:t>
            </a:r>
          </a:p>
        </p:txBody>
      </p:sp>
      <p:sp>
        <p:nvSpPr>
          <p:cNvPr id="9" name="">
            <a:extLst xmlns:a="http://schemas.openxmlformats.org/drawingml/2006/main">
              <a:ext uri="{FF2B5EF4-FFF2-40B4-BE49-F238E27FC236}">
                <a16:creationId xmlns:a16="http://schemas.microsoft.com/office/drawing/2014/main" id="{02EC4E63-AC3A-4C24-BC8C-FCA7C128CFDD}"/>
              </a:ext>
            </a:extLst>
          </p:cNvPr>
          <p:cNvSpPr>
            <a:spLocks xmlns:a="http://schemas.openxmlformats.org/drawingml/2006/main" noGrp="1"/>
          </p:cNvSpPr>
          <p:nvPr/>
        </p:nvSpPr>
        <p:spPr>
          <a:xfrm xmlns:a="http://schemas.openxmlformats.org/drawingml/2006/main">
            <a:off x="514350" y="404812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Khóa ngoại và xóa dữ liệu</a:t>
            </a:r>
          </a:p>
        </p:txBody>
      </p:sp>
      <p:sp>
        <p:nvSpPr>
          <p:cNvPr id="10" name="">
            <a:extLst xmlns:a="http://schemas.openxmlformats.org/drawingml/2006/main">
              <a:ext uri="{FF2B5EF4-FFF2-40B4-BE49-F238E27FC236}">
                <a16:creationId xmlns:a16="http://schemas.microsoft.com/office/drawing/2014/main" id="{09E42E1D-0BFF-407E-985D-A25862B6F8A6}"/>
              </a:ext>
            </a:extLst>
          </p:cNvPr>
          <p:cNvSpPr>
            <a:spLocks xmlns:a="http://schemas.openxmlformats.org/drawingml/2006/main" noGrp="1"/>
          </p:cNvSpPr>
          <p:nvPr/>
        </p:nvSpPr>
        <p:spPr>
          <a:xfrm xmlns:a="http://schemas.openxmlformats.org/drawingml/2006/main">
            <a:off x="51435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Bật khóa ngoại trong onConfigure. ON DELETE CASCADE xóa các hàng phụ thuộc khi xóa tài khoản hoặc thuốc.</a:t>
            </a:r>
          </a:p>
        </p:txBody>
      </p:sp>
      <p:sp>
        <p:nvSpPr>
          <p:cNvPr id="11" name="">
            <a:extLst xmlns:a="http://schemas.openxmlformats.org/drawingml/2006/main">
              <a:ext uri="{FF2B5EF4-FFF2-40B4-BE49-F238E27FC236}">
                <a16:creationId xmlns:a16="http://schemas.microsoft.com/office/drawing/2014/main" id="{1203184B-E6A3-451C-B919-F877C4522FD3}"/>
              </a:ext>
            </a:extLst>
          </p:cNvPr>
          <p:cNvSpPr>
            <a:spLocks xmlns:a="http://schemas.openxmlformats.org/drawingml/2006/main" noGrp="1"/>
          </p:cNvSpPr>
          <p:nvPr/>
        </p:nvSpPr>
        <p:spPr>
          <a:xfrm xmlns:a="http://schemas.openxmlformats.org/drawingml/2006/main">
            <a:off x="6524625" y="40481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Chỉ mục tra cứu</a:t>
            </a:r>
          </a:p>
        </p:txBody>
      </p:sp>
      <p:sp>
        <p:nvSpPr>
          <p:cNvPr id="12" name="">
            <a:extLst xmlns:a="http://schemas.openxmlformats.org/drawingml/2006/main">
              <a:ext uri="{FF2B5EF4-FFF2-40B4-BE49-F238E27FC236}">
                <a16:creationId xmlns:a16="http://schemas.microsoft.com/office/drawing/2014/main" id="{B54A072A-05F2-4710-9AE2-07CB074D3059}"/>
              </a:ext>
            </a:extLst>
          </p:cNvPr>
          <p:cNvSpPr>
            <a:spLocks xmlns:a="http://schemas.openxmlformats.org/drawingml/2006/main" noGrp="1"/>
          </p:cNvSpPr>
          <p:nvPr/>
        </p:nvSpPr>
        <p:spPr>
          <a:xfrm xmlns:a="http://schemas.openxmlformats.org/drawingml/2006/main">
            <a:off x="6524625" y="46101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Sức khỏe, nước: (user_id, date).</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Cữ thuốc: (medicine_id, date, scheduled_time). Chỉ mục cữ thuốc không phải UNIQUE.</a:t>
            </a:r>
          </a:p>
        </p:txBody>
      </p:sp>
    </p:spTree>
    <p:extLst>
      <p:ext uri="{BB962C8B-B14F-4D97-AF65-F5344CB8AC3E}">
        <p14:creationId xmlns:p14="http://schemas.microsoft.com/office/powerpoint/2010/main" val="957191237"/>
      </p:ext>
    </p:extLst>
  </p:cSld>
</p:sld>
</file>

<file path=ppt/slides/slide20.xml><?xml version="1.0" encoding="utf-8"?>
<p:sld xmlns:p="http://schemas.openxmlformats.org/presentationml/2006/main">
  <p:cSld>
    <p:bg>
      <p:bgPr>
        <a:solidFill xmlns:a="http://schemas.openxmlformats.org/drawingml/2006/main">
          <a:srgbClr val="F5FA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8B8B7B-8254-4ED7-96E7-968914A27377}"/>
              </a:ext>
            </a:extLst>
          </p:cNvPr>
          <p:cNvSpPr>
            <a:spLocks xmlns:a="http://schemas.openxmlformats.org/drawingml/2006/main" noGrp="1"/>
          </p:cNvSpPr>
          <p:nvPr/>
        </p:nvSpPr>
        <p:spPr>
          <a:xfrm xmlns:a="http://schemas.openxmlformats.org/drawingml/2006/main">
            <a:off x="51435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F72"/>
                </a:solidFill>
                <a:latin typeface="Arial"/>
                <a:ea typeface="Arial"/>
                <a:cs typeface="Arial"/>
              </a:defRPr>
            </a:defPPr>
            <a:lvl1pPr>
              <a:defRPr sz="1200" b="1">
                <a:solidFill>
                  <a:srgbClr val="087F72"/>
                </a:solidFill>
                <a:latin typeface="Arial"/>
                <a:ea typeface="Arial"/>
                <a:cs typeface="Arial"/>
              </a:defRPr>
            </a:lvl1pPr>
            <a:lvl2pPr>
              <a:defRPr sz="1200" b="1">
                <a:solidFill>
                  <a:srgbClr val="087F72"/>
                </a:solidFill>
                <a:latin typeface="Arial"/>
                <a:ea typeface="Arial"/>
                <a:cs typeface="Arial"/>
              </a:defRPr>
            </a:lvl2pPr>
            <a:lvl3pPr>
              <a:defRPr sz="1200" b="1">
                <a:solidFill>
                  <a:srgbClr val="087F72"/>
                </a:solidFill>
                <a:latin typeface="Arial"/>
                <a:ea typeface="Arial"/>
                <a:cs typeface="Arial"/>
              </a:defRPr>
            </a:lvl3pPr>
            <a:lvl4pPr>
              <a:defRPr sz="1200" b="1">
                <a:solidFill>
                  <a:srgbClr val="087F72"/>
                </a:solidFill>
                <a:latin typeface="Arial"/>
                <a:ea typeface="Arial"/>
                <a:cs typeface="Arial"/>
              </a:defRPr>
            </a:lvl4pPr>
            <a:lvl5pPr>
              <a:defRPr sz="1200" b="1">
                <a:solidFill>
                  <a:srgbClr val="087F72"/>
                </a:solidFill>
                <a:latin typeface="Arial"/>
                <a:ea typeface="Arial"/>
                <a:cs typeface="Arial"/>
              </a:defRPr>
            </a:lvl5pPr>
            <a:lvl6pPr>
              <a:defRPr sz="1200" b="1">
                <a:solidFill>
                  <a:srgbClr val="087F72"/>
                </a:solidFill>
                <a:latin typeface="Arial"/>
                <a:ea typeface="Arial"/>
                <a:cs typeface="Arial"/>
              </a:defRPr>
            </a:lvl6pPr>
            <a:lvl7pPr>
              <a:defRPr sz="1200" b="1">
                <a:solidFill>
                  <a:srgbClr val="087F72"/>
                </a:solidFill>
                <a:latin typeface="Arial"/>
                <a:ea typeface="Arial"/>
                <a:cs typeface="Arial"/>
              </a:defRPr>
            </a:lvl7pPr>
            <a:lvl8pPr>
              <a:defRPr sz="1200" b="1">
                <a:solidFill>
                  <a:srgbClr val="087F72"/>
                </a:solidFill>
                <a:latin typeface="Arial"/>
                <a:ea typeface="Arial"/>
                <a:cs typeface="Arial"/>
              </a:defRPr>
            </a:lvl8pPr>
            <a:lvl9pPr>
              <a:defRPr sz="1200" b="1">
                <a:solidFill>
                  <a:srgbClr val="087F72"/>
                </a:solidFill>
                <a:latin typeface="Arial"/>
                <a:ea typeface="Arial"/>
                <a:cs typeface="Arial"/>
              </a:defRPr>
            </a:lvl9pPr>
          </a:lstStyle>
          <a:p xmlns:a="http://schemas.openxmlformats.org/drawingml/2006/main">
            <a:pPr>
              <a:defRPr sz="1200" b="1">
                <a:solidFill>
                  <a:srgbClr val="087F72"/>
                </a:solidFill>
                <a:latin typeface="Arial"/>
                <a:ea typeface="Arial"/>
                <a:cs typeface="Arial"/>
              </a:defRPr>
            </a:pPr>
            <a:r>
              <a:rPr sz="1200" b="1">
                <a:solidFill>
                  <a:srgbClr val="087F72"/>
                </a:solidFill>
                <a:latin typeface="Arial"/>
                <a:ea typeface="Arial"/>
                <a:cs typeface="Arial"/>
              </a:rPr>
              <a:t>1.4  TỔNG KẾT THIẾT KẾ DỮ LIỆU</a:t>
            </a:r>
          </a:p>
        </p:txBody>
      </p:sp>
      <p:sp>
        <p:nvSpPr>
          <p:cNvPr id="2" name="">
            <a:extLst xmlns:a="http://schemas.openxmlformats.org/drawingml/2006/main">
              <a:ext uri="{FF2B5EF4-FFF2-40B4-BE49-F238E27FC236}">
                <a16:creationId xmlns:a16="http://schemas.microsoft.com/office/drawing/2014/main" id="{980F529B-F588-4892-BA1A-1C88C2282766}"/>
              </a:ext>
            </a:extLst>
          </p:cNvPr>
          <p:cNvSpPr>
            <a:spLocks xmlns:a="http://schemas.openxmlformats.org/drawingml/2006/main" noGrp="1"/>
          </p:cNvSpPr>
          <p:nvPr/>
        </p:nvSpPr>
        <p:spPr>
          <a:xfrm xmlns:a="http://schemas.openxmlformats.org/drawingml/2006/main">
            <a:off x="514350" y="6286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164C47"/>
                </a:solidFill>
                <a:latin typeface="Arial"/>
                <a:ea typeface="Arial"/>
                <a:cs typeface="Arial"/>
              </a:defRPr>
            </a:defPPr>
            <a:lvl1pPr>
              <a:defRPr sz="2925" b="1">
                <a:solidFill>
                  <a:srgbClr val="164C47"/>
                </a:solidFill>
                <a:latin typeface="Arial"/>
                <a:ea typeface="Arial"/>
                <a:cs typeface="Arial"/>
              </a:defRPr>
            </a:lvl1pPr>
            <a:lvl2pPr>
              <a:defRPr sz="2925" b="1">
                <a:solidFill>
                  <a:srgbClr val="164C47"/>
                </a:solidFill>
                <a:latin typeface="Arial"/>
                <a:ea typeface="Arial"/>
                <a:cs typeface="Arial"/>
              </a:defRPr>
            </a:lvl2pPr>
            <a:lvl3pPr>
              <a:defRPr sz="2925" b="1">
                <a:solidFill>
                  <a:srgbClr val="164C47"/>
                </a:solidFill>
                <a:latin typeface="Arial"/>
                <a:ea typeface="Arial"/>
                <a:cs typeface="Arial"/>
              </a:defRPr>
            </a:lvl3pPr>
            <a:lvl4pPr>
              <a:defRPr sz="2925" b="1">
                <a:solidFill>
                  <a:srgbClr val="164C47"/>
                </a:solidFill>
                <a:latin typeface="Arial"/>
                <a:ea typeface="Arial"/>
                <a:cs typeface="Arial"/>
              </a:defRPr>
            </a:lvl4pPr>
            <a:lvl5pPr>
              <a:defRPr sz="2925" b="1">
                <a:solidFill>
                  <a:srgbClr val="164C47"/>
                </a:solidFill>
                <a:latin typeface="Arial"/>
                <a:ea typeface="Arial"/>
                <a:cs typeface="Arial"/>
              </a:defRPr>
            </a:lvl5pPr>
            <a:lvl6pPr>
              <a:defRPr sz="2925" b="1">
                <a:solidFill>
                  <a:srgbClr val="164C47"/>
                </a:solidFill>
                <a:latin typeface="Arial"/>
                <a:ea typeface="Arial"/>
                <a:cs typeface="Arial"/>
              </a:defRPr>
            </a:lvl6pPr>
            <a:lvl7pPr>
              <a:defRPr sz="2925" b="1">
                <a:solidFill>
                  <a:srgbClr val="164C47"/>
                </a:solidFill>
                <a:latin typeface="Arial"/>
                <a:ea typeface="Arial"/>
                <a:cs typeface="Arial"/>
              </a:defRPr>
            </a:lvl7pPr>
            <a:lvl8pPr>
              <a:defRPr sz="2925" b="1">
                <a:solidFill>
                  <a:srgbClr val="164C47"/>
                </a:solidFill>
                <a:latin typeface="Arial"/>
                <a:ea typeface="Arial"/>
                <a:cs typeface="Arial"/>
              </a:defRPr>
            </a:lvl8pPr>
            <a:lvl9pPr>
              <a:defRPr sz="2925" b="1">
                <a:solidFill>
                  <a:srgbClr val="164C47"/>
                </a:solidFill>
                <a:latin typeface="Arial"/>
                <a:ea typeface="Arial"/>
                <a:cs typeface="Arial"/>
              </a:defRPr>
            </a:lvl9pPr>
          </a:lstStyle>
          <a:p xmlns:a="http://schemas.openxmlformats.org/drawingml/2006/main">
            <a:pPr>
              <a:defRPr sz="2925" b="1">
                <a:solidFill>
                  <a:srgbClr val="164C47"/>
                </a:solidFill>
                <a:latin typeface="Arial"/>
                <a:ea typeface="Arial"/>
                <a:cs typeface="Arial"/>
              </a:defRPr>
            </a:pPr>
            <a:r>
              <a:rPr sz="2925" b="1">
                <a:solidFill>
                  <a:srgbClr val="164C47"/>
                </a:solidFill>
                <a:latin typeface="Arial"/>
                <a:ea typeface="Arial"/>
                <a:cs typeface="Arial"/>
              </a:rPr>
              <a:t>Quy ước lưu trữ và giới hạn hiện tại</a:t>
            </a:r>
          </a:p>
        </p:txBody>
      </p:sp>
      <p:sp>
        <p:nvSpPr>
          <p:cNvPr id="3" name="">
            <a:extLst xmlns:a="http://schemas.openxmlformats.org/drawingml/2006/main">
              <a:ext uri="{FF2B5EF4-FFF2-40B4-BE49-F238E27FC236}">
                <a16:creationId xmlns:a16="http://schemas.microsoft.com/office/drawing/2014/main" id="{EB7C04C0-233A-4078-B9C1-96FB1342A24A}"/>
              </a:ext>
            </a:extLst>
          </p:cNvPr>
          <p:cNvSpPr>
            <a:spLocks xmlns:a="http://schemas.openxmlformats.org/drawingml/2006/main" noGrp="1"/>
          </p:cNvSpPr>
          <p:nvPr/>
        </p:nvSpPr>
        <p:spPr>
          <a:xfrm xmlns:a="http://schemas.openxmlformats.org/drawingml/2006/main">
            <a:off x="51435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B66"/>
                </a:solidFill>
                <a:latin typeface="Arial"/>
                <a:ea typeface="Arial"/>
                <a:cs typeface="Arial"/>
              </a:defRPr>
            </a:defPPr>
            <a:lvl1pPr>
              <a:defRPr sz="975" b="0">
                <a:solidFill>
                  <a:srgbClr val="526B66"/>
                </a:solidFill>
                <a:latin typeface="Arial"/>
                <a:ea typeface="Arial"/>
                <a:cs typeface="Arial"/>
              </a:defRPr>
            </a:lvl1pPr>
            <a:lvl2pPr>
              <a:defRPr sz="975" b="0">
                <a:solidFill>
                  <a:srgbClr val="526B66"/>
                </a:solidFill>
                <a:latin typeface="Arial"/>
                <a:ea typeface="Arial"/>
                <a:cs typeface="Arial"/>
              </a:defRPr>
            </a:lvl2pPr>
            <a:lvl3pPr>
              <a:defRPr sz="975" b="0">
                <a:solidFill>
                  <a:srgbClr val="526B66"/>
                </a:solidFill>
                <a:latin typeface="Arial"/>
                <a:ea typeface="Arial"/>
                <a:cs typeface="Arial"/>
              </a:defRPr>
            </a:lvl3pPr>
            <a:lvl4pPr>
              <a:defRPr sz="975" b="0">
                <a:solidFill>
                  <a:srgbClr val="526B66"/>
                </a:solidFill>
                <a:latin typeface="Arial"/>
                <a:ea typeface="Arial"/>
                <a:cs typeface="Arial"/>
              </a:defRPr>
            </a:lvl4pPr>
            <a:lvl5pPr>
              <a:defRPr sz="975" b="0">
                <a:solidFill>
                  <a:srgbClr val="526B66"/>
                </a:solidFill>
                <a:latin typeface="Arial"/>
                <a:ea typeface="Arial"/>
                <a:cs typeface="Arial"/>
              </a:defRPr>
            </a:lvl5pPr>
            <a:lvl6pPr>
              <a:defRPr sz="975" b="0">
                <a:solidFill>
                  <a:srgbClr val="526B66"/>
                </a:solidFill>
                <a:latin typeface="Arial"/>
                <a:ea typeface="Arial"/>
                <a:cs typeface="Arial"/>
              </a:defRPr>
            </a:lvl6pPr>
            <a:lvl7pPr>
              <a:defRPr sz="975" b="0">
                <a:solidFill>
                  <a:srgbClr val="526B66"/>
                </a:solidFill>
                <a:latin typeface="Arial"/>
                <a:ea typeface="Arial"/>
                <a:cs typeface="Arial"/>
              </a:defRPr>
            </a:lvl7pPr>
            <a:lvl8pPr>
              <a:defRPr sz="975" b="0">
                <a:solidFill>
                  <a:srgbClr val="526B66"/>
                </a:solidFill>
                <a:latin typeface="Arial"/>
                <a:ea typeface="Arial"/>
                <a:cs typeface="Arial"/>
              </a:defRPr>
            </a:lvl8pPr>
            <a:lvl9pPr>
              <a:defRPr sz="975" b="0">
                <a:solidFill>
                  <a:srgbClr val="526B66"/>
                </a:solidFill>
                <a:latin typeface="Arial"/>
                <a:ea typeface="Arial"/>
                <a:cs typeface="Arial"/>
              </a:defRPr>
            </a:lvl9pPr>
          </a:lstStyle>
          <a:p xmlns:a="http://schemas.openxmlformats.org/drawingml/2006/main">
            <a:pPr>
              <a:defRPr sz="975" b="0">
                <a:solidFill>
                  <a:srgbClr val="526B66"/>
                </a:solidFill>
                <a:latin typeface="Arial"/>
                <a:ea typeface="Arial"/>
                <a:cs typeface="Arial"/>
              </a:defRPr>
            </a:pPr>
            <a:r>
              <a:rPr sz="975" b="0">
                <a:solidFill>
                  <a:srgbClr val="526B66"/>
                </a:solidFill>
                <a:latin typeface="Arial"/>
                <a:ea typeface="Arial"/>
                <a:cs typeface="Arial"/>
              </a:rPr>
              <a:t>VITA   /   CHƯƠNG 1</a:t>
            </a:r>
          </a:p>
        </p:txBody>
      </p:sp>
      <p:sp>
        <p:nvSpPr>
          <p:cNvPr id="4" name="">
            <a:extLst xmlns:a="http://schemas.openxmlformats.org/drawingml/2006/main">
              <a:ext uri="{FF2B5EF4-FFF2-40B4-BE49-F238E27FC236}">
                <a16:creationId xmlns:a16="http://schemas.microsoft.com/office/drawing/2014/main" id="{04D395C9-0989-4680-AF55-BBB7B2F7B3D4}"/>
              </a:ext>
            </a:extLst>
          </p:cNvPr>
          <p:cNvSpPr>
            <a:spLocks xmlns:a="http://schemas.openxmlformats.org/drawingml/2006/main" noGrp="1"/>
          </p:cNvSpPr>
          <p:nvPr/>
        </p:nvSpPr>
        <p:spPr>
          <a:xfrm xmlns:a="http://schemas.openxmlformats.org/drawingml/2006/main">
            <a:off x="1125855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B66"/>
                </a:solidFill>
                <a:latin typeface="Arial"/>
                <a:ea typeface="Arial"/>
                <a:cs typeface="Arial"/>
              </a:defRPr>
            </a:defPPr>
            <a:lvl1pPr>
              <a:defRPr sz="1200" b="0">
                <a:solidFill>
                  <a:srgbClr val="526B66"/>
                </a:solidFill>
                <a:latin typeface="Arial"/>
                <a:ea typeface="Arial"/>
                <a:cs typeface="Arial"/>
              </a:defRPr>
            </a:lvl1pPr>
            <a:lvl2pPr>
              <a:defRPr sz="1200" b="0">
                <a:solidFill>
                  <a:srgbClr val="526B66"/>
                </a:solidFill>
                <a:latin typeface="Arial"/>
                <a:ea typeface="Arial"/>
                <a:cs typeface="Arial"/>
              </a:defRPr>
            </a:lvl2pPr>
            <a:lvl3pPr>
              <a:defRPr sz="1200" b="0">
                <a:solidFill>
                  <a:srgbClr val="526B66"/>
                </a:solidFill>
                <a:latin typeface="Arial"/>
                <a:ea typeface="Arial"/>
                <a:cs typeface="Arial"/>
              </a:defRPr>
            </a:lvl3pPr>
            <a:lvl4pPr>
              <a:defRPr sz="1200" b="0">
                <a:solidFill>
                  <a:srgbClr val="526B66"/>
                </a:solidFill>
                <a:latin typeface="Arial"/>
                <a:ea typeface="Arial"/>
                <a:cs typeface="Arial"/>
              </a:defRPr>
            </a:lvl4pPr>
            <a:lvl5pPr>
              <a:defRPr sz="1200" b="0">
                <a:solidFill>
                  <a:srgbClr val="526B66"/>
                </a:solidFill>
                <a:latin typeface="Arial"/>
                <a:ea typeface="Arial"/>
                <a:cs typeface="Arial"/>
              </a:defRPr>
            </a:lvl5pPr>
            <a:lvl6pPr>
              <a:defRPr sz="1200" b="0">
                <a:solidFill>
                  <a:srgbClr val="526B66"/>
                </a:solidFill>
                <a:latin typeface="Arial"/>
                <a:ea typeface="Arial"/>
                <a:cs typeface="Arial"/>
              </a:defRPr>
            </a:lvl6pPr>
            <a:lvl7pPr>
              <a:defRPr sz="1200" b="0">
                <a:solidFill>
                  <a:srgbClr val="526B66"/>
                </a:solidFill>
                <a:latin typeface="Arial"/>
                <a:ea typeface="Arial"/>
                <a:cs typeface="Arial"/>
              </a:defRPr>
            </a:lvl7pPr>
            <a:lvl8pPr>
              <a:defRPr sz="1200" b="0">
                <a:solidFill>
                  <a:srgbClr val="526B66"/>
                </a:solidFill>
                <a:latin typeface="Arial"/>
                <a:ea typeface="Arial"/>
                <a:cs typeface="Arial"/>
              </a:defRPr>
            </a:lvl8pPr>
            <a:lvl9pPr>
              <a:defRPr sz="1200" b="0">
                <a:solidFill>
                  <a:srgbClr val="526B66"/>
                </a:solidFill>
                <a:latin typeface="Arial"/>
                <a:ea typeface="Arial"/>
                <a:cs typeface="Arial"/>
              </a:defRPr>
            </a:lvl9pPr>
          </a:lstStyle>
          <a:p xmlns:a="http://schemas.openxmlformats.org/drawingml/2006/main">
            <a:pPr>
              <a:defRPr sz="1200" b="0">
                <a:solidFill>
                  <a:srgbClr val="526B66"/>
                </a:solidFill>
                <a:latin typeface="Arial"/>
                <a:ea typeface="Arial"/>
                <a:cs typeface="Arial"/>
              </a:defRPr>
            </a:pPr>
            <a:r>
              <a:rPr sz="1200" b="0">
                <a:solidFill>
                  <a:srgbClr val="526B6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5378FE35-0E72-4121-BD35-5731B257C4B1}"/>
              </a:ext>
            </a:extLst>
          </p:cNvPr>
          <p:cNvSpPr>
            <a:spLocks xmlns:a="http://schemas.openxmlformats.org/drawingml/2006/main" noGrp="1"/>
          </p:cNvSpPr>
          <p:nvPr/>
        </p:nvSpPr>
        <p:spPr>
          <a:xfrm xmlns:a="http://schemas.openxmlformats.org/drawingml/2006/main">
            <a:off x="514350" y="161925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Quy ước thời gian</a:t>
            </a:r>
          </a:p>
        </p:txBody>
      </p:sp>
      <p:sp>
        <p:nvSpPr>
          <p:cNvPr id="6" name="">
            <a:extLst xmlns:a="http://schemas.openxmlformats.org/drawingml/2006/main">
              <a:ext uri="{FF2B5EF4-FFF2-40B4-BE49-F238E27FC236}">
                <a16:creationId xmlns:a16="http://schemas.microsoft.com/office/drawing/2014/main" id="{1F2F630F-9974-4A2C-8404-E97F6CFF6C02}"/>
              </a:ext>
            </a:extLst>
          </p:cNvPr>
          <p:cNvSpPr>
            <a:spLocks xmlns:a="http://schemas.openxmlformats.org/drawingml/2006/main" noGrp="1"/>
          </p:cNvSpPr>
          <p:nvPr/>
        </p:nvSpPr>
        <p:spPr>
          <a:xfrm xmlns:a="http://schemas.openxmlformats.org/drawingml/2006/main">
            <a:off x="514350" y="2190750"/>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Ngày: yyyy-MM-dd</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Giờ lịch: HH:mm</a:t>
            </a:r>
          </a:p>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Thời điểm ghi: yyyy-MM-dd HH:mm:ss</a:t>
            </a:r>
          </a:p>
        </p:txBody>
      </p:sp>
      <p:sp>
        <p:nvSpPr>
          <p:cNvPr id="7" name="">
            <a:extLst xmlns:a="http://schemas.openxmlformats.org/drawingml/2006/main">
              <a:ext uri="{FF2B5EF4-FFF2-40B4-BE49-F238E27FC236}">
                <a16:creationId xmlns:a16="http://schemas.microsoft.com/office/drawing/2014/main" id="{22F29037-D961-481F-88B1-AE1EC8B066D3}"/>
              </a:ext>
            </a:extLst>
          </p:cNvPr>
          <p:cNvSpPr>
            <a:spLocks xmlns:a="http://schemas.openxmlformats.org/drawingml/2006/main" noGrp="1"/>
          </p:cNvSpPr>
          <p:nvPr/>
        </p:nvSpPr>
        <p:spPr>
          <a:xfrm xmlns:a="http://schemas.openxmlformats.org/drawingml/2006/main">
            <a:off x="6524625" y="16192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Lưu trữ trên thiết bị</a:t>
            </a:r>
          </a:p>
        </p:txBody>
      </p:sp>
      <p:sp>
        <p:nvSpPr>
          <p:cNvPr id="8" name="">
            <a:extLst xmlns:a="http://schemas.openxmlformats.org/drawingml/2006/main">
              <a:ext uri="{FF2B5EF4-FFF2-40B4-BE49-F238E27FC236}">
                <a16:creationId xmlns:a16="http://schemas.microsoft.com/office/drawing/2014/main" id="{FE6AED71-095B-4887-87A3-953059D1C4CF}"/>
              </a:ext>
            </a:extLst>
          </p:cNvPr>
          <p:cNvSpPr>
            <a:spLocks xmlns:a="http://schemas.openxmlformats.org/drawingml/2006/main" noGrp="1"/>
          </p:cNvSpPr>
          <p:nvPr/>
        </p:nvSpPr>
        <p:spPr>
          <a:xfrm xmlns:a="http://schemas.openxmlformats.org/drawingml/2006/main">
            <a:off x="6524625" y="2190750"/>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Dữ liệu nằm trong vùng lưu trữ nội bộ. Phiên bản hiện tại tắt sao lưu tự động và chưa có đồng bộ hoặc xuất sao lưu.</a:t>
            </a:r>
          </a:p>
        </p:txBody>
      </p:sp>
      <p:sp>
        <p:nvSpPr>
          <p:cNvPr id="9" name="">
            <a:extLst xmlns:a="http://schemas.openxmlformats.org/drawingml/2006/main">
              <a:ext uri="{FF2B5EF4-FFF2-40B4-BE49-F238E27FC236}">
                <a16:creationId xmlns:a16="http://schemas.microsoft.com/office/drawing/2014/main" id="{E9964AB5-75AE-4BF9-A947-F41FED7D83C5}"/>
              </a:ext>
            </a:extLst>
          </p:cNvPr>
          <p:cNvSpPr>
            <a:spLocks xmlns:a="http://schemas.openxmlformats.org/drawingml/2006/main" noGrp="1"/>
          </p:cNvSpPr>
          <p:nvPr/>
        </p:nvSpPr>
        <p:spPr>
          <a:xfrm xmlns:a="http://schemas.openxmlformats.org/drawingml/2006/main">
            <a:off x="514350" y="40481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Giữ đúng ý nghĩa dữ liệu</a:t>
            </a:r>
          </a:p>
        </p:txBody>
      </p:sp>
      <p:sp>
        <p:nvSpPr>
          <p:cNvPr id="10" name="">
            <a:extLst xmlns:a="http://schemas.openxmlformats.org/drawingml/2006/main">
              <a:ext uri="{FF2B5EF4-FFF2-40B4-BE49-F238E27FC236}">
                <a16:creationId xmlns:a16="http://schemas.microsoft.com/office/drawing/2014/main" id="{D15E5129-5C94-4458-A87E-E43424FE11F6}"/>
              </a:ext>
            </a:extLst>
          </p:cNvPr>
          <p:cNvSpPr>
            <a:spLocks xmlns:a="http://schemas.openxmlformats.org/drawingml/2006/main" noGrp="1"/>
          </p:cNvSpPr>
          <p:nvPr/>
        </p:nvSpPr>
        <p:spPr>
          <a:xfrm xmlns:a="http://schemas.openxmlformats.org/drawingml/2006/main">
            <a:off x="514350" y="4610100"/>
            <a:ext cx="5238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NULL biểu thị chỉ số chưa nhập. Tên và liều lượng chụp lại giữ ngữ cảnh xác nhận khi thông tin thuốc thay đổi.</a:t>
            </a:r>
          </a:p>
        </p:txBody>
      </p:sp>
      <p:sp>
        <p:nvSpPr>
          <p:cNvPr id="11" name="">
            <a:extLst xmlns:a="http://schemas.openxmlformats.org/drawingml/2006/main">
              <a:ext uri="{FF2B5EF4-FFF2-40B4-BE49-F238E27FC236}">
                <a16:creationId xmlns:a16="http://schemas.microsoft.com/office/drawing/2014/main" id="{EE53F5A8-30F9-4C6A-BDA9-4713F833B22C}"/>
              </a:ext>
            </a:extLst>
          </p:cNvPr>
          <p:cNvSpPr>
            <a:spLocks xmlns:a="http://schemas.openxmlformats.org/drawingml/2006/main" noGrp="1"/>
          </p:cNvSpPr>
          <p:nvPr/>
        </p:nvSpPr>
        <p:spPr>
          <a:xfrm xmlns:a="http://schemas.openxmlformats.org/drawingml/2006/main">
            <a:off x="6524625" y="404812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64C47"/>
                </a:solidFill>
                <a:latin typeface="Arial"/>
                <a:ea typeface="Arial"/>
                <a:cs typeface="Arial"/>
              </a:defRPr>
            </a:defPPr>
            <a:lvl1pPr>
              <a:defRPr sz="2175" b="1">
                <a:solidFill>
                  <a:srgbClr val="164C47"/>
                </a:solidFill>
                <a:latin typeface="Arial"/>
                <a:ea typeface="Arial"/>
                <a:cs typeface="Arial"/>
              </a:defRPr>
            </a:lvl1pPr>
            <a:lvl2pPr>
              <a:defRPr sz="2175" b="1">
                <a:solidFill>
                  <a:srgbClr val="164C47"/>
                </a:solidFill>
                <a:latin typeface="Arial"/>
                <a:ea typeface="Arial"/>
                <a:cs typeface="Arial"/>
              </a:defRPr>
            </a:lvl2pPr>
            <a:lvl3pPr>
              <a:defRPr sz="2175" b="1">
                <a:solidFill>
                  <a:srgbClr val="164C47"/>
                </a:solidFill>
                <a:latin typeface="Arial"/>
                <a:ea typeface="Arial"/>
                <a:cs typeface="Arial"/>
              </a:defRPr>
            </a:lvl3pPr>
            <a:lvl4pPr>
              <a:defRPr sz="2175" b="1">
                <a:solidFill>
                  <a:srgbClr val="164C47"/>
                </a:solidFill>
                <a:latin typeface="Arial"/>
                <a:ea typeface="Arial"/>
                <a:cs typeface="Arial"/>
              </a:defRPr>
            </a:lvl4pPr>
            <a:lvl5pPr>
              <a:defRPr sz="2175" b="1">
                <a:solidFill>
                  <a:srgbClr val="164C47"/>
                </a:solidFill>
                <a:latin typeface="Arial"/>
                <a:ea typeface="Arial"/>
                <a:cs typeface="Arial"/>
              </a:defRPr>
            </a:lvl5pPr>
            <a:lvl6pPr>
              <a:defRPr sz="2175" b="1">
                <a:solidFill>
                  <a:srgbClr val="164C47"/>
                </a:solidFill>
                <a:latin typeface="Arial"/>
                <a:ea typeface="Arial"/>
                <a:cs typeface="Arial"/>
              </a:defRPr>
            </a:lvl6pPr>
            <a:lvl7pPr>
              <a:defRPr sz="2175" b="1">
                <a:solidFill>
                  <a:srgbClr val="164C47"/>
                </a:solidFill>
                <a:latin typeface="Arial"/>
                <a:ea typeface="Arial"/>
                <a:cs typeface="Arial"/>
              </a:defRPr>
            </a:lvl7pPr>
            <a:lvl8pPr>
              <a:defRPr sz="2175" b="1">
                <a:solidFill>
                  <a:srgbClr val="164C47"/>
                </a:solidFill>
                <a:latin typeface="Arial"/>
                <a:ea typeface="Arial"/>
                <a:cs typeface="Arial"/>
              </a:defRPr>
            </a:lvl8pPr>
            <a:lvl9pPr>
              <a:defRPr sz="2175" b="1">
                <a:solidFill>
                  <a:srgbClr val="164C47"/>
                </a:solidFill>
                <a:latin typeface="Arial"/>
                <a:ea typeface="Arial"/>
                <a:cs typeface="Arial"/>
              </a:defRPr>
            </a:lvl9pPr>
          </a:lstStyle>
          <a:p xmlns:a="http://schemas.openxmlformats.org/drawingml/2006/main">
            <a:pPr>
              <a:defRPr sz="2175" b="1">
                <a:solidFill>
                  <a:srgbClr val="164C47"/>
                </a:solidFill>
                <a:latin typeface="Arial"/>
                <a:ea typeface="Arial"/>
                <a:cs typeface="Arial"/>
              </a:defRPr>
            </a:pPr>
            <a:r>
              <a:rPr sz="2175" b="1">
                <a:solidFill>
                  <a:srgbClr val="164C47"/>
                </a:solidFill>
                <a:latin typeface="Arial"/>
                <a:ea typeface="Arial"/>
                <a:cs typeface="Arial"/>
              </a:rPr>
              <a:t>Tác động cần lưu ý</a:t>
            </a:r>
          </a:p>
        </p:txBody>
      </p:sp>
      <p:sp>
        <p:nvSpPr>
          <p:cNvPr id="12" name="">
            <a:extLst xmlns:a="http://schemas.openxmlformats.org/drawingml/2006/main">
              <a:ext uri="{FF2B5EF4-FFF2-40B4-BE49-F238E27FC236}">
                <a16:creationId xmlns:a16="http://schemas.microsoft.com/office/drawing/2014/main" id="{461B48C2-0C17-49DF-A83A-B414745CBB58}"/>
              </a:ext>
            </a:extLst>
          </p:cNvPr>
          <p:cNvSpPr>
            <a:spLocks xmlns:a="http://schemas.openxmlformats.org/drawingml/2006/main" noGrp="1"/>
          </p:cNvSpPr>
          <p:nvPr/>
        </p:nvSpPr>
        <p:spPr>
          <a:xfrm xmlns:a="http://schemas.openxmlformats.org/drawingml/2006/main">
            <a:off x="6524625" y="4610100"/>
            <a:ext cx="5095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B66"/>
                </a:solidFill>
                <a:latin typeface="Arial"/>
                <a:ea typeface="Arial"/>
                <a:cs typeface="Arial"/>
              </a:defRPr>
            </a:defPPr>
            <a:lvl1pPr>
              <a:defRPr sz="1875" b="0">
                <a:solidFill>
                  <a:srgbClr val="526B66"/>
                </a:solidFill>
                <a:latin typeface="Arial"/>
                <a:ea typeface="Arial"/>
                <a:cs typeface="Arial"/>
              </a:defRPr>
            </a:lvl1pPr>
            <a:lvl2pPr>
              <a:defRPr sz="1875" b="0">
                <a:solidFill>
                  <a:srgbClr val="526B66"/>
                </a:solidFill>
                <a:latin typeface="Arial"/>
                <a:ea typeface="Arial"/>
                <a:cs typeface="Arial"/>
              </a:defRPr>
            </a:lvl2pPr>
            <a:lvl3pPr>
              <a:defRPr sz="1875" b="0">
                <a:solidFill>
                  <a:srgbClr val="526B66"/>
                </a:solidFill>
                <a:latin typeface="Arial"/>
                <a:ea typeface="Arial"/>
                <a:cs typeface="Arial"/>
              </a:defRPr>
            </a:lvl3pPr>
            <a:lvl4pPr>
              <a:defRPr sz="1875" b="0">
                <a:solidFill>
                  <a:srgbClr val="526B66"/>
                </a:solidFill>
                <a:latin typeface="Arial"/>
                <a:ea typeface="Arial"/>
                <a:cs typeface="Arial"/>
              </a:defRPr>
            </a:lvl4pPr>
            <a:lvl5pPr>
              <a:defRPr sz="1875" b="0">
                <a:solidFill>
                  <a:srgbClr val="526B66"/>
                </a:solidFill>
                <a:latin typeface="Arial"/>
                <a:ea typeface="Arial"/>
                <a:cs typeface="Arial"/>
              </a:defRPr>
            </a:lvl5pPr>
            <a:lvl6pPr>
              <a:defRPr sz="1875" b="0">
                <a:solidFill>
                  <a:srgbClr val="526B66"/>
                </a:solidFill>
                <a:latin typeface="Arial"/>
                <a:ea typeface="Arial"/>
                <a:cs typeface="Arial"/>
              </a:defRPr>
            </a:lvl6pPr>
            <a:lvl7pPr>
              <a:defRPr sz="1875" b="0">
                <a:solidFill>
                  <a:srgbClr val="526B66"/>
                </a:solidFill>
                <a:latin typeface="Arial"/>
                <a:ea typeface="Arial"/>
                <a:cs typeface="Arial"/>
              </a:defRPr>
            </a:lvl7pPr>
            <a:lvl8pPr>
              <a:defRPr sz="1875" b="0">
                <a:solidFill>
                  <a:srgbClr val="526B66"/>
                </a:solidFill>
                <a:latin typeface="Arial"/>
                <a:ea typeface="Arial"/>
                <a:cs typeface="Arial"/>
              </a:defRPr>
            </a:lvl8pPr>
            <a:lvl9pPr>
              <a:defRPr sz="1875" b="0">
                <a:solidFill>
                  <a:srgbClr val="526B66"/>
                </a:solidFill>
                <a:latin typeface="Arial"/>
                <a:ea typeface="Arial"/>
                <a:cs typeface="Arial"/>
              </a:defRPr>
            </a:lvl9pPr>
          </a:lstStyle>
          <a:p xmlns:a="http://schemas.openxmlformats.org/drawingml/2006/main">
            <a:pPr>
              <a:defRPr sz="1875" b="0">
                <a:solidFill>
                  <a:srgbClr val="526B66"/>
                </a:solidFill>
                <a:latin typeface="Arial"/>
                <a:ea typeface="Arial"/>
                <a:cs typeface="Arial"/>
              </a:defRPr>
            </a:pPr>
            <a:r>
              <a:rPr sz="1875" b="0">
                <a:solidFill>
                  <a:srgbClr val="526B66"/>
                </a:solidFill>
                <a:latin typeface="Arial"/>
                <a:ea typeface="Arial"/>
                <a:cs typeface="Arial"/>
              </a:rPr>
              <a:t>Xóa tài khoản, xóa dữ liệu hoặc gỡ ứng dụng có thể làm mất dữ liệu. PBKDF2 bảo vệ mật khẩu, không mã hóa toàn bộ SQLite.</a:t>
            </a:r>
          </a:p>
        </p:txBody>
      </p:sp>
    </p:spTree>
    <p:extLst>
      <p:ext uri="{BB962C8B-B14F-4D97-AF65-F5344CB8AC3E}">
        <p14:creationId xmlns:p14="http://schemas.microsoft.com/office/powerpoint/2010/main" val="16757338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2026-10-26T13:26:51.9550000Z</dcterms:created>
  <dcterms:modified xsi:type="dcterms:W3CDTF">2026-10-26T13:26:51.9550000Z</dcterms:modified>
</coreProperties>
</file>